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claude-0/-home-user-hosting/7c832a48-0979-56aa-9fdf-7d53efb9dc7a/scratchpad/build/img/xmark.png">    </p:cNvPr>
          <p:cNvPicPr>
            <a:picLocks noChangeAspect="1"/>
          </p:cNvPicPr>
          <p:nvPr/>
        </p:nvPicPr>
        <p:blipFill>
          <a:blip r:embed="rId1"/>
          <a:stretch>
            <a:fillRect/>
          </a:stretch>
        </p:blipFill>
        <p:spPr>
          <a:xfrm>
            <a:off x="6350000" y="-952500"/>
            <a:ext cx="8890000" cy="8636000"/>
          </a:xfrm>
          <a:prstGeom prst="rect">
            <a:avLst/>
          </a:prstGeom>
        </p:spPr>
      </p:pic>
      <p:pic>
        <p:nvPicPr>
          <p:cNvPr id="3" name="Image 1" descr="/tmp/claude-0/-home-user-hosting/7c832a48-0979-56aa-9fdf-7d53efb9dc7a/scratchpad/build/img/logo-light.png">    </p:cNvPr>
          <p:cNvPicPr>
            <a:picLocks noChangeAspect="1"/>
          </p:cNvPicPr>
          <p:nvPr/>
        </p:nvPicPr>
        <p:blipFill>
          <a:blip r:embed="rId2"/>
          <a:stretch>
            <a:fillRect/>
          </a:stretch>
        </p:blipFill>
        <p:spPr>
          <a:xfrm>
            <a:off x="762000" y="952500"/>
            <a:ext cx="2616200" cy="628650"/>
          </a:xfrm>
          <a:prstGeom prst="rect">
            <a:avLst/>
          </a:prstGeom>
        </p:spPr>
      </p:pic>
      <p:sp>
        <p:nvSpPr>
          <p:cNvPr id="4" name="Text 0"/>
          <p:cNvSpPr txBox="1"/>
          <p:nvPr/>
        </p:nvSpPr>
        <p:spPr>
          <a:xfrm>
            <a:off x="762000" y="2019300"/>
            <a:ext cx="5715000" cy="254000"/>
          </a:xfrm>
          <a:prstGeom prst="rect">
            <a:avLst/>
          </a:prstGeom>
          <a:noFill/>
          <a:ln/>
        </p:spPr>
        <p:txBody>
          <a:bodyPr wrap="square" lIns="0" tIns="0" rIns="0" bIns="0" rtlCol="0" anchor="t"/>
          <a:lstStyle/>
          <a:p>
            <a:pPr algn="l" indent="0" marL="0">
              <a:lnSpc>
                <a:spcPct val="112000"/>
              </a:lnSpc>
              <a:buNone/>
            </a:pPr>
            <a:r>
              <a:rPr lang="en-US" sz="1300" dirty="0">
                <a:solidFill>
                  <a:srgbClr val="13151C"/>
                </a:solidFill>
                <a:latin typeface="Plus Jakarta Sans ExtraBold" pitchFamily="34" charset="0"/>
                <a:ea typeface="Plus Jakarta Sans ExtraBold" pitchFamily="34" charset="-122"/>
                <a:cs typeface="Plus Jakarta Sans ExtraBold" pitchFamily="34" charset="-120"/>
              </a:rPr>
              <a:t>DIGNIFYX GLOBAL PARTNER PROGRAM · FY2026</a:t>
            </a:r>
            <a:endParaRPr lang="en-US" sz="1300" dirty="0"/>
          </a:p>
        </p:txBody>
      </p:sp>
      <p:sp>
        <p:nvSpPr>
          <p:cNvPr id="5" name="Text 1"/>
          <p:cNvSpPr txBox="1"/>
          <p:nvPr/>
        </p:nvSpPr>
        <p:spPr>
          <a:xfrm>
            <a:off x="762000" y="2349500"/>
            <a:ext cx="6223000" cy="952500"/>
          </a:xfrm>
          <a:prstGeom prst="rect">
            <a:avLst/>
          </a:prstGeom>
          <a:noFill/>
          <a:ln/>
        </p:spPr>
        <p:txBody>
          <a:bodyPr wrap="square" lIns="0" tIns="0" rIns="0" bIns="0" rtlCol="0" anchor="t"/>
          <a:lstStyle/>
          <a:p>
            <a:pPr algn="l" indent="0" marL="0">
              <a:lnSpc>
                <a:spcPct val="112000"/>
              </a:lnSpc>
              <a:buNone/>
            </a:pPr>
            <a:r>
              <a:rPr lang="en-US" sz="5600" b="1" dirty="0">
                <a:solidFill>
                  <a:srgbClr val="13151C"/>
                </a:solidFill>
                <a:latin typeface="Plus Jakarta Sans" pitchFamily="34" charset="0"/>
                <a:ea typeface="Plus Jakarta Sans" pitchFamily="34" charset="-122"/>
                <a:cs typeface="Plus Jakarta Sans" pitchFamily="34" charset="-120"/>
              </a:rPr>
              <a:t>Build. Sell. </a:t>
            </a:r>
            <a:pPr algn="l" indent="0" marL="0">
              <a:lnSpc>
                <a:spcPct val="112000"/>
              </a:lnSpc>
              <a:buNone/>
            </a:pPr>
            <a:r>
              <a:rPr lang="en-US" sz="5600" b="1" dirty="0">
                <a:solidFill>
                  <a:srgbClr val="194EFF"/>
                </a:solidFill>
                <a:latin typeface="Plus Jakarta Sans" pitchFamily="34" charset="0"/>
                <a:ea typeface="Plus Jakarta Sans" pitchFamily="34" charset="-122"/>
                <a:cs typeface="Plus Jakarta Sans" pitchFamily="34" charset="-120"/>
              </a:rPr>
              <a:t>Scale.</a:t>
            </a:r>
            <a:endParaRPr lang="en-US" sz="5600" dirty="0"/>
          </a:p>
        </p:txBody>
      </p:sp>
      <p:sp>
        <p:nvSpPr>
          <p:cNvPr id="6" name="Text 2"/>
          <p:cNvSpPr txBox="1"/>
          <p:nvPr/>
        </p:nvSpPr>
        <p:spPr>
          <a:xfrm>
            <a:off x="762000" y="3429000"/>
            <a:ext cx="5207000" cy="889000"/>
          </a:xfrm>
          <a:prstGeom prst="rect">
            <a:avLst/>
          </a:prstGeom>
          <a:noFill/>
          <a:ln/>
        </p:spPr>
        <p:txBody>
          <a:bodyPr wrap="square" lIns="0" tIns="0" rIns="0" bIns="0" rtlCol="0" anchor="t"/>
          <a:lstStyle/>
          <a:p>
            <a:pPr algn="l" indent="0" marL="0">
              <a:lnSpc>
                <a:spcPct val="125000"/>
              </a:lnSpc>
              <a:buNone/>
            </a:pPr>
            <a:r>
              <a:rPr lang="en-US" sz="1500" dirty="0">
                <a:solidFill>
                  <a:srgbClr val="5A5C63"/>
                </a:solidFill>
                <a:latin typeface="Plus Jakarta Sans Medium" pitchFamily="34" charset="0"/>
                <a:ea typeface="Plus Jakarta Sans Medium" pitchFamily="34" charset="-122"/>
                <a:cs typeface="Plus Jakarta Sans Medium" pitchFamily="34" charset="-120"/>
              </a:rPr>
              <a:t>The partner guide to growing a trusted AI coaching practice with DignifyX, from your first registered deal to a strategic, multi-country alliance.</a:t>
            </a:r>
            <a:endParaRPr lang="en-US" sz="1500" dirty="0"/>
          </a:p>
        </p:txBody>
      </p:sp>
      <p:sp>
        <p:nvSpPr>
          <p:cNvPr id="7" name="Shape 3"/>
          <p:cNvSpPr/>
          <p:nvPr/>
        </p:nvSpPr>
        <p:spPr>
          <a:xfrm>
            <a:off x="762000" y="4584700"/>
            <a:ext cx="19050" cy="254000"/>
          </a:xfrm>
          <a:prstGeom prst="rect">
            <a:avLst/>
          </a:prstGeom>
          <a:solidFill>
            <a:srgbClr val="13151C"/>
          </a:solidFill>
          <a:ln/>
        </p:spPr>
      </p:sp>
      <p:sp>
        <p:nvSpPr>
          <p:cNvPr id="8" name="Text 4"/>
          <p:cNvSpPr txBox="1"/>
          <p:nvPr/>
        </p:nvSpPr>
        <p:spPr>
          <a:xfrm>
            <a:off x="889000" y="4584700"/>
            <a:ext cx="4445000" cy="254000"/>
          </a:xfrm>
          <a:prstGeom prst="rect">
            <a:avLst/>
          </a:prstGeom>
          <a:noFill/>
          <a:ln/>
        </p:spPr>
        <p:txBody>
          <a:bodyPr wrap="square" lIns="0" tIns="0" rIns="0" bIns="0" rtlCol="0" anchor="ctr"/>
          <a:lstStyle/>
          <a:p>
            <a:pPr algn="l" indent="0" marL="0">
              <a:lnSpc>
                <a:spcPct val="112000"/>
              </a:lnSpc>
              <a:buNone/>
            </a:pPr>
            <a:r>
              <a:rPr lang="en-US" sz="1400" dirty="0">
                <a:solidFill>
                  <a:srgbClr val="13151C"/>
                </a:solidFill>
                <a:latin typeface="Plus Jakarta Sans Medium" pitchFamily="34" charset="0"/>
                <a:ea typeface="Plus Jakarta Sans Medium" pitchFamily="34" charset="-122"/>
                <a:cs typeface="Plus Jakarta Sans Medium" pitchFamily="34" charset="-120"/>
              </a:rPr>
              <a:t>PARTNER-CONFIDENTIAL · NDA</a:t>
            </a:r>
            <a:endParaRPr lang="en-US" sz="1400" dirty="0"/>
          </a:p>
        </p:txBody>
      </p:sp>
      <p:sp>
        <p:nvSpPr>
          <p:cNvPr id="9" name="Text 5"/>
          <p:cNvSpPr txBox="1"/>
          <p:nvPr/>
        </p:nvSpPr>
        <p:spPr>
          <a:xfrm>
            <a:off x="762000" y="6096000"/>
            <a:ext cx="6223000" cy="444500"/>
          </a:xfrm>
          <a:prstGeom prst="rect">
            <a:avLst/>
          </a:prstGeom>
          <a:noFill/>
          <a:ln/>
        </p:spPr>
        <p:txBody>
          <a:bodyPr wrap="square" lIns="0" tIns="0" rIns="0" bIns="0" rtlCol="0" anchor="t"/>
          <a:lstStyle/>
          <a:p>
            <a:pPr algn="l" indent="0" marL="0">
              <a:lnSpc>
                <a:spcPct val="130000"/>
              </a:lnSpc>
              <a:buNone/>
            </a:pPr>
            <a:r>
              <a:rPr lang="en-US" sz="800" dirty="0">
                <a:solidFill>
                  <a:srgbClr val="8A8C93"/>
                </a:solidFill>
                <a:latin typeface="Plus Jakarta Sans" pitchFamily="34" charset="0"/>
                <a:ea typeface="Plus Jakarta Sans" pitchFamily="34" charset="-122"/>
                <a:cs typeface="Plus Jakarta Sans" pitchFamily="34" charset="-120"/>
              </a:rPr>
              <a:t>Owner: DignifyX Channel &amp; Alliances  |  FY2026 external partner guide  |  Confidential: for partners under signed NDA or partnership agreement. Do not post publicly or forward to unqualified parties.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01 · EXECUTIVE OVERVIEW</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A structured programme that rewards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real</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contribution and protects customer trust</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0" y="1250950"/>
            <a:ext cx="4064000" cy="1466850"/>
          </a:xfrm>
          <a:prstGeom prst="rect">
            <a:avLst/>
          </a:prstGeom>
          <a:solidFill>
            <a:srgbClr val="F7FBFD"/>
          </a:solidFill>
          <a:ln/>
        </p:spPr>
      </p:sp>
      <p:sp>
        <p:nvSpPr>
          <p:cNvPr id="7" name="Text 5"/>
          <p:cNvSpPr txBox="1"/>
          <p:nvPr/>
        </p:nvSpPr>
        <p:spPr>
          <a:xfrm>
            <a:off x="304800" y="1441450"/>
            <a:ext cx="1905000" cy="152400"/>
          </a:xfrm>
          <a:prstGeom prst="rect">
            <a:avLst/>
          </a:prstGeom>
          <a:noFill/>
          <a:ln/>
        </p:spPr>
        <p:txBody>
          <a:bodyPr wrap="square" lIns="0" tIns="0" rIns="0" bIns="0" rtlCol="0" anchor="t"/>
          <a:lstStyle/>
          <a:p>
            <a:pPr algn="l" indent="0" marL="0">
              <a:lnSpc>
                <a:spcPct val="112000"/>
              </a:lnSpc>
              <a:buNone/>
            </a:pPr>
            <a:r>
              <a:rPr lang="en-US" sz="800" b="1" spc="150" kern="0" dirty="0">
                <a:solidFill>
                  <a:srgbClr val="194EFF"/>
                </a:solidFill>
                <a:latin typeface="Plus Jakarta Sans" pitchFamily="34" charset="0"/>
                <a:ea typeface="Plus Jakarta Sans" pitchFamily="34" charset="-122"/>
                <a:cs typeface="Plus Jakarta Sans" pitchFamily="34" charset="-120"/>
              </a:rPr>
              <a:t>UP TO</a:t>
            </a:r>
            <a:endParaRPr lang="en-US" sz="800" dirty="0"/>
          </a:p>
        </p:txBody>
      </p:sp>
      <p:sp>
        <p:nvSpPr>
          <p:cNvPr id="8" name="Text 6"/>
          <p:cNvSpPr txBox="1"/>
          <p:nvPr/>
        </p:nvSpPr>
        <p:spPr>
          <a:xfrm>
            <a:off x="304800" y="1581150"/>
            <a:ext cx="3556000" cy="571500"/>
          </a:xfrm>
          <a:prstGeom prst="rect">
            <a:avLst/>
          </a:prstGeom>
          <a:noFill/>
          <a:ln/>
        </p:spPr>
        <p:txBody>
          <a:bodyPr wrap="square" lIns="0" tIns="0" rIns="0" bIns="0" rtlCol="0" anchor="b"/>
          <a:lstStyle/>
          <a:p>
            <a:pPr algn="l" indent="0" marL="0">
              <a:lnSpc>
                <a:spcPct val="112000"/>
              </a:lnSpc>
              <a:buNone/>
            </a:pPr>
            <a:r>
              <a:rPr lang="en-US" sz="3800" b="1" dirty="0">
                <a:solidFill>
                  <a:srgbClr val="13151C"/>
                </a:solidFill>
                <a:latin typeface="Plus Jakarta Sans" pitchFamily="34" charset="0"/>
                <a:ea typeface="Plus Jakarta Sans" pitchFamily="34" charset="-122"/>
                <a:cs typeface="Plus Jakarta Sans" pitchFamily="34" charset="-120"/>
              </a:rPr>
              <a:t>40</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3800" dirty="0"/>
          </a:p>
        </p:txBody>
      </p:sp>
      <p:sp>
        <p:nvSpPr>
          <p:cNvPr id="9" name="Text 7"/>
          <p:cNvSpPr txBox="1"/>
          <p:nvPr/>
        </p:nvSpPr>
        <p:spPr>
          <a:xfrm>
            <a:off x="304800" y="2203450"/>
            <a:ext cx="3429000" cy="4064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Partner-sourced commission on first-year eligible ARR (Elite)</a:t>
            </a:r>
            <a:endParaRPr lang="en-US" sz="1000" dirty="0"/>
          </a:p>
        </p:txBody>
      </p:sp>
      <p:sp>
        <p:nvSpPr>
          <p:cNvPr id="10" name="Shape 8"/>
          <p:cNvSpPr/>
          <p:nvPr/>
        </p:nvSpPr>
        <p:spPr>
          <a:xfrm>
            <a:off x="4064000" y="1250950"/>
            <a:ext cx="6350" cy="1473200"/>
          </a:xfrm>
          <a:prstGeom prst="rect">
            <a:avLst/>
          </a:prstGeom>
          <a:solidFill>
            <a:srgbClr val="CDD0D9"/>
          </a:solidFill>
          <a:ln/>
        </p:spPr>
      </p:sp>
      <p:sp>
        <p:nvSpPr>
          <p:cNvPr id="11" name="Text 9"/>
          <p:cNvSpPr txBox="1"/>
          <p:nvPr/>
        </p:nvSpPr>
        <p:spPr>
          <a:xfrm>
            <a:off x="4368800" y="1581150"/>
            <a:ext cx="3556000" cy="571500"/>
          </a:xfrm>
          <a:prstGeom prst="rect">
            <a:avLst/>
          </a:prstGeom>
          <a:noFill/>
          <a:ln/>
        </p:spPr>
        <p:txBody>
          <a:bodyPr wrap="square" lIns="0" tIns="0" rIns="0" bIns="0" rtlCol="0" anchor="b"/>
          <a:lstStyle/>
          <a:p>
            <a:pPr algn="l" indent="0" marL="0">
              <a:lnSpc>
                <a:spcPct val="112000"/>
              </a:lnSpc>
              <a:buNone/>
            </a:pPr>
            <a:r>
              <a:rPr lang="en-US" sz="3800" b="1" dirty="0">
                <a:solidFill>
                  <a:srgbClr val="13151C"/>
                </a:solidFill>
                <a:latin typeface="Plus Jakarta Sans" pitchFamily="34" charset="0"/>
                <a:ea typeface="Plus Jakarta Sans" pitchFamily="34" charset="-122"/>
                <a:cs typeface="Plus Jakarta Sans" pitchFamily="34" charset="-120"/>
              </a:rPr>
              <a:t>5</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 levels</a:t>
            </a:r>
            <a:endParaRPr lang="en-US" sz="3800" dirty="0"/>
          </a:p>
        </p:txBody>
      </p:sp>
      <p:sp>
        <p:nvSpPr>
          <p:cNvPr id="12" name="Text 10"/>
          <p:cNvSpPr txBox="1"/>
          <p:nvPr/>
        </p:nvSpPr>
        <p:spPr>
          <a:xfrm>
            <a:off x="4368800" y="2203450"/>
            <a:ext cx="3429000" cy="4064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Registered → Silver → Gold → Platinum → Elite, reviewed up to twice a year</a:t>
            </a:r>
            <a:endParaRPr lang="en-US" sz="1000" dirty="0"/>
          </a:p>
        </p:txBody>
      </p:sp>
      <p:sp>
        <p:nvSpPr>
          <p:cNvPr id="13" name="Shape 11"/>
          <p:cNvSpPr/>
          <p:nvPr/>
        </p:nvSpPr>
        <p:spPr>
          <a:xfrm>
            <a:off x="8128000" y="1250950"/>
            <a:ext cx="4064000" cy="1466850"/>
          </a:xfrm>
          <a:prstGeom prst="rect">
            <a:avLst/>
          </a:prstGeom>
          <a:solidFill>
            <a:srgbClr val="F7FBFD"/>
          </a:solidFill>
          <a:ln/>
        </p:spPr>
      </p:sp>
      <p:sp>
        <p:nvSpPr>
          <p:cNvPr id="14" name="Shape 12"/>
          <p:cNvSpPr/>
          <p:nvPr/>
        </p:nvSpPr>
        <p:spPr>
          <a:xfrm>
            <a:off x="8128000" y="1250950"/>
            <a:ext cx="6350" cy="1473200"/>
          </a:xfrm>
          <a:prstGeom prst="rect">
            <a:avLst/>
          </a:prstGeom>
          <a:solidFill>
            <a:srgbClr val="CDD0D9"/>
          </a:solidFill>
          <a:ln/>
        </p:spPr>
      </p:sp>
      <p:sp>
        <p:nvSpPr>
          <p:cNvPr id="15" name="Text 13"/>
          <p:cNvSpPr txBox="1"/>
          <p:nvPr/>
        </p:nvSpPr>
        <p:spPr>
          <a:xfrm>
            <a:off x="8432800" y="1581150"/>
            <a:ext cx="3556000" cy="571500"/>
          </a:xfrm>
          <a:prstGeom prst="rect">
            <a:avLst/>
          </a:prstGeom>
          <a:noFill/>
          <a:ln/>
        </p:spPr>
        <p:txBody>
          <a:bodyPr wrap="square" lIns="0" tIns="0" rIns="0" bIns="0" rtlCol="0" anchor="b"/>
          <a:lstStyle/>
          <a:p>
            <a:pPr algn="l" indent="0" marL="0">
              <a:lnSpc>
                <a:spcPct val="112000"/>
              </a:lnSpc>
              <a:buNone/>
            </a:pPr>
            <a:r>
              <a:rPr lang="en-US" sz="3800" b="1" dirty="0">
                <a:solidFill>
                  <a:srgbClr val="13151C"/>
                </a:solidFill>
                <a:latin typeface="Plus Jakarta Sans" pitchFamily="34" charset="0"/>
                <a:ea typeface="Plus Jakarta Sans" pitchFamily="34" charset="-122"/>
                <a:cs typeface="Plus Jakarta Sans" pitchFamily="34" charset="-120"/>
              </a:rPr>
              <a:t>3</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 years</a:t>
            </a:r>
            <a:endParaRPr lang="en-US" sz="3800" dirty="0"/>
          </a:p>
        </p:txBody>
      </p:sp>
      <p:sp>
        <p:nvSpPr>
          <p:cNvPr id="16" name="Text 14"/>
          <p:cNvSpPr txBox="1"/>
          <p:nvPr/>
        </p:nvSpPr>
        <p:spPr>
          <a:xfrm>
            <a:off x="8432800" y="2203450"/>
            <a:ext cx="3429000" cy="4064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Year 1, 2 and 3 of standard three-year contracts credited as New ARR Bookings</a:t>
            </a:r>
            <a:endParaRPr lang="en-US" sz="1000" dirty="0"/>
          </a:p>
        </p:txBody>
      </p:sp>
      <p:sp>
        <p:nvSpPr>
          <p:cNvPr id="17" name="Text 15"/>
          <p:cNvSpPr txBox="1"/>
          <p:nvPr/>
        </p:nvSpPr>
        <p:spPr>
          <a:xfrm>
            <a:off x="304800" y="3054350"/>
            <a:ext cx="3556000" cy="571500"/>
          </a:xfrm>
          <a:prstGeom prst="rect">
            <a:avLst/>
          </a:prstGeom>
          <a:noFill/>
          <a:ln/>
        </p:spPr>
        <p:txBody>
          <a:bodyPr wrap="square" lIns="0" tIns="0" rIns="0" bIns="0" rtlCol="0" anchor="b"/>
          <a:lstStyle/>
          <a:p>
            <a:pPr algn="l" indent="0" marL="0">
              <a:lnSpc>
                <a:spcPct val="112000"/>
              </a:lnSpc>
              <a:buNone/>
            </a:pPr>
            <a:r>
              <a:rPr lang="en-US" sz="3800" b="1" dirty="0">
                <a:solidFill>
                  <a:srgbClr val="13151C"/>
                </a:solidFill>
                <a:latin typeface="Plus Jakarta Sans" pitchFamily="34" charset="0"/>
                <a:ea typeface="Plus Jakarta Sans" pitchFamily="34" charset="-122"/>
                <a:cs typeface="Plus Jakarta Sans" pitchFamily="34" charset="-120"/>
              </a:rPr>
              <a:t>90 + 180</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 days</a:t>
            </a:r>
            <a:endParaRPr lang="en-US" sz="3800" dirty="0"/>
          </a:p>
        </p:txBody>
      </p:sp>
      <p:sp>
        <p:nvSpPr>
          <p:cNvPr id="18" name="Text 16"/>
          <p:cNvSpPr txBox="1"/>
          <p:nvPr/>
        </p:nvSpPr>
        <p:spPr>
          <a:xfrm>
            <a:off x="304800" y="3676650"/>
            <a:ext cx="3429000" cy="4064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Deal-registration protection: lead, then converted opportunity</a:t>
            </a:r>
            <a:endParaRPr lang="en-US" sz="1000" dirty="0"/>
          </a:p>
        </p:txBody>
      </p:sp>
      <p:sp>
        <p:nvSpPr>
          <p:cNvPr id="19" name="Shape 17"/>
          <p:cNvSpPr/>
          <p:nvPr/>
        </p:nvSpPr>
        <p:spPr>
          <a:xfrm>
            <a:off x="4064000" y="2724150"/>
            <a:ext cx="4064000" cy="1466850"/>
          </a:xfrm>
          <a:prstGeom prst="rect">
            <a:avLst/>
          </a:prstGeom>
          <a:solidFill>
            <a:srgbClr val="F7FBFD"/>
          </a:solidFill>
          <a:ln/>
        </p:spPr>
      </p:sp>
      <p:sp>
        <p:nvSpPr>
          <p:cNvPr id="20" name="Shape 18"/>
          <p:cNvSpPr/>
          <p:nvPr/>
        </p:nvSpPr>
        <p:spPr>
          <a:xfrm>
            <a:off x="4064000" y="2724150"/>
            <a:ext cx="6350" cy="1473200"/>
          </a:xfrm>
          <a:prstGeom prst="rect">
            <a:avLst/>
          </a:prstGeom>
          <a:solidFill>
            <a:srgbClr val="CDD0D9"/>
          </a:solidFill>
          <a:ln/>
        </p:spPr>
      </p:sp>
      <p:sp>
        <p:nvSpPr>
          <p:cNvPr id="21" name="Text 19"/>
          <p:cNvSpPr txBox="1"/>
          <p:nvPr/>
        </p:nvSpPr>
        <p:spPr>
          <a:xfrm>
            <a:off x="4368800" y="2914650"/>
            <a:ext cx="1905000" cy="152400"/>
          </a:xfrm>
          <a:prstGeom prst="rect">
            <a:avLst/>
          </a:prstGeom>
          <a:noFill/>
          <a:ln/>
        </p:spPr>
        <p:txBody>
          <a:bodyPr wrap="square" lIns="0" tIns="0" rIns="0" bIns="0" rtlCol="0" anchor="t"/>
          <a:lstStyle/>
          <a:p>
            <a:pPr algn="l" indent="0" marL="0">
              <a:lnSpc>
                <a:spcPct val="112000"/>
              </a:lnSpc>
              <a:buNone/>
            </a:pPr>
            <a:r>
              <a:rPr lang="en-US" sz="800" b="1" spc="150" kern="0" dirty="0">
                <a:solidFill>
                  <a:srgbClr val="194EFF"/>
                </a:solidFill>
                <a:latin typeface="Plus Jakarta Sans" pitchFamily="34" charset="0"/>
                <a:ea typeface="Plus Jakarta Sans" pitchFamily="34" charset="-122"/>
                <a:cs typeface="Plus Jakarta Sans" pitchFamily="34" charset="-120"/>
              </a:rPr>
              <a:t>UP TO</a:t>
            </a:r>
            <a:endParaRPr lang="en-US" sz="800" dirty="0"/>
          </a:p>
        </p:txBody>
      </p:sp>
      <p:sp>
        <p:nvSpPr>
          <p:cNvPr id="22" name="Text 20"/>
          <p:cNvSpPr txBox="1"/>
          <p:nvPr/>
        </p:nvSpPr>
        <p:spPr>
          <a:xfrm>
            <a:off x="4368800" y="3054350"/>
            <a:ext cx="3556000" cy="571500"/>
          </a:xfrm>
          <a:prstGeom prst="rect">
            <a:avLst/>
          </a:prstGeom>
          <a:noFill/>
          <a:ln/>
        </p:spPr>
        <p:txBody>
          <a:bodyPr wrap="square" lIns="0" tIns="0" rIns="0" bIns="0" rtlCol="0" anchor="b"/>
          <a:lstStyle/>
          <a:p>
            <a:pPr algn="l" indent="0" marL="0">
              <a:lnSpc>
                <a:spcPct val="112000"/>
              </a:lnSpc>
              <a:buNone/>
            </a:pPr>
            <a:r>
              <a:rPr lang="en-US" sz="3800" b="1" dirty="0">
                <a:solidFill>
                  <a:srgbClr val="13151C"/>
                </a:solidFill>
                <a:latin typeface="Plus Jakarta Sans" pitchFamily="34" charset="0"/>
                <a:ea typeface="Plus Jakarta Sans" pitchFamily="34" charset="-122"/>
                <a:cs typeface="Plus Jakarta Sans" pitchFamily="34" charset="-120"/>
              </a:rPr>
              <a:t>$45</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K</a:t>
            </a:r>
            <a:endParaRPr lang="en-US" sz="3800" dirty="0"/>
          </a:p>
        </p:txBody>
      </p:sp>
      <p:sp>
        <p:nvSpPr>
          <p:cNvPr id="23" name="Text 21"/>
          <p:cNvSpPr txBox="1"/>
          <p:nvPr/>
        </p:nvSpPr>
        <p:spPr>
          <a:xfrm>
            <a:off x="4368800" y="3676650"/>
            <a:ext cx="3429000" cy="4064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Combined annual co-marketing ($30K) and promotion ($15K) funds at Elite</a:t>
            </a:r>
            <a:endParaRPr lang="en-US" sz="1000" dirty="0"/>
          </a:p>
        </p:txBody>
      </p:sp>
      <p:sp>
        <p:nvSpPr>
          <p:cNvPr id="24" name="Shape 22"/>
          <p:cNvSpPr/>
          <p:nvPr/>
        </p:nvSpPr>
        <p:spPr>
          <a:xfrm>
            <a:off x="8128000" y="2724150"/>
            <a:ext cx="6350" cy="1473200"/>
          </a:xfrm>
          <a:prstGeom prst="rect">
            <a:avLst/>
          </a:prstGeom>
          <a:solidFill>
            <a:srgbClr val="CDD0D9"/>
          </a:solidFill>
          <a:ln/>
        </p:spPr>
      </p:sp>
      <p:sp>
        <p:nvSpPr>
          <p:cNvPr id="25" name="Text 23"/>
          <p:cNvSpPr txBox="1"/>
          <p:nvPr/>
        </p:nvSpPr>
        <p:spPr>
          <a:xfrm>
            <a:off x="8432800" y="2914650"/>
            <a:ext cx="1905000" cy="152400"/>
          </a:xfrm>
          <a:prstGeom prst="rect">
            <a:avLst/>
          </a:prstGeom>
          <a:noFill/>
          <a:ln/>
        </p:spPr>
        <p:txBody>
          <a:bodyPr wrap="square" lIns="0" tIns="0" rIns="0" bIns="0" rtlCol="0" anchor="t"/>
          <a:lstStyle/>
          <a:p>
            <a:pPr algn="l" indent="0" marL="0">
              <a:lnSpc>
                <a:spcPct val="112000"/>
              </a:lnSpc>
              <a:buNone/>
            </a:pPr>
            <a:r>
              <a:rPr lang="en-US" sz="800" b="1" spc="150" kern="0" dirty="0">
                <a:solidFill>
                  <a:srgbClr val="194EFF"/>
                </a:solidFill>
                <a:latin typeface="Plus Jakarta Sans" pitchFamily="34" charset="0"/>
                <a:ea typeface="Plus Jakarta Sans" pitchFamily="34" charset="-122"/>
                <a:cs typeface="Plus Jakarta Sans" pitchFamily="34" charset="-120"/>
              </a:rPr>
              <a:t>UP TO</a:t>
            </a:r>
            <a:endParaRPr lang="en-US" sz="800" dirty="0"/>
          </a:p>
        </p:txBody>
      </p:sp>
      <p:sp>
        <p:nvSpPr>
          <p:cNvPr id="26" name="Text 24"/>
          <p:cNvSpPr txBox="1"/>
          <p:nvPr/>
        </p:nvSpPr>
        <p:spPr>
          <a:xfrm>
            <a:off x="8432800" y="3054350"/>
            <a:ext cx="3556000" cy="571500"/>
          </a:xfrm>
          <a:prstGeom prst="rect">
            <a:avLst/>
          </a:prstGeom>
          <a:noFill/>
          <a:ln/>
        </p:spPr>
        <p:txBody>
          <a:bodyPr wrap="square" lIns="0" tIns="0" rIns="0" bIns="0" rtlCol="0" anchor="b"/>
          <a:lstStyle/>
          <a:p>
            <a:pPr algn="l" indent="0" marL="0">
              <a:lnSpc>
                <a:spcPct val="112000"/>
              </a:lnSpc>
              <a:buNone/>
            </a:pPr>
            <a:r>
              <a:rPr lang="en-US" sz="3800" b="1" dirty="0">
                <a:solidFill>
                  <a:srgbClr val="13151C"/>
                </a:solidFill>
                <a:latin typeface="Plus Jakarta Sans" pitchFamily="34" charset="0"/>
                <a:ea typeface="Plus Jakarta Sans" pitchFamily="34" charset="-122"/>
                <a:cs typeface="Plus Jakarta Sans" pitchFamily="34" charset="-120"/>
              </a:rPr>
              <a:t>$50</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K</a:t>
            </a:r>
            <a:endParaRPr lang="en-US" sz="3800" dirty="0"/>
          </a:p>
        </p:txBody>
      </p:sp>
      <p:sp>
        <p:nvSpPr>
          <p:cNvPr id="27" name="Text 25"/>
          <p:cNvSpPr txBox="1"/>
          <p:nvPr/>
        </p:nvSpPr>
        <p:spPr>
          <a:xfrm>
            <a:off x="8432800" y="3676650"/>
            <a:ext cx="3429000" cy="4064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Indicative sandbox value, plus enhanced support on your first 3 opportunities</a:t>
            </a:r>
            <a:endParaRPr lang="en-US" sz="1000" dirty="0"/>
          </a:p>
        </p:txBody>
      </p:sp>
      <p:sp>
        <p:nvSpPr>
          <p:cNvPr id="28" name="Shape 26"/>
          <p:cNvSpPr/>
          <p:nvPr/>
        </p:nvSpPr>
        <p:spPr>
          <a:xfrm>
            <a:off x="0" y="2717800"/>
            <a:ext cx="12192000" cy="6350"/>
          </a:xfrm>
          <a:prstGeom prst="rect">
            <a:avLst/>
          </a:prstGeom>
          <a:solidFill>
            <a:srgbClr val="CDD0D9"/>
          </a:solidFill>
          <a:ln/>
        </p:spPr>
      </p:sp>
      <p:sp>
        <p:nvSpPr>
          <p:cNvPr id="29" name="Shape 27"/>
          <p:cNvSpPr/>
          <p:nvPr/>
        </p:nvSpPr>
        <p:spPr>
          <a:xfrm>
            <a:off x="0" y="4191000"/>
            <a:ext cx="12192000" cy="6350"/>
          </a:xfrm>
          <a:prstGeom prst="rect">
            <a:avLst/>
          </a:prstGeom>
          <a:solidFill>
            <a:srgbClr val="CDD0D9"/>
          </a:solidFill>
          <a:ln/>
        </p:spPr>
      </p:sp>
      <p:sp>
        <p:nvSpPr>
          <p:cNvPr id="30" name="Text 28"/>
          <p:cNvSpPr txBox="1"/>
          <p:nvPr/>
        </p:nvSpPr>
        <p:spPr>
          <a:xfrm>
            <a:off x="304800" y="4381500"/>
            <a:ext cx="762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01</a:t>
            </a:r>
            <a:endParaRPr lang="en-US" sz="1600" dirty="0"/>
          </a:p>
        </p:txBody>
      </p:sp>
      <p:sp>
        <p:nvSpPr>
          <p:cNvPr id="31" name="Text 29"/>
          <p:cNvSpPr txBox="1"/>
          <p:nvPr/>
        </p:nvSpPr>
        <p:spPr>
          <a:xfrm>
            <a:off x="304800" y="4724400"/>
            <a:ext cx="190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3151C"/>
                </a:solidFill>
                <a:latin typeface="Plus Jakarta Sans" pitchFamily="34" charset="0"/>
                <a:ea typeface="Plus Jakarta Sans" pitchFamily="34" charset="-122"/>
                <a:cs typeface="Plus Jakarta Sans" pitchFamily="34" charset="-120"/>
              </a:rPr>
              <a:t>Join</a:t>
            </a:r>
            <a:endParaRPr lang="en-US" sz="1500" dirty="0"/>
          </a:p>
        </p:txBody>
      </p:sp>
      <p:sp>
        <p:nvSpPr>
          <p:cNvPr id="32" name="Text 30"/>
          <p:cNvSpPr txBox="1"/>
          <p:nvPr/>
        </p:nvSpPr>
        <p:spPr>
          <a:xfrm>
            <a:off x="304800" y="5029200"/>
            <a:ext cx="1905000" cy="3810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Apply, due diligence, sign</a:t>
            </a:r>
            <a:endParaRPr lang="en-US" sz="1000" dirty="0"/>
          </a:p>
        </p:txBody>
      </p:sp>
      <p:sp>
        <p:nvSpPr>
          <p:cNvPr id="33" name="Text 31"/>
          <p:cNvSpPr txBox="1"/>
          <p:nvPr/>
        </p:nvSpPr>
        <p:spPr>
          <a:xfrm>
            <a:off x="2095500" y="4724400"/>
            <a:ext cx="254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a:t>
            </a:r>
            <a:endParaRPr lang="en-US" sz="1500" dirty="0"/>
          </a:p>
        </p:txBody>
      </p:sp>
      <p:sp>
        <p:nvSpPr>
          <p:cNvPr id="34" name="Shape 32"/>
          <p:cNvSpPr/>
          <p:nvPr/>
        </p:nvSpPr>
        <p:spPr>
          <a:xfrm>
            <a:off x="2438400" y="4197350"/>
            <a:ext cx="6350" cy="1644650"/>
          </a:xfrm>
          <a:prstGeom prst="rect">
            <a:avLst/>
          </a:prstGeom>
          <a:solidFill>
            <a:srgbClr val="CDD0D9"/>
          </a:solidFill>
          <a:ln/>
        </p:spPr>
      </p:sp>
      <p:sp>
        <p:nvSpPr>
          <p:cNvPr id="35" name="Text 33"/>
          <p:cNvSpPr txBox="1"/>
          <p:nvPr/>
        </p:nvSpPr>
        <p:spPr>
          <a:xfrm>
            <a:off x="2743200" y="4381500"/>
            <a:ext cx="762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02</a:t>
            </a:r>
            <a:endParaRPr lang="en-US" sz="1600" dirty="0"/>
          </a:p>
        </p:txBody>
      </p:sp>
      <p:sp>
        <p:nvSpPr>
          <p:cNvPr id="36" name="Text 34"/>
          <p:cNvSpPr txBox="1"/>
          <p:nvPr/>
        </p:nvSpPr>
        <p:spPr>
          <a:xfrm>
            <a:off x="2743200" y="4724400"/>
            <a:ext cx="190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3151C"/>
                </a:solidFill>
                <a:latin typeface="Plus Jakarta Sans" pitchFamily="34" charset="0"/>
                <a:ea typeface="Plus Jakarta Sans" pitchFamily="34" charset="-122"/>
                <a:cs typeface="Plus Jakarta Sans" pitchFamily="34" charset="-120"/>
              </a:rPr>
              <a:t>Enable</a:t>
            </a:r>
            <a:endParaRPr lang="en-US" sz="1500" dirty="0"/>
          </a:p>
        </p:txBody>
      </p:sp>
      <p:sp>
        <p:nvSpPr>
          <p:cNvPr id="37" name="Text 35"/>
          <p:cNvSpPr txBox="1"/>
          <p:nvPr/>
        </p:nvSpPr>
        <p:spPr>
          <a:xfrm>
            <a:off x="2743200" y="5029200"/>
            <a:ext cx="1905000" cy="3810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Certify your people</a:t>
            </a:r>
            <a:endParaRPr lang="en-US" sz="1000" dirty="0"/>
          </a:p>
        </p:txBody>
      </p:sp>
      <p:sp>
        <p:nvSpPr>
          <p:cNvPr id="38" name="Text 36"/>
          <p:cNvSpPr txBox="1"/>
          <p:nvPr/>
        </p:nvSpPr>
        <p:spPr>
          <a:xfrm>
            <a:off x="4533900" y="4724400"/>
            <a:ext cx="254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a:t>
            </a:r>
            <a:endParaRPr lang="en-US" sz="1500" dirty="0"/>
          </a:p>
        </p:txBody>
      </p:sp>
      <p:sp>
        <p:nvSpPr>
          <p:cNvPr id="39" name="Shape 37"/>
          <p:cNvSpPr/>
          <p:nvPr/>
        </p:nvSpPr>
        <p:spPr>
          <a:xfrm>
            <a:off x="4876800" y="4197350"/>
            <a:ext cx="6350" cy="1644650"/>
          </a:xfrm>
          <a:prstGeom prst="rect">
            <a:avLst/>
          </a:prstGeom>
          <a:solidFill>
            <a:srgbClr val="CDD0D9"/>
          </a:solidFill>
          <a:ln/>
        </p:spPr>
      </p:sp>
      <p:sp>
        <p:nvSpPr>
          <p:cNvPr id="40" name="Text 38"/>
          <p:cNvSpPr txBox="1"/>
          <p:nvPr/>
        </p:nvSpPr>
        <p:spPr>
          <a:xfrm>
            <a:off x="5181600" y="4381500"/>
            <a:ext cx="762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03</a:t>
            </a:r>
            <a:endParaRPr lang="en-US" sz="1600" dirty="0"/>
          </a:p>
        </p:txBody>
      </p:sp>
      <p:sp>
        <p:nvSpPr>
          <p:cNvPr id="41" name="Text 39"/>
          <p:cNvSpPr txBox="1"/>
          <p:nvPr/>
        </p:nvSpPr>
        <p:spPr>
          <a:xfrm>
            <a:off x="5181600" y="4724400"/>
            <a:ext cx="190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3151C"/>
                </a:solidFill>
                <a:latin typeface="Plus Jakarta Sans" pitchFamily="34" charset="0"/>
                <a:ea typeface="Plus Jakarta Sans" pitchFamily="34" charset="-122"/>
                <a:cs typeface="Plus Jakarta Sans" pitchFamily="34" charset="-120"/>
              </a:rPr>
              <a:t>Sell</a:t>
            </a:r>
            <a:endParaRPr lang="en-US" sz="1500" dirty="0"/>
          </a:p>
        </p:txBody>
      </p:sp>
      <p:sp>
        <p:nvSpPr>
          <p:cNvPr id="42" name="Text 40"/>
          <p:cNvSpPr txBox="1"/>
          <p:nvPr/>
        </p:nvSpPr>
        <p:spPr>
          <a:xfrm>
            <a:off x="5181600" y="5029200"/>
            <a:ext cx="1905000" cy="3810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Register, co-sell, earn</a:t>
            </a:r>
            <a:endParaRPr lang="en-US" sz="1000" dirty="0"/>
          </a:p>
        </p:txBody>
      </p:sp>
      <p:sp>
        <p:nvSpPr>
          <p:cNvPr id="43" name="Text 41"/>
          <p:cNvSpPr txBox="1"/>
          <p:nvPr/>
        </p:nvSpPr>
        <p:spPr>
          <a:xfrm>
            <a:off x="6972300" y="4724400"/>
            <a:ext cx="254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a:t>
            </a:r>
            <a:endParaRPr lang="en-US" sz="1500" dirty="0"/>
          </a:p>
        </p:txBody>
      </p:sp>
      <p:sp>
        <p:nvSpPr>
          <p:cNvPr id="44" name="Shape 42"/>
          <p:cNvSpPr/>
          <p:nvPr/>
        </p:nvSpPr>
        <p:spPr>
          <a:xfrm>
            <a:off x="7315200" y="4197350"/>
            <a:ext cx="6350" cy="1644650"/>
          </a:xfrm>
          <a:prstGeom prst="rect">
            <a:avLst/>
          </a:prstGeom>
          <a:solidFill>
            <a:srgbClr val="CDD0D9"/>
          </a:solidFill>
          <a:ln/>
        </p:spPr>
      </p:sp>
      <p:sp>
        <p:nvSpPr>
          <p:cNvPr id="45" name="Text 43"/>
          <p:cNvSpPr txBox="1"/>
          <p:nvPr/>
        </p:nvSpPr>
        <p:spPr>
          <a:xfrm>
            <a:off x="7620000" y="4381500"/>
            <a:ext cx="762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04</a:t>
            </a:r>
            <a:endParaRPr lang="en-US" sz="1600" dirty="0"/>
          </a:p>
        </p:txBody>
      </p:sp>
      <p:sp>
        <p:nvSpPr>
          <p:cNvPr id="46" name="Text 44"/>
          <p:cNvSpPr txBox="1"/>
          <p:nvPr/>
        </p:nvSpPr>
        <p:spPr>
          <a:xfrm>
            <a:off x="7620000" y="4724400"/>
            <a:ext cx="190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3151C"/>
                </a:solidFill>
                <a:latin typeface="Plus Jakarta Sans" pitchFamily="34" charset="0"/>
                <a:ea typeface="Plus Jakarta Sans" pitchFamily="34" charset="-122"/>
                <a:cs typeface="Plus Jakarta Sans" pitchFamily="34" charset="-120"/>
              </a:rPr>
              <a:t>Deliver</a:t>
            </a:r>
            <a:endParaRPr lang="en-US" sz="1500" dirty="0"/>
          </a:p>
        </p:txBody>
      </p:sp>
      <p:sp>
        <p:nvSpPr>
          <p:cNvPr id="47" name="Text 45"/>
          <p:cNvSpPr txBox="1"/>
          <p:nvPr/>
        </p:nvSpPr>
        <p:spPr>
          <a:xfrm>
            <a:off x="7620000" y="5029200"/>
            <a:ext cx="1905000" cy="3810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Adoption and renewals</a:t>
            </a:r>
            <a:endParaRPr lang="en-US" sz="1000" dirty="0"/>
          </a:p>
        </p:txBody>
      </p:sp>
      <p:sp>
        <p:nvSpPr>
          <p:cNvPr id="48" name="Text 46"/>
          <p:cNvSpPr txBox="1"/>
          <p:nvPr/>
        </p:nvSpPr>
        <p:spPr>
          <a:xfrm>
            <a:off x="9410700" y="4724400"/>
            <a:ext cx="254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a:t>
            </a:r>
            <a:endParaRPr lang="en-US" sz="1500" dirty="0"/>
          </a:p>
        </p:txBody>
      </p:sp>
      <p:sp>
        <p:nvSpPr>
          <p:cNvPr id="49" name="Shape 47"/>
          <p:cNvSpPr/>
          <p:nvPr/>
        </p:nvSpPr>
        <p:spPr>
          <a:xfrm>
            <a:off x="9753600" y="4197350"/>
            <a:ext cx="6350" cy="1644650"/>
          </a:xfrm>
          <a:prstGeom prst="rect">
            <a:avLst/>
          </a:prstGeom>
          <a:solidFill>
            <a:srgbClr val="CDD0D9"/>
          </a:solidFill>
          <a:ln/>
        </p:spPr>
      </p:sp>
      <p:sp>
        <p:nvSpPr>
          <p:cNvPr id="50" name="Shape 48"/>
          <p:cNvSpPr/>
          <p:nvPr/>
        </p:nvSpPr>
        <p:spPr>
          <a:xfrm>
            <a:off x="9759950" y="4197350"/>
            <a:ext cx="2432050" cy="1644650"/>
          </a:xfrm>
          <a:prstGeom prst="rect">
            <a:avLst/>
          </a:prstGeom>
          <a:solidFill>
            <a:srgbClr val="EDF1FF"/>
          </a:solidFill>
          <a:ln/>
        </p:spPr>
      </p:sp>
      <p:sp>
        <p:nvSpPr>
          <p:cNvPr id="51" name="Text 49"/>
          <p:cNvSpPr txBox="1"/>
          <p:nvPr/>
        </p:nvSpPr>
        <p:spPr>
          <a:xfrm>
            <a:off x="10058400" y="4381500"/>
            <a:ext cx="762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05</a:t>
            </a:r>
            <a:endParaRPr lang="en-US" sz="1600" dirty="0"/>
          </a:p>
        </p:txBody>
      </p:sp>
      <p:sp>
        <p:nvSpPr>
          <p:cNvPr id="52" name="Text 50"/>
          <p:cNvSpPr txBox="1"/>
          <p:nvPr/>
        </p:nvSpPr>
        <p:spPr>
          <a:xfrm>
            <a:off x="10058400" y="4724400"/>
            <a:ext cx="190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3151C"/>
                </a:solidFill>
                <a:latin typeface="Plus Jakarta Sans" pitchFamily="34" charset="0"/>
                <a:ea typeface="Plus Jakarta Sans" pitchFamily="34" charset="-122"/>
                <a:cs typeface="Plus Jakarta Sans" pitchFamily="34" charset="-120"/>
              </a:rPr>
              <a:t>Scale</a:t>
            </a:r>
            <a:endParaRPr lang="en-US" sz="1500" dirty="0"/>
          </a:p>
        </p:txBody>
      </p:sp>
      <p:sp>
        <p:nvSpPr>
          <p:cNvPr id="53" name="Text 51"/>
          <p:cNvSpPr txBox="1"/>
          <p:nvPr/>
        </p:nvSpPr>
        <p:spPr>
          <a:xfrm>
            <a:off x="10058400" y="5029200"/>
            <a:ext cx="1905000" cy="3810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Level up, unlock more</a:t>
            </a:r>
            <a:endParaRPr lang="en-US" sz="1000" dirty="0"/>
          </a:p>
        </p:txBody>
      </p:sp>
      <p:sp>
        <p:nvSpPr>
          <p:cNvPr id="54" name="Shape 52"/>
          <p:cNvSpPr/>
          <p:nvPr/>
        </p:nvSpPr>
        <p:spPr>
          <a:xfrm>
            <a:off x="0" y="5842000"/>
            <a:ext cx="12192000" cy="1016000"/>
          </a:xfrm>
          <a:prstGeom prst="rect">
            <a:avLst/>
          </a:prstGeom>
          <a:solidFill>
            <a:srgbClr val="F5F9FB"/>
          </a:solidFill>
          <a:ln/>
        </p:spPr>
      </p:sp>
      <p:pic>
        <p:nvPicPr>
          <p:cNvPr id="55"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56"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57" name="Text 53"/>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The Path</a:t>
            </a:r>
            <a:endParaRPr lang="en-US" sz="1200" dirty="0"/>
          </a:p>
        </p:txBody>
      </p:sp>
      <p:sp>
        <p:nvSpPr>
          <p:cNvPr id="58" name="Text 54"/>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Join, enable, sell, deliver and scale. Every level you reach unlocks more investment from DignifyX.</a:t>
            </a:r>
            <a:endParaRPr lang="en-US" sz="1100" dirty="0"/>
          </a:p>
        </p:txBody>
      </p:sp>
      <p:sp>
        <p:nvSpPr>
          <p:cNvPr id="59" name="Text 55"/>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02 · THE OPPORTUNITY</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Why partner with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DignifyX</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0" y="1250950"/>
            <a:ext cx="3048000" cy="4591050"/>
          </a:xfrm>
          <a:prstGeom prst="rect">
            <a:avLst/>
          </a:prstGeom>
          <a:solidFill>
            <a:srgbClr val="F5F9FB"/>
          </a:solidFill>
          <a:ln/>
        </p:spPr>
      </p:sp>
      <p:sp>
        <p:nvSpPr>
          <p:cNvPr id="7" name="Shape 5"/>
          <p:cNvSpPr/>
          <p:nvPr/>
        </p:nvSpPr>
        <p:spPr>
          <a:xfrm>
            <a:off x="3048000" y="1244600"/>
            <a:ext cx="6350" cy="4597400"/>
          </a:xfrm>
          <a:prstGeom prst="rect">
            <a:avLst/>
          </a:prstGeom>
          <a:solidFill>
            <a:srgbClr val="CDD0D9"/>
          </a:solidFill>
          <a:ln/>
        </p:spPr>
      </p:sp>
      <p:sp>
        <p:nvSpPr>
          <p:cNvPr id="8" name="Text 6"/>
          <p:cNvSpPr txBox="1"/>
          <p:nvPr/>
        </p:nvSpPr>
        <p:spPr>
          <a:xfrm>
            <a:off x="304800" y="1466850"/>
            <a:ext cx="2540000" cy="635000"/>
          </a:xfrm>
          <a:prstGeom prst="rect">
            <a:avLst/>
          </a:prstGeom>
          <a:noFill/>
          <a:ln/>
        </p:spPr>
        <p:txBody>
          <a:bodyPr wrap="square" lIns="0" tIns="0" rIns="0" bIns="0" rtlCol="0" anchor="t"/>
          <a:lstStyle/>
          <a:p>
            <a:pPr algn="l" indent="0" marL="0">
              <a:lnSpc>
                <a:spcPct val="112000"/>
              </a:lnSpc>
              <a:buNone/>
            </a:pPr>
            <a:r>
              <a:rPr lang="en-US" sz="4400" b="1" dirty="0">
                <a:solidFill>
                  <a:srgbClr val="13151C"/>
                </a:solidFill>
                <a:latin typeface="Plus Jakarta Sans" pitchFamily="34" charset="0"/>
                <a:ea typeface="Plus Jakarta Sans" pitchFamily="34" charset="-122"/>
                <a:cs typeface="Plus Jakarta Sans" pitchFamily="34" charset="-120"/>
              </a:rPr>
              <a:t>4</a:t>
            </a:r>
            <a:endParaRPr lang="en-US" sz="4400" dirty="0"/>
          </a:p>
        </p:txBody>
      </p:sp>
      <p:sp>
        <p:nvSpPr>
          <p:cNvPr id="9" name="Text 7"/>
          <p:cNvSpPr txBox="1"/>
          <p:nvPr/>
        </p:nvSpPr>
        <p:spPr>
          <a:xfrm>
            <a:off x="304800" y="2139950"/>
            <a:ext cx="2476500" cy="444500"/>
          </a:xfrm>
          <a:prstGeom prst="rect">
            <a:avLst/>
          </a:prstGeom>
          <a:noFill/>
          <a:ln/>
        </p:spPr>
        <p:txBody>
          <a:bodyPr wrap="square" lIns="0" tIns="0" rIns="0" bIns="0" rtlCol="0" anchor="t"/>
          <a:lstStyle/>
          <a:p>
            <a:pPr algn="l" indent="0" marL="0">
              <a:lnSpc>
                <a:spcPct val="112000"/>
              </a:lnSpc>
              <a:buNone/>
            </a:pPr>
            <a:r>
              <a:rPr lang="en-US" sz="1050" dirty="0">
                <a:solidFill>
                  <a:srgbClr val="5A5C63"/>
                </a:solidFill>
                <a:latin typeface="Plus Jakarta Sans" pitchFamily="34" charset="0"/>
                <a:ea typeface="Plus Jakarta Sans" pitchFamily="34" charset="-122"/>
                <a:cs typeface="Plus Jakarta Sans" pitchFamily="34" charset="-120"/>
              </a:rPr>
              <a:t>pilot agencies across Singapore, Malaysia and Indonesia</a:t>
            </a:r>
            <a:endParaRPr lang="en-US" sz="1050" dirty="0"/>
          </a:p>
        </p:txBody>
      </p:sp>
      <p:sp>
        <p:nvSpPr>
          <p:cNvPr id="10" name="Shape 8"/>
          <p:cNvSpPr/>
          <p:nvPr/>
        </p:nvSpPr>
        <p:spPr>
          <a:xfrm>
            <a:off x="0" y="2781300"/>
            <a:ext cx="3048000" cy="6350"/>
          </a:xfrm>
          <a:prstGeom prst="rect">
            <a:avLst/>
          </a:prstGeom>
          <a:solidFill>
            <a:srgbClr val="CDD0D9"/>
          </a:solidFill>
          <a:ln/>
        </p:spPr>
      </p:sp>
      <p:sp>
        <p:nvSpPr>
          <p:cNvPr id="11" name="Text 9"/>
          <p:cNvSpPr txBox="1"/>
          <p:nvPr/>
        </p:nvSpPr>
        <p:spPr>
          <a:xfrm>
            <a:off x="304800" y="2997200"/>
            <a:ext cx="2540000" cy="635000"/>
          </a:xfrm>
          <a:prstGeom prst="rect">
            <a:avLst/>
          </a:prstGeom>
          <a:noFill/>
          <a:ln/>
        </p:spPr>
        <p:txBody>
          <a:bodyPr wrap="square" lIns="0" tIns="0" rIns="0" bIns="0" rtlCol="0" anchor="t"/>
          <a:lstStyle/>
          <a:p>
            <a:pPr algn="l" indent="0" marL="0">
              <a:lnSpc>
                <a:spcPct val="112000"/>
              </a:lnSpc>
              <a:buNone/>
            </a:pPr>
            <a:r>
              <a:rPr lang="en-US" sz="4400" b="1" dirty="0">
                <a:solidFill>
                  <a:srgbClr val="13151C"/>
                </a:solidFill>
                <a:latin typeface="Plus Jakarta Sans" pitchFamily="34" charset="0"/>
                <a:ea typeface="Plus Jakarta Sans" pitchFamily="34" charset="-122"/>
                <a:cs typeface="Plus Jakarta Sans" pitchFamily="34" charset="-120"/>
              </a:rPr>
              <a:t>~400</a:t>
            </a:r>
            <a:endParaRPr lang="en-US" sz="4400" dirty="0"/>
          </a:p>
        </p:txBody>
      </p:sp>
      <p:sp>
        <p:nvSpPr>
          <p:cNvPr id="12" name="Text 10"/>
          <p:cNvSpPr txBox="1"/>
          <p:nvPr/>
        </p:nvSpPr>
        <p:spPr>
          <a:xfrm>
            <a:off x="304800" y="3670300"/>
            <a:ext cx="2476500" cy="444500"/>
          </a:xfrm>
          <a:prstGeom prst="rect">
            <a:avLst/>
          </a:prstGeom>
          <a:noFill/>
          <a:ln/>
        </p:spPr>
        <p:txBody>
          <a:bodyPr wrap="square" lIns="0" tIns="0" rIns="0" bIns="0" rtlCol="0" anchor="t"/>
          <a:lstStyle/>
          <a:p>
            <a:pPr algn="l" indent="0" marL="0">
              <a:lnSpc>
                <a:spcPct val="112000"/>
              </a:lnSpc>
              <a:buNone/>
            </a:pPr>
            <a:r>
              <a:rPr lang="en-US" sz="1050" dirty="0">
                <a:solidFill>
                  <a:srgbClr val="5A5C63"/>
                </a:solidFill>
                <a:latin typeface="Plus Jakarta Sans" pitchFamily="34" charset="0"/>
                <a:ea typeface="Plus Jakarta Sans" pitchFamily="34" charset="-122"/>
                <a:cs typeface="Plus Jakarta Sans" pitchFamily="34" charset="-120"/>
              </a:rPr>
              <a:t>beta users in Malaysia on the DX App</a:t>
            </a:r>
            <a:endParaRPr lang="en-US" sz="1050" dirty="0"/>
          </a:p>
        </p:txBody>
      </p:sp>
      <p:sp>
        <p:nvSpPr>
          <p:cNvPr id="13" name="Shape 11"/>
          <p:cNvSpPr/>
          <p:nvPr/>
        </p:nvSpPr>
        <p:spPr>
          <a:xfrm>
            <a:off x="0" y="4311650"/>
            <a:ext cx="3048000" cy="6350"/>
          </a:xfrm>
          <a:prstGeom prst="rect">
            <a:avLst/>
          </a:prstGeom>
          <a:solidFill>
            <a:srgbClr val="CDD0D9"/>
          </a:solidFill>
          <a:ln/>
        </p:spPr>
      </p:sp>
      <p:sp>
        <p:nvSpPr>
          <p:cNvPr id="14" name="Text 12"/>
          <p:cNvSpPr txBox="1"/>
          <p:nvPr/>
        </p:nvSpPr>
        <p:spPr>
          <a:xfrm>
            <a:off x="304800" y="4527550"/>
            <a:ext cx="2540000" cy="635000"/>
          </a:xfrm>
          <a:prstGeom prst="rect">
            <a:avLst/>
          </a:prstGeom>
          <a:noFill/>
          <a:ln/>
        </p:spPr>
        <p:txBody>
          <a:bodyPr wrap="square" lIns="0" tIns="0" rIns="0" bIns="0" rtlCol="0" anchor="t"/>
          <a:lstStyle/>
          <a:p>
            <a:pPr algn="l" indent="0" marL="0">
              <a:lnSpc>
                <a:spcPct val="112000"/>
              </a:lnSpc>
              <a:buNone/>
            </a:pPr>
            <a:r>
              <a:rPr lang="en-US" sz="4400" b="1" dirty="0">
                <a:solidFill>
                  <a:srgbClr val="13151C"/>
                </a:solidFill>
                <a:latin typeface="Plus Jakarta Sans" pitchFamily="34" charset="0"/>
                <a:ea typeface="Plus Jakarta Sans" pitchFamily="34" charset="-122"/>
                <a:cs typeface="Plus Jakarta Sans" pitchFamily="34" charset="-120"/>
              </a:rPr>
              <a:t>3</a:t>
            </a:r>
            <a:endParaRPr lang="en-US" sz="4400" dirty="0"/>
          </a:p>
        </p:txBody>
      </p:sp>
      <p:sp>
        <p:nvSpPr>
          <p:cNvPr id="15" name="Text 13"/>
          <p:cNvSpPr txBox="1"/>
          <p:nvPr/>
        </p:nvSpPr>
        <p:spPr>
          <a:xfrm>
            <a:off x="304800" y="5200650"/>
            <a:ext cx="2476500" cy="444500"/>
          </a:xfrm>
          <a:prstGeom prst="rect">
            <a:avLst/>
          </a:prstGeom>
          <a:noFill/>
          <a:ln/>
        </p:spPr>
        <p:txBody>
          <a:bodyPr wrap="square" lIns="0" tIns="0" rIns="0" bIns="0" rtlCol="0" anchor="t"/>
          <a:lstStyle/>
          <a:p>
            <a:pPr algn="l" indent="0" marL="0">
              <a:lnSpc>
                <a:spcPct val="112000"/>
              </a:lnSpc>
              <a:buNone/>
            </a:pPr>
            <a:r>
              <a:rPr lang="en-US" sz="1050" dirty="0">
                <a:solidFill>
                  <a:srgbClr val="5A5C63"/>
                </a:solidFill>
                <a:latin typeface="Plus Jakarta Sans" pitchFamily="34" charset="0"/>
                <a:ea typeface="Plus Jakarta Sans" pitchFamily="34" charset="-122"/>
                <a:cs typeface="Plus Jakarta Sans" pitchFamily="34" charset="-120"/>
              </a:rPr>
              <a:t>agencies converted to a paid annual plan</a:t>
            </a:r>
            <a:endParaRPr lang="en-US" sz="1050" dirty="0"/>
          </a:p>
        </p:txBody>
      </p:sp>
      <p:sp>
        <p:nvSpPr>
          <p:cNvPr id="16" name="Text 14"/>
          <p:cNvSpPr txBox="1"/>
          <p:nvPr/>
        </p:nvSpPr>
        <p:spPr>
          <a:xfrm>
            <a:off x="3308350" y="140335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01</a:t>
            </a:r>
            <a:endParaRPr lang="en-US" sz="1300" dirty="0"/>
          </a:p>
        </p:txBody>
      </p:sp>
      <p:sp>
        <p:nvSpPr>
          <p:cNvPr id="17" name="Text 15"/>
          <p:cNvSpPr txBox="1"/>
          <p:nvPr/>
        </p:nvSpPr>
        <p:spPr>
          <a:xfrm>
            <a:off x="3308350" y="1631950"/>
            <a:ext cx="2540000" cy="2159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Market relevance</a:t>
            </a:r>
            <a:endParaRPr lang="en-US" sz="1200" dirty="0"/>
          </a:p>
        </p:txBody>
      </p:sp>
      <p:sp>
        <p:nvSpPr>
          <p:cNvPr id="18" name="Text 16"/>
          <p:cNvSpPr txBox="1"/>
          <p:nvPr/>
        </p:nvSpPr>
        <p:spPr>
          <a:xfrm>
            <a:off x="3308350" y="1860550"/>
            <a:ext cx="257175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Tap growing demand for AI-powered coaching, agency leadership, activation and productivity in life insurance.</a:t>
            </a:r>
            <a:endParaRPr lang="en-US" sz="900" dirty="0"/>
          </a:p>
        </p:txBody>
      </p:sp>
      <p:sp>
        <p:nvSpPr>
          <p:cNvPr id="19" name="Shape 17"/>
          <p:cNvSpPr/>
          <p:nvPr/>
        </p:nvSpPr>
        <p:spPr>
          <a:xfrm>
            <a:off x="6102350" y="1250950"/>
            <a:ext cx="6350" cy="1143000"/>
          </a:xfrm>
          <a:prstGeom prst="rect">
            <a:avLst/>
          </a:prstGeom>
          <a:solidFill>
            <a:srgbClr val="CDD0D9"/>
          </a:solidFill>
          <a:ln/>
        </p:spPr>
      </p:sp>
      <p:sp>
        <p:nvSpPr>
          <p:cNvPr id="20" name="Text 18"/>
          <p:cNvSpPr txBox="1"/>
          <p:nvPr/>
        </p:nvSpPr>
        <p:spPr>
          <a:xfrm>
            <a:off x="6356350" y="140335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02</a:t>
            </a:r>
            <a:endParaRPr lang="en-US" sz="1300" dirty="0"/>
          </a:p>
        </p:txBody>
      </p:sp>
      <p:sp>
        <p:nvSpPr>
          <p:cNvPr id="21" name="Text 19"/>
          <p:cNvSpPr txBox="1"/>
          <p:nvPr/>
        </p:nvSpPr>
        <p:spPr>
          <a:xfrm>
            <a:off x="6356350" y="1631950"/>
            <a:ext cx="2540000" cy="2159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Structured partner path</a:t>
            </a:r>
            <a:endParaRPr lang="en-US" sz="1200" dirty="0"/>
          </a:p>
        </p:txBody>
      </p:sp>
      <p:sp>
        <p:nvSpPr>
          <p:cNvPr id="22" name="Text 20"/>
          <p:cNvSpPr txBox="1"/>
          <p:nvPr/>
        </p:nvSpPr>
        <p:spPr>
          <a:xfrm>
            <a:off x="6356350" y="1860550"/>
            <a:ext cx="257175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Progress through defined levels based on capability, pipeline, certifications, customer success and performance.</a:t>
            </a:r>
            <a:endParaRPr lang="en-US" sz="900" dirty="0"/>
          </a:p>
        </p:txBody>
      </p:sp>
      <p:sp>
        <p:nvSpPr>
          <p:cNvPr id="23" name="Shape 21"/>
          <p:cNvSpPr/>
          <p:nvPr/>
        </p:nvSpPr>
        <p:spPr>
          <a:xfrm>
            <a:off x="9150350" y="1250950"/>
            <a:ext cx="6350" cy="1143000"/>
          </a:xfrm>
          <a:prstGeom prst="rect">
            <a:avLst/>
          </a:prstGeom>
          <a:solidFill>
            <a:srgbClr val="CDD0D9"/>
          </a:solidFill>
          <a:ln/>
        </p:spPr>
      </p:sp>
      <p:sp>
        <p:nvSpPr>
          <p:cNvPr id="24" name="Text 22"/>
          <p:cNvSpPr txBox="1"/>
          <p:nvPr/>
        </p:nvSpPr>
        <p:spPr>
          <a:xfrm>
            <a:off x="9404350" y="140335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03</a:t>
            </a:r>
            <a:endParaRPr lang="en-US" sz="1300" dirty="0"/>
          </a:p>
        </p:txBody>
      </p:sp>
      <p:sp>
        <p:nvSpPr>
          <p:cNvPr id="25" name="Text 23"/>
          <p:cNvSpPr txBox="1"/>
          <p:nvPr/>
        </p:nvSpPr>
        <p:spPr>
          <a:xfrm>
            <a:off x="9404350" y="1631950"/>
            <a:ext cx="2540000" cy="2159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Commercial upside</a:t>
            </a:r>
            <a:endParaRPr lang="en-US" sz="1200" dirty="0"/>
          </a:p>
        </p:txBody>
      </p:sp>
      <p:sp>
        <p:nvSpPr>
          <p:cNvPr id="26" name="Text 24"/>
          <p:cNvSpPr txBox="1"/>
          <p:nvPr/>
        </p:nvSpPr>
        <p:spPr>
          <a:xfrm>
            <a:off x="9404350" y="1860550"/>
            <a:ext cx="257175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Role-based incentives for sourced, driven, assisted, referral, renewal, expansion and marketplace motions.</a:t>
            </a:r>
            <a:endParaRPr lang="en-US" sz="900" dirty="0"/>
          </a:p>
        </p:txBody>
      </p:sp>
      <p:sp>
        <p:nvSpPr>
          <p:cNvPr id="27" name="Shape 25"/>
          <p:cNvSpPr/>
          <p:nvPr/>
        </p:nvSpPr>
        <p:spPr>
          <a:xfrm>
            <a:off x="3054350" y="2393950"/>
            <a:ext cx="9137650" cy="6350"/>
          </a:xfrm>
          <a:prstGeom prst="rect">
            <a:avLst/>
          </a:prstGeom>
          <a:solidFill>
            <a:srgbClr val="CDD0D9"/>
          </a:solidFill>
          <a:ln/>
        </p:spPr>
      </p:sp>
      <p:sp>
        <p:nvSpPr>
          <p:cNvPr id="28" name="Text 26"/>
          <p:cNvSpPr txBox="1"/>
          <p:nvPr/>
        </p:nvSpPr>
        <p:spPr>
          <a:xfrm>
            <a:off x="3308350" y="254635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04</a:t>
            </a:r>
            <a:endParaRPr lang="en-US" sz="1300" dirty="0"/>
          </a:p>
        </p:txBody>
      </p:sp>
      <p:sp>
        <p:nvSpPr>
          <p:cNvPr id="29" name="Text 27"/>
          <p:cNvSpPr txBox="1"/>
          <p:nvPr/>
        </p:nvSpPr>
        <p:spPr>
          <a:xfrm>
            <a:off x="3308350" y="2774950"/>
            <a:ext cx="2540000" cy="2159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Enablement &amp; support</a:t>
            </a:r>
            <a:endParaRPr lang="en-US" sz="1200" dirty="0"/>
          </a:p>
        </p:txBody>
      </p:sp>
      <p:sp>
        <p:nvSpPr>
          <p:cNvPr id="30" name="Text 28"/>
          <p:cNvSpPr txBox="1"/>
          <p:nvPr/>
        </p:nvSpPr>
        <p:spPr>
          <a:xfrm>
            <a:off x="3308350" y="3003550"/>
            <a:ext cx="257175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Sales enablement, certification paths, demo support, presales coordination and technical advisory.</a:t>
            </a:r>
            <a:endParaRPr lang="en-US" sz="900" dirty="0"/>
          </a:p>
        </p:txBody>
      </p:sp>
      <p:sp>
        <p:nvSpPr>
          <p:cNvPr id="31" name="Shape 29"/>
          <p:cNvSpPr/>
          <p:nvPr/>
        </p:nvSpPr>
        <p:spPr>
          <a:xfrm>
            <a:off x="6102350" y="2393950"/>
            <a:ext cx="6350" cy="1143000"/>
          </a:xfrm>
          <a:prstGeom prst="rect">
            <a:avLst/>
          </a:prstGeom>
          <a:solidFill>
            <a:srgbClr val="CDD0D9"/>
          </a:solidFill>
          <a:ln/>
        </p:spPr>
      </p:sp>
      <p:sp>
        <p:nvSpPr>
          <p:cNvPr id="32" name="Shape 30"/>
          <p:cNvSpPr/>
          <p:nvPr/>
        </p:nvSpPr>
        <p:spPr>
          <a:xfrm>
            <a:off x="3054350" y="2393950"/>
            <a:ext cx="9137650" cy="6350"/>
          </a:xfrm>
          <a:prstGeom prst="rect">
            <a:avLst/>
          </a:prstGeom>
          <a:solidFill>
            <a:srgbClr val="CDD0D9"/>
          </a:solidFill>
          <a:ln/>
        </p:spPr>
      </p:sp>
      <p:sp>
        <p:nvSpPr>
          <p:cNvPr id="33" name="Text 31"/>
          <p:cNvSpPr txBox="1"/>
          <p:nvPr/>
        </p:nvSpPr>
        <p:spPr>
          <a:xfrm>
            <a:off x="6356350" y="254635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05</a:t>
            </a:r>
            <a:endParaRPr lang="en-US" sz="1300" dirty="0"/>
          </a:p>
        </p:txBody>
      </p:sp>
      <p:sp>
        <p:nvSpPr>
          <p:cNvPr id="34" name="Text 32"/>
          <p:cNvSpPr txBox="1"/>
          <p:nvPr/>
        </p:nvSpPr>
        <p:spPr>
          <a:xfrm>
            <a:off x="6356350" y="2774950"/>
            <a:ext cx="2540000" cy="2159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Joint GTM</a:t>
            </a:r>
            <a:endParaRPr lang="en-US" sz="1200" dirty="0"/>
          </a:p>
        </p:txBody>
      </p:sp>
      <p:sp>
        <p:nvSpPr>
          <p:cNvPr id="35" name="Text 33"/>
          <p:cNvSpPr txBox="1"/>
          <p:nvPr/>
        </p:nvSpPr>
        <p:spPr>
          <a:xfrm>
            <a:off x="6356350" y="3003550"/>
            <a:ext cx="257175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Account mapping, webinars, leader roundtables, thought leadership and alliance motions.</a:t>
            </a:r>
            <a:endParaRPr lang="en-US" sz="900" dirty="0"/>
          </a:p>
        </p:txBody>
      </p:sp>
      <p:sp>
        <p:nvSpPr>
          <p:cNvPr id="36" name="Shape 34"/>
          <p:cNvSpPr/>
          <p:nvPr/>
        </p:nvSpPr>
        <p:spPr>
          <a:xfrm>
            <a:off x="9150350" y="2393950"/>
            <a:ext cx="6350" cy="1143000"/>
          </a:xfrm>
          <a:prstGeom prst="rect">
            <a:avLst/>
          </a:prstGeom>
          <a:solidFill>
            <a:srgbClr val="CDD0D9"/>
          </a:solidFill>
          <a:ln/>
        </p:spPr>
      </p:sp>
      <p:sp>
        <p:nvSpPr>
          <p:cNvPr id="37" name="Shape 35"/>
          <p:cNvSpPr/>
          <p:nvPr/>
        </p:nvSpPr>
        <p:spPr>
          <a:xfrm>
            <a:off x="3054350" y="2393950"/>
            <a:ext cx="9137650" cy="6350"/>
          </a:xfrm>
          <a:prstGeom prst="rect">
            <a:avLst/>
          </a:prstGeom>
          <a:solidFill>
            <a:srgbClr val="CDD0D9"/>
          </a:solidFill>
          <a:ln/>
        </p:spPr>
      </p:sp>
      <p:sp>
        <p:nvSpPr>
          <p:cNvPr id="38" name="Text 36"/>
          <p:cNvSpPr txBox="1"/>
          <p:nvPr/>
        </p:nvSpPr>
        <p:spPr>
          <a:xfrm>
            <a:off x="9404350" y="254635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06</a:t>
            </a:r>
            <a:endParaRPr lang="en-US" sz="1300" dirty="0"/>
          </a:p>
        </p:txBody>
      </p:sp>
      <p:sp>
        <p:nvSpPr>
          <p:cNvPr id="39" name="Text 37"/>
          <p:cNvSpPr txBox="1"/>
          <p:nvPr/>
        </p:nvSpPr>
        <p:spPr>
          <a:xfrm>
            <a:off x="9404350" y="2774950"/>
            <a:ext cx="2540000" cy="2159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Strategic growth</a:t>
            </a:r>
            <a:endParaRPr lang="en-US" sz="1200" dirty="0"/>
          </a:p>
        </p:txBody>
      </p:sp>
      <p:sp>
        <p:nvSpPr>
          <p:cNvPr id="40" name="Text 38"/>
          <p:cNvSpPr txBox="1"/>
          <p:nvPr/>
        </p:nvSpPr>
        <p:spPr>
          <a:xfrm>
            <a:off x="9404350" y="3003550"/>
            <a:ext cx="257175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Regional or multi-country growth plans through joint business planning and executive sponsorship.</a:t>
            </a:r>
            <a:endParaRPr lang="en-US" sz="900" dirty="0"/>
          </a:p>
        </p:txBody>
      </p:sp>
      <p:sp>
        <p:nvSpPr>
          <p:cNvPr id="41" name="Shape 39"/>
          <p:cNvSpPr/>
          <p:nvPr/>
        </p:nvSpPr>
        <p:spPr>
          <a:xfrm>
            <a:off x="3054350" y="3536950"/>
            <a:ext cx="9137650" cy="2305050"/>
          </a:xfrm>
          <a:prstGeom prst="rect">
            <a:avLst/>
          </a:prstGeom>
          <a:solidFill>
            <a:srgbClr val="13151C"/>
          </a:solidFill>
          <a:ln/>
        </p:spPr>
      </p:sp>
      <p:sp>
        <p:nvSpPr>
          <p:cNvPr id="42" name="Text 40"/>
          <p:cNvSpPr txBox="1"/>
          <p:nvPr/>
        </p:nvSpPr>
        <p:spPr>
          <a:xfrm>
            <a:off x="3308350" y="3657600"/>
            <a:ext cx="8255000" cy="1778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5B6FF"/>
                </a:solidFill>
                <a:latin typeface="Plus Jakarta Sans" pitchFamily="34" charset="0"/>
                <a:ea typeface="Plus Jakarta Sans" pitchFamily="34" charset="-122"/>
                <a:cs typeface="Plus Jakarta Sans" pitchFamily="34" charset="-120"/>
              </a:rPr>
              <a:t>THE DIGNIFYX PLATFORM: SIX PRODUCTS FOR LIFE-INSURANCE AGENCY</a:t>
            </a:r>
            <a:endParaRPr lang="en-US" sz="850" dirty="0"/>
          </a:p>
        </p:txBody>
      </p:sp>
      <p:pic>
        <p:nvPicPr>
          <p:cNvPr id="43" name="Image 0" descr="/tmp/claude-0/-home-user-hosting/7c832a48-0979-56aa-9fdf-7d53efb9dc7a/scratchpad/build/img/intelligent-coaching.png">    </p:cNvPr>
          <p:cNvPicPr>
            <a:picLocks noChangeAspect="1"/>
          </p:cNvPicPr>
          <p:nvPr/>
        </p:nvPicPr>
        <p:blipFill>
          <a:blip r:embed="rId1"/>
          <a:stretch>
            <a:fillRect/>
          </a:stretch>
        </p:blipFill>
        <p:spPr>
          <a:xfrm>
            <a:off x="3530600" y="4173856"/>
            <a:ext cx="2095500" cy="466088"/>
          </a:xfrm>
          <a:prstGeom prst="rect">
            <a:avLst/>
          </a:prstGeom>
        </p:spPr>
      </p:pic>
      <p:pic>
        <p:nvPicPr>
          <p:cNvPr id="44" name="Image 1" descr="/tmp/claude-0/-home-user-hosting/7c832a48-0979-56aa-9fdf-7d53efb9dc7a/scratchpad/build/img/dx-coach.png">    </p:cNvPr>
          <p:cNvPicPr>
            <a:picLocks noChangeAspect="1"/>
          </p:cNvPicPr>
          <p:nvPr/>
        </p:nvPicPr>
        <p:blipFill>
          <a:blip r:embed="rId2"/>
          <a:stretch>
            <a:fillRect/>
          </a:stretch>
        </p:blipFill>
        <p:spPr>
          <a:xfrm>
            <a:off x="6578600" y="4228679"/>
            <a:ext cx="2095500" cy="356441"/>
          </a:xfrm>
          <a:prstGeom prst="rect">
            <a:avLst/>
          </a:prstGeom>
        </p:spPr>
      </p:pic>
      <p:pic>
        <p:nvPicPr>
          <p:cNvPr id="45" name="Image 2" descr="/tmp/claude-0/-home-user-hosting/7c832a48-0979-56aa-9fdf-7d53efb9dc7a/scratchpad/build/img/dx-learn.png">    </p:cNvPr>
          <p:cNvPicPr>
            <a:picLocks noChangeAspect="1"/>
          </p:cNvPicPr>
          <p:nvPr/>
        </p:nvPicPr>
        <p:blipFill>
          <a:blip r:embed="rId3"/>
          <a:stretch>
            <a:fillRect/>
          </a:stretch>
        </p:blipFill>
        <p:spPr>
          <a:xfrm>
            <a:off x="9626600" y="4148887"/>
            <a:ext cx="2095500" cy="516027"/>
          </a:xfrm>
          <a:prstGeom prst="rect">
            <a:avLst/>
          </a:prstGeom>
        </p:spPr>
      </p:pic>
      <p:pic>
        <p:nvPicPr>
          <p:cNvPr id="46" name="Image 3" descr="/tmp/claude-0/-home-user-hosting/7c832a48-0979-56aa-9fdf-7d53efb9dc7a/scratchpad/build/img/ai-customer-role-play.png">    </p:cNvPr>
          <p:cNvPicPr>
            <a:picLocks noChangeAspect="1"/>
          </p:cNvPicPr>
          <p:nvPr/>
        </p:nvPicPr>
        <p:blipFill>
          <a:blip r:embed="rId4"/>
          <a:stretch>
            <a:fillRect/>
          </a:stretch>
        </p:blipFill>
        <p:spPr>
          <a:xfrm>
            <a:off x="3556212" y="5010150"/>
            <a:ext cx="2044277" cy="698500"/>
          </a:xfrm>
          <a:prstGeom prst="rect">
            <a:avLst/>
          </a:prstGeom>
        </p:spPr>
      </p:pic>
      <p:pic>
        <p:nvPicPr>
          <p:cNvPr id="47" name="Image 4" descr="/tmp/claude-0/-home-user-hosting/7c832a48-0979-56aa-9fdf-7d53efb9dc7a/scratchpad/build/img/virtual-joint-fieldwork.png">    </p:cNvPr>
          <p:cNvPicPr>
            <a:picLocks noChangeAspect="1"/>
          </p:cNvPicPr>
          <p:nvPr/>
        </p:nvPicPr>
        <p:blipFill>
          <a:blip r:embed="rId5"/>
          <a:stretch>
            <a:fillRect/>
          </a:stretch>
        </p:blipFill>
        <p:spPr>
          <a:xfrm>
            <a:off x="6578600" y="5033147"/>
            <a:ext cx="2095500" cy="652505"/>
          </a:xfrm>
          <a:prstGeom prst="rect">
            <a:avLst/>
          </a:prstGeom>
        </p:spPr>
      </p:pic>
      <p:pic>
        <p:nvPicPr>
          <p:cNvPr id="48" name="Image 5" descr="/tmp/claude-0/-home-user-hosting/7c832a48-0979-56aa-9fdf-7d53efb9dc7a/scratchpad/build/img/agency-leader-avatar.png">    </p:cNvPr>
          <p:cNvPicPr>
            <a:picLocks noChangeAspect="1"/>
          </p:cNvPicPr>
          <p:nvPr/>
        </p:nvPicPr>
        <p:blipFill>
          <a:blip r:embed="rId6"/>
          <a:stretch>
            <a:fillRect/>
          </a:stretch>
        </p:blipFill>
        <p:spPr>
          <a:xfrm>
            <a:off x="9940298" y="5010150"/>
            <a:ext cx="1468105" cy="698500"/>
          </a:xfrm>
          <a:prstGeom prst="rect">
            <a:avLst/>
          </a:prstGeom>
        </p:spPr>
      </p:pic>
      <p:sp>
        <p:nvSpPr>
          <p:cNvPr id="49" name="Shape 41"/>
          <p:cNvSpPr/>
          <p:nvPr/>
        </p:nvSpPr>
        <p:spPr>
          <a:xfrm>
            <a:off x="0" y="5842000"/>
            <a:ext cx="12192000" cy="1016000"/>
          </a:xfrm>
          <a:prstGeom prst="rect">
            <a:avLst/>
          </a:prstGeom>
          <a:solidFill>
            <a:srgbClr val="F5F9FB"/>
          </a:solidFill>
          <a:ln/>
        </p:spPr>
      </p:sp>
      <p:pic>
        <p:nvPicPr>
          <p:cNvPr id="50" name="Image 6" descr="/tmp/claude-0/-home-user-hosting/7c832a48-0979-56aa-9fdf-7d53efb9dc7a/scratchpad/build/img/motif-left.png">    </p:cNvPr>
          <p:cNvPicPr>
            <a:picLocks noChangeAspect="1"/>
          </p:cNvPicPr>
          <p:nvPr/>
        </p:nvPicPr>
        <p:blipFill>
          <a:blip r:embed="rId7"/>
          <a:stretch>
            <a:fillRect/>
          </a:stretch>
        </p:blipFill>
        <p:spPr>
          <a:xfrm>
            <a:off x="0" y="5842000"/>
            <a:ext cx="844550" cy="1016000"/>
          </a:xfrm>
          <a:prstGeom prst="rect">
            <a:avLst/>
          </a:prstGeom>
        </p:spPr>
      </p:pic>
      <p:pic>
        <p:nvPicPr>
          <p:cNvPr id="51" name="Image 7" descr="/tmp/claude-0/-home-user-hosting/7c832a48-0979-56aa-9fdf-7d53efb9dc7a/scratchpad/build/img/motif-right.png">    </p:cNvPr>
          <p:cNvPicPr>
            <a:picLocks noChangeAspect="1"/>
          </p:cNvPicPr>
          <p:nvPr/>
        </p:nvPicPr>
        <p:blipFill>
          <a:blip r:embed="rId8"/>
          <a:stretch>
            <a:fillRect/>
          </a:stretch>
        </p:blipFill>
        <p:spPr>
          <a:xfrm>
            <a:off x="11347450" y="5842000"/>
            <a:ext cx="844550" cy="1016000"/>
          </a:xfrm>
          <a:prstGeom prst="rect">
            <a:avLst/>
          </a:prstGeom>
        </p:spPr>
      </p:pic>
      <p:sp>
        <p:nvSpPr>
          <p:cNvPr id="52" name="Text 42"/>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Built with Agency</a:t>
            </a:r>
            <a:endParaRPr lang="en-US" sz="1200" dirty="0"/>
          </a:p>
        </p:txBody>
      </p:sp>
      <p:sp>
        <p:nvSpPr>
          <p:cNvPr id="53" name="Text 43"/>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DignifyX partners extend market reach, build customer trust, bring domain knowledge and create repeatable go-to-market motions.</a:t>
            </a:r>
            <a:endParaRPr lang="en-US" sz="1100" dirty="0"/>
          </a:p>
        </p:txBody>
      </p:sp>
      <p:sp>
        <p:nvSpPr>
          <p:cNvPr id="54" name="Text 44"/>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03 · HOW THE PROGRAMME WORKS</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Global by design, applied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locally</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with trust built into every motion</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0" y="1250950"/>
            <a:ext cx="2432050" cy="3067050"/>
          </a:xfrm>
          <a:prstGeom prst="rect">
            <a:avLst/>
          </a:prstGeom>
          <a:solidFill>
            <a:srgbClr val="F7FBFD"/>
          </a:solidFill>
          <a:ln/>
        </p:spPr>
      </p:sp>
      <p:sp>
        <p:nvSpPr>
          <p:cNvPr id="7" name="Text 5"/>
          <p:cNvSpPr txBox="1"/>
          <p:nvPr/>
        </p:nvSpPr>
        <p:spPr>
          <a:xfrm>
            <a:off x="254000" y="1473200"/>
            <a:ext cx="762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01</a:t>
            </a:r>
            <a:endParaRPr lang="en-US" sz="1600" dirty="0"/>
          </a:p>
        </p:txBody>
      </p:sp>
      <p:sp>
        <p:nvSpPr>
          <p:cNvPr id="8" name="Text 6"/>
          <p:cNvSpPr txBox="1"/>
          <p:nvPr/>
        </p:nvSpPr>
        <p:spPr>
          <a:xfrm>
            <a:off x="254000" y="1841500"/>
            <a:ext cx="1968500" cy="635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Partner-led growth</a:t>
            </a:r>
            <a:endParaRPr lang="en-US" sz="1300" dirty="0"/>
          </a:p>
        </p:txBody>
      </p:sp>
      <p:sp>
        <p:nvSpPr>
          <p:cNvPr id="9" name="Text 7"/>
          <p:cNvSpPr txBox="1"/>
          <p:nvPr/>
        </p:nvSpPr>
        <p:spPr>
          <a:xfrm>
            <a:off x="254000" y="2540000"/>
            <a:ext cx="1968500" cy="1651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DignifyX rewards partners that create qualified opportunities, drive value, support implementation and contribute to customer success.</a:t>
            </a:r>
            <a:endParaRPr lang="en-US" sz="950" dirty="0"/>
          </a:p>
        </p:txBody>
      </p:sp>
      <p:sp>
        <p:nvSpPr>
          <p:cNvPr id="10" name="Shape 8"/>
          <p:cNvSpPr/>
          <p:nvPr/>
        </p:nvSpPr>
        <p:spPr>
          <a:xfrm>
            <a:off x="2438400" y="1244600"/>
            <a:ext cx="6350" cy="3073400"/>
          </a:xfrm>
          <a:prstGeom prst="rect">
            <a:avLst/>
          </a:prstGeom>
          <a:solidFill>
            <a:srgbClr val="CDD0D9"/>
          </a:solidFill>
          <a:ln/>
        </p:spPr>
      </p:sp>
      <p:sp>
        <p:nvSpPr>
          <p:cNvPr id="11" name="Text 9"/>
          <p:cNvSpPr txBox="1"/>
          <p:nvPr/>
        </p:nvSpPr>
        <p:spPr>
          <a:xfrm>
            <a:off x="2692400" y="1473200"/>
            <a:ext cx="762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02</a:t>
            </a:r>
            <a:endParaRPr lang="en-US" sz="1600" dirty="0"/>
          </a:p>
        </p:txBody>
      </p:sp>
      <p:sp>
        <p:nvSpPr>
          <p:cNvPr id="12" name="Text 10"/>
          <p:cNvSpPr txBox="1"/>
          <p:nvPr/>
        </p:nvSpPr>
        <p:spPr>
          <a:xfrm>
            <a:off x="2692400" y="1841500"/>
            <a:ext cx="1968500" cy="635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Specialisation over volume</a:t>
            </a:r>
            <a:endParaRPr lang="en-US" sz="1300" dirty="0"/>
          </a:p>
        </p:txBody>
      </p:sp>
      <p:sp>
        <p:nvSpPr>
          <p:cNvPr id="13" name="Text 11"/>
          <p:cNvSpPr txBox="1"/>
          <p:nvPr/>
        </p:nvSpPr>
        <p:spPr>
          <a:xfrm>
            <a:off x="2692400" y="2540000"/>
            <a:ext cx="1968500" cy="1651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We prioritise domain expertise, regulatory awareness, delivery quality, agency access and customer trust.</a:t>
            </a:r>
            <a:endParaRPr lang="en-US" sz="950" dirty="0"/>
          </a:p>
        </p:txBody>
      </p:sp>
      <p:sp>
        <p:nvSpPr>
          <p:cNvPr id="14" name="Shape 12"/>
          <p:cNvSpPr/>
          <p:nvPr/>
        </p:nvSpPr>
        <p:spPr>
          <a:xfrm>
            <a:off x="4876800" y="1244600"/>
            <a:ext cx="6350" cy="3073400"/>
          </a:xfrm>
          <a:prstGeom prst="rect">
            <a:avLst/>
          </a:prstGeom>
          <a:solidFill>
            <a:srgbClr val="CDD0D9"/>
          </a:solidFill>
          <a:ln/>
        </p:spPr>
      </p:sp>
      <p:sp>
        <p:nvSpPr>
          <p:cNvPr id="15" name="Shape 13"/>
          <p:cNvSpPr/>
          <p:nvPr/>
        </p:nvSpPr>
        <p:spPr>
          <a:xfrm>
            <a:off x="4883150" y="1250950"/>
            <a:ext cx="2432050" cy="3067050"/>
          </a:xfrm>
          <a:prstGeom prst="rect">
            <a:avLst/>
          </a:prstGeom>
          <a:solidFill>
            <a:srgbClr val="F7FBFD"/>
          </a:solidFill>
          <a:ln/>
        </p:spPr>
      </p:sp>
      <p:sp>
        <p:nvSpPr>
          <p:cNvPr id="16" name="Text 14"/>
          <p:cNvSpPr txBox="1"/>
          <p:nvPr/>
        </p:nvSpPr>
        <p:spPr>
          <a:xfrm>
            <a:off x="5130800" y="1473200"/>
            <a:ext cx="762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03</a:t>
            </a:r>
            <a:endParaRPr lang="en-US" sz="1600" dirty="0"/>
          </a:p>
        </p:txBody>
      </p:sp>
      <p:sp>
        <p:nvSpPr>
          <p:cNvPr id="17" name="Text 15"/>
          <p:cNvSpPr txBox="1"/>
          <p:nvPr/>
        </p:nvSpPr>
        <p:spPr>
          <a:xfrm>
            <a:off x="5130800" y="1841500"/>
            <a:ext cx="1968500" cy="635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Global consistency, local flexibility</a:t>
            </a:r>
            <a:endParaRPr lang="en-US" sz="1300" dirty="0"/>
          </a:p>
        </p:txBody>
      </p:sp>
      <p:sp>
        <p:nvSpPr>
          <p:cNvPr id="18" name="Text 16"/>
          <p:cNvSpPr txBox="1"/>
          <p:nvPr/>
        </p:nvSpPr>
        <p:spPr>
          <a:xfrm>
            <a:off x="5130800" y="2540000"/>
            <a:ext cx="1968500" cy="1651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One structure globally; local law, tax, procurement, data residency, currency and contracting handled country by country.</a:t>
            </a:r>
            <a:endParaRPr lang="en-US" sz="950" dirty="0"/>
          </a:p>
        </p:txBody>
      </p:sp>
      <p:sp>
        <p:nvSpPr>
          <p:cNvPr id="19" name="Shape 17"/>
          <p:cNvSpPr/>
          <p:nvPr/>
        </p:nvSpPr>
        <p:spPr>
          <a:xfrm>
            <a:off x="7315200" y="1244600"/>
            <a:ext cx="6350" cy="3073400"/>
          </a:xfrm>
          <a:prstGeom prst="rect">
            <a:avLst/>
          </a:prstGeom>
          <a:solidFill>
            <a:srgbClr val="CDD0D9"/>
          </a:solidFill>
          <a:ln/>
        </p:spPr>
      </p:sp>
      <p:sp>
        <p:nvSpPr>
          <p:cNvPr id="20" name="Text 18"/>
          <p:cNvSpPr txBox="1"/>
          <p:nvPr/>
        </p:nvSpPr>
        <p:spPr>
          <a:xfrm>
            <a:off x="7569200" y="1473200"/>
            <a:ext cx="762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04</a:t>
            </a:r>
            <a:endParaRPr lang="en-US" sz="1600" dirty="0"/>
          </a:p>
        </p:txBody>
      </p:sp>
      <p:sp>
        <p:nvSpPr>
          <p:cNvPr id="21" name="Text 19"/>
          <p:cNvSpPr txBox="1"/>
          <p:nvPr/>
        </p:nvSpPr>
        <p:spPr>
          <a:xfrm>
            <a:off x="7569200" y="1841500"/>
            <a:ext cx="1968500" cy="635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Trust &amp; compliance by design</a:t>
            </a:r>
            <a:endParaRPr lang="en-US" sz="1300" dirty="0"/>
          </a:p>
        </p:txBody>
      </p:sp>
      <p:sp>
        <p:nvSpPr>
          <p:cNvPr id="22" name="Text 20"/>
          <p:cNvSpPr txBox="1"/>
          <p:nvPr/>
        </p:nvSpPr>
        <p:spPr>
          <a:xfrm>
            <a:off x="7569200" y="2540000"/>
            <a:ext cx="1968500" cy="1651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Partners follow approved messaging, pricing, data use, customer communication, procurement and responsible-AI rules.</a:t>
            </a:r>
            <a:endParaRPr lang="en-US" sz="950" dirty="0"/>
          </a:p>
        </p:txBody>
      </p:sp>
      <p:sp>
        <p:nvSpPr>
          <p:cNvPr id="23" name="Shape 21"/>
          <p:cNvSpPr/>
          <p:nvPr/>
        </p:nvSpPr>
        <p:spPr>
          <a:xfrm>
            <a:off x="9753600" y="1244600"/>
            <a:ext cx="6350" cy="3073400"/>
          </a:xfrm>
          <a:prstGeom prst="rect">
            <a:avLst/>
          </a:prstGeom>
          <a:solidFill>
            <a:srgbClr val="CDD0D9"/>
          </a:solidFill>
          <a:ln/>
        </p:spPr>
      </p:sp>
      <p:sp>
        <p:nvSpPr>
          <p:cNvPr id="24" name="Shape 22"/>
          <p:cNvSpPr/>
          <p:nvPr/>
        </p:nvSpPr>
        <p:spPr>
          <a:xfrm>
            <a:off x="9759950" y="1250950"/>
            <a:ext cx="2432050" cy="3067050"/>
          </a:xfrm>
          <a:prstGeom prst="rect">
            <a:avLst/>
          </a:prstGeom>
          <a:solidFill>
            <a:srgbClr val="F7FBFD"/>
          </a:solidFill>
          <a:ln/>
        </p:spPr>
      </p:sp>
      <p:sp>
        <p:nvSpPr>
          <p:cNvPr id="25" name="Text 23"/>
          <p:cNvSpPr txBox="1"/>
          <p:nvPr/>
        </p:nvSpPr>
        <p:spPr>
          <a:xfrm>
            <a:off x="10007600" y="1473200"/>
            <a:ext cx="762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05</a:t>
            </a:r>
            <a:endParaRPr lang="en-US" sz="1600" dirty="0"/>
          </a:p>
        </p:txBody>
      </p:sp>
      <p:sp>
        <p:nvSpPr>
          <p:cNvPr id="26" name="Text 24"/>
          <p:cNvSpPr txBox="1"/>
          <p:nvPr/>
        </p:nvSpPr>
        <p:spPr>
          <a:xfrm>
            <a:off x="10007600" y="1841500"/>
            <a:ext cx="1968500" cy="635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Customer success before commission</a:t>
            </a:r>
            <a:endParaRPr lang="en-US" sz="1300" dirty="0"/>
          </a:p>
        </p:txBody>
      </p:sp>
      <p:sp>
        <p:nvSpPr>
          <p:cNvPr id="27" name="Text 25"/>
          <p:cNvSpPr txBox="1"/>
          <p:nvPr/>
        </p:nvSpPr>
        <p:spPr>
          <a:xfrm>
            <a:off x="10007600" y="2540000"/>
            <a:ext cx="1968500" cy="1651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Long-term value depends on customer outcomes, adoption, support quality and renewal and expansion contribution.</a:t>
            </a:r>
            <a:endParaRPr lang="en-US" sz="950" dirty="0"/>
          </a:p>
        </p:txBody>
      </p:sp>
      <p:sp>
        <p:nvSpPr>
          <p:cNvPr id="28" name="Shape 26"/>
          <p:cNvSpPr/>
          <p:nvPr/>
        </p:nvSpPr>
        <p:spPr>
          <a:xfrm>
            <a:off x="0" y="4318000"/>
            <a:ext cx="12192000" cy="6350"/>
          </a:xfrm>
          <a:prstGeom prst="rect">
            <a:avLst/>
          </a:prstGeom>
          <a:solidFill>
            <a:srgbClr val="CDD0D9"/>
          </a:solidFill>
          <a:ln/>
        </p:spPr>
      </p:sp>
      <p:sp>
        <p:nvSpPr>
          <p:cNvPr id="29" name="Shape 27"/>
          <p:cNvSpPr/>
          <p:nvPr/>
        </p:nvSpPr>
        <p:spPr>
          <a:xfrm>
            <a:off x="0" y="4324350"/>
            <a:ext cx="12192000" cy="1517650"/>
          </a:xfrm>
          <a:prstGeom prst="rect">
            <a:avLst/>
          </a:prstGeom>
          <a:solidFill>
            <a:srgbClr val="EDF1FF"/>
          </a:solidFill>
          <a:ln/>
        </p:spPr>
      </p:sp>
      <p:sp>
        <p:nvSpPr>
          <p:cNvPr id="30" name="Text 28"/>
          <p:cNvSpPr txBox="1"/>
          <p:nvPr/>
        </p:nvSpPr>
        <p:spPr>
          <a:xfrm>
            <a:off x="304800" y="4521200"/>
            <a:ext cx="1651000" cy="254000"/>
          </a:xfrm>
          <a:prstGeom prst="rect">
            <a:avLst/>
          </a:prstGeom>
          <a:noFill/>
          <a:ln/>
        </p:spPr>
        <p:txBody>
          <a:bodyPr wrap="square" lIns="0" tIns="0" rIns="0" bIns="0" rtlCol="0" anchor="t"/>
          <a:lstStyle/>
          <a:p>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Scope</a:t>
            </a:r>
            <a:endParaRPr lang="en-US" sz="1600" dirty="0"/>
          </a:p>
        </p:txBody>
      </p:sp>
      <p:sp>
        <p:nvSpPr>
          <p:cNvPr id="31" name="Text 29"/>
          <p:cNvSpPr txBox="1"/>
          <p:nvPr/>
        </p:nvSpPr>
        <p:spPr>
          <a:xfrm>
            <a:off x="2286000" y="4495800"/>
            <a:ext cx="9588500" cy="1206500"/>
          </a:xfrm>
          <a:prstGeom prst="rect">
            <a:avLst/>
          </a:prstGeom>
          <a:noFill/>
          <a:ln/>
        </p:spPr>
        <p:txBody>
          <a:bodyPr wrap="square" lIns="0" tIns="0" rIns="0" bIns="0" rtlCol="0" anchor="t"/>
          <a:lstStyle/>
          <a:p>
            <a:pPr algn="l" indent="0" marL="0">
              <a:lnSpc>
                <a:spcPct val="125000"/>
              </a:lnSpc>
              <a:buNone/>
            </a:pPr>
            <a:r>
              <a:rPr lang="en-US" sz="1000" dirty="0">
                <a:solidFill>
                  <a:srgbClr val="13151C"/>
                </a:solidFill>
                <a:latin typeface="Plus Jakarta Sans" pitchFamily="34" charset="0"/>
                <a:ea typeface="Plus Jakarta Sans" pitchFamily="34" charset="-122"/>
                <a:cs typeface="Plus Jakarta Sans" pitchFamily="34" charset="-120"/>
              </a:rPr>
              <a:t>Applies to DignifyX products, platforms, services and future AI solutions, including the DX App (Intelligent Coaching, DX Coach, DX Learn), approved add-ons, connectors, support packages, managed-service and marketplace motions. USD is the reference currency for thresholds unless a signed local agreement states otherwise. Local tax, withholding, procurement, data-residency, labour, commercial-agency, sanctions and regulatory requirements take precedence where legally required.</a:t>
            </a:r>
            <a:endParaRPr lang="en-US" sz="1000" dirty="0"/>
          </a:p>
        </p:txBody>
      </p:sp>
      <p:sp>
        <p:nvSpPr>
          <p:cNvPr id="32" name="Shape 30"/>
          <p:cNvSpPr/>
          <p:nvPr/>
        </p:nvSpPr>
        <p:spPr>
          <a:xfrm>
            <a:off x="0" y="5842000"/>
            <a:ext cx="12192000" cy="1016000"/>
          </a:xfrm>
          <a:prstGeom prst="rect">
            <a:avLst/>
          </a:prstGeom>
          <a:solidFill>
            <a:srgbClr val="F5F9FB"/>
          </a:solidFill>
          <a:ln/>
        </p:spPr>
      </p:sp>
      <p:pic>
        <p:nvPicPr>
          <p:cNvPr id="33"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34"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35" name="Text 31"/>
          <p:cNvSpPr txBox="1"/>
          <p:nvPr/>
        </p:nvSpPr>
        <p:spPr>
          <a:xfrm>
            <a:off x="1079500" y="5969000"/>
            <a:ext cx="10033000" cy="558800"/>
          </a:xfrm>
          <a:prstGeom prst="rect">
            <a:avLst/>
          </a:prstGeom>
          <a:noFill/>
          <a:ln/>
        </p:spPr>
        <p:txBody>
          <a:bodyPr wrap="square" lIns="0" tIns="0" rIns="0" bIns="0" rtlCol="0" anchor="ctr"/>
          <a:lstStyle/>
          <a:p>
            <a:pPr algn="ctr" indent="0" marL="0">
              <a:lnSpc>
                <a:spcPct val="112000"/>
              </a:lnSpc>
              <a:buNone/>
            </a:pPr>
            <a:r>
              <a:rPr lang="en-US" sz="1300" dirty="0">
                <a:solidFill>
                  <a:srgbClr val="13151C"/>
                </a:solidFill>
                <a:latin typeface="Plus Jakarta Sans Medium" pitchFamily="34" charset="0"/>
                <a:ea typeface="Plus Jakarta Sans Medium" pitchFamily="34" charset="-122"/>
                <a:cs typeface="Plus Jakarta Sans Medium" pitchFamily="34" charset="-120"/>
              </a:rPr>
              <a:t>Specialisation, trust and customer success come before volume.</a:t>
            </a:r>
            <a:endParaRPr lang="en-US" sz="1300" dirty="0"/>
          </a:p>
        </p:txBody>
      </p:sp>
      <p:sp>
        <p:nvSpPr>
          <p:cNvPr id="36" name="Text 32"/>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04 · PARTNER ECOSYSTEM ROLES</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Find your place in the ecosystem: </a:t>
            </a:r>
            <a:pPr algn="l" indent="0" marL="0">
              <a:lnSpc>
                <a:spcPct val="112000"/>
              </a:lnSpc>
              <a:buNone/>
            </a:pPr>
            <a:r>
              <a:rPr lang="en-US" sz="2000" b="1" i="1" dirty="0">
                <a:solidFill>
                  <a:srgbClr val="13151C"/>
                </a:solidFill>
                <a:latin typeface="Plus Jakarta Sans Medium" pitchFamily="34" charset="0"/>
                <a:ea typeface="Plus Jakarta Sans Medium" pitchFamily="34" charset="-122"/>
                <a:cs typeface="Plus Jakarta Sans Medium" pitchFamily="34" charset="-120"/>
              </a:rPr>
              <a:t>one partner can play several roles</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Text 4"/>
          <p:cNvSpPr txBox="1"/>
          <p:nvPr/>
        </p:nvSpPr>
        <p:spPr>
          <a:xfrm>
            <a:off x="254000" y="141605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01</a:t>
            </a:r>
            <a:endParaRPr lang="en-US" sz="1300" dirty="0"/>
          </a:p>
        </p:txBody>
      </p:sp>
      <p:sp>
        <p:nvSpPr>
          <p:cNvPr id="7" name="Text 5"/>
          <p:cNvSpPr txBox="1"/>
          <p:nvPr/>
        </p:nvSpPr>
        <p:spPr>
          <a:xfrm>
            <a:off x="254000" y="1644650"/>
            <a:ext cx="2540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Referral / Influencer</a:t>
            </a:r>
            <a:endParaRPr lang="en-US" sz="1250" dirty="0"/>
          </a:p>
        </p:txBody>
      </p:sp>
      <p:sp>
        <p:nvSpPr>
          <p:cNvPr id="8" name="Text 6"/>
          <p:cNvSpPr txBox="1"/>
          <p:nvPr/>
        </p:nvSpPr>
        <p:spPr>
          <a:xfrm>
            <a:off x="254000" y="1898650"/>
            <a:ext cx="254000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Introduces qualified opportunities; does not drive the sale or delivery.</a:t>
            </a:r>
            <a:endParaRPr lang="en-US" sz="900" dirty="0"/>
          </a:p>
        </p:txBody>
      </p:sp>
      <p:sp>
        <p:nvSpPr>
          <p:cNvPr id="9" name="Text 7"/>
          <p:cNvSpPr txBox="1"/>
          <p:nvPr/>
        </p:nvSpPr>
        <p:spPr>
          <a:xfrm>
            <a:off x="254000" y="2495550"/>
            <a:ext cx="2540000" cy="1524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HOW YOU EARN</a:t>
            </a:r>
            <a:endParaRPr lang="en-US" sz="750" dirty="0"/>
          </a:p>
        </p:txBody>
      </p:sp>
      <p:sp>
        <p:nvSpPr>
          <p:cNvPr id="10" name="Text 8"/>
          <p:cNvSpPr txBox="1"/>
          <p:nvPr/>
        </p:nvSpPr>
        <p:spPr>
          <a:xfrm>
            <a:off x="254000" y="2673350"/>
            <a:ext cx="2540000" cy="762000"/>
          </a:xfrm>
          <a:prstGeom prst="rect">
            <a:avLst/>
          </a:prstGeom>
          <a:noFill/>
          <a:ln/>
        </p:spPr>
        <p:txBody>
          <a:bodyPr wrap="square" lIns="0" tIns="0" rIns="0" bIns="0" rtlCol="0" anchor="t"/>
          <a:lstStyle/>
          <a:p>
            <a:pPr algn="l" indent="0" marL="0">
              <a:lnSpc>
                <a:spcPct val="112000"/>
              </a:lnSpc>
              <a:buNone/>
            </a:pPr>
            <a:r>
              <a:rPr lang="en-US" sz="900" dirty="0">
                <a:solidFill>
                  <a:srgbClr val="13151C"/>
                </a:solidFill>
                <a:latin typeface="Plus Jakarta Sans" pitchFamily="34" charset="0"/>
                <a:ea typeface="Plus Jakarta Sans" pitchFamily="34" charset="-122"/>
                <a:cs typeface="Plus Jakarta Sans" pitchFamily="34" charset="-120"/>
              </a:rPr>
              <a:t>One-time fee if pre-approved, registered before engagement and tied to a qualified opportunity; paid after customer payment.</a:t>
            </a:r>
            <a:endParaRPr lang="en-US" sz="900" dirty="0"/>
          </a:p>
        </p:txBody>
      </p:sp>
      <p:sp>
        <p:nvSpPr>
          <p:cNvPr id="11" name="Shape 9"/>
          <p:cNvSpPr/>
          <p:nvPr/>
        </p:nvSpPr>
        <p:spPr>
          <a:xfrm>
            <a:off x="3048000" y="1250950"/>
            <a:ext cx="6350" cy="2292350"/>
          </a:xfrm>
          <a:prstGeom prst="rect">
            <a:avLst/>
          </a:prstGeom>
          <a:solidFill>
            <a:srgbClr val="CDD0D9"/>
          </a:solidFill>
          <a:ln/>
        </p:spPr>
      </p:sp>
      <p:sp>
        <p:nvSpPr>
          <p:cNvPr id="12" name="Shape 10"/>
          <p:cNvSpPr/>
          <p:nvPr/>
        </p:nvSpPr>
        <p:spPr>
          <a:xfrm>
            <a:off x="3054350" y="1250950"/>
            <a:ext cx="3041650" cy="2286000"/>
          </a:xfrm>
          <a:prstGeom prst="rect">
            <a:avLst/>
          </a:prstGeom>
          <a:solidFill>
            <a:srgbClr val="F7FBFD"/>
          </a:solidFill>
          <a:ln/>
        </p:spPr>
      </p:sp>
      <p:sp>
        <p:nvSpPr>
          <p:cNvPr id="13" name="Text 11"/>
          <p:cNvSpPr txBox="1"/>
          <p:nvPr/>
        </p:nvSpPr>
        <p:spPr>
          <a:xfrm>
            <a:off x="3302000" y="141605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02</a:t>
            </a:r>
            <a:endParaRPr lang="en-US" sz="1300" dirty="0"/>
          </a:p>
        </p:txBody>
      </p:sp>
      <p:sp>
        <p:nvSpPr>
          <p:cNvPr id="14" name="Text 12"/>
          <p:cNvSpPr txBox="1"/>
          <p:nvPr/>
        </p:nvSpPr>
        <p:spPr>
          <a:xfrm>
            <a:off x="3302000" y="1644650"/>
            <a:ext cx="2540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Reseller / VAR</a:t>
            </a:r>
            <a:endParaRPr lang="en-US" sz="1250" dirty="0"/>
          </a:p>
        </p:txBody>
      </p:sp>
      <p:sp>
        <p:nvSpPr>
          <p:cNvPr id="15" name="Text 13"/>
          <p:cNvSpPr txBox="1"/>
          <p:nvPr/>
        </p:nvSpPr>
        <p:spPr>
          <a:xfrm>
            <a:off x="3302000" y="1898650"/>
            <a:ext cx="254000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Sources, registers, develops and actively drives opportunities.</a:t>
            </a:r>
            <a:endParaRPr lang="en-US" sz="900" dirty="0"/>
          </a:p>
        </p:txBody>
      </p:sp>
      <p:sp>
        <p:nvSpPr>
          <p:cNvPr id="16" name="Text 14"/>
          <p:cNvSpPr txBox="1"/>
          <p:nvPr/>
        </p:nvSpPr>
        <p:spPr>
          <a:xfrm>
            <a:off x="3302000" y="2495550"/>
            <a:ext cx="2540000" cy="1524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HOW YOU EARN</a:t>
            </a:r>
            <a:endParaRPr lang="en-US" sz="750" dirty="0"/>
          </a:p>
        </p:txBody>
      </p:sp>
      <p:sp>
        <p:nvSpPr>
          <p:cNvPr id="17" name="Text 15"/>
          <p:cNvSpPr txBox="1"/>
          <p:nvPr/>
        </p:nvSpPr>
        <p:spPr>
          <a:xfrm>
            <a:off x="3302000" y="2673350"/>
            <a:ext cx="2540000" cy="762000"/>
          </a:xfrm>
          <a:prstGeom prst="rect">
            <a:avLst/>
          </a:prstGeom>
          <a:noFill/>
          <a:ln/>
        </p:spPr>
        <p:txBody>
          <a:bodyPr wrap="square" lIns="0" tIns="0" rIns="0" bIns="0" rtlCol="0" anchor="t"/>
          <a:lstStyle/>
          <a:p>
            <a:pPr algn="l" indent="0" marL="0">
              <a:lnSpc>
                <a:spcPct val="112000"/>
              </a:lnSpc>
              <a:buNone/>
            </a:pPr>
            <a:r>
              <a:rPr lang="en-US" sz="900" dirty="0">
                <a:solidFill>
                  <a:srgbClr val="13151C"/>
                </a:solidFill>
                <a:latin typeface="Plus Jakarta Sans" pitchFamily="34" charset="0"/>
                <a:ea typeface="Plus Jakarta Sans" pitchFamily="34" charset="-122"/>
                <a:cs typeface="Plus Jakarta Sans" pitchFamily="34" charset="-120"/>
              </a:rPr>
              <a:t>New-business, expansion and renewal incentives if assigned and compliant.</a:t>
            </a:r>
            <a:endParaRPr lang="en-US" sz="900" dirty="0"/>
          </a:p>
        </p:txBody>
      </p:sp>
      <p:sp>
        <p:nvSpPr>
          <p:cNvPr id="18" name="Shape 16"/>
          <p:cNvSpPr/>
          <p:nvPr/>
        </p:nvSpPr>
        <p:spPr>
          <a:xfrm>
            <a:off x="6096000" y="1250950"/>
            <a:ext cx="6350" cy="2292350"/>
          </a:xfrm>
          <a:prstGeom prst="rect">
            <a:avLst/>
          </a:prstGeom>
          <a:solidFill>
            <a:srgbClr val="CDD0D9"/>
          </a:solidFill>
          <a:ln/>
        </p:spPr>
      </p:sp>
      <p:sp>
        <p:nvSpPr>
          <p:cNvPr id="19" name="Text 17"/>
          <p:cNvSpPr txBox="1"/>
          <p:nvPr/>
        </p:nvSpPr>
        <p:spPr>
          <a:xfrm>
            <a:off x="6350000" y="141605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03</a:t>
            </a:r>
            <a:endParaRPr lang="en-US" sz="1300" dirty="0"/>
          </a:p>
        </p:txBody>
      </p:sp>
      <p:sp>
        <p:nvSpPr>
          <p:cNvPr id="20" name="Text 18"/>
          <p:cNvSpPr txBox="1"/>
          <p:nvPr/>
        </p:nvSpPr>
        <p:spPr>
          <a:xfrm>
            <a:off x="6350000" y="1644650"/>
            <a:ext cx="2540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Solution / Implementation</a:t>
            </a:r>
            <a:endParaRPr lang="en-US" sz="1250" dirty="0"/>
          </a:p>
        </p:txBody>
      </p:sp>
      <p:sp>
        <p:nvSpPr>
          <p:cNvPr id="21" name="Text 19"/>
          <p:cNvSpPr txBox="1"/>
          <p:nvPr/>
        </p:nvSpPr>
        <p:spPr>
          <a:xfrm>
            <a:off x="6350000" y="1898650"/>
            <a:ext cx="254000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Implements, configures, integrates, localises, trains and supports.</a:t>
            </a:r>
            <a:endParaRPr lang="en-US" sz="900" dirty="0"/>
          </a:p>
        </p:txBody>
      </p:sp>
      <p:sp>
        <p:nvSpPr>
          <p:cNvPr id="22" name="Text 20"/>
          <p:cNvSpPr txBox="1"/>
          <p:nvPr/>
        </p:nvSpPr>
        <p:spPr>
          <a:xfrm>
            <a:off x="6350000" y="2495550"/>
            <a:ext cx="2540000" cy="1524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HOW YOU EARN</a:t>
            </a:r>
            <a:endParaRPr lang="en-US" sz="750" dirty="0"/>
          </a:p>
        </p:txBody>
      </p:sp>
      <p:sp>
        <p:nvSpPr>
          <p:cNvPr id="23" name="Text 21"/>
          <p:cNvSpPr txBox="1"/>
          <p:nvPr/>
        </p:nvSpPr>
        <p:spPr>
          <a:xfrm>
            <a:off x="6350000" y="2673350"/>
            <a:ext cx="2540000" cy="762000"/>
          </a:xfrm>
          <a:prstGeom prst="rect">
            <a:avLst/>
          </a:prstGeom>
          <a:noFill/>
          <a:ln/>
        </p:spPr>
        <p:txBody>
          <a:bodyPr wrap="square" lIns="0" tIns="0" rIns="0" bIns="0" rtlCol="0" anchor="t"/>
          <a:lstStyle/>
          <a:p>
            <a:pPr algn="l" indent="0" marL="0">
              <a:lnSpc>
                <a:spcPct val="112000"/>
              </a:lnSpc>
              <a:buNone/>
            </a:pPr>
            <a:r>
              <a:rPr lang="en-US" sz="900" dirty="0">
                <a:solidFill>
                  <a:srgbClr val="13151C"/>
                </a:solidFill>
                <a:latin typeface="Plus Jakarta Sans" pitchFamily="34" charset="0"/>
                <a:ea typeface="Plus Jakarta Sans" pitchFamily="34" charset="-122"/>
                <a:cs typeface="Plus Jakarta Sans" pitchFamily="34" charset="-120"/>
              </a:rPr>
              <a:t>Services revenue; may earn an approved influence fee or success rebate where documented.</a:t>
            </a:r>
            <a:endParaRPr lang="en-US" sz="900" dirty="0"/>
          </a:p>
        </p:txBody>
      </p:sp>
      <p:sp>
        <p:nvSpPr>
          <p:cNvPr id="24" name="Shape 22"/>
          <p:cNvSpPr/>
          <p:nvPr/>
        </p:nvSpPr>
        <p:spPr>
          <a:xfrm>
            <a:off x="9144000" y="1250950"/>
            <a:ext cx="6350" cy="2292350"/>
          </a:xfrm>
          <a:prstGeom prst="rect">
            <a:avLst/>
          </a:prstGeom>
          <a:solidFill>
            <a:srgbClr val="CDD0D9"/>
          </a:solidFill>
          <a:ln/>
        </p:spPr>
      </p:sp>
      <p:sp>
        <p:nvSpPr>
          <p:cNvPr id="25" name="Shape 23"/>
          <p:cNvSpPr/>
          <p:nvPr/>
        </p:nvSpPr>
        <p:spPr>
          <a:xfrm>
            <a:off x="9150350" y="1250950"/>
            <a:ext cx="3041650" cy="2286000"/>
          </a:xfrm>
          <a:prstGeom prst="rect">
            <a:avLst/>
          </a:prstGeom>
          <a:solidFill>
            <a:srgbClr val="F7FBFD"/>
          </a:solidFill>
          <a:ln/>
        </p:spPr>
      </p:sp>
      <p:sp>
        <p:nvSpPr>
          <p:cNvPr id="26" name="Text 24"/>
          <p:cNvSpPr txBox="1"/>
          <p:nvPr/>
        </p:nvSpPr>
        <p:spPr>
          <a:xfrm>
            <a:off x="9398000" y="141605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04</a:t>
            </a:r>
            <a:endParaRPr lang="en-US" sz="1300" dirty="0"/>
          </a:p>
        </p:txBody>
      </p:sp>
      <p:sp>
        <p:nvSpPr>
          <p:cNvPr id="27" name="Text 25"/>
          <p:cNvSpPr txBox="1"/>
          <p:nvPr/>
        </p:nvSpPr>
        <p:spPr>
          <a:xfrm>
            <a:off x="9398000" y="1644650"/>
            <a:ext cx="2540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Strategic Alliance</a:t>
            </a:r>
            <a:endParaRPr lang="en-US" sz="1250" dirty="0"/>
          </a:p>
        </p:txBody>
      </p:sp>
      <p:sp>
        <p:nvSpPr>
          <p:cNvPr id="28" name="Text 26"/>
          <p:cNvSpPr txBox="1"/>
          <p:nvPr/>
        </p:nvSpPr>
        <p:spPr>
          <a:xfrm>
            <a:off x="9398000" y="1898650"/>
            <a:ext cx="254000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Market access, executive alignment, co-sell and multi-country GTM.</a:t>
            </a:r>
            <a:endParaRPr lang="en-US" sz="900" dirty="0"/>
          </a:p>
        </p:txBody>
      </p:sp>
      <p:sp>
        <p:nvSpPr>
          <p:cNvPr id="29" name="Text 27"/>
          <p:cNvSpPr txBox="1"/>
          <p:nvPr/>
        </p:nvSpPr>
        <p:spPr>
          <a:xfrm>
            <a:off x="9398000" y="2495550"/>
            <a:ext cx="2540000" cy="1524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HOW YOU EARN</a:t>
            </a:r>
            <a:endParaRPr lang="en-US" sz="750" dirty="0"/>
          </a:p>
        </p:txBody>
      </p:sp>
      <p:sp>
        <p:nvSpPr>
          <p:cNvPr id="30" name="Text 28"/>
          <p:cNvSpPr txBox="1"/>
          <p:nvPr/>
        </p:nvSpPr>
        <p:spPr>
          <a:xfrm>
            <a:off x="9398000" y="2673350"/>
            <a:ext cx="2540000" cy="762000"/>
          </a:xfrm>
          <a:prstGeom prst="rect">
            <a:avLst/>
          </a:prstGeom>
          <a:noFill/>
          <a:ln/>
        </p:spPr>
        <p:txBody>
          <a:bodyPr wrap="square" lIns="0" tIns="0" rIns="0" bIns="0" rtlCol="0" anchor="t"/>
          <a:lstStyle/>
          <a:p>
            <a:pPr algn="l" indent="0" marL="0">
              <a:lnSpc>
                <a:spcPct val="112000"/>
              </a:lnSpc>
              <a:buNone/>
            </a:pPr>
            <a:r>
              <a:rPr lang="en-US" sz="900" dirty="0">
                <a:solidFill>
                  <a:srgbClr val="13151C"/>
                </a:solidFill>
                <a:latin typeface="Plus Jakarta Sans" pitchFamily="34" charset="0"/>
                <a:ea typeface="Plus Jakarta Sans" pitchFamily="34" charset="-122"/>
                <a:cs typeface="Plus Jakarta Sans" pitchFamily="34" charset="-120"/>
              </a:rPr>
              <a:t>Joint business planning, executive sponsorship and strategic alliance terms.</a:t>
            </a:r>
            <a:endParaRPr lang="en-US" sz="900" dirty="0"/>
          </a:p>
        </p:txBody>
      </p:sp>
      <p:sp>
        <p:nvSpPr>
          <p:cNvPr id="31" name="Shape 29"/>
          <p:cNvSpPr/>
          <p:nvPr/>
        </p:nvSpPr>
        <p:spPr>
          <a:xfrm>
            <a:off x="6350" y="3543300"/>
            <a:ext cx="3041650" cy="2286000"/>
          </a:xfrm>
          <a:prstGeom prst="rect">
            <a:avLst/>
          </a:prstGeom>
          <a:solidFill>
            <a:srgbClr val="F7FBFD"/>
          </a:solidFill>
          <a:ln/>
        </p:spPr>
      </p:sp>
      <p:sp>
        <p:nvSpPr>
          <p:cNvPr id="32" name="Text 30"/>
          <p:cNvSpPr txBox="1"/>
          <p:nvPr/>
        </p:nvSpPr>
        <p:spPr>
          <a:xfrm>
            <a:off x="254000" y="37084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05</a:t>
            </a:r>
            <a:endParaRPr lang="en-US" sz="1300" dirty="0"/>
          </a:p>
        </p:txBody>
      </p:sp>
      <p:sp>
        <p:nvSpPr>
          <p:cNvPr id="33" name="Text 31"/>
          <p:cNvSpPr txBox="1"/>
          <p:nvPr/>
        </p:nvSpPr>
        <p:spPr>
          <a:xfrm>
            <a:off x="254000" y="3937000"/>
            <a:ext cx="2540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Technology / Platform (ISV)</a:t>
            </a:r>
            <a:endParaRPr lang="en-US" sz="1250" dirty="0"/>
          </a:p>
        </p:txBody>
      </p:sp>
      <p:sp>
        <p:nvSpPr>
          <p:cNvPr id="34" name="Text 32"/>
          <p:cNvSpPr txBox="1"/>
          <p:nvPr/>
        </p:nvSpPr>
        <p:spPr>
          <a:xfrm>
            <a:off x="254000" y="4191000"/>
            <a:ext cx="254000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Integrates or enhances deployment, data, cloud, security, workflow or marketplace.</a:t>
            </a:r>
            <a:endParaRPr lang="en-US" sz="900" dirty="0"/>
          </a:p>
        </p:txBody>
      </p:sp>
      <p:sp>
        <p:nvSpPr>
          <p:cNvPr id="35" name="Text 33"/>
          <p:cNvSpPr txBox="1"/>
          <p:nvPr/>
        </p:nvSpPr>
        <p:spPr>
          <a:xfrm>
            <a:off x="254000" y="4787900"/>
            <a:ext cx="2540000" cy="1524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HOW YOU EARN</a:t>
            </a:r>
            <a:endParaRPr lang="en-US" sz="750" dirty="0"/>
          </a:p>
        </p:txBody>
      </p:sp>
      <p:sp>
        <p:nvSpPr>
          <p:cNvPr id="36" name="Text 34"/>
          <p:cNvSpPr txBox="1"/>
          <p:nvPr/>
        </p:nvSpPr>
        <p:spPr>
          <a:xfrm>
            <a:off x="254000" y="4965700"/>
            <a:ext cx="2540000" cy="762000"/>
          </a:xfrm>
          <a:prstGeom prst="rect">
            <a:avLst/>
          </a:prstGeom>
          <a:noFill/>
          <a:ln/>
        </p:spPr>
        <p:txBody>
          <a:bodyPr wrap="square" lIns="0" tIns="0" rIns="0" bIns="0" rtlCol="0" anchor="t"/>
          <a:lstStyle/>
          <a:p>
            <a:pPr algn="l" indent="0" marL="0">
              <a:lnSpc>
                <a:spcPct val="112000"/>
              </a:lnSpc>
              <a:buNone/>
            </a:pPr>
            <a:r>
              <a:rPr lang="en-US" sz="900" dirty="0">
                <a:solidFill>
                  <a:srgbClr val="13151C"/>
                </a:solidFill>
                <a:latin typeface="Plus Jakarta Sans" pitchFamily="34" charset="0"/>
                <a:ea typeface="Plus Jakarta Sans" pitchFamily="34" charset="-122"/>
                <a:cs typeface="Plus Jakarta Sans" pitchFamily="34" charset="-120"/>
              </a:rPr>
              <a:t>Technology, marketplace, integration or revenue-share terms.</a:t>
            </a:r>
            <a:endParaRPr lang="en-US" sz="900" dirty="0"/>
          </a:p>
        </p:txBody>
      </p:sp>
      <p:sp>
        <p:nvSpPr>
          <p:cNvPr id="37" name="Shape 35"/>
          <p:cNvSpPr/>
          <p:nvPr/>
        </p:nvSpPr>
        <p:spPr>
          <a:xfrm>
            <a:off x="3048000" y="3543300"/>
            <a:ext cx="6350" cy="2292350"/>
          </a:xfrm>
          <a:prstGeom prst="rect">
            <a:avLst/>
          </a:prstGeom>
          <a:solidFill>
            <a:srgbClr val="CDD0D9"/>
          </a:solidFill>
          <a:ln/>
        </p:spPr>
      </p:sp>
      <p:sp>
        <p:nvSpPr>
          <p:cNvPr id="38" name="Text 36"/>
          <p:cNvSpPr txBox="1"/>
          <p:nvPr/>
        </p:nvSpPr>
        <p:spPr>
          <a:xfrm>
            <a:off x="3302000" y="37084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06</a:t>
            </a:r>
            <a:endParaRPr lang="en-US" sz="1300" dirty="0"/>
          </a:p>
        </p:txBody>
      </p:sp>
      <p:sp>
        <p:nvSpPr>
          <p:cNvPr id="39" name="Text 37"/>
          <p:cNvSpPr txBox="1"/>
          <p:nvPr/>
        </p:nvSpPr>
        <p:spPr>
          <a:xfrm>
            <a:off x="3302000" y="3937000"/>
            <a:ext cx="2540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Managed Services</a:t>
            </a:r>
            <a:endParaRPr lang="en-US" sz="1250" dirty="0"/>
          </a:p>
        </p:txBody>
      </p:sp>
      <p:sp>
        <p:nvSpPr>
          <p:cNvPr id="40" name="Text 38"/>
          <p:cNvSpPr txBox="1"/>
          <p:nvPr/>
        </p:nvSpPr>
        <p:spPr>
          <a:xfrm>
            <a:off x="3302000" y="4191000"/>
            <a:ext cx="254000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Operates or supports customer environments around DignifyX solutions.</a:t>
            </a:r>
            <a:endParaRPr lang="en-US" sz="900" dirty="0"/>
          </a:p>
        </p:txBody>
      </p:sp>
      <p:sp>
        <p:nvSpPr>
          <p:cNvPr id="41" name="Text 39"/>
          <p:cNvSpPr txBox="1"/>
          <p:nvPr/>
        </p:nvSpPr>
        <p:spPr>
          <a:xfrm>
            <a:off x="3302000" y="4787900"/>
            <a:ext cx="2540000" cy="1524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HOW YOU EARN</a:t>
            </a:r>
            <a:endParaRPr lang="en-US" sz="750" dirty="0"/>
          </a:p>
        </p:txBody>
      </p:sp>
      <p:sp>
        <p:nvSpPr>
          <p:cNvPr id="42" name="Text 40"/>
          <p:cNvSpPr txBox="1"/>
          <p:nvPr/>
        </p:nvSpPr>
        <p:spPr>
          <a:xfrm>
            <a:off x="3302000" y="4965700"/>
            <a:ext cx="2540000" cy="762000"/>
          </a:xfrm>
          <a:prstGeom prst="rect">
            <a:avLst/>
          </a:prstGeom>
          <a:noFill/>
          <a:ln/>
        </p:spPr>
        <p:txBody>
          <a:bodyPr wrap="square" lIns="0" tIns="0" rIns="0" bIns="0" rtlCol="0" anchor="t"/>
          <a:lstStyle/>
          <a:p>
            <a:pPr algn="l" indent="0" marL="0">
              <a:lnSpc>
                <a:spcPct val="112000"/>
              </a:lnSpc>
              <a:buNone/>
            </a:pPr>
            <a:r>
              <a:rPr lang="en-US" sz="900" dirty="0">
                <a:solidFill>
                  <a:srgbClr val="13151C"/>
                </a:solidFill>
                <a:latin typeface="Plus Jakarta Sans" pitchFamily="34" charset="0"/>
                <a:ea typeface="Plus Jakarta Sans" pitchFamily="34" charset="-122"/>
                <a:cs typeface="Plus Jakarta Sans" pitchFamily="34" charset="-120"/>
              </a:rPr>
              <a:t>Services revenue plus eligible customer-success, renewal or managed-service incentives.</a:t>
            </a:r>
            <a:endParaRPr lang="en-US" sz="900" dirty="0"/>
          </a:p>
        </p:txBody>
      </p:sp>
      <p:sp>
        <p:nvSpPr>
          <p:cNvPr id="43" name="Shape 41"/>
          <p:cNvSpPr/>
          <p:nvPr/>
        </p:nvSpPr>
        <p:spPr>
          <a:xfrm>
            <a:off x="6096000" y="3543300"/>
            <a:ext cx="6350" cy="2292350"/>
          </a:xfrm>
          <a:prstGeom prst="rect">
            <a:avLst/>
          </a:prstGeom>
          <a:solidFill>
            <a:srgbClr val="CDD0D9"/>
          </a:solidFill>
          <a:ln/>
        </p:spPr>
      </p:sp>
      <p:sp>
        <p:nvSpPr>
          <p:cNvPr id="44" name="Shape 42"/>
          <p:cNvSpPr/>
          <p:nvPr/>
        </p:nvSpPr>
        <p:spPr>
          <a:xfrm>
            <a:off x="6102350" y="3543300"/>
            <a:ext cx="3041650" cy="2286000"/>
          </a:xfrm>
          <a:prstGeom prst="rect">
            <a:avLst/>
          </a:prstGeom>
          <a:solidFill>
            <a:srgbClr val="F7FBFD"/>
          </a:solidFill>
          <a:ln/>
        </p:spPr>
      </p:sp>
      <p:sp>
        <p:nvSpPr>
          <p:cNvPr id="45" name="Text 43"/>
          <p:cNvSpPr txBox="1"/>
          <p:nvPr/>
        </p:nvSpPr>
        <p:spPr>
          <a:xfrm>
            <a:off x="6350000" y="37084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07</a:t>
            </a:r>
            <a:endParaRPr lang="en-US" sz="1300" dirty="0"/>
          </a:p>
        </p:txBody>
      </p:sp>
      <p:sp>
        <p:nvSpPr>
          <p:cNvPr id="46" name="Text 44"/>
          <p:cNvSpPr txBox="1"/>
          <p:nvPr/>
        </p:nvSpPr>
        <p:spPr>
          <a:xfrm>
            <a:off x="6350000" y="3937000"/>
            <a:ext cx="2540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Regional Localisation</a:t>
            </a:r>
            <a:endParaRPr lang="en-US" sz="1250" dirty="0"/>
          </a:p>
        </p:txBody>
      </p:sp>
      <p:sp>
        <p:nvSpPr>
          <p:cNvPr id="47" name="Text 45"/>
          <p:cNvSpPr txBox="1"/>
          <p:nvPr/>
        </p:nvSpPr>
        <p:spPr>
          <a:xfrm>
            <a:off x="6350000" y="4191000"/>
            <a:ext cx="2540000" cy="508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Language, regulatory terminology, local enablement and readiness.</a:t>
            </a:r>
            <a:endParaRPr lang="en-US" sz="900" dirty="0"/>
          </a:p>
        </p:txBody>
      </p:sp>
      <p:sp>
        <p:nvSpPr>
          <p:cNvPr id="48" name="Text 46"/>
          <p:cNvSpPr txBox="1"/>
          <p:nvPr/>
        </p:nvSpPr>
        <p:spPr>
          <a:xfrm>
            <a:off x="6350000" y="4787900"/>
            <a:ext cx="2540000" cy="1524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HOW YOU EARN</a:t>
            </a:r>
            <a:endParaRPr lang="en-US" sz="750" dirty="0"/>
          </a:p>
        </p:txBody>
      </p:sp>
      <p:sp>
        <p:nvSpPr>
          <p:cNvPr id="49" name="Text 47"/>
          <p:cNvSpPr txBox="1"/>
          <p:nvPr/>
        </p:nvSpPr>
        <p:spPr>
          <a:xfrm>
            <a:off x="6350000" y="4965700"/>
            <a:ext cx="2540000" cy="762000"/>
          </a:xfrm>
          <a:prstGeom prst="rect">
            <a:avLst/>
          </a:prstGeom>
          <a:noFill/>
          <a:ln/>
        </p:spPr>
        <p:txBody>
          <a:bodyPr wrap="square" lIns="0" tIns="0" rIns="0" bIns="0" rtlCol="0" anchor="t"/>
          <a:lstStyle/>
          <a:p>
            <a:pPr algn="l" indent="0" marL="0">
              <a:lnSpc>
                <a:spcPct val="112000"/>
              </a:lnSpc>
              <a:buNone/>
            </a:pPr>
            <a:r>
              <a:rPr lang="en-US" sz="900" dirty="0">
                <a:solidFill>
                  <a:srgbClr val="13151C"/>
                </a:solidFill>
                <a:latin typeface="Plus Jakarta Sans" pitchFamily="34" charset="0"/>
                <a:ea typeface="Plus Jakarta Sans" pitchFamily="34" charset="-122"/>
                <a:cs typeface="Plus Jakarta Sans" pitchFamily="34" charset="-120"/>
              </a:rPr>
              <a:t>Localisation, enablement or country-specific partner terms.</a:t>
            </a:r>
            <a:endParaRPr lang="en-US" sz="900" dirty="0"/>
          </a:p>
        </p:txBody>
      </p:sp>
      <p:sp>
        <p:nvSpPr>
          <p:cNvPr id="50" name="Shape 48"/>
          <p:cNvSpPr/>
          <p:nvPr/>
        </p:nvSpPr>
        <p:spPr>
          <a:xfrm>
            <a:off x="0" y="3543300"/>
            <a:ext cx="12192000" cy="6350"/>
          </a:xfrm>
          <a:prstGeom prst="rect">
            <a:avLst/>
          </a:prstGeom>
          <a:solidFill>
            <a:srgbClr val="CDD0D9"/>
          </a:solidFill>
          <a:ln/>
        </p:spPr>
      </p:sp>
      <p:sp>
        <p:nvSpPr>
          <p:cNvPr id="51" name="Shape 49"/>
          <p:cNvSpPr/>
          <p:nvPr/>
        </p:nvSpPr>
        <p:spPr>
          <a:xfrm>
            <a:off x="9150350" y="3549650"/>
            <a:ext cx="3041650" cy="2292350"/>
          </a:xfrm>
          <a:prstGeom prst="rect">
            <a:avLst/>
          </a:prstGeom>
          <a:solidFill>
            <a:srgbClr val="194EFF"/>
          </a:solidFill>
          <a:ln/>
        </p:spPr>
      </p:sp>
      <p:sp>
        <p:nvSpPr>
          <p:cNvPr id="52" name="Text 50"/>
          <p:cNvSpPr txBox="1"/>
          <p:nvPr/>
        </p:nvSpPr>
        <p:spPr>
          <a:xfrm>
            <a:off x="9404350" y="3810000"/>
            <a:ext cx="2540000" cy="1270000"/>
          </a:xfrm>
          <a:prstGeom prst="rect">
            <a:avLst/>
          </a:prstGeom>
          <a:noFill/>
          <a:ln/>
        </p:spPr>
        <p:txBody>
          <a:bodyPr wrap="square" lIns="0" tIns="0" rIns="0" bIns="0" rtlCol="0" anchor="t"/>
          <a:lstStyle/>
          <a:p>
            <a:pPr algn="l" indent="0" marL="0">
              <a:lnSpc>
                <a:spcPct val="120000"/>
              </a:lnSpc>
              <a:buNone/>
            </a:pPr>
            <a:r>
              <a:rPr lang="en-US" sz="1700" b="1" dirty="0">
                <a:solidFill>
                  <a:srgbClr val="13151C"/>
                </a:solidFill>
                <a:latin typeface="Plus Jakarta Sans" pitchFamily="34" charset="0"/>
                <a:ea typeface="Plus Jakarta Sans" pitchFamily="34" charset="-122"/>
                <a:cs typeface="Plus Jakarta Sans" pitchFamily="34" charset="-120"/>
              </a:rPr>
              <a:t>DignifyX classifies the </a:t>
            </a:r>
            <a:pPr algn="l" indent="0" marL="0">
              <a:lnSpc>
                <a:spcPct val="120000"/>
              </a:lnSpc>
              <a:buNone/>
            </a:pPr>
            <a:r>
              <a:rPr lang="en-US" sz="1700" b="1" i="1" dirty="0">
                <a:solidFill>
                  <a:srgbClr val="13151C"/>
                </a:solidFill>
                <a:latin typeface="Plus Jakarta Sans SemiBold" pitchFamily="34" charset="0"/>
                <a:ea typeface="Plus Jakarta Sans SemiBold" pitchFamily="34" charset="-122"/>
                <a:cs typeface="Plus Jakarta Sans SemiBold" pitchFamily="34" charset="-120"/>
              </a:rPr>
              <a:t>engagement</a:t>
            </a:r>
            <a:pPr algn="l" indent="0" marL="0">
              <a:lnSpc>
                <a:spcPct val="120000"/>
              </a:lnSpc>
              <a:buNone/>
            </a:pPr>
            <a:r>
              <a:rPr lang="en-US" sz="1700" b="1" dirty="0">
                <a:solidFill>
                  <a:srgbClr val="13151C"/>
                </a:solidFill>
                <a:latin typeface="Plus Jakarta Sans" pitchFamily="34" charset="0"/>
                <a:ea typeface="Plus Jakarta Sans" pitchFamily="34" charset="-122"/>
                <a:cs typeface="Plus Jakarta Sans" pitchFamily="34" charset="-120"/>
              </a:rPr>
              <a:t>, not the firm.</a:t>
            </a:r>
            <a:endParaRPr lang="en-US" sz="1700" dirty="0"/>
          </a:p>
        </p:txBody>
      </p:sp>
      <p:sp>
        <p:nvSpPr>
          <p:cNvPr id="53" name="Text 51"/>
          <p:cNvSpPr txBox="1"/>
          <p:nvPr/>
        </p:nvSpPr>
        <p:spPr>
          <a:xfrm>
            <a:off x="9404350" y="5207000"/>
            <a:ext cx="2540000" cy="381000"/>
          </a:xfrm>
          <a:prstGeom prst="rect">
            <a:avLst/>
          </a:prstGeom>
          <a:noFill/>
          <a:ln/>
        </p:spPr>
        <p:txBody>
          <a:bodyPr wrap="square" lIns="0" tIns="0" rIns="0" bIns="0" rtlCol="0" anchor="t"/>
          <a:lstStyle/>
          <a:p>
            <a:pPr algn="l" indent="0" marL="0">
              <a:lnSpc>
                <a:spcPct val="112000"/>
              </a:lnSpc>
              <a:buNone/>
            </a:pPr>
            <a:r>
              <a:rPr lang="en-US" sz="950" dirty="0">
                <a:solidFill>
                  <a:srgbClr val="FFFFFF"/>
                </a:solidFill>
                <a:latin typeface="Plus Jakarta Sans" pitchFamily="34" charset="0"/>
                <a:ea typeface="Plus Jakarta Sans" pitchFamily="34" charset="-122"/>
                <a:cs typeface="Plus Jakarta Sans" pitchFamily="34" charset="-120"/>
              </a:rPr>
              <a:t>Roles are set per opportunity in the deal record.</a:t>
            </a:r>
            <a:endParaRPr lang="en-US" sz="950" dirty="0"/>
          </a:p>
        </p:txBody>
      </p:sp>
      <p:sp>
        <p:nvSpPr>
          <p:cNvPr id="54" name="Shape 52"/>
          <p:cNvSpPr/>
          <p:nvPr/>
        </p:nvSpPr>
        <p:spPr>
          <a:xfrm>
            <a:off x="0" y="5842000"/>
            <a:ext cx="12192000" cy="1016000"/>
          </a:xfrm>
          <a:prstGeom prst="rect">
            <a:avLst/>
          </a:prstGeom>
          <a:solidFill>
            <a:srgbClr val="F5F9FB"/>
          </a:solidFill>
          <a:ln/>
        </p:spPr>
      </p:sp>
      <p:pic>
        <p:nvPicPr>
          <p:cNvPr id="55"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56"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57" name="Text 53"/>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Your Role</a:t>
            </a:r>
            <a:endParaRPr lang="en-US" sz="1200" dirty="0"/>
          </a:p>
        </p:txBody>
      </p:sp>
      <p:sp>
        <p:nvSpPr>
          <p:cNvPr id="58" name="Text 54"/>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Choose the motions that fit your business; incentives follow the role you play on each deal.</a:t>
            </a:r>
            <a:endParaRPr lang="en-US" sz="1100" dirty="0"/>
          </a:p>
        </p:txBody>
      </p:sp>
      <p:sp>
        <p:nvSpPr>
          <p:cNvPr id="59" name="Text 55"/>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05 · PARTNER LEVELS &amp; PROGRESSION</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Five levels. One clear path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upward</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0" y="1250950"/>
            <a:ext cx="2432050" cy="762000"/>
          </a:xfrm>
          <a:prstGeom prst="rect">
            <a:avLst/>
          </a:prstGeom>
          <a:solidFill>
            <a:srgbClr val="EDF1FF"/>
          </a:solidFill>
          <a:ln/>
        </p:spPr>
      </p:sp>
      <p:sp>
        <p:nvSpPr>
          <p:cNvPr id="7" name="Text 5"/>
          <p:cNvSpPr txBox="1"/>
          <p:nvPr/>
        </p:nvSpPr>
        <p:spPr>
          <a:xfrm>
            <a:off x="254000" y="1409700"/>
            <a:ext cx="1905000" cy="152400"/>
          </a:xfrm>
          <a:prstGeom prst="rect">
            <a:avLst/>
          </a:prstGeom>
          <a:noFill/>
          <a:ln/>
        </p:spPr>
        <p:txBody>
          <a:bodyPr wrap="square" lIns="0" tIns="0" rIns="0" bIns="0" rtlCol="0" anchor="t"/>
          <a:lstStyle/>
          <a:p>
            <a:pPr algn="l" indent="0" marL="0">
              <a:lnSpc>
                <a:spcPct val="112000"/>
              </a:lnSpc>
              <a:buNone/>
            </a:pPr>
            <a:r>
              <a:rPr lang="en-US" sz="800" spc="150" kern="0" dirty="0">
                <a:solidFill>
                  <a:srgbClr val="194EFF"/>
                </a:solidFill>
                <a:latin typeface="Plus Jakarta Sans SemiBold" pitchFamily="34" charset="0"/>
                <a:ea typeface="Plus Jakarta Sans SemiBold" pitchFamily="34" charset="-122"/>
                <a:cs typeface="Plus Jakarta Sans SemiBold" pitchFamily="34" charset="-120"/>
              </a:rPr>
              <a:t>LEVEL 1</a:t>
            </a:r>
            <a:endParaRPr lang="en-US" sz="800" dirty="0"/>
          </a:p>
        </p:txBody>
      </p:sp>
      <p:sp>
        <p:nvSpPr>
          <p:cNvPr id="8" name="Text 6"/>
          <p:cNvSpPr txBox="1"/>
          <p:nvPr/>
        </p:nvSpPr>
        <p:spPr>
          <a:xfrm>
            <a:off x="254000" y="1587500"/>
            <a:ext cx="2032000" cy="317500"/>
          </a:xfrm>
          <a:prstGeom prst="rect">
            <a:avLst/>
          </a:prstGeom>
          <a:noFill/>
          <a:ln/>
        </p:spPr>
        <p:txBody>
          <a:bodyPr wrap="square" lIns="0" tIns="0" rIns="0" bIns="0" rtlCol="0" anchor="t"/>
          <a:lstStyle/>
          <a:p>
            <a:pPr algn="l" indent="0" marL="0">
              <a:lnSpc>
                <a:spcPct val="112000"/>
              </a:lnSpc>
              <a:buNone/>
            </a:pPr>
            <a:r>
              <a:rPr lang="en-US" sz="1800" b="1" dirty="0">
                <a:solidFill>
                  <a:srgbClr val="13151C"/>
                </a:solidFill>
                <a:latin typeface="Plus Jakarta Sans" pitchFamily="34" charset="0"/>
                <a:ea typeface="Plus Jakarta Sans" pitchFamily="34" charset="-122"/>
                <a:cs typeface="Plus Jakarta Sans" pitchFamily="34" charset="-120"/>
              </a:rPr>
              <a:t>Registered</a:t>
            </a:r>
            <a:endParaRPr lang="en-US" sz="1800" dirty="0"/>
          </a:p>
        </p:txBody>
      </p:sp>
      <p:sp>
        <p:nvSpPr>
          <p:cNvPr id="9" name="Shape 7"/>
          <p:cNvSpPr/>
          <p:nvPr/>
        </p:nvSpPr>
        <p:spPr>
          <a:xfrm>
            <a:off x="0" y="2012950"/>
            <a:ext cx="2438400" cy="6350"/>
          </a:xfrm>
          <a:prstGeom prst="rect">
            <a:avLst/>
          </a:prstGeom>
          <a:solidFill>
            <a:srgbClr val="CDD0D9"/>
          </a:solidFill>
          <a:ln/>
        </p:spPr>
      </p:sp>
      <p:sp>
        <p:nvSpPr>
          <p:cNvPr id="10" name="Text 8"/>
          <p:cNvSpPr txBox="1"/>
          <p:nvPr/>
        </p:nvSpPr>
        <p:spPr>
          <a:xfrm>
            <a:off x="254000" y="2184400"/>
            <a:ext cx="2032000" cy="190500"/>
          </a:xfrm>
          <a:prstGeom prst="rect">
            <a:avLst/>
          </a:prstGeom>
          <a:noFill/>
          <a:ln/>
        </p:spPr>
        <p:txBody>
          <a:bodyPr wrap="square" lIns="0" tIns="0" rIns="0" bIns="0" rtlCol="0" anchor="t"/>
          <a:lstStyle/>
          <a:p>
            <a:pPr algn="l" indent="0" marL="0">
              <a:lnSpc>
                <a:spcPct val="112000"/>
              </a:lnSpc>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$0 – $99,999 ARR</a:t>
            </a:r>
            <a:endParaRPr lang="en-US" sz="1000" dirty="0"/>
          </a:p>
        </p:txBody>
      </p:sp>
      <p:sp>
        <p:nvSpPr>
          <p:cNvPr id="11" name="Text 9"/>
          <p:cNvSpPr txBox="1"/>
          <p:nvPr/>
        </p:nvSpPr>
        <p:spPr>
          <a:xfrm>
            <a:off x="254000" y="2489200"/>
            <a:ext cx="2032000" cy="762000"/>
          </a:xfrm>
          <a:prstGeom prst="rect">
            <a:avLst/>
          </a:prstGeom>
          <a:noFill/>
          <a:ln/>
        </p:spPr>
        <p:txBody>
          <a:bodyPr wrap="square" lIns="0" tIns="0" rIns="0" bIns="0" rtlCol="0" anchor="b"/>
          <a:lstStyle/>
          <a:p>
            <a:pPr algn="l" indent="0" marL="0">
              <a:lnSpc>
                <a:spcPct val="112000"/>
              </a:lnSpc>
              <a:buNone/>
            </a:pPr>
            <a:r>
              <a:rPr lang="en-US" sz="5200" b="1" dirty="0">
                <a:solidFill>
                  <a:srgbClr val="13151C"/>
                </a:solidFill>
                <a:latin typeface="Plus Jakarta Sans" pitchFamily="34" charset="0"/>
                <a:ea typeface="Plus Jakarta Sans" pitchFamily="34" charset="-122"/>
                <a:cs typeface="Plus Jakarta Sans" pitchFamily="34" charset="-120"/>
              </a:rPr>
              <a:t>20</a:t>
            </a:r>
            <a:pPr algn="l" indent="0" marL="0">
              <a:lnSpc>
                <a:spcPct val="112000"/>
              </a:lnSpc>
              <a:buNone/>
            </a:pPr>
            <a:r>
              <a:rPr lang="en-US" sz="2200" b="1" dirty="0">
                <a:solidFill>
                  <a:srgbClr val="194EFF"/>
                </a:solidFill>
                <a:latin typeface="Plus Jakarta Sans" pitchFamily="34" charset="0"/>
                <a:ea typeface="Plus Jakarta Sans" pitchFamily="34" charset="-122"/>
                <a:cs typeface="Plus Jakarta Sans" pitchFamily="34" charset="-120"/>
              </a:rPr>
              <a:t>%</a:t>
            </a:r>
            <a:endParaRPr lang="en-US" sz="5200" dirty="0"/>
          </a:p>
        </p:txBody>
      </p:sp>
      <p:sp>
        <p:nvSpPr>
          <p:cNvPr id="12" name="Text 10"/>
          <p:cNvSpPr txBox="1"/>
          <p:nvPr/>
        </p:nvSpPr>
        <p:spPr>
          <a:xfrm>
            <a:off x="254000" y="3276600"/>
            <a:ext cx="2032000" cy="190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sourced commission</a:t>
            </a:r>
            <a:endParaRPr lang="en-US" sz="1000" dirty="0"/>
          </a:p>
        </p:txBody>
      </p:sp>
      <p:sp>
        <p:nvSpPr>
          <p:cNvPr id="13" name="Shape 11"/>
          <p:cNvSpPr/>
          <p:nvPr/>
        </p:nvSpPr>
        <p:spPr>
          <a:xfrm>
            <a:off x="0" y="3683000"/>
            <a:ext cx="2438400" cy="6350"/>
          </a:xfrm>
          <a:prstGeom prst="rect">
            <a:avLst/>
          </a:prstGeom>
          <a:solidFill>
            <a:srgbClr val="CDD0D9"/>
          </a:solidFill>
          <a:ln/>
        </p:spPr>
      </p:sp>
      <p:sp>
        <p:nvSpPr>
          <p:cNvPr id="14" name="Text 12"/>
          <p:cNvSpPr txBox="1"/>
          <p:nvPr/>
        </p:nvSpPr>
        <p:spPr>
          <a:xfrm>
            <a:off x="254000" y="3873500"/>
            <a:ext cx="1968500" cy="952500"/>
          </a:xfrm>
          <a:prstGeom prst="rect">
            <a:avLst/>
          </a:prstGeom>
          <a:noFill/>
          <a:ln/>
        </p:spPr>
        <p:txBody>
          <a:bodyPr wrap="square" lIns="0" tIns="0" rIns="0" bIns="0" rtlCol="0" anchor="t"/>
          <a:lstStyle/>
          <a:p>
            <a:pPr algn="l" indent="0" marL="0">
              <a:lnSpc>
                <a:spcPct val="120000"/>
              </a:lnSpc>
              <a:buNone/>
            </a:pPr>
            <a:r>
              <a:rPr lang="en-US" sz="1000" dirty="0">
                <a:solidFill>
                  <a:srgbClr val="5A5C63"/>
                </a:solidFill>
                <a:latin typeface="Plus Jakarta Sans" pitchFamily="34" charset="0"/>
                <a:ea typeface="Plus Jakarta Sans" pitchFamily="34" charset="-122"/>
                <a:cs typeface="Plus Jakarta Sans" pitchFamily="34" charset="-120"/>
              </a:rPr>
              <a:t>Newly onboarded; basic enablement. Validate fit and seriousness.</a:t>
            </a:r>
            <a:endParaRPr lang="en-US" sz="1000" dirty="0"/>
          </a:p>
        </p:txBody>
      </p:sp>
      <p:sp>
        <p:nvSpPr>
          <p:cNvPr id="15" name="Shape 13"/>
          <p:cNvSpPr/>
          <p:nvPr/>
        </p:nvSpPr>
        <p:spPr>
          <a:xfrm>
            <a:off x="254000" y="5549900"/>
            <a:ext cx="1930400" cy="165100"/>
          </a:xfrm>
          <a:prstGeom prst="rect">
            <a:avLst/>
          </a:prstGeom>
          <a:solidFill>
            <a:srgbClr val="194EFF">
              <a:alpha val="20000"/>
            </a:srgbClr>
          </a:solidFill>
          <a:ln/>
        </p:spPr>
      </p:sp>
      <p:sp>
        <p:nvSpPr>
          <p:cNvPr id="16" name="Shape 14"/>
          <p:cNvSpPr/>
          <p:nvPr/>
        </p:nvSpPr>
        <p:spPr>
          <a:xfrm>
            <a:off x="2438400" y="1244600"/>
            <a:ext cx="6350" cy="4597400"/>
          </a:xfrm>
          <a:prstGeom prst="rect">
            <a:avLst/>
          </a:prstGeom>
          <a:solidFill>
            <a:srgbClr val="CDD0D9"/>
          </a:solidFill>
          <a:ln/>
        </p:spPr>
      </p:sp>
      <p:sp>
        <p:nvSpPr>
          <p:cNvPr id="17" name="Shape 15"/>
          <p:cNvSpPr/>
          <p:nvPr/>
        </p:nvSpPr>
        <p:spPr>
          <a:xfrm>
            <a:off x="2444750" y="1250950"/>
            <a:ext cx="2432050" cy="762000"/>
          </a:xfrm>
          <a:prstGeom prst="rect">
            <a:avLst/>
          </a:prstGeom>
          <a:solidFill>
            <a:srgbClr val="EDF1FF"/>
          </a:solidFill>
          <a:ln/>
        </p:spPr>
      </p:sp>
      <p:sp>
        <p:nvSpPr>
          <p:cNvPr id="18" name="Text 16"/>
          <p:cNvSpPr txBox="1"/>
          <p:nvPr/>
        </p:nvSpPr>
        <p:spPr>
          <a:xfrm>
            <a:off x="2692400" y="1409700"/>
            <a:ext cx="1905000" cy="152400"/>
          </a:xfrm>
          <a:prstGeom prst="rect">
            <a:avLst/>
          </a:prstGeom>
          <a:noFill/>
          <a:ln/>
        </p:spPr>
        <p:txBody>
          <a:bodyPr wrap="square" lIns="0" tIns="0" rIns="0" bIns="0" rtlCol="0" anchor="t"/>
          <a:lstStyle/>
          <a:p>
            <a:pPr algn="l" indent="0" marL="0">
              <a:lnSpc>
                <a:spcPct val="112000"/>
              </a:lnSpc>
              <a:buNone/>
            </a:pPr>
            <a:r>
              <a:rPr lang="en-US" sz="800" spc="150" kern="0" dirty="0">
                <a:solidFill>
                  <a:srgbClr val="194EFF"/>
                </a:solidFill>
                <a:latin typeface="Plus Jakarta Sans SemiBold" pitchFamily="34" charset="0"/>
                <a:ea typeface="Plus Jakarta Sans SemiBold" pitchFamily="34" charset="-122"/>
                <a:cs typeface="Plus Jakarta Sans SemiBold" pitchFamily="34" charset="-120"/>
              </a:rPr>
              <a:t>LEVEL 2</a:t>
            </a:r>
            <a:endParaRPr lang="en-US" sz="800" dirty="0"/>
          </a:p>
        </p:txBody>
      </p:sp>
      <p:sp>
        <p:nvSpPr>
          <p:cNvPr id="19" name="Text 17"/>
          <p:cNvSpPr txBox="1"/>
          <p:nvPr/>
        </p:nvSpPr>
        <p:spPr>
          <a:xfrm>
            <a:off x="2692400" y="1587500"/>
            <a:ext cx="2032000" cy="317500"/>
          </a:xfrm>
          <a:prstGeom prst="rect">
            <a:avLst/>
          </a:prstGeom>
          <a:noFill/>
          <a:ln/>
        </p:spPr>
        <p:txBody>
          <a:bodyPr wrap="square" lIns="0" tIns="0" rIns="0" bIns="0" rtlCol="0" anchor="t"/>
          <a:lstStyle/>
          <a:p>
            <a:pPr algn="l" indent="0" marL="0">
              <a:lnSpc>
                <a:spcPct val="112000"/>
              </a:lnSpc>
              <a:buNone/>
            </a:pPr>
            <a:r>
              <a:rPr lang="en-US" sz="1800" b="1" dirty="0">
                <a:solidFill>
                  <a:srgbClr val="13151C"/>
                </a:solidFill>
                <a:latin typeface="Plus Jakarta Sans" pitchFamily="34" charset="0"/>
                <a:ea typeface="Plus Jakarta Sans" pitchFamily="34" charset="-122"/>
                <a:cs typeface="Plus Jakarta Sans" pitchFamily="34" charset="-120"/>
              </a:rPr>
              <a:t>Silver</a:t>
            </a:r>
            <a:endParaRPr lang="en-US" sz="1800" dirty="0"/>
          </a:p>
        </p:txBody>
      </p:sp>
      <p:sp>
        <p:nvSpPr>
          <p:cNvPr id="20" name="Shape 18"/>
          <p:cNvSpPr/>
          <p:nvPr/>
        </p:nvSpPr>
        <p:spPr>
          <a:xfrm>
            <a:off x="2438400" y="2012950"/>
            <a:ext cx="2438400" cy="6350"/>
          </a:xfrm>
          <a:prstGeom prst="rect">
            <a:avLst/>
          </a:prstGeom>
          <a:solidFill>
            <a:srgbClr val="CDD0D9"/>
          </a:solidFill>
          <a:ln/>
        </p:spPr>
      </p:sp>
      <p:sp>
        <p:nvSpPr>
          <p:cNvPr id="21" name="Text 19"/>
          <p:cNvSpPr txBox="1"/>
          <p:nvPr/>
        </p:nvSpPr>
        <p:spPr>
          <a:xfrm>
            <a:off x="2692400" y="2184400"/>
            <a:ext cx="2032000" cy="190500"/>
          </a:xfrm>
          <a:prstGeom prst="rect">
            <a:avLst/>
          </a:prstGeom>
          <a:noFill/>
          <a:ln/>
        </p:spPr>
        <p:txBody>
          <a:bodyPr wrap="square" lIns="0" tIns="0" rIns="0" bIns="0" rtlCol="0" anchor="t"/>
          <a:lstStyle/>
          <a:p>
            <a:pPr algn="l" indent="0" marL="0">
              <a:lnSpc>
                <a:spcPct val="112000"/>
              </a:lnSpc>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$100K – $299,999 ARR</a:t>
            </a:r>
            <a:endParaRPr lang="en-US" sz="1000" dirty="0"/>
          </a:p>
        </p:txBody>
      </p:sp>
      <p:sp>
        <p:nvSpPr>
          <p:cNvPr id="22" name="Text 20"/>
          <p:cNvSpPr txBox="1"/>
          <p:nvPr/>
        </p:nvSpPr>
        <p:spPr>
          <a:xfrm>
            <a:off x="2692400" y="2489200"/>
            <a:ext cx="2032000" cy="762000"/>
          </a:xfrm>
          <a:prstGeom prst="rect">
            <a:avLst/>
          </a:prstGeom>
          <a:noFill/>
          <a:ln/>
        </p:spPr>
        <p:txBody>
          <a:bodyPr wrap="square" lIns="0" tIns="0" rIns="0" bIns="0" rtlCol="0" anchor="b"/>
          <a:lstStyle/>
          <a:p>
            <a:pPr algn="l" indent="0" marL="0">
              <a:lnSpc>
                <a:spcPct val="112000"/>
              </a:lnSpc>
              <a:buNone/>
            </a:pPr>
            <a:r>
              <a:rPr lang="en-US" sz="5200" b="1" dirty="0">
                <a:solidFill>
                  <a:srgbClr val="13151C"/>
                </a:solidFill>
                <a:latin typeface="Plus Jakarta Sans" pitchFamily="34" charset="0"/>
                <a:ea typeface="Plus Jakarta Sans" pitchFamily="34" charset="-122"/>
                <a:cs typeface="Plus Jakarta Sans" pitchFamily="34" charset="-120"/>
              </a:rPr>
              <a:t>25</a:t>
            </a:r>
            <a:pPr algn="l" indent="0" marL="0">
              <a:lnSpc>
                <a:spcPct val="112000"/>
              </a:lnSpc>
              <a:buNone/>
            </a:pPr>
            <a:r>
              <a:rPr lang="en-US" sz="2200" b="1" dirty="0">
                <a:solidFill>
                  <a:srgbClr val="194EFF"/>
                </a:solidFill>
                <a:latin typeface="Plus Jakarta Sans" pitchFamily="34" charset="0"/>
                <a:ea typeface="Plus Jakarta Sans" pitchFamily="34" charset="-122"/>
                <a:cs typeface="Plus Jakarta Sans" pitchFamily="34" charset="-120"/>
              </a:rPr>
              <a:t>%</a:t>
            </a:r>
            <a:endParaRPr lang="en-US" sz="5200" dirty="0"/>
          </a:p>
        </p:txBody>
      </p:sp>
      <p:sp>
        <p:nvSpPr>
          <p:cNvPr id="23" name="Text 21"/>
          <p:cNvSpPr txBox="1"/>
          <p:nvPr/>
        </p:nvSpPr>
        <p:spPr>
          <a:xfrm>
            <a:off x="2692400" y="3276600"/>
            <a:ext cx="2032000" cy="190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sourced commission</a:t>
            </a:r>
            <a:endParaRPr lang="en-US" sz="1000" dirty="0"/>
          </a:p>
        </p:txBody>
      </p:sp>
      <p:sp>
        <p:nvSpPr>
          <p:cNvPr id="24" name="Shape 22"/>
          <p:cNvSpPr/>
          <p:nvPr/>
        </p:nvSpPr>
        <p:spPr>
          <a:xfrm>
            <a:off x="2438400" y="3683000"/>
            <a:ext cx="2438400" cy="6350"/>
          </a:xfrm>
          <a:prstGeom prst="rect">
            <a:avLst/>
          </a:prstGeom>
          <a:solidFill>
            <a:srgbClr val="CDD0D9"/>
          </a:solidFill>
          <a:ln/>
        </p:spPr>
      </p:sp>
      <p:sp>
        <p:nvSpPr>
          <p:cNvPr id="25" name="Text 23"/>
          <p:cNvSpPr txBox="1"/>
          <p:nvPr/>
        </p:nvSpPr>
        <p:spPr>
          <a:xfrm>
            <a:off x="2692400" y="3873500"/>
            <a:ext cx="1968500" cy="952500"/>
          </a:xfrm>
          <a:prstGeom prst="rect">
            <a:avLst/>
          </a:prstGeom>
          <a:noFill/>
          <a:ln/>
        </p:spPr>
        <p:txBody>
          <a:bodyPr wrap="square" lIns="0" tIns="0" rIns="0" bIns="0" rtlCol="0" anchor="t"/>
          <a:lstStyle/>
          <a:p>
            <a:pPr algn="l" indent="0" marL="0">
              <a:lnSpc>
                <a:spcPct val="120000"/>
              </a:lnSpc>
              <a:buNone/>
            </a:pPr>
            <a:r>
              <a:rPr lang="en-US" sz="1000" dirty="0">
                <a:solidFill>
                  <a:srgbClr val="5A5C63"/>
                </a:solidFill>
                <a:latin typeface="Plus Jakarta Sans" pitchFamily="34" charset="0"/>
                <a:ea typeface="Plus Jakarta Sans" pitchFamily="34" charset="-122"/>
                <a:cs typeface="Plus Jakarta Sans" pitchFamily="34" charset="-120"/>
              </a:rPr>
              <a:t>Trained resources, early pipeline. Build a repeatable motion and first wins.</a:t>
            </a:r>
            <a:endParaRPr lang="en-US" sz="1000" dirty="0"/>
          </a:p>
        </p:txBody>
      </p:sp>
      <p:sp>
        <p:nvSpPr>
          <p:cNvPr id="26" name="Shape 24"/>
          <p:cNvSpPr/>
          <p:nvPr/>
        </p:nvSpPr>
        <p:spPr>
          <a:xfrm>
            <a:off x="2692400" y="5384800"/>
            <a:ext cx="1930400" cy="330200"/>
          </a:xfrm>
          <a:prstGeom prst="rect">
            <a:avLst/>
          </a:prstGeom>
          <a:solidFill>
            <a:srgbClr val="194EFF">
              <a:alpha val="35000"/>
            </a:srgbClr>
          </a:solidFill>
          <a:ln/>
        </p:spPr>
      </p:sp>
      <p:sp>
        <p:nvSpPr>
          <p:cNvPr id="27" name="Shape 25"/>
          <p:cNvSpPr/>
          <p:nvPr/>
        </p:nvSpPr>
        <p:spPr>
          <a:xfrm>
            <a:off x="4876800" y="1244600"/>
            <a:ext cx="6350" cy="4597400"/>
          </a:xfrm>
          <a:prstGeom prst="rect">
            <a:avLst/>
          </a:prstGeom>
          <a:solidFill>
            <a:srgbClr val="CDD0D9"/>
          </a:solidFill>
          <a:ln/>
        </p:spPr>
      </p:sp>
      <p:sp>
        <p:nvSpPr>
          <p:cNvPr id="28" name="Shape 26"/>
          <p:cNvSpPr/>
          <p:nvPr/>
        </p:nvSpPr>
        <p:spPr>
          <a:xfrm>
            <a:off x="4883150" y="1250950"/>
            <a:ext cx="2432050" cy="762000"/>
          </a:xfrm>
          <a:prstGeom prst="rect">
            <a:avLst/>
          </a:prstGeom>
          <a:solidFill>
            <a:srgbClr val="EDF1FF"/>
          </a:solidFill>
          <a:ln/>
        </p:spPr>
      </p:sp>
      <p:sp>
        <p:nvSpPr>
          <p:cNvPr id="29" name="Text 27"/>
          <p:cNvSpPr txBox="1"/>
          <p:nvPr/>
        </p:nvSpPr>
        <p:spPr>
          <a:xfrm>
            <a:off x="5130800" y="1409700"/>
            <a:ext cx="1905000" cy="152400"/>
          </a:xfrm>
          <a:prstGeom prst="rect">
            <a:avLst/>
          </a:prstGeom>
          <a:noFill/>
          <a:ln/>
        </p:spPr>
        <p:txBody>
          <a:bodyPr wrap="square" lIns="0" tIns="0" rIns="0" bIns="0" rtlCol="0" anchor="t"/>
          <a:lstStyle/>
          <a:p>
            <a:pPr algn="l" indent="0" marL="0">
              <a:lnSpc>
                <a:spcPct val="112000"/>
              </a:lnSpc>
              <a:buNone/>
            </a:pPr>
            <a:r>
              <a:rPr lang="en-US" sz="800" spc="150" kern="0" dirty="0">
                <a:solidFill>
                  <a:srgbClr val="194EFF"/>
                </a:solidFill>
                <a:latin typeface="Plus Jakarta Sans SemiBold" pitchFamily="34" charset="0"/>
                <a:ea typeface="Plus Jakarta Sans SemiBold" pitchFamily="34" charset="-122"/>
                <a:cs typeface="Plus Jakarta Sans SemiBold" pitchFamily="34" charset="-120"/>
              </a:rPr>
              <a:t>LEVEL 3</a:t>
            </a:r>
            <a:endParaRPr lang="en-US" sz="800" dirty="0"/>
          </a:p>
        </p:txBody>
      </p:sp>
      <p:sp>
        <p:nvSpPr>
          <p:cNvPr id="30" name="Text 28"/>
          <p:cNvSpPr txBox="1"/>
          <p:nvPr/>
        </p:nvSpPr>
        <p:spPr>
          <a:xfrm>
            <a:off x="5130800" y="1587500"/>
            <a:ext cx="2032000" cy="317500"/>
          </a:xfrm>
          <a:prstGeom prst="rect">
            <a:avLst/>
          </a:prstGeom>
          <a:noFill/>
          <a:ln/>
        </p:spPr>
        <p:txBody>
          <a:bodyPr wrap="square" lIns="0" tIns="0" rIns="0" bIns="0" rtlCol="0" anchor="t"/>
          <a:lstStyle/>
          <a:p>
            <a:pPr algn="l" indent="0" marL="0">
              <a:lnSpc>
                <a:spcPct val="112000"/>
              </a:lnSpc>
              <a:buNone/>
            </a:pPr>
            <a:r>
              <a:rPr lang="en-US" sz="1800" b="1" dirty="0">
                <a:solidFill>
                  <a:srgbClr val="13151C"/>
                </a:solidFill>
                <a:latin typeface="Plus Jakarta Sans" pitchFamily="34" charset="0"/>
                <a:ea typeface="Plus Jakarta Sans" pitchFamily="34" charset="-122"/>
                <a:cs typeface="Plus Jakarta Sans" pitchFamily="34" charset="-120"/>
              </a:rPr>
              <a:t>Gold</a:t>
            </a:r>
            <a:endParaRPr lang="en-US" sz="1800" dirty="0"/>
          </a:p>
        </p:txBody>
      </p:sp>
      <p:sp>
        <p:nvSpPr>
          <p:cNvPr id="31" name="Shape 29"/>
          <p:cNvSpPr/>
          <p:nvPr/>
        </p:nvSpPr>
        <p:spPr>
          <a:xfrm>
            <a:off x="4876800" y="2012950"/>
            <a:ext cx="2438400" cy="6350"/>
          </a:xfrm>
          <a:prstGeom prst="rect">
            <a:avLst/>
          </a:prstGeom>
          <a:solidFill>
            <a:srgbClr val="CDD0D9"/>
          </a:solidFill>
          <a:ln/>
        </p:spPr>
      </p:sp>
      <p:sp>
        <p:nvSpPr>
          <p:cNvPr id="32" name="Text 30"/>
          <p:cNvSpPr txBox="1"/>
          <p:nvPr/>
        </p:nvSpPr>
        <p:spPr>
          <a:xfrm>
            <a:off x="5130800" y="2184400"/>
            <a:ext cx="2032000" cy="190500"/>
          </a:xfrm>
          <a:prstGeom prst="rect">
            <a:avLst/>
          </a:prstGeom>
          <a:noFill/>
          <a:ln/>
        </p:spPr>
        <p:txBody>
          <a:bodyPr wrap="square" lIns="0" tIns="0" rIns="0" bIns="0" rtlCol="0" anchor="t"/>
          <a:lstStyle/>
          <a:p>
            <a:pPr algn="l" indent="0" marL="0">
              <a:lnSpc>
                <a:spcPct val="112000"/>
              </a:lnSpc>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$300K – $749,999 ARR</a:t>
            </a:r>
            <a:endParaRPr lang="en-US" sz="1000" dirty="0"/>
          </a:p>
        </p:txBody>
      </p:sp>
      <p:sp>
        <p:nvSpPr>
          <p:cNvPr id="33" name="Text 31"/>
          <p:cNvSpPr txBox="1"/>
          <p:nvPr/>
        </p:nvSpPr>
        <p:spPr>
          <a:xfrm>
            <a:off x="5130800" y="2489200"/>
            <a:ext cx="2032000" cy="762000"/>
          </a:xfrm>
          <a:prstGeom prst="rect">
            <a:avLst/>
          </a:prstGeom>
          <a:noFill/>
          <a:ln/>
        </p:spPr>
        <p:txBody>
          <a:bodyPr wrap="square" lIns="0" tIns="0" rIns="0" bIns="0" rtlCol="0" anchor="b"/>
          <a:lstStyle/>
          <a:p>
            <a:pPr algn="l" indent="0" marL="0">
              <a:lnSpc>
                <a:spcPct val="112000"/>
              </a:lnSpc>
              <a:buNone/>
            </a:pPr>
            <a:r>
              <a:rPr lang="en-US" sz="5200" b="1" dirty="0">
                <a:solidFill>
                  <a:srgbClr val="13151C"/>
                </a:solidFill>
                <a:latin typeface="Plus Jakarta Sans" pitchFamily="34" charset="0"/>
                <a:ea typeface="Plus Jakarta Sans" pitchFamily="34" charset="-122"/>
                <a:cs typeface="Plus Jakarta Sans" pitchFamily="34" charset="-120"/>
              </a:rPr>
              <a:t>30</a:t>
            </a:r>
            <a:pPr algn="l" indent="0" marL="0">
              <a:lnSpc>
                <a:spcPct val="112000"/>
              </a:lnSpc>
              <a:buNone/>
            </a:pPr>
            <a:r>
              <a:rPr lang="en-US" sz="2200" b="1" dirty="0">
                <a:solidFill>
                  <a:srgbClr val="194EFF"/>
                </a:solidFill>
                <a:latin typeface="Plus Jakarta Sans" pitchFamily="34" charset="0"/>
                <a:ea typeface="Plus Jakarta Sans" pitchFamily="34" charset="-122"/>
                <a:cs typeface="Plus Jakarta Sans" pitchFamily="34" charset="-120"/>
              </a:rPr>
              <a:t>%</a:t>
            </a:r>
            <a:endParaRPr lang="en-US" sz="5200" dirty="0"/>
          </a:p>
        </p:txBody>
      </p:sp>
      <p:sp>
        <p:nvSpPr>
          <p:cNvPr id="34" name="Text 32"/>
          <p:cNvSpPr txBox="1"/>
          <p:nvPr/>
        </p:nvSpPr>
        <p:spPr>
          <a:xfrm>
            <a:off x="5130800" y="3276600"/>
            <a:ext cx="2032000" cy="190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sourced commission</a:t>
            </a:r>
            <a:endParaRPr lang="en-US" sz="1000" dirty="0"/>
          </a:p>
        </p:txBody>
      </p:sp>
      <p:sp>
        <p:nvSpPr>
          <p:cNvPr id="35" name="Shape 33"/>
          <p:cNvSpPr/>
          <p:nvPr/>
        </p:nvSpPr>
        <p:spPr>
          <a:xfrm>
            <a:off x="4876800" y="3683000"/>
            <a:ext cx="2438400" cy="6350"/>
          </a:xfrm>
          <a:prstGeom prst="rect">
            <a:avLst/>
          </a:prstGeom>
          <a:solidFill>
            <a:srgbClr val="CDD0D9"/>
          </a:solidFill>
          <a:ln/>
        </p:spPr>
      </p:sp>
      <p:sp>
        <p:nvSpPr>
          <p:cNvPr id="36" name="Text 34"/>
          <p:cNvSpPr txBox="1"/>
          <p:nvPr/>
        </p:nvSpPr>
        <p:spPr>
          <a:xfrm>
            <a:off x="5130800" y="3873500"/>
            <a:ext cx="1968500" cy="952500"/>
          </a:xfrm>
          <a:prstGeom prst="rect">
            <a:avLst/>
          </a:prstGeom>
          <a:noFill/>
          <a:ln/>
        </p:spPr>
        <p:txBody>
          <a:bodyPr wrap="square" lIns="0" tIns="0" rIns="0" bIns="0" rtlCol="0" anchor="t"/>
          <a:lstStyle/>
          <a:p>
            <a:pPr algn="l" indent="0" marL="0">
              <a:lnSpc>
                <a:spcPct val="120000"/>
              </a:lnSpc>
              <a:buNone/>
            </a:pPr>
            <a:r>
              <a:rPr lang="en-US" sz="1000" dirty="0">
                <a:solidFill>
                  <a:srgbClr val="5A5C63"/>
                </a:solidFill>
                <a:latin typeface="Plus Jakarta Sans" pitchFamily="34" charset="0"/>
                <a:ea typeface="Plus Jakarta Sans" pitchFamily="34" charset="-122"/>
                <a:cs typeface="Plus Jakarta Sans" pitchFamily="34" charset="-120"/>
              </a:rPr>
              <a:t>Closed business, certified resources. Scale partner-led pipeline and delivery.</a:t>
            </a:r>
            <a:endParaRPr lang="en-US" sz="1000" dirty="0"/>
          </a:p>
        </p:txBody>
      </p:sp>
      <p:sp>
        <p:nvSpPr>
          <p:cNvPr id="37" name="Shape 35"/>
          <p:cNvSpPr/>
          <p:nvPr/>
        </p:nvSpPr>
        <p:spPr>
          <a:xfrm>
            <a:off x="5130800" y="5219700"/>
            <a:ext cx="1930400" cy="495300"/>
          </a:xfrm>
          <a:prstGeom prst="rect">
            <a:avLst/>
          </a:prstGeom>
          <a:solidFill>
            <a:srgbClr val="194EFF">
              <a:alpha val="50000"/>
            </a:srgbClr>
          </a:solidFill>
          <a:ln/>
        </p:spPr>
      </p:sp>
      <p:sp>
        <p:nvSpPr>
          <p:cNvPr id="38" name="Shape 36"/>
          <p:cNvSpPr/>
          <p:nvPr/>
        </p:nvSpPr>
        <p:spPr>
          <a:xfrm>
            <a:off x="7315200" y="1244600"/>
            <a:ext cx="6350" cy="4597400"/>
          </a:xfrm>
          <a:prstGeom prst="rect">
            <a:avLst/>
          </a:prstGeom>
          <a:solidFill>
            <a:srgbClr val="CDD0D9"/>
          </a:solidFill>
          <a:ln/>
        </p:spPr>
      </p:sp>
      <p:sp>
        <p:nvSpPr>
          <p:cNvPr id="39" name="Shape 37"/>
          <p:cNvSpPr/>
          <p:nvPr/>
        </p:nvSpPr>
        <p:spPr>
          <a:xfrm>
            <a:off x="7321550" y="1250950"/>
            <a:ext cx="2432050" cy="762000"/>
          </a:xfrm>
          <a:prstGeom prst="rect">
            <a:avLst/>
          </a:prstGeom>
          <a:solidFill>
            <a:srgbClr val="EDF1FF"/>
          </a:solidFill>
          <a:ln/>
        </p:spPr>
      </p:sp>
      <p:sp>
        <p:nvSpPr>
          <p:cNvPr id="40" name="Text 38"/>
          <p:cNvSpPr txBox="1"/>
          <p:nvPr/>
        </p:nvSpPr>
        <p:spPr>
          <a:xfrm>
            <a:off x="7569200" y="1409700"/>
            <a:ext cx="1905000" cy="152400"/>
          </a:xfrm>
          <a:prstGeom prst="rect">
            <a:avLst/>
          </a:prstGeom>
          <a:noFill/>
          <a:ln/>
        </p:spPr>
        <p:txBody>
          <a:bodyPr wrap="square" lIns="0" tIns="0" rIns="0" bIns="0" rtlCol="0" anchor="t"/>
          <a:lstStyle/>
          <a:p>
            <a:pPr algn="l" indent="0" marL="0">
              <a:lnSpc>
                <a:spcPct val="112000"/>
              </a:lnSpc>
              <a:buNone/>
            </a:pPr>
            <a:r>
              <a:rPr lang="en-US" sz="800" spc="150" kern="0" dirty="0">
                <a:solidFill>
                  <a:srgbClr val="194EFF"/>
                </a:solidFill>
                <a:latin typeface="Plus Jakarta Sans SemiBold" pitchFamily="34" charset="0"/>
                <a:ea typeface="Plus Jakarta Sans SemiBold" pitchFamily="34" charset="-122"/>
                <a:cs typeface="Plus Jakarta Sans SemiBold" pitchFamily="34" charset="-120"/>
              </a:rPr>
              <a:t>LEVEL 4</a:t>
            </a:r>
            <a:endParaRPr lang="en-US" sz="800" dirty="0"/>
          </a:p>
        </p:txBody>
      </p:sp>
      <p:sp>
        <p:nvSpPr>
          <p:cNvPr id="41" name="Text 39"/>
          <p:cNvSpPr txBox="1"/>
          <p:nvPr/>
        </p:nvSpPr>
        <p:spPr>
          <a:xfrm>
            <a:off x="7569200" y="1587500"/>
            <a:ext cx="2032000" cy="317500"/>
          </a:xfrm>
          <a:prstGeom prst="rect">
            <a:avLst/>
          </a:prstGeom>
          <a:noFill/>
          <a:ln/>
        </p:spPr>
        <p:txBody>
          <a:bodyPr wrap="square" lIns="0" tIns="0" rIns="0" bIns="0" rtlCol="0" anchor="t"/>
          <a:lstStyle/>
          <a:p>
            <a:pPr algn="l" indent="0" marL="0">
              <a:lnSpc>
                <a:spcPct val="112000"/>
              </a:lnSpc>
              <a:buNone/>
            </a:pPr>
            <a:r>
              <a:rPr lang="en-US" sz="1800" b="1" dirty="0">
                <a:solidFill>
                  <a:srgbClr val="13151C"/>
                </a:solidFill>
                <a:latin typeface="Plus Jakarta Sans" pitchFamily="34" charset="0"/>
                <a:ea typeface="Plus Jakarta Sans" pitchFamily="34" charset="-122"/>
                <a:cs typeface="Plus Jakarta Sans" pitchFamily="34" charset="-120"/>
              </a:rPr>
              <a:t>Platinum</a:t>
            </a:r>
            <a:endParaRPr lang="en-US" sz="1800" dirty="0"/>
          </a:p>
        </p:txBody>
      </p:sp>
      <p:sp>
        <p:nvSpPr>
          <p:cNvPr id="42" name="Shape 40"/>
          <p:cNvSpPr/>
          <p:nvPr/>
        </p:nvSpPr>
        <p:spPr>
          <a:xfrm>
            <a:off x="7315200" y="2012950"/>
            <a:ext cx="2438400" cy="6350"/>
          </a:xfrm>
          <a:prstGeom prst="rect">
            <a:avLst/>
          </a:prstGeom>
          <a:solidFill>
            <a:srgbClr val="CDD0D9"/>
          </a:solidFill>
          <a:ln/>
        </p:spPr>
      </p:sp>
      <p:sp>
        <p:nvSpPr>
          <p:cNvPr id="43" name="Text 41"/>
          <p:cNvSpPr txBox="1"/>
          <p:nvPr/>
        </p:nvSpPr>
        <p:spPr>
          <a:xfrm>
            <a:off x="7569200" y="2184400"/>
            <a:ext cx="2032000" cy="190500"/>
          </a:xfrm>
          <a:prstGeom prst="rect">
            <a:avLst/>
          </a:prstGeom>
          <a:noFill/>
          <a:ln/>
        </p:spPr>
        <p:txBody>
          <a:bodyPr wrap="square" lIns="0" tIns="0" rIns="0" bIns="0" rtlCol="0" anchor="t"/>
          <a:lstStyle/>
          <a:p>
            <a:pPr algn="l" indent="0" marL="0">
              <a:lnSpc>
                <a:spcPct val="112000"/>
              </a:lnSpc>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$750K – $1,499,999 ARR</a:t>
            </a:r>
            <a:endParaRPr lang="en-US" sz="1000" dirty="0"/>
          </a:p>
        </p:txBody>
      </p:sp>
      <p:sp>
        <p:nvSpPr>
          <p:cNvPr id="44" name="Text 42"/>
          <p:cNvSpPr txBox="1"/>
          <p:nvPr/>
        </p:nvSpPr>
        <p:spPr>
          <a:xfrm>
            <a:off x="7569200" y="2489200"/>
            <a:ext cx="2032000" cy="762000"/>
          </a:xfrm>
          <a:prstGeom prst="rect">
            <a:avLst/>
          </a:prstGeom>
          <a:noFill/>
          <a:ln/>
        </p:spPr>
        <p:txBody>
          <a:bodyPr wrap="square" lIns="0" tIns="0" rIns="0" bIns="0" rtlCol="0" anchor="b"/>
          <a:lstStyle/>
          <a:p>
            <a:pPr algn="l" indent="0" marL="0">
              <a:lnSpc>
                <a:spcPct val="112000"/>
              </a:lnSpc>
              <a:buNone/>
            </a:pPr>
            <a:r>
              <a:rPr lang="en-US" sz="5200" b="1" dirty="0">
                <a:solidFill>
                  <a:srgbClr val="13151C"/>
                </a:solidFill>
                <a:latin typeface="Plus Jakarta Sans" pitchFamily="34" charset="0"/>
                <a:ea typeface="Plus Jakarta Sans" pitchFamily="34" charset="-122"/>
                <a:cs typeface="Plus Jakarta Sans" pitchFamily="34" charset="-120"/>
              </a:rPr>
              <a:t>35</a:t>
            </a:r>
            <a:pPr algn="l" indent="0" marL="0">
              <a:lnSpc>
                <a:spcPct val="112000"/>
              </a:lnSpc>
              <a:buNone/>
            </a:pPr>
            <a:r>
              <a:rPr lang="en-US" sz="2200" b="1" dirty="0">
                <a:solidFill>
                  <a:srgbClr val="194EFF"/>
                </a:solidFill>
                <a:latin typeface="Plus Jakarta Sans" pitchFamily="34" charset="0"/>
                <a:ea typeface="Plus Jakarta Sans" pitchFamily="34" charset="-122"/>
                <a:cs typeface="Plus Jakarta Sans" pitchFamily="34" charset="-120"/>
              </a:rPr>
              <a:t>%</a:t>
            </a:r>
            <a:endParaRPr lang="en-US" sz="5200" dirty="0"/>
          </a:p>
        </p:txBody>
      </p:sp>
      <p:sp>
        <p:nvSpPr>
          <p:cNvPr id="45" name="Text 43"/>
          <p:cNvSpPr txBox="1"/>
          <p:nvPr/>
        </p:nvSpPr>
        <p:spPr>
          <a:xfrm>
            <a:off x="7569200" y="3276600"/>
            <a:ext cx="2032000" cy="190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sourced commission</a:t>
            </a:r>
            <a:endParaRPr lang="en-US" sz="1000" dirty="0"/>
          </a:p>
        </p:txBody>
      </p:sp>
      <p:sp>
        <p:nvSpPr>
          <p:cNvPr id="46" name="Shape 44"/>
          <p:cNvSpPr/>
          <p:nvPr/>
        </p:nvSpPr>
        <p:spPr>
          <a:xfrm>
            <a:off x="7315200" y="3683000"/>
            <a:ext cx="2438400" cy="6350"/>
          </a:xfrm>
          <a:prstGeom prst="rect">
            <a:avLst/>
          </a:prstGeom>
          <a:solidFill>
            <a:srgbClr val="CDD0D9"/>
          </a:solidFill>
          <a:ln/>
        </p:spPr>
      </p:sp>
      <p:sp>
        <p:nvSpPr>
          <p:cNvPr id="47" name="Text 45"/>
          <p:cNvSpPr txBox="1"/>
          <p:nvPr/>
        </p:nvSpPr>
        <p:spPr>
          <a:xfrm>
            <a:off x="7569200" y="3873500"/>
            <a:ext cx="1968500" cy="952500"/>
          </a:xfrm>
          <a:prstGeom prst="rect">
            <a:avLst/>
          </a:prstGeom>
          <a:noFill/>
          <a:ln/>
        </p:spPr>
        <p:txBody>
          <a:bodyPr wrap="square" lIns="0" tIns="0" rIns="0" bIns="0" rtlCol="0" anchor="t"/>
          <a:lstStyle/>
          <a:p>
            <a:pPr algn="l" indent="0" marL="0">
              <a:lnSpc>
                <a:spcPct val="120000"/>
              </a:lnSpc>
              <a:buNone/>
            </a:pPr>
            <a:r>
              <a:rPr lang="en-US" sz="1000" dirty="0">
                <a:solidFill>
                  <a:srgbClr val="5A5C63"/>
                </a:solidFill>
                <a:latin typeface="Plus Jakarta Sans" pitchFamily="34" charset="0"/>
                <a:ea typeface="Plus Jakarta Sans" pitchFamily="34" charset="-122"/>
                <a:cs typeface="Plus Jakarta Sans" pitchFamily="34" charset="-120"/>
              </a:rPr>
              <a:t>Repeatable GTM, executive alignment. Invest in joint GTM and sponsorship.</a:t>
            </a:r>
            <a:endParaRPr lang="en-US" sz="1000" dirty="0"/>
          </a:p>
        </p:txBody>
      </p:sp>
      <p:sp>
        <p:nvSpPr>
          <p:cNvPr id="48" name="Shape 46"/>
          <p:cNvSpPr/>
          <p:nvPr/>
        </p:nvSpPr>
        <p:spPr>
          <a:xfrm>
            <a:off x="7569200" y="5054600"/>
            <a:ext cx="1930400" cy="660400"/>
          </a:xfrm>
          <a:prstGeom prst="rect">
            <a:avLst/>
          </a:prstGeom>
          <a:solidFill>
            <a:srgbClr val="194EFF">
              <a:alpha val="65000"/>
            </a:srgbClr>
          </a:solidFill>
          <a:ln/>
        </p:spPr>
      </p:sp>
      <p:sp>
        <p:nvSpPr>
          <p:cNvPr id="49" name="Shape 47"/>
          <p:cNvSpPr/>
          <p:nvPr/>
        </p:nvSpPr>
        <p:spPr>
          <a:xfrm>
            <a:off x="9753600" y="1244600"/>
            <a:ext cx="6350" cy="4597400"/>
          </a:xfrm>
          <a:prstGeom prst="rect">
            <a:avLst/>
          </a:prstGeom>
          <a:solidFill>
            <a:srgbClr val="CDD0D9"/>
          </a:solidFill>
          <a:ln/>
        </p:spPr>
      </p:sp>
      <p:sp>
        <p:nvSpPr>
          <p:cNvPr id="50" name="Shape 48"/>
          <p:cNvSpPr/>
          <p:nvPr/>
        </p:nvSpPr>
        <p:spPr>
          <a:xfrm>
            <a:off x="9759950" y="1250950"/>
            <a:ext cx="2432050" cy="762000"/>
          </a:xfrm>
          <a:prstGeom prst="rect">
            <a:avLst/>
          </a:prstGeom>
          <a:solidFill>
            <a:srgbClr val="194EFF"/>
          </a:solidFill>
          <a:ln/>
        </p:spPr>
      </p:sp>
      <p:sp>
        <p:nvSpPr>
          <p:cNvPr id="51" name="Text 49"/>
          <p:cNvSpPr txBox="1"/>
          <p:nvPr/>
        </p:nvSpPr>
        <p:spPr>
          <a:xfrm>
            <a:off x="10007600" y="1409700"/>
            <a:ext cx="1905000" cy="152400"/>
          </a:xfrm>
          <a:prstGeom prst="rect">
            <a:avLst/>
          </a:prstGeom>
          <a:noFill/>
          <a:ln/>
        </p:spPr>
        <p:txBody>
          <a:bodyPr wrap="square" lIns="0" tIns="0" rIns="0" bIns="0" rtlCol="0" anchor="t"/>
          <a:lstStyle/>
          <a:p>
            <a:pPr algn="l" indent="0" marL="0">
              <a:lnSpc>
                <a:spcPct val="112000"/>
              </a:lnSpc>
              <a:buNone/>
            </a:pPr>
            <a:r>
              <a:rPr lang="en-US" sz="800" spc="150" kern="0" dirty="0">
                <a:solidFill>
                  <a:srgbClr val="FFFFFF"/>
                </a:solidFill>
                <a:latin typeface="Plus Jakarta Sans SemiBold" pitchFamily="34" charset="0"/>
                <a:ea typeface="Plus Jakarta Sans SemiBold" pitchFamily="34" charset="-122"/>
                <a:cs typeface="Plus Jakarta Sans SemiBold" pitchFamily="34" charset="-120"/>
              </a:rPr>
              <a:t>LEVEL 5</a:t>
            </a:r>
            <a:endParaRPr lang="en-US" sz="800" dirty="0"/>
          </a:p>
        </p:txBody>
      </p:sp>
      <p:sp>
        <p:nvSpPr>
          <p:cNvPr id="52" name="Text 50"/>
          <p:cNvSpPr txBox="1"/>
          <p:nvPr/>
        </p:nvSpPr>
        <p:spPr>
          <a:xfrm>
            <a:off x="10007600" y="1587500"/>
            <a:ext cx="2032000" cy="317500"/>
          </a:xfrm>
          <a:prstGeom prst="rect">
            <a:avLst/>
          </a:prstGeom>
          <a:noFill/>
          <a:ln/>
        </p:spPr>
        <p:txBody>
          <a:bodyPr wrap="square" lIns="0" tIns="0" rIns="0" bIns="0" rtlCol="0" anchor="t"/>
          <a:lstStyle/>
          <a:p>
            <a:pPr algn="l" indent="0" marL="0">
              <a:lnSpc>
                <a:spcPct val="112000"/>
              </a:lnSpc>
              <a:buNone/>
            </a:pPr>
            <a:r>
              <a:rPr lang="en-US" sz="1800" b="1" dirty="0">
                <a:solidFill>
                  <a:srgbClr val="FFFFFF"/>
                </a:solidFill>
                <a:latin typeface="Plus Jakarta Sans" pitchFamily="34" charset="0"/>
                <a:ea typeface="Plus Jakarta Sans" pitchFamily="34" charset="-122"/>
                <a:cs typeface="Plus Jakarta Sans" pitchFamily="34" charset="-120"/>
              </a:rPr>
              <a:t>Elite</a:t>
            </a:r>
            <a:endParaRPr lang="en-US" sz="1800" dirty="0"/>
          </a:p>
        </p:txBody>
      </p:sp>
      <p:sp>
        <p:nvSpPr>
          <p:cNvPr id="53" name="Shape 51"/>
          <p:cNvSpPr/>
          <p:nvPr/>
        </p:nvSpPr>
        <p:spPr>
          <a:xfrm>
            <a:off x="9753600" y="2012950"/>
            <a:ext cx="2438400" cy="6350"/>
          </a:xfrm>
          <a:prstGeom prst="rect">
            <a:avLst/>
          </a:prstGeom>
          <a:solidFill>
            <a:srgbClr val="CDD0D9"/>
          </a:solidFill>
          <a:ln/>
        </p:spPr>
      </p:sp>
      <p:sp>
        <p:nvSpPr>
          <p:cNvPr id="54" name="Text 52"/>
          <p:cNvSpPr txBox="1"/>
          <p:nvPr/>
        </p:nvSpPr>
        <p:spPr>
          <a:xfrm>
            <a:off x="10007600" y="2184400"/>
            <a:ext cx="2032000" cy="190500"/>
          </a:xfrm>
          <a:prstGeom prst="rect">
            <a:avLst/>
          </a:prstGeom>
          <a:noFill/>
          <a:ln/>
        </p:spPr>
        <p:txBody>
          <a:bodyPr wrap="square" lIns="0" tIns="0" rIns="0" bIns="0" rtlCol="0" anchor="t"/>
          <a:lstStyle/>
          <a:p>
            <a:pPr algn="l" indent="0" marL="0">
              <a:lnSpc>
                <a:spcPct val="112000"/>
              </a:lnSpc>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$1.5M+ ARR</a:t>
            </a:r>
            <a:endParaRPr lang="en-US" sz="1000" dirty="0"/>
          </a:p>
        </p:txBody>
      </p:sp>
      <p:sp>
        <p:nvSpPr>
          <p:cNvPr id="55" name="Text 53"/>
          <p:cNvSpPr txBox="1"/>
          <p:nvPr/>
        </p:nvSpPr>
        <p:spPr>
          <a:xfrm>
            <a:off x="10007600" y="2489200"/>
            <a:ext cx="2032000" cy="762000"/>
          </a:xfrm>
          <a:prstGeom prst="rect">
            <a:avLst/>
          </a:prstGeom>
          <a:noFill/>
          <a:ln/>
        </p:spPr>
        <p:txBody>
          <a:bodyPr wrap="square" lIns="0" tIns="0" rIns="0" bIns="0" rtlCol="0" anchor="b"/>
          <a:lstStyle/>
          <a:p>
            <a:pPr algn="l" indent="0" marL="0">
              <a:lnSpc>
                <a:spcPct val="112000"/>
              </a:lnSpc>
              <a:buNone/>
            </a:pPr>
            <a:r>
              <a:rPr lang="en-US" sz="5200" b="1" dirty="0">
                <a:solidFill>
                  <a:srgbClr val="13151C"/>
                </a:solidFill>
                <a:latin typeface="Plus Jakarta Sans" pitchFamily="34" charset="0"/>
                <a:ea typeface="Plus Jakarta Sans" pitchFamily="34" charset="-122"/>
                <a:cs typeface="Plus Jakarta Sans" pitchFamily="34" charset="-120"/>
              </a:rPr>
              <a:t>40</a:t>
            </a:r>
            <a:pPr algn="l" indent="0" marL="0">
              <a:lnSpc>
                <a:spcPct val="112000"/>
              </a:lnSpc>
              <a:buNone/>
            </a:pPr>
            <a:r>
              <a:rPr lang="en-US" sz="2200" b="1" dirty="0">
                <a:solidFill>
                  <a:srgbClr val="194EFF"/>
                </a:solidFill>
                <a:latin typeface="Plus Jakarta Sans" pitchFamily="34" charset="0"/>
                <a:ea typeface="Plus Jakarta Sans" pitchFamily="34" charset="-122"/>
                <a:cs typeface="Plus Jakarta Sans" pitchFamily="34" charset="-120"/>
              </a:rPr>
              <a:t>%</a:t>
            </a:r>
            <a:endParaRPr lang="en-US" sz="5200" dirty="0"/>
          </a:p>
        </p:txBody>
      </p:sp>
      <p:sp>
        <p:nvSpPr>
          <p:cNvPr id="56" name="Text 54"/>
          <p:cNvSpPr txBox="1"/>
          <p:nvPr/>
        </p:nvSpPr>
        <p:spPr>
          <a:xfrm>
            <a:off x="10007600" y="3276600"/>
            <a:ext cx="2032000" cy="190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sourced commission</a:t>
            </a:r>
            <a:endParaRPr lang="en-US" sz="1000" dirty="0"/>
          </a:p>
        </p:txBody>
      </p:sp>
      <p:sp>
        <p:nvSpPr>
          <p:cNvPr id="57" name="Shape 55"/>
          <p:cNvSpPr/>
          <p:nvPr/>
        </p:nvSpPr>
        <p:spPr>
          <a:xfrm>
            <a:off x="9753600" y="3683000"/>
            <a:ext cx="2438400" cy="6350"/>
          </a:xfrm>
          <a:prstGeom prst="rect">
            <a:avLst/>
          </a:prstGeom>
          <a:solidFill>
            <a:srgbClr val="CDD0D9"/>
          </a:solidFill>
          <a:ln/>
        </p:spPr>
      </p:sp>
      <p:sp>
        <p:nvSpPr>
          <p:cNvPr id="58" name="Text 56"/>
          <p:cNvSpPr txBox="1"/>
          <p:nvPr/>
        </p:nvSpPr>
        <p:spPr>
          <a:xfrm>
            <a:off x="10007600" y="3873500"/>
            <a:ext cx="1968500" cy="952500"/>
          </a:xfrm>
          <a:prstGeom prst="rect">
            <a:avLst/>
          </a:prstGeom>
          <a:noFill/>
          <a:ln/>
        </p:spPr>
        <p:txBody>
          <a:bodyPr wrap="square" lIns="0" tIns="0" rIns="0" bIns="0" rtlCol="0" anchor="t"/>
          <a:lstStyle/>
          <a:p>
            <a:pPr algn="l" indent="0" marL="0">
              <a:lnSpc>
                <a:spcPct val="120000"/>
              </a:lnSpc>
              <a:buNone/>
            </a:pPr>
            <a:r>
              <a:rPr lang="en-US" sz="1000" dirty="0">
                <a:solidFill>
                  <a:srgbClr val="5A5C63"/>
                </a:solidFill>
                <a:latin typeface="Plus Jakarta Sans" pitchFamily="34" charset="0"/>
                <a:ea typeface="Plus Jakarta Sans" pitchFamily="34" charset="-122"/>
                <a:cs typeface="Plus Jakarta Sans" pitchFamily="34" charset="-120"/>
              </a:rPr>
              <a:t>Multi-country reach, certified practice. Co-create category and lighthouse deals.</a:t>
            </a:r>
            <a:endParaRPr lang="en-US" sz="1000" dirty="0"/>
          </a:p>
        </p:txBody>
      </p:sp>
      <p:sp>
        <p:nvSpPr>
          <p:cNvPr id="59" name="Shape 57"/>
          <p:cNvSpPr/>
          <p:nvPr/>
        </p:nvSpPr>
        <p:spPr>
          <a:xfrm>
            <a:off x="10007600" y="4889500"/>
            <a:ext cx="1930400" cy="825500"/>
          </a:xfrm>
          <a:prstGeom prst="rect">
            <a:avLst/>
          </a:prstGeom>
          <a:solidFill>
            <a:srgbClr val="194EFF"/>
          </a:solidFill>
          <a:ln/>
        </p:spPr>
      </p:sp>
      <p:sp>
        <p:nvSpPr>
          <p:cNvPr id="60" name="Shape 58"/>
          <p:cNvSpPr/>
          <p:nvPr/>
        </p:nvSpPr>
        <p:spPr>
          <a:xfrm>
            <a:off x="0" y="5842000"/>
            <a:ext cx="12192000" cy="1016000"/>
          </a:xfrm>
          <a:prstGeom prst="rect">
            <a:avLst/>
          </a:prstGeom>
          <a:solidFill>
            <a:srgbClr val="F5F9FB"/>
          </a:solidFill>
          <a:ln/>
        </p:spPr>
      </p:sp>
      <p:pic>
        <p:nvPicPr>
          <p:cNvPr id="61"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62"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63" name="Text 59"/>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How Levels Move</a:t>
            </a:r>
            <a:endParaRPr lang="en-US" sz="1200" dirty="0"/>
          </a:p>
        </p:txBody>
      </p:sp>
      <p:sp>
        <p:nvSpPr>
          <p:cNvPr id="64" name="Text 60"/>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950" dirty="0">
                <a:solidFill>
                  <a:srgbClr val="13151C"/>
                </a:solidFill>
                <a:latin typeface="Plus Jakarta Sans Medium" pitchFamily="34" charset="0"/>
                <a:ea typeface="Plus Jakarta Sans Medium" pitchFamily="34" charset="-122"/>
                <a:cs typeface="Plus Jakarta Sans Medium" pitchFamily="34" charset="-120"/>
              </a:rPr>
              <a:t>Levels can rise during the year (reviewed up to twice a year) and normally decrease only at annual review. ARR Bookings = eligible recurring value ÷ contract duration (a 3-year $300,000 contract = $100,000 ARR).</a:t>
            </a:r>
            <a:endParaRPr lang="en-US" sz="950" dirty="0"/>
          </a:p>
        </p:txBody>
      </p:sp>
      <p:sp>
        <p:nvSpPr>
          <p:cNvPr id="65" name="Text 61"/>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06 · BENEFITS MATRIX</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Everything you unlock,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level by level</a:t>
            </a:r>
            <a:endParaRPr lang="en-US" sz="2000" dirty="0"/>
          </a:p>
        </p:txBody>
      </p:sp>
      <p:sp>
        <p:nvSpPr>
          <p:cNvPr id="5" name="Shape 3"/>
          <p:cNvSpPr/>
          <p:nvPr/>
        </p:nvSpPr>
        <p:spPr>
          <a:xfrm>
            <a:off x="0" y="1244600"/>
            <a:ext cx="12192000" cy="6350"/>
          </a:xfrm>
          <a:prstGeom prst="rect">
            <a:avLst/>
          </a:prstGeom>
          <a:solidFill>
            <a:srgbClr val="CDD0D9"/>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04800" y="1409700"/>
          <a:ext cx="11582400" cy="914400"/>
        </p:xfrm>
        <a:graphic>
          <a:graphicData uri="http://schemas.openxmlformats.org/drawingml/2006/table">
            <a:tbl>
              <a:tblPr/>
              <a:tblGrid>
                <a:gridCol w="3200400"/>
                <a:gridCol w="1676400"/>
                <a:gridCol w="1676400"/>
                <a:gridCol w="1676400"/>
                <a:gridCol w="1676400"/>
                <a:gridCol w="1676400"/>
              </a:tblGrid>
              <a:tr h="3302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Benefit / requirement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Registered</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Silver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Gold</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Platinum</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194E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Partner-sourced commission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40%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Partner-driven commission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17.5%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20%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Post-expiry renewal commission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7.5%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15%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Annual co-marketing fund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Not eligible</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$2,500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$7,500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$15,000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Up to $30,000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Annual promotion fund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$7,500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$15,000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Indicative sandbox value</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$2,500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$10,000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$25,000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Up to $50,000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Partner Success Manager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Shared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Shared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Named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Named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Strategic</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Priority support</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Limited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Architecture advisory hrs / yr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40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100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Executive roadmap session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Annual</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Semi-annual</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Quarterly</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Annual ARR Bookings</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$0–$99,999</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$100K–$299,999</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$300K–$749,999</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$750K–$1.49M</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$1.5M+</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Certified sales / pre-sales / delivery</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 / 0 / 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 / 1 / 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4 / 2 / 2</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6 / 3 / 4</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10+ / 5+ / 8+</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bl>
          </a:graphicData>
        </a:graphic>
      </p:graphicFrame>
      <p:sp>
        <p:nvSpPr>
          <p:cNvPr id="7" name="Shape 4"/>
          <p:cNvSpPr/>
          <p:nvPr/>
        </p:nvSpPr>
        <p:spPr>
          <a:xfrm>
            <a:off x="0" y="5842000"/>
            <a:ext cx="12192000" cy="1016000"/>
          </a:xfrm>
          <a:prstGeom prst="rect">
            <a:avLst/>
          </a:prstGeom>
          <a:solidFill>
            <a:srgbClr val="F5F9FB"/>
          </a:solidFill>
          <a:ln/>
        </p:spPr>
      </p:sp>
      <p:pic>
        <p:nvPicPr>
          <p:cNvPr id="8"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9"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10" name="Text 5"/>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Invest Together</a:t>
            </a:r>
            <a:endParaRPr lang="en-US" sz="1200" dirty="0"/>
          </a:p>
        </p:txBody>
      </p:sp>
      <p:sp>
        <p:nvSpPr>
          <p:cNvPr id="11" name="Text 6"/>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The higher you climb, the more DignifyX invests in your success.</a:t>
            </a:r>
            <a:endParaRPr lang="en-US" sz="1100" dirty="0"/>
          </a:p>
        </p:txBody>
      </p:sp>
      <p:sp>
        <p:nvSpPr>
          <p:cNvPr id="12" name="Text 7"/>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07 · COMMISSION &amp; INCENTIVE MODEL</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How you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earn</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6096000" y="1244600"/>
            <a:ext cx="6350" cy="4597400"/>
          </a:xfrm>
          <a:prstGeom prst="rect">
            <a:avLst/>
          </a:prstGeom>
          <a:solidFill>
            <a:srgbClr val="CDD0D9"/>
          </a:solidFill>
          <a:ln/>
        </p:spPr>
      </p:sp>
      <p:sp>
        <p:nvSpPr>
          <p:cNvPr id="7" name="Text 5"/>
          <p:cNvSpPr txBox="1"/>
          <p:nvPr/>
        </p:nvSpPr>
        <p:spPr>
          <a:xfrm>
            <a:off x="304800" y="1409700"/>
            <a:ext cx="3810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COMMISSION RATES</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04800" y="1663700"/>
          <a:ext cx="5486400" cy="914400"/>
        </p:xfrm>
        <a:graphic>
          <a:graphicData uri="http://schemas.openxmlformats.org/drawingml/2006/table">
            <a:tbl>
              <a:tblPr/>
              <a:tblGrid>
                <a:gridCol w="1371600"/>
                <a:gridCol w="1371600"/>
                <a:gridCol w="1371600"/>
                <a:gridCol w="1371600"/>
              </a:tblGrid>
              <a:tr h="3175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Level</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Sourced (1st-yr ARR)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Driven (1st-yr ARR)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Post-expiry renewal</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3175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Registered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175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Silver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7.5%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175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Gold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175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Platinum</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17.5%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175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Elite</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40%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304800" y="3746500"/>
            <a:ext cx="3810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REFERRAL &amp; INFLUENCER FEES</a:t>
            </a:r>
            <a:endParaRPr lang="en-US" sz="850" dirty="0"/>
          </a:p>
        </p:txBody>
      </p:sp>
      <p:sp>
        <p:nvSpPr>
          <p:cNvPr id="10" name="Text 7"/>
          <p:cNvSpPr txBox="1"/>
          <p:nvPr/>
        </p:nvSpPr>
        <p:spPr>
          <a:xfrm>
            <a:off x="304800" y="3987800"/>
            <a:ext cx="5486400" cy="1714500"/>
          </a:xfrm>
          <a:prstGeom prst="rect">
            <a:avLst/>
          </a:prstGeom>
          <a:noFill/>
          <a:ln/>
        </p:spPr>
        <p:txBody>
          <a:bodyPr wrap="square" lIns="0" tIns="0" rIns="0" bIns="0" rtlCol="0" anchor="t"/>
          <a:lstStyle/>
          <a:p>
            <a:pPr algn="l" indent="0" marL="0">
              <a:lnSpc>
                <a:spcPct val="125000"/>
              </a:lnSpc>
              <a:spcAft>
                <a:spcPts val="800"/>
              </a:spcAft>
              <a:buNone/>
            </a:pPr>
            <a:r>
              <a:rPr lang="en-US" sz="1000" b="1" dirty="0">
                <a:solidFill>
                  <a:srgbClr val="194EFF"/>
                </a:solidFill>
                <a:latin typeface="Plus Jakarta Sans" pitchFamily="34" charset="0"/>
                <a:ea typeface="Plus Jakarta Sans" pitchFamily="34" charset="-122"/>
                <a:cs typeface="Plus Jakarta Sans" pitchFamily="34" charset="-120"/>
              </a:rPr>
              <a:t>Up to 8% </a:t>
            </a:r>
            <a:pPr algn="l" indent="0" marL="0">
              <a:lnSpc>
                <a:spcPct val="125000"/>
              </a:lnSpc>
              <a:spcAft>
                <a:spcPts val="800"/>
              </a:spcAft>
              <a:buNone/>
            </a:pPr>
            <a:r>
              <a:rPr lang="en-US" sz="1000" dirty="0">
                <a:solidFill>
                  <a:srgbClr val="13151C"/>
                </a:solidFill>
                <a:latin typeface="Plus Jakarta Sans" pitchFamily="34" charset="0"/>
                <a:ea typeface="Plus Jakarta Sans" pitchFamily="34" charset="-122"/>
                <a:cs typeface="Plus Jakarta Sans" pitchFamily="34" charset="-120"/>
              </a:rPr>
              <a:t>of first-year ARR for a qualified referral that closes (pre-approved, per signed terms).</a:t>
            </a:r>
            <a:endParaRPr lang="en-US" sz="1000" dirty="0"/>
          </a:p>
          <a:p>
            <a:pPr algn="l" indent="0" marL="0">
              <a:lnSpc>
                <a:spcPct val="125000"/>
              </a:lnSpc>
              <a:spcAft>
                <a:spcPts val="800"/>
              </a:spcAft>
              <a:buNone/>
            </a:pPr>
            <a:r>
              <a:rPr lang="en-US" sz="1000" b="1" dirty="0">
                <a:solidFill>
                  <a:srgbClr val="194EFF"/>
                </a:solidFill>
                <a:latin typeface="Plus Jakarta Sans" pitchFamily="34" charset="0"/>
                <a:ea typeface="Plus Jakarta Sans" pitchFamily="34" charset="-122"/>
                <a:cs typeface="Plus Jakarta Sans" pitchFamily="34" charset="-120"/>
              </a:rPr>
              <a:t>Up to 10% </a:t>
            </a:r>
            <a:pPr algn="l" indent="0" marL="0">
              <a:lnSpc>
                <a:spcPct val="125000"/>
              </a:lnSpc>
              <a:spcAft>
                <a:spcPts val="800"/>
              </a:spcAft>
              <a:buNone/>
            </a:pPr>
            <a:r>
              <a:rPr lang="en-US" sz="1000" dirty="0">
                <a:solidFill>
                  <a:srgbClr val="13151C"/>
                </a:solidFill>
                <a:latin typeface="Plus Jakarta Sans" pitchFamily="34" charset="0"/>
                <a:ea typeface="Plus Jakarta Sans" pitchFamily="34" charset="-122"/>
                <a:cs typeface="Plus Jakarta Sans" pitchFamily="34" charset="-120"/>
              </a:rPr>
              <a:t>for strategic referrals above $500,000 ARR (pre-approved, risk-reviewed).</a:t>
            </a:r>
            <a:endParaRPr lang="en-US" sz="1000" dirty="0"/>
          </a:p>
          <a:p>
            <a:pPr algn="l" indent="0" marL="0">
              <a:lnSpc>
                <a:spcPct val="125000"/>
              </a:lnSpc>
              <a:spcAft>
                <a:spcPts val="800"/>
              </a:spcAft>
              <a:buNone/>
            </a:pPr>
            <a:r>
              <a:rPr lang="en-US" sz="1000" b="1" dirty="0">
                <a:solidFill>
                  <a:srgbClr val="13151C"/>
                </a:solidFill>
                <a:latin typeface="Plus Jakarta Sans" pitchFamily="34" charset="0"/>
                <a:ea typeface="Plus Jakarta Sans" pitchFamily="34" charset="-122"/>
                <a:cs typeface="Plus Jakarta Sans" pitchFamily="34" charset="-120"/>
              </a:rPr>
              <a:t>Renewal / expansion: </a:t>
            </a:r>
            <a:pPr algn="l" indent="0" marL="0">
              <a:lnSpc>
                <a:spcPct val="125000"/>
              </a:lnSpc>
              <a:spcAft>
                <a:spcPts val="800"/>
              </a:spcAft>
              <a:buNone/>
            </a:pPr>
            <a:r>
              <a:rPr lang="en-US" sz="1000" dirty="0">
                <a:solidFill>
                  <a:srgbClr val="13151C"/>
                </a:solidFill>
                <a:latin typeface="Plus Jakarta Sans" pitchFamily="34" charset="0"/>
                <a:ea typeface="Plus Jakarta Sans" pitchFamily="34" charset="-122"/>
                <a:cs typeface="Plus Jakarta Sans" pitchFamily="34" charset="-120"/>
              </a:rPr>
              <a:t>not eligible unless upgraded, assigned and approved before close.</a:t>
            </a:r>
            <a:endParaRPr lang="en-US" sz="1000" dirty="0"/>
          </a:p>
        </p:txBody>
      </p:sp>
      <p:sp>
        <p:nvSpPr>
          <p:cNvPr id="11" name="Text 8"/>
          <p:cNvSpPr txBox="1"/>
          <p:nvPr/>
        </p:nvSpPr>
        <p:spPr>
          <a:xfrm>
            <a:off x="6400800" y="1409700"/>
            <a:ext cx="3810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WORKED EXAMPLES</a:t>
            </a:r>
            <a:endParaRPr lang="en-US" sz="850" dirty="0"/>
          </a:p>
        </p:txBody>
      </p:sp>
      <p:sp>
        <p:nvSpPr>
          <p:cNvPr id="12" name="Shape 9"/>
          <p:cNvSpPr/>
          <p:nvPr/>
        </p:nvSpPr>
        <p:spPr>
          <a:xfrm>
            <a:off x="6102350" y="1663700"/>
            <a:ext cx="6089650" cy="6350"/>
          </a:xfrm>
          <a:prstGeom prst="rect">
            <a:avLst/>
          </a:prstGeom>
          <a:solidFill>
            <a:srgbClr val="CDD0D9"/>
          </a:solidFill>
          <a:ln/>
        </p:spPr>
      </p:sp>
      <p:sp>
        <p:nvSpPr>
          <p:cNvPr id="13" name="Shape 10"/>
          <p:cNvSpPr/>
          <p:nvPr/>
        </p:nvSpPr>
        <p:spPr>
          <a:xfrm>
            <a:off x="6102350" y="1670050"/>
            <a:ext cx="3041650" cy="1263650"/>
          </a:xfrm>
          <a:prstGeom prst="rect">
            <a:avLst/>
          </a:prstGeom>
          <a:solidFill>
            <a:srgbClr val="F7FBFD"/>
          </a:solidFill>
          <a:ln/>
        </p:spPr>
      </p:sp>
      <p:sp>
        <p:nvSpPr>
          <p:cNvPr id="14" name="Text 11"/>
          <p:cNvSpPr txBox="1"/>
          <p:nvPr/>
        </p:nvSpPr>
        <p:spPr>
          <a:xfrm>
            <a:off x="6400800" y="1828800"/>
            <a:ext cx="2540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3151C"/>
                </a:solidFill>
                <a:latin typeface="Plus Jakarta Sans" pitchFamily="34" charset="0"/>
                <a:ea typeface="Plus Jakarta Sans" pitchFamily="34" charset="-122"/>
                <a:cs typeface="Plus Jakarta Sans" pitchFamily="34" charset="-120"/>
              </a:rPr>
              <a:t>$30,000</a:t>
            </a:r>
            <a:endParaRPr lang="en-US" sz="2800" dirty="0"/>
          </a:p>
        </p:txBody>
      </p:sp>
      <p:sp>
        <p:nvSpPr>
          <p:cNvPr id="15" name="Text 12"/>
          <p:cNvSpPr txBox="1"/>
          <p:nvPr/>
        </p:nvSpPr>
        <p:spPr>
          <a:xfrm>
            <a:off x="6400800" y="2311400"/>
            <a:ext cx="2540000" cy="190500"/>
          </a:xfrm>
          <a:prstGeom prst="rect">
            <a:avLst/>
          </a:prstGeom>
          <a:noFill/>
          <a:ln/>
        </p:spPr>
        <p:txBody>
          <a:bodyPr wrap="square" lIns="0" tIns="0" rIns="0" bIns="0" rtlCol="0" anchor="t"/>
          <a:lstStyle/>
          <a:p>
            <a:pPr algn="l" indent="0" marL="0">
              <a:lnSpc>
                <a:spcPct val="112000"/>
              </a:lnSpc>
              <a:buNone/>
            </a:pPr>
            <a:r>
              <a:rPr lang="en-US" sz="1050" dirty="0">
                <a:solidFill>
                  <a:srgbClr val="194EFF"/>
                </a:solidFill>
                <a:latin typeface="Plus Jakarta Sans SemiBold" pitchFamily="34" charset="0"/>
                <a:ea typeface="Plus Jakarta Sans SemiBold" pitchFamily="34" charset="-122"/>
                <a:cs typeface="Plus Jakarta Sans SemiBold" pitchFamily="34" charset="-120"/>
              </a:rPr>
              <a:t>Gold partner-sourced</a:t>
            </a:r>
            <a:endParaRPr lang="en-US" sz="1050" dirty="0"/>
          </a:p>
        </p:txBody>
      </p:sp>
      <p:sp>
        <p:nvSpPr>
          <p:cNvPr id="16" name="Text 13"/>
          <p:cNvSpPr txBox="1"/>
          <p:nvPr/>
        </p:nvSpPr>
        <p:spPr>
          <a:xfrm>
            <a:off x="6400800" y="2527300"/>
            <a:ext cx="2540000" cy="3175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$100,000 × 30%</a:t>
            </a:r>
            <a:endParaRPr lang="en-US" sz="950" dirty="0"/>
          </a:p>
        </p:txBody>
      </p:sp>
      <p:sp>
        <p:nvSpPr>
          <p:cNvPr id="17" name="Shape 14"/>
          <p:cNvSpPr/>
          <p:nvPr/>
        </p:nvSpPr>
        <p:spPr>
          <a:xfrm>
            <a:off x="9150350" y="1663700"/>
            <a:ext cx="6350" cy="1270000"/>
          </a:xfrm>
          <a:prstGeom prst="rect">
            <a:avLst/>
          </a:prstGeom>
          <a:solidFill>
            <a:srgbClr val="CDD0D9"/>
          </a:solidFill>
          <a:ln/>
        </p:spPr>
      </p:sp>
      <p:sp>
        <p:nvSpPr>
          <p:cNvPr id="18" name="Shape 15"/>
          <p:cNvSpPr/>
          <p:nvPr/>
        </p:nvSpPr>
        <p:spPr>
          <a:xfrm>
            <a:off x="6102350" y="1663700"/>
            <a:ext cx="6089650" cy="6350"/>
          </a:xfrm>
          <a:prstGeom prst="rect">
            <a:avLst/>
          </a:prstGeom>
          <a:solidFill>
            <a:srgbClr val="CDD0D9"/>
          </a:solidFill>
          <a:ln/>
        </p:spPr>
      </p:sp>
      <p:sp>
        <p:nvSpPr>
          <p:cNvPr id="19" name="Text 16"/>
          <p:cNvSpPr txBox="1"/>
          <p:nvPr/>
        </p:nvSpPr>
        <p:spPr>
          <a:xfrm>
            <a:off x="9448800" y="1828800"/>
            <a:ext cx="2540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3151C"/>
                </a:solidFill>
                <a:latin typeface="Plus Jakarta Sans" pitchFamily="34" charset="0"/>
                <a:ea typeface="Plus Jakarta Sans" pitchFamily="34" charset="-122"/>
                <a:cs typeface="Plus Jakarta Sans" pitchFamily="34" charset="-120"/>
              </a:rPr>
              <a:t>$12,500</a:t>
            </a:r>
            <a:endParaRPr lang="en-US" sz="2800" dirty="0"/>
          </a:p>
        </p:txBody>
      </p:sp>
      <p:sp>
        <p:nvSpPr>
          <p:cNvPr id="20" name="Text 17"/>
          <p:cNvSpPr txBox="1"/>
          <p:nvPr/>
        </p:nvSpPr>
        <p:spPr>
          <a:xfrm>
            <a:off x="9448800" y="2311400"/>
            <a:ext cx="2540000" cy="190500"/>
          </a:xfrm>
          <a:prstGeom prst="rect">
            <a:avLst/>
          </a:prstGeom>
          <a:noFill/>
          <a:ln/>
        </p:spPr>
        <p:txBody>
          <a:bodyPr wrap="square" lIns="0" tIns="0" rIns="0" bIns="0" rtlCol="0" anchor="t"/>
          <a:lstStyle/>
          <a:p>
            <a:pPr algn="l" indent="0" marL="0">
              <a:lnSpc>
                <a:spcPct val="112000"/>
              </a:lnSpc>
              <a:buNone/>
            </a:pPr>
            <a:r>
              <a:rPr lang="en-US" sz="1050" dirty="0">
                <a:solidFill>
                  <a:srgbClr val="194EFF"/>
                </a:solidFill>
                <a:latin typeface="Plus Jakarta Sans SemiBold" pitchFamily="34" charset="0"/>
                <a:ea typeface="Plus Jakarta Sans SemiBold" pitchFamily="34" charset="-122"/>
                <a:cs typeface="Plus Jakarta Sans SemiBold" pitchFamily="34" charset="-120"/>
              </a:rPr>
              <a:t>Silver partner-driven</a:t>
            </a:r>
            <a:endParaRPr lang="en-US" sz="1050" dirty="0"/>
          </a:p>
        </p:txBody>
      </p:sp>
      <p:sp>
        <p:nvSpPr>
          <p:cNvPr id="21" name="Text 18"/>
          <p:cNvSpPr txBox="1"/>
          <p:nvPr/>
        </p:nvSpPr>
        <p:spPr>
          <a:xfrm>
            <a:off x="9448800" y="2527300"/>
            <a:ext cx="2540000" cy="3175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$100,000 × 12.5%</a:t>
            </a:r>
            <a:endParaRPr lang="en-US" sz="950" dirty="0"/>
          </a:p>
        </p:txBody>
      </p:sp>
      <p:sp>
        <p:nvSpPr>
          <p:cNvPr id="22" name="Shape 19"/>
          <p:cNvSpPr/>
          <p:nvPr/>
        </p:nvSpPr>
        <p:spPr>
          <a:xfrm>
            <a:off x="6102350" y="2933700"/>
            <a:ext cx="6089650" cy="6350"/>
          </a:xfrm>
          <a:prstGeom prst="rect">
            <a:avLst/>
          </a:prstGeom>
          <a:solidFill>
            <a:srgbClr val="CDD0D9"/>
          </a:solidFill>
          <a:ln/>
        </p:spPr>
      </p:sp>
      <p:sp>
        <p:nvSpPr>
          <p:cNvPr id="23" name="Text 20"/>
          <p:cNvSpPr txBox="1"/>
          <p:nvPr/>
        </p:nvSpPr>
        <p:spPr>
          <a:xfrm>
            <a:off x="6400800" y="3098800"/>
            <a:ext cx="2540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3151C"/>
                </a:solidFill>
                <a:latin typeface="Plus Jakarta Sans" pitchFamily="34" charset="0"/>
                <a:ea typeface="Plus Jakarta Sans" pitchFamily="34" charset="-122"/>
                <a:cs typeface="Plus Jakarta Sans" pitchFamily="34" charset="-120"/>
              </a:rPr>
              <a:t>$24,000</a:t>
            </a:r>
            <a:endParaRPr lang="en-US" sz="2800" dirty="0"/>
          </a:p>
        </p:txBody>
      </p:sp>
      <p:sp>
        <p:nvSpPr>
          <p:cNvPr id="24" name="Text 21"/>
          <p:cNvSpPr txBox="1"/>
          <p:nvPr/>
        </p:nvSpPr>
        <p:spPr>
          <a:xfrm>
            <a:off x="6400800" y="3581400"/>
            <a:ext cx="2540000" cy="190500"/>
          </a:xfrm>
          <a:prstGeom prst="rect">
            <a:avLst/>
          </a:prstGeom>
          <a:noFill/>
          <a:ln/>
        </p:spPr>
        <p:txBody>
          <a:bodyPr wrap="square" lIns="0" tIns="0" rIns="0" bIns="0" rtlCol="0" anchor="t"/>
          <a:lstStyle/>
          <a:p>
            <a:pPr algn="l" indent="0" marL="0">
              <a:lnSpc>
                <a:spcPct val="112000"/>
              </a:lnSpc>
              <a:buNone/>
            </a:pPr>
            <a:r>
              <a:rPr lang="en-US" sz="1050" dirty="0">
                <a:solidFill>
                  <a:srgbClr val="194EFF"/>
                </a:solidFill>
                <a:latin typeface="Plus Jakarta Sans SemiBold" pitchFamily="34" charset="0"/>
                <a:ea typeface="Plus Jakarta Sans SemiBold" pitchFamily="34" charset="-122"/>
                <a:cs typeface="Plus Jakarta Sans SemiBold" pitchFamily="34" charset="-120"/>
              </a:rPr>
              <a:t>Discounted Gold sourced</a:t>
            </a:r>
            <a:endParaRPr lang="en-US" sz="1050" dirty="0"/>
          </a:p>
        </p:txBody>
      </p:sp>
      <p:sp>
        <p:nvSpPr>
          <p:cNvPr id="25" name="Text 22"/>
          <p:cNvSpPr txBox="1"/>
          <p:nvPr/>
        </p:nvSpPr>
        <p:spPr>
          <a:xfrm>
            <a:off x="6400800" y="3797300"/>
            <a:ext cx="2540000" cy="3175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$80,000 net × 30%</a:t>
            </a:r>
            <a:endParaRPr lang="en-US" sz="950" dirty="0"/>
          </a:p>
        </p:txBody>
      </p:sp>
      <p:sp>
        <p:nvSpPr>
          <p:cNvPr id="26" name="Shape 23"/>
          <p:cNvSpPr/>
          <p:nvPr/>
        </p:nvSpPr>
        <p:spPr>
          <a:xfrm>
            <a:off x="9150350" y="2933700"/>
            <a:ext cx="6350" cy="1270000"/>
          </a:xfrm>
          <a:prstGeom prst="rect">
            <a:avLst/>
          </a:prstGeom>
          <a:solidFill>
            <a:srgbClr val="CDD0D9"/>
          </a:solidFill>
          <a:ln/>
        </p:spPr>
      </p:sp>
      <p:sp>
        <p:nvSpPr>
          <p:cNvPr id="27" name="Shape 24"/>
          <p:cNvSpPr/>
          <p:nvPr/>
        </p:nvSpPr>
        <p:spPr>
          <a:xfrm>
            <a:off x="6102350" y="2933700"/>
            <a:ext cx="6089650" cy="6350"/>
          </a:xfrm>
          <a:prstGeom prst="rect">
            <a:avLst/>
          </a:prstGeom>
          <a:solidFill>
            <a:srgbClr val="CDD0D9"/>
          </a:solidFill>
          <a:ln/>
        </p:spPr>
      </p:sp>
      <p:sp>
        <p:nvSpPr>
          <p:cNvPr id="28" name="Shape 25"/>
          <p:cNvSpPr/>
          <p:nvPr/>
        </p:nvSpPr>
        <p:spPr>
          <a:xfrm>
            <a:off x="9150350" y="2940050"/>
            <a:ext cx="3041650" cy="1263650"/>
          </a:xfrm>
          <a:prstGeom prst="rect">
            <a:avLst/>
          </a:prstGeom>
          <a:solidFill>
            <a:srgbClr val="F7FBFD"/>
          </a:solidFill>
          <a:ln/>
        </p:spPr>
      </p:sp>
      <p:sp>
        <p:nvSpPr>
          <p:cNvPr id="29" name="Text 26"/>
          <p:cNvSpPr txBox="1"/>
          <p:nvPr/>
        </p:nvSpPr>
        <p:spPr>
          <a:xfrm>
            <a:off x="9448800" y="3098800"/>
            <a:ext cx="2540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3151C"/>
                </a:solidFill>
                <a:latin typeface="Plus Jakarta Sans" pitchFamily="34" charset="0"/>
                <a:ea typeface="Plus Jakarta Sans" pitchFamily="34" charset="-122"/>
                <a:cs typeface="Plus Jakarta Sans" pitchFamily="34" charset="-120"/>
              </a:rPr>
              <a:t>$8,000</a:t>
            </a:r>
            <a:endParaRPr lang="en-US" sz="2800" dirty="0"/>
          </a:p>
        </p:txBody>
      </p:sp>
      <p:sp>
        <p:nvSpPr>
          <p:cNvPr id="30" name="Text 27"/>
          <p:cNvSpPr txBox="1"/>
          <p:nvPr/>
        </p:nvSpPr>
        <p:spPr>
          <a:xfrm>
            <a:off x="9448800" y="3581400"/>
            <a:ext cx="2540000" cy="190500"/>
          </a:xfrm>
          <a:prstGeom prst="rect">
            <a:avLst/>
          </a:prstGeom>
          <a:noFill/>
          <a:ln/>
        </p:spPr>
        <p:txBody>
          <a:bodyPr wrap="square" lIns="0" tIns="0" rIns="0" bIns="0" rtlCol="0" anchor="t"/>
          <a:lstStyle/>
          <a:p>
            <a:pPr algn="l" indent="0" marL="0">
              <a:lnSpc>
                <a:spcPct val="112000"/>
              </a:lnSpc>
              <a:buNone/>
            </a:pPr>
            <a:r>
              <a:rPr lang="en-US" sz="1050" dirty="0">
                <a:solidFill>
                  <a:srgbClr val="194EFF"/>
                </a:solidFill>
                <a:latin typeface="Plus Jakarta Sans SemiBold" pitchFamily="34" charset="0"/>
                <a:ea typeface="Plus Jakarta Sans SemiBold" pitchFamily="34" charset="-122"/>
                <a:cs typeface="Plus Jakarta Sans SemiBold" pitchFamily="34" charset="-120"/>
              </a:rPr>
              <a:t>Protected floor example</a:t>
            </a:r>
            <a:endParaRPr lang="en-US" sz="1050" dirty="0"/>
          </a:p>
        </p:txBody>
      </p:sp>
      <p:sp>
        <p:nvSpPr>
          <p:cNvPr id="31" name="Text 28"/>
          <p:cNvSpPr txBox="1"/>
          <p:nvPr/>
        </p:nvSpPr>
        <p:spPr>
          <a:xfrm>
            <a:off x="9448800" y="3797300"/>
            <a:ext cx="2540000" cy="3175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$80,000 × 10% (subject to approval)</a:t>
            </a:r>
            <a:endParaRPr lang="en-US" sz="950" dirty="0"/>
          </a:p>
        </p:txBody>
      </p:sp>
      <p:sp>
        <p:nvSpPr>
          <p:cNvPr id="32" name="Shape 29"/>
          <p:cNvSpPr/>
          <p:nvPr/>
        </p:nvSpPr>
        <p:spPr>
          <a:xfrm>
            <a:off x="6102350" y="4203700"/>
            <a:ext cx="6089650" cy="6350"/>
          </a:xfrm>
          <a:prstGeom prst="rect">
            <a:avLst/>
          </a:prstGeom>
          <a:solidFill>
            <a:srgbClr val="CDD0D9"/>
          </a:solidFill>
          <a:ln/>
        </p:spPr>
      </p:sp>
      <p:sp>
        <p:nvSpPr>
          <p:cNvPr id="33" name="Shape 30"/>
          <p:cNvSpPr/>
          <p:nvPr/>
        </p:nvSpPr>
        <p:spPr>
          <a:xfrm>
            <a:off x="6102350" y="4210050"/>
            <a:ext cx="6089650" cy="1631950"/>
          </a:xfrm>
          <a:prstGeom prst="rect">
            <a:avLst/>
          </a:prstGeom>
          <a:solidFill>
            <a:srgbClr val="EDF1FF"/>
          </a:solidFill>
          <a:ln/>
        </p:spPr>
      </p:sp>
      <p:sp>
        <p:nvSpPr>
          <p:cNvPr id="34" name="Text 31"/>
          <p:cNvSpPr txBox="1"/>
          <p:nvPr/>
        </p:nvSpPr>
        <p:spPr>
          <a:xfrm>
            <a:off x="6400800" y="4394200"/>
            <a:ext cx="5461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3151C"/>
                </a:solidFill>
                <a:latin typeface="Plus Jakarta Sans" pitchFamily="34" charset="0"/>
                <a:ea typeface="Plus Jakarta Sans" pitchFamily="34" charset="-122"/>
                <a:cs typeface="Plus Jakarta Sans" pitchFamily="34" charset="-120"/>
              </a:rPr>
              <a:t>First-win recognition</a:t>
            </a:r>
            <a:endParaRPr lang="en-US" sz="1400" dirty="0"/>
          </a:p>
        </p:txBody>
      </p:sp>
      <p:sp>
        <p:nvSpPr>
          <p:cNvPr id="35" name="Text 32"/>
          <p:cNvSpPr txBox="1"/>
          <p:nvPr/>
        </p:nvSpPr>
        <p:spPr>
          <a:xfrm>
            <a:off x="6400800" y="4724400"/>
            <a:ext cx="5461000" cy="762000"/>
          </a:xfrm>
          <a:prstGeom prst="rect">
            <a:avLst/>
          </a:prstGeom>
          <a:noFill/>
          <a:ln/>
        </p:spPr>
        <p:txBody>
          <a:bodyPr wrap="square" lIns="0" tIns="0" rIns="0" bIns="0" rtlCol="0" anchor="t"/>
          <a:lstStyle/>
          <a:p>
            <a:pPr algn="l" indent="0" marL="0">
              <a:lnSpc>
                <a:spcPct val="125000"/>
              </a:lnSpc>
              <a:buNone/>
            </a:pPr>
            <a:r>
              <a:rPr lang="en-US" sz="1050" dirty="0">
                <a:solidFill>
                  <a:srgbClr val="13151C"/>
                </a:solidFill>
                <a:latin typeface="Plus Jakarta Sans" pitchFamily="34" charset="0"/>
                <a:ea typeface="Plus Jakarta Sans" pitchFamily="34" charset="-122"/>
                <a:cs typeface="Plus Jakarta Sans" pitchFamily="34" charset="-120"/>
              </a:rPr>
              <a:t>A one-time fund (suggested up to $2,000) may be available after your first approved partner-sourced closed-won opportunity.</a:t>
            </a:r>
            <a:endParaRPr lang="en-US" sz="1050" dirty="0"/>
          </a:p>
        </p:txBody>
      </p:sp>
      <p:sp>
        <p:nvSpPr>
          <p:cNvPr id="36" name="Shape 33"/>
          <p:cNvSpPr/>
          <p:nvPr/>
        </p:nvSpPr>
        <p:spPr>
          <a:xfrm>
            <a:off x="0" y="5842000"/>
            <a:ext cx="12192000" cy="1016000"/>
          </a:xfrm>
          <a:prstGeom prst="rect">
            <a:avLst/>
          </a:prstGeom>
          <a:solidFill>
            <a:srgbClr val="F5F9FB"/>
          </a:solidFill>
          <a:ln/>
        </p:spPr>
      </p:sp>
      <p:pic>
        <p:nvPicPr>
          <p:cNvPr id="37"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38"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39" name="Text 34"/>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When You're Paid</a:t>
            </a:r>
            <a:endParaRPr lang="en-US" sz="1200" dirty="0"/>
          </a:p>
        </p:txBody>
      </p:sp>
      <p:sp>
        <p:nvSpPr>
          <p:cNvPr id="40" name="Text 35"/>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On eligible DignifyX recurring software and subscription revenue, after cleared customer payment and a valid partner invoice.</a:t>
            </a:r>
            <a:endParaRPr lang="en-US" sz="1100" dirty="0"/>
          </a:p>
        </p:txBody>
      </p:sp>
      <p:sp>
        <p:nvSpPr>
          <p:cNvPr id="41" name="Text 36"/>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08 · FY2026 THREE-YEAR CONTRACT TREATMENT</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Three years of credit on every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standard</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deal</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0" y="1250950"/>
            <a:ext cx="3048000" cy="1898650"/>
          </a:xfrm>
          <a:prstGeom prst="rect">
            <a:avLst/>
          </a:prstGeom>
          <a:solidFill>
            <a:srgbClr val="194EFF"/>
          </a:solidFill>
          <a:ln/>
        </p:spPr>
      </p:sp>
      <p:sp>
        <p:nvSpPr>
          <p:cNvPr id="7" name="Text 5"/>
          <p:cNvSpPr txBox="1"/>
          <p:nvPr/>
        </p:nvSpPr>
        <p:spPr>
          <a:xfrm>
            <a:off x="304800" y="1409700"/>
            <a:ext cx="1905000" cy="635000"/>
          </a:xfrm>
          <a:prstGeom prst="rect">
            <a:avLst/>
          </a:prstGeom>
          <a:noFill/>
          <a:ln/>
        </p:spPr>
        <p:txBody>
          <a:bodyPr wrap="square" lIns="0" tIns="0" rIns="0" bIns="0" rtlCol="0" anchor="t"/>
          <a:lstStyle/>
          <a:p>
            <a:pPr algn="l" indent="0" marL="0">
              <a:lnSpc>
                <a:spcPct val="112000"/>
              </a:lnSpc>
              <a:buNone/>
            </a:pPr>
            <a:r>
              <a:rPr lang="en-US" sz="4200" b="1" dirty="0">
                <a:solidFill>
                  <a:srgbClr val="FFFFFF"/>
                </a:solidFill>
                <a:latin typeface="Plus Jakarta Sans" pitchFamily="34" charset="0"/>
                <a:ea typeface="Plus Jakarta Sans" pitchFamily="34" charset="-122"/>
                <a:cs typeface="Plus Jakarta Sans" pitchFamily="34" charset="-120"/>
              </a:rPr>
              <a:t>Y1</a:t>
            </a:r>
            <a:endParaRPr lang="en-US" sz="4200" dirty="0"/>
          </a:p>
        </p:txBody>
      </p:sp>
      <p:sp>
        <p:nvSpPr>
          <p:cNvPr id="8" name="Text 6"/>
          <p:cNvSpPr txBox="1"/>
          <p:nvPr/>
        </p:nvSpPr>
        <p:spPr>
          <a:xfrm>
            <a:off x="304800" y="2159000"/>
            <a:ext cx="2540000" cy="228600"/>
          </a:xfrm>
          <a:prstGeom prst="rect">
            <a:avLst/>
          </a:prstGeom>
          <a:noFill/>
          <a:ln/>
        </p:spPr>
        <p:txBody>
          <a:bodyPr wrap="square" lIns="0" tIns="0" rIns="0" bIns="0" rtlCol="0" anchor="t"/>
          <a:lstStyle/>
          <a:p>
            <a:pPr algn="l" indent="0" marL="0">
              <a:lnSpc>
                <a:spcPct val="112000"/>
              </a:lnSpc>
              <a:buNone/>
            </a:pPr>
            <a:r>
              <a:rPr lang="en-US" sz="1200" dirty="0">
                <a:solidFill>
                  <a:srgbClr val="FFFFFF"/>
                </a:solidFill>
                <a:latin typeface="Plus Jakarta Sans SemiBold" pitchFamily="34" charset="0"/>
                <a:ea typeface="Plus Jakarta Sans SemiBold" pitchFamily="34" charset="-122"/>
                <a:cs typeface="Plus Jakarta Sans SemiBold" pitchFamily="34" charset="-120"/>
              </a:rPr>
              <a:t>Year 1</a:t>
            </a:r>
            <a:endParaRPr lang="en-US" sz="1200" dirty="0"/>
          </a:p>
        </p:txBody>
      </p:sp>
      <p:sp>
        <p:nvSpPr>
          <p:cNvPr id="9" name="Text 7"/>
          <p:cNvSpPr txBox="1"/>
          <p:nvPr/>
        </p:nvSpPr>
        <p:spPr>
          <a:xfrm>
            <a:off x="304800" y="2438400"/>
            <a:ext cx="2540000" cy="2159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New ARR Booking</a:t>
            </a:r>
            <a:endParaRPr lang="en-US" sz="1100" dirty="0"/>
          </a:p>
        </p:txBody>
      </p:sp>
      <p:sp>
        <p:nvSpPr>
          <p:cNvPr id="10" name="Text 8"/>
          <p:cNvSpPr txBox="1"/>
          <p:nvPr/>
        </p:nvSpPr>
        <p:spPr>
          <a:xfrm>
            <a:off x="2603500" y="1524000"/>
            <a:ext cx="317500" cy="381000"/>
          </a:xfrm>
          <a:prstGeom prst="rect">
            <a:avLst/>
          </a:prstGeom>
          <a:noFill/>
          <a:ln/>
        </p:spPr>
        <p:txBody>
          <a:bodyPr wrap="square" lIns="0" tIns="0" rIns="0" bIns="0" rtlCol="0" anchor="t"/>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a:t>
            </a:r>
            <a:endParaRPr lang="en-US" sz="2000" dirty="0"/>
          </a:p>
        </p:txBody>
      </p:sp>
      <p:sp>
        <p:nvSpPr>
          <p:cNvPr id="11" name="Shape 9"/>
          <p:cNvSpPr/>
          <p:nvPr/>
        </p:nvSpPr>
        <p:spPr>
          <a:xfrm>
            <a:off x="3048000" y="1244600"/>
            <a:ext cx="6350" cy="1905000"/>
          </a:xfrm>
          <a:prstGeom prst="rect">
            <a:avLst/>
          </a:prstGeom>
          <a:solidFill>
            <a:srgbClr val="CDD0D9"/>
          </a:solidFill>
          <a:ln/>
        </p:spPr>
      </p:sp>
      <p:sp>
        <p:nvSpPr>
          <p:cNvPr id="12" name="Shape 10"/>
          <p:cNvSpPr/>
          <p:nvPr/>
        </p:nvSpPr>
        <p:spPr>
          <a:xfrm>
            <a:off x="3054350" y="1250950"/>
            <a:ext cx="3041650" cy="1898650"/>
          </a:xfrm>
          <a:prstGeom prst="rect">
            <a:avLst/>
          </a:prstGeom>
          <a:solidFill>
            <a:srgbClr val="EDF1FF"/>
          </a:solidFill>
          <a:ln/>
        </p:spPr>
      </p:sp>
      <p:sp>
        <p:nvSpPr>
          <p:cNvPr id="13" name="Text 11"/>
          <p:cNvSpPr txBox="1"/>
          <p:nvPr/>
        </p:nvSpPr>
        <p:spPr>
          <a:xfrm>
            <a:off x="3352800" y="1409700"/>
            <a:ext cx="1905000" cy="635000"/>
          </a:xfrm>
          <a:prstGeom prst="rect">
            <a:avLst/>
          </a:prstGeom>
          <a:noFill/>
          <a:ln/>
        </p:spPr>
        <p:txBody>
          <a:bodyPr wrap="square" lIns="0" tIns="0" rIns="0" bIns="0" rtlCol="0" anchor="t"/>
          <a:lstStyle/>
          <a:p>
            <a:pPr algn="l" indent="0" marL="0">
              <a:lnSpc>
                <a:spcPct val="112000"/>
              </a:lnSpc>
              <a:buNone/>
            </a:pPr>
            <a:r>
              <a:rPr lang="en-US" sz="4200" b="1" dirty="0">
                <a:solidFill>
                  <a:srgbClr val="194EFF"/>
                </a:solidFill>
                <a:latin typeface="Plus Jakarta Sans" pitchFamily="34" charset="0"/>
                <a:ea typeface="Plus Jakarta Sans" pitchFamily="34" charset="-122"/>
                <a:cs typeface="Plus Jakarta Sans" pitchFamily="34" charset="-120"/>
              </a:rPr>
              <a:t>Y2</a:t>
            </a:r>
            <a:endParaRPr lang="en-US" sz="4200" dirty="0"/>
          </a:p>
        </p:txBody>
      </p:sp>
      <p:sp>
        <p:nvSpPr>
          <p:cNvPr id="14" name="Text 12"/>
          <p:cNvSpPr txBox="1"/>
          <p:nvPr/>
        </p:nvSpPr>
        <p:spPr>
          <a:xfrm>
            <a:off x="3352800" y="2159000"/>
            <a:ext cx="2540000" cy="228600"/>
          </a:xfrm>
          <a:prstGeom prst="rect">
            <a:avLst/>
          </a:prstGeom>
          <a:noFill/>
          <a:ln/>
        </p:spPr>
        <p:txBody>
          <a:bodyPr wrap="square" lIns="0" tIns="0" rIns="0" bIns="0" rtlCol="0" anchor="t"/>
          <a:lstStyle/>
          <a:p>
            <a:pPr algn="l" indent="0" marL="0">
              <a:lnSpc>
                <a:spcPct val="112000"/>
              </a:lnSpc>
              <a:buNone/>
            </a:pPr>
            <a:r>
              <a:rPr lang="en-US" sz="1200" dirty="0">
                <a:solidFill>
                  <a:srgbClr val="13151C"/>
                </a:solidFill>
                <a:latin typeface="Plus Jakarta Sans SemiBold" pitchFamily="34" charset="0"/>
                <a:ea typeface="Plus Jakarta Sans SemiBold" pitchFamily="34" charset="-122"/>
                <a:cs typeface="Plus Jakarta Sans SemiBold" pitchFamily="34" charset="-120"/>
              </a:rPr>
              <a:t>Year 2 anniversary</a:t>
            </a:r>
            <a:endParaRPr lang="en-US" sz="1200" dirty="0"/>
          </a:p>
        </p:txBody>
      </p:sp>
      <p:sp>
        <p:nvSpPr>
          <p:cNvPr id="15" name="Text 13"/>
          <p:cNvSpPr txBox="1"/>
          <p:nvPr/>
        </p:nvSpPr>
        <p:spPr>
          <a:xfrm>
            <a:off x="3352800" y="2438400"/>
            <a:ext cx="2540000" cy="215900"/>
          </a:xfrm>
          <a:prstGeom prst="rect">
            <a:avLst/>
          </a:prstGeom>
          <a:noFill/>
          <a:ln/>
        </p:spPr>
        <p:txBody>
          <a:bodyPr wrap="square" lIns="0" tIns="0" rIns="0" bIns="0" rtlCol="0" anchor="t"/>
          <a:lstStyle/>
          <a:p>
            <a:pPr algn="l" indent="0" marL="0">
              <a:lnSpc>
                <a:spcPct val="112000"/>
              </a:lnSpc>
              <a:buNone/>
            </a:pPr>
            <a:r>
              <a:rPr lang="en-US" sz="1100" b="1" dirty="0">
                <a:solidFill>
                  <a:srgbClr val="194EFF"/>
                </a:solidFill>
                <a:latin typeface="Plus Jakarta Sans" pitchFamily="34" charset="0"/>
                <a:ea typeface="Plus Jakarta Sans" pitchFamily="34" charset="-122"/>
                <a:cs typeface="Plus Jakarta Sans" pitchFamily="34" charset="-120"/>
              </a:rPr>
              <a:t>New ARR Booking</a:t>
            </a:r>
            <a:endParaRPr lang="en-US" sz="1100" dirty="0"/>
          </a:p>
        </p:txBody>
      </p:sp>
      <p:sp>
        <p:nvSpPr>
          <p:cNvPr id="16" name="Text 14"/>
          <p:cNvSpPr txBox="1"/>
          <p:nvPr/>
        </p:nvSpPr>
        <p:spPr>
          <a:xfrm>
            <a:off x="5651500" y="1524000"/>
            <a:ext cx="317500" cy="381000"/>
          </a:xfrm>
          <a:prstGeom prst="rect">
            <a:avLst/>
          </a:prstGeom>
          <a:noFill/>
          <a:ln/>
        </p:spPr>
        <p:txBody>
          <a:bodyPr wrap="square" lIns="0" tIns="0" rIns="0" bIns="0" rtlCol="0" anchor="t"/>
          <a:lstStyle/>
          <a:p>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2000" dirty="0"/>
          </a:p>
        </p:txBody>
      </p:sp>
      <p:sp>
        <p:nvSpPr>
          <p:cNvPr id="17" name="Shape 15"/>
          <p:cNvSpPr/>
          <p:nvPr/>
        </p:nvSpPr>
        <p:spPr>
          <a:xfrm>
            <a:off x="6096000" y="1244600"/>
            <a:ext cx="6350" cy="1905000"/>
          </a:xfrm>
          <a:prstGeom prst="rect">
            <a:avLst/>
          </a:prstGeom>
          <a:solidFill>
            <a:srgbClr val="CDD0D9"/>
          </a:solidFill>
          <a:ln/>
        </p:spPr>
      </p:sp>
      <p:sp>
        <p:nvSpPr>
          <p:cNvPr id="18" name="Shape 16"/>
          <p:cNvSpPr/>
          <p:nvPr/>
        </p:nvSpPr>
        <p:spPr>
          <a:xfrm>
            <a:off x="6102350" y="1250950"/>
            <a:ext cx="3041650" cy="1898650"/>
          </a:xfrm>
          <a:prstGeom prst="rect">
            <a:avLst/>
          </a:prstGeom>
          <a:solidFill>
            <a:srgbClr val="EDF1FF"/>
          </a:solidFill>
          <a:ln/>
        </p:spPr>
      </p:sp>
      <p:sp>
        <p:nvSpPr>
          <p:cNvPr id="19" name="Text 17"/>
          <p:cNvSpPr txBox="1"/>
          <p:nvPr/>
        </p:nvSpPr>
        <p:spPr>
          <a:xfrm>
            <a:off x="6400800" y="1409700"/>
            <a:ext cx="1905000" cy="635000"/>
          </a:xfrm>
          <a:prstGeom prst="rect">
            <a:avLst/>
          </a:prstGeom>
          <a:noFill/>
          <a:ln/>
        </p:spPr>
        <p:txBody>
          <a:bodyPr wrap="square" lIns="0" tIns="0" rIns="0" bIns="0" rtlCol="0" anchor="t"/>
          <a:lstStyle/>
          <a:p>
            <a:pPr algn="l" indent="0" marL="0">
              <a:lnSpc>
                <a:spcPct val="112000"/>
              </a:lnSpc>
              <a:buNone/>
            </a:pPr>
            <a:r>
              <a:rPr lang="en-US" sz="4200" b="1" dirty="0">
                <a:solidFill>
                  <a:srgbClr val="194EFF"/>
                </a:solidFill>
                <a:latin typeface="Plus Jakarta Sans" pitchFamily="34" charset="0"/>
                <a:ea typeface="Plus Jakarta Sans" pitchFamily="34" charset="-122"/>
                <a:cs typeface="Plus Jakarta Sans" pitchFamily="34" charset="-120"/>
              </a:rPr>
              <a:t>Y3</a:t>
            </a:r>
            <a:endParaRPr lang="en-US" sz="4200" dirty="0"/>
          </a:p>
        </p:txBody>
      </p:sp>
      <p:sp>
        <p:nvSpPr>
          <p:cNvPr id="20" name="Text 18"/>
          <p:cNvSpPr txBox="1"/>
          <p:nvPr/>
        </p:nvSpPr>
        <p:spPr>
          <a:xfrm>
            <a:off x="6400800" y="2159000"/>
            <a:ext cx="2540000" cy="228600"/>
          </a:xfrm>
          <a:prstGeom prst="rect">
            <a:avLst/>
          </a:prstGeom>
          <a:noFill/>
          <a:ln/>
        </p:spPr>
        <p:txBody>
          <a:bodyPr wrap="square" lIns="0" tIns="0" rIns="0" bIns="0" rtlCol="0" anchor="t"/>
          <a:lstStyle/>
          <a:p>
            <a:pPr algn="l" indent="0" marL="0">
              <a:lnSpc>
                <a:spcPct val="112000"/>
              </a:lnSpc>
              <a:buNone/>
            </a:pPr>
            <a:r>
              <a:rPr lang="en-US" sz="1200" dirty="0">
                <a:solidFill>
                  <a:srgbClr val="13151C"/>
                </a:solidFill>
                <a:latin typeface="Plus Jakarta Sans SemiBold" pitchFamily="34" charset="0"/>
                <a:ea typeface="Plus Jakarta Sans SemiBold" pitchFamily="34" charset="-122"/>
                <a:cs typeface="Plus Jakarta Sans SemiBold" pitchFamily="34" charset="-120"/>
              </a:rPr>
              <a:t>Year 3 anniversary</a:t>
            </a:r>
            <a:endParaRPr lang="en-US" sz="1200" dirty="0"/>
          </a:p>
        </p:txBody>
      </p:sp>
      <p:sp>
        <p:nvSpPr>
          <p:cNvPr id="21" name="Text 19"/>
          <p:cNvSpPr txBox="1"/>
          <p:nvPr/>
        </p:nvSpPr>
        <p:spPr>
          <a:xfrm>
            <a:off x="6400800" y="2438400"/>
            <a:ext cx="2540000" cy="215900"/>
          </a:xfrm>
          <a:prstGeom prst="rect">
            <a:avLst/>
          </a:prstGeom>
          <a:noFill/>
          <a:ln/>
        </p:spPr>
        <p:txBody>
          <a:bodyPr wrap="square" lIns="0" tIns="0" rIns="0" bIns="0" rtlCol="0" anchor="t"/>
          <a:lstStyle/>
          <a:p>
            <a:pPr algn="l" indent="0" marL="0">
              <a:lnSpc>
                <a:spcPct val="112000"/>
              </a:lnSpc>
              <a:buNone/>
            </a:pPr>
            <a:r>
              <a:rPr lang="en-US" sz="1100" b="1" dirty="0">
                <a:solidFill>
                  <a:srgbClr val="194EFF"/>
                </a:solidFill>
                <a:latin typeface="Plus Jakarta Sans" pitchFamily="34" charset="0"/>
                <a:ea typeface="Plus Jakarta Sans" pitchFamily="34" charset="-122"/>
                <a:cs typeface="Plus Jakarta Sans" pitchFamily="34" charset="-120"/>
              </a:rPr>
              <a:t>New ARR Booking</a:t>
            </a:r>
            <a:endParaRPr lang="en-US" sz="1100" dirty="0"/>
          </a:p>
        </p:txBody>
      </p:sp>
      <p:sp>
        <p:nvSpPr>
          <p:cNvPr id="22" name="Text 20"/>
          <p:cNvSpPr txBox="1"/>
          <p:nvPr/>
        </p:nvSpPr>
        <p:spPr>
          <a:xfrm>
            <a:off x="8699500" y="1524000"/>
            <a:ext cx="317500" cy="381000"/>
          </a:xfrm>
          <a:prstGeom prst="rect">
            <a:avLst/>
          </a:prstGeom>
          <a:noFill/>
          <a:ln/>
        </p:spPr>
        <p:txBody>
          <a:bodyPr wrap="square" lIns="0" tIns="0" rIns="0" bIns="0" rtlCol="0" anchor="t"/>
          <a:lstStyle/>
          <a:p>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2000" dirty="0"/>
          </a:p>
        </p:txBody>
      </p:sp>
      <p:sp>
        <p:nvSpPr>
          <p:cNvPr id="23" name="Shape 21"/>
          <p:cNvSpPr/>
          <p:nvPr/>
        </p:nvSpPr>
        <p:spPr>
          <a:xfrm>
            <a:off x="9144000" y="1244600"/>
            <a:ext cx="6350" cy="1905000"/>
          </a:xfrm>
          <a:prstGeom prst="rect">
            <a:avLst/>
          </a:prstGeom>
          <a:solidFill>
            <a:srgbClr val="CDD0D9"/>
          </a:solidFill>
          <a:ln/>
        </p:spPr>
      </p:sp>
      <p:sp>
        <p:nvSpPr>
          <p:cNvPr id="24" name="Shape 22"/>
          <p:cNvSpPr/>
          <p:nvPr/>
        </p:nvSpPr>
        <p:spPr>
          <a:xfrm>
            <a:off x="9150350" y="1250950"/>
            <a:ext cx="3041650" cy="1898650"/>
          </a:xfrm>
          <a:prstGeom prst="rect">
            <a:avLst/>
          </a:prstGeom>
          <a:solidFill>
            <a:srgbClr val="F5F9FB"/>
          </a:solidFill>
          <a:ln/>
        </p:spPr>
      </p:sp>
      <p:sp>
        <p:nvSpPr>
          <p:cNvPr id="25" name="Text 23"/>
          <p:cNvSpPr txBox="1"/>
          <p:nvPr/>
        </p:nvSpPr>
        <p:spPr>
          <a:xfrm>
            <a:off x="9448800" y="1409700"/>
            <a:ext cx="1905000" cy="635000"/>
          </a:xfrm>
          <a:prstGeom prst="rect">
            <a:avLst/>
          </a:prstGeom>
          <a:noFill/>
          <a:ln/>
        </p:spPr>
        <p:txBody>
          <a:bodyPr wrap="square" lIns="0" tIns="0" rIns="0" bIns="0" rtlCol="0" anchor="t"/>
          <a:lstStyle/>
          <a:p>
            <a:pPr algn="l" indent="0" marL="0">
              <a:lnSpc>
                <a:spcPct val="112000"/>
              </a:lnSpc>
              <a:buNone/>
            </a:pPr>
            <a:r>
              <a:rPr lang="en-US" sz="4200" b="1" dirty="0">
                <a:solidFill>
                  <a:srgbClr val="13151C"/>
                </a:solidFill>
                <a:latin typeface="Plus Jakarta Sans" pitchFamily="34" charset="0"/>
                <a:ea typeface="Plus Jakarta Sans" pitchFamily="34" charset="-122"/>
                <a:cs typeface="Plus Jakarta Sans" pitchFamily="34" charset="-120"/>
              </a:rPr>
              <a:t>Y4+</a:t>
            </a:r>
            <a:endParaRPr lang="en-US" sz="4200" dirty="0"/>
          </a:p>
        </p:txBody>
      </p:sp>
      <p:sp>
        <p:nvSpPr>
          <p:cNvPr id="26" name="Text 24"/>
          <p:cNvSpPr txBox="1"/>
          <p:nvPr/>
        </p:nvSpPr>
        <p:spPr>
          <a:xfrm>
            <a:off x="9448800" y="2159000"/>
            <a:ext cx="2540000" cy="228600"/>
          </a:xfrm>
          <a:prstGeom prst="rect">
            <a:avLst/>
          </a:prstGeom>
          <a:noFill/>
          <a:ln/>
        </p:spPr>
        <p:txBody>
          <a:bodyPr wrap="square" lIns="0" tIns="0" rIns="0" bIns="0" rtlCol="0" anchor="t"/>
          <a:lstStyle/>
          <a:p>
            <a:pPr algn="l" indent="0" marL="0">
              <a:lnSpc>
                <a:spcPct val="112000"/>
              </a:lnSpc>
              <a:buNone/>
            </a:pPr>
            <a:r>
              <a:rPr lang="en-US" sz="1200" dirty="0">
                <a:solidFill>
                  <a:srgbClr val="13151C"/>
                </a:solidFill>
                <a:latin typeface="Plus Jakarta Sans SemiBold" pitchFamily="34" charset="0"/>
                <a:ea typeface="Plus Jakarta Sans SemiBold" pitchFamily="34" charset="-122"/>
                <a:cs typeface="Plus Jakarta Sans SemiBold" pitchFamily="34" charset="-120"/>
              </a:rPr>
              <a:t>After Year 3 expiry / new term</a:t>
            </a:r>
            <a:endParaRPr lang="en-US" sz="1200" dirty="0"/>
          </a:p>
        </p:txBody>
      </p:sp>
      <p:sp>
        <p:nvSpPr>
          <p:cNvPr id="27" name="Text 25"/>
          <p:cNvSpPr txBox="1"/>
          <p:nvPr/>
        </p:nvSpPr>
        <p:spPr>
          <a:xfrm>
            <a:off x="9448800" y="2438400"/>
            <a:ext cx="2540000" cy="215900"/>
          </a:xfrm>
          <a:prstGeom prst="rect">
            <a:avLst/>
          </a:prstGeom>
          <a:noFill/>
          <a:ln/>
        </p:spPr>
        <p:txBody>
          <a:bodyPr wrap="square" lIns="0" tIns="0" rIns="0" bIns="0" rtlCol="0" anchor="t"/>
          <a:lstStyle/>
          <a:p>
            <a:pPr algn="l" indent="0" marL="0">
              <a:lnSpc>
                <a:spcPct val="112000"/>
              </a:lnSpc>
              <a:buNone/>
            </a:pPr>
            <a:r>
              <a:rPr lang="en-US" sz="1100" b="1" dirty="0">
                <a:solidFill>
                  <a:srgbClr val="5A5C63"/>
                </a:solidFill>
                <a:latin typeface="Plus Jakarta Sans" pitchFamily="34" charset="0"/>
                <a:ea typeface="Plus Jakarta Sans" pitchFamily="34" charset="-122"/>
                <a:cs typeface="Plus Jakarta Sans" pitchFamily="34" charset="-120"/>
              </a:rPr>
              <a:t>Renewal Volume</a:t>
            </a:r>
            <a:endParaRPr lang="en-US" sz="1100" dirty="0"/>
          </a:p>
        </p:txBody>
      </p:sp>
      <p:sp>
        <p:nvSpPr>
          <p:cNvPr id="28" name="Shape 26"/>
          <p:cNvSpPr/>
          <p:nvPr/>
        </p:nvSpPr>
        <p:spPr>
          <a:xfrm>
            <a:off x="0" y="3149600"/>
            <a:ext cx="12192000" cy="6350"/>
          </a:xfrm>
          <a:prstGeom prst="rect">
            <a:avLst/>
          </a:prstGeom>
          <a:solidFill>
            <a:srgbClr val="CDD0D9"/>
          </a:solidFill>
          <a:ln/>
        </p:spPr>
      </p:sp>
      <p:sp>
        <p:nvSpPr>
          <p:cNvPr id="29" name="Shape 27"/>
          <p:cNvSpPr/>
          <p:nvPr/>
        </p:nvSpPr>
        <p:spPr>
          <a:xfrm>
            <a:off x="6096000" y="3149600"/>
            <a:ext cx="6350" cy="2692400"/>
          </a:xfrm>
          <a:prstGeom prst="rect">
            <a:avLst/>
          </a:prstGeom>
          <a:solidFill>
            <a:srgbClr val="CDD0D9"/>
          </a:solidFill>
          <a:ln/>
        </p:spPr>
      </p:sp>
      <p:sp>
        <p:nvSpPr>
          <p:cNvPr id="30" name="Text 28"/>
          <p:cNvSpPr txBox="1"/>
          <p:nvPr/>
        </p:nvSpPr>
        <p:spPr>
          <a:xfrm>
            <a:off x="304800" y="3352800"/>
            <a:ext cx="5461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3151C"/>
                </a:solidFill>
                <a:latin typeface="Plus Jakarta Sans" pitchFamily="34" charset="0"/>
                <a:ea typeface="Plus Jakarta Sans" pitchFamily="34" charset="-122"/>
                <a:cs typeface="Plus Jakarta Sans" pitchFamily="34" charset="-120"/>
              </a:rPr>
              <a:t>During the term: expansion</a:t>
            </a:r>
            <a:endParaRPr lang="en-US" sz="1400" dirty="0"/>
          </a:p>
        </p:txBody>
      </p:sp>
      <p:sp>
        <p:nvSpPr>
          <p:cNvPr id="31" name="Text 29"/>
          <p:cNvSpPr txBox="1"/>
          <p:nvPr/>
        </p:nvSpPr>
        <p:spPr>
          <a:xfrm>
            <a:off x="304800" y="3683000"/>
            <a:ext cx="5461000" cy="635000"/>
          </a:xfrm>
          <a:prstGeom prst="rect">
            <a:avLst/>
          </a:prstGeom>
          <a:noFill/>
          <a:ln/>
        </p:spPr>
        <p:txBody>
          <a:bodyPr wrap="square" lIns="0" tIns="0" rIns="0" bIns="0" rtlCol="0" anchor="t"/>
          <a:lstStyle/>
          <a:p>
            <a:pPr algn="l" indent="0" marL="0">
              <a:lnSpc>
                <a:spcPct val="125000"/>
              </a:lnSpc>
              <a:buNone/>
            </a:pPr>
            <a:r>
              <a:rPr lang="en-US" sz="1050" dirty="0">
                <a:solidFill>
                  <a:srgbClr val="5A5C63"/>
                </a:solidFill>
                <a:latin typeface="Plus Jakarta Sans" pitchFamily="34" charset="0"/>
                <a:ea typeface="Plus Jakarta Sans" pitchFamily="34" charset="-122"/>
                <a:cs typeface="Plus Jakarta Sans" pitchFamily="34" charset="-120"/>
              </a:rPr>
              <a:t>Extra modules, agencies, countries or use cases added during the term are Expansion ARR Bookings, not Renewal Volume.</a:t>
            </a:r>
            <a:endParaRPr lang="en-US" sz="1050" dirty="0"/>
          </a:p>
        </p:txBody>
      </p:sp>
      <p:sp>
        <p:nvSpPr>
          <p:cNvPr id="32" name="Text 30"/>
          <p:cNvSpPr txBox="1"/>
          <p:nvPr/>
        </p:nvSpPr>
        <p:spPr>
          <a:xfrm>
            <a:off x="304800" y="4572000"/>
            <a:ext cx="5461000" cy="1143000"/>
          </a:xfrm>
          <a:prstGeom prst="rect">
            <a:avLst/>
          </a:prstGeom>
          <a:noFill/>
          <a:ln/>
        </p:spPr>
        <p:txBody>
          <a:bodyPr wrap="square" lIns="0" tIns="0" rIns="0" bIns="0" rtlCol="0" anchor="t"/>
          <a:lstStyle/>
          <a:p>
            <a:pPr algn="l" indent="0" marL="0">
              <a:lnSpc>
                <a:spcPct val="125000"/>
              </a:lnSpc>
              <a:buNone/>
            </a:pPr>
            <a:r>
              <a:rPr lang="en-US" sz="900" dirty="0">
                <a:solidFill>
                  <a:srgbClr val="8A8C93"/>
                </a:solidFill>
                <a:latin typeface="Plus Jakarta Sans" pitchFamily="34" charset="0"/>
                <a:ea typeface="Plus Jakarta Sans" pitchFamily="34" charset="-122"/>
                <a:cs typeface="Plus Jakarta Sans" pitchFamily="34" charset="-120"/>
              </a:rPr>
              <a:t>Year-2 and Year-3 credit is subject to cleared payment, valid invoice, continued assignment, an approved opportunity record, tax and withholding, and the signed agreement. If the customer prepays the full term, DignifyX defines the approved payment schedule.</a:t>
            </a:r>
            <a:endParaRPr lang="en-US" sz="900" dirty="0"/>
          </a:p>
        </p:txBody>
      </p:sp>
      <p:sp>
        <p:nvSpPr>
          <p:cNvPr id="33" name="Text 31"/>
          <p:cNvSpPr txBox="1"/>
          <p:nvPr/>
        </p:nvSpPr>
        <p:spPr>
          <a:xfrm>
            <a:off x="6400800" y="3352800"/>
            <a:ext cx="5461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Renewal Volume Credit </a:t>
            </a:r>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 renewed ARR × ratio</a:t>
            </a:r>
            <a:endParaRPr lang="en-US" sz="1300" dirty="0"/>
          </a:p>
        </p:txBody>
      </p:sp>
      <p:sp>
        <p:nvSpPr>
          <p:cNvPr id="34" name="Shape 32"/>
          <p:cNvSpPr/>
          <p:nvPr/>
        </p:nvSpPr>
        <p:spPr>
          <a:xfrm>
            <a:off x="6102350" y="3810000"/>
            <a:ext cx="2025650" cy="2032000"/>
          </a:xfrm>
          <a:prstGeom prst="rect">
            <a:avLst/>
          </a:prstGeom>
          <a:solidFill>
            <a:srgbClr val="EDF1FF"/>
          </a:solidFill>
          <a:ln/>
        </p:spPr>
      </p:sp>
      <p:sp>
        <p:nvSpPr>
          <p:cNvPr id="35" name="Shape 33"/>
          <p:cNvSpPr/>
          <p:nvPr/>
        </p:nvSpPr>
        <p:spPr>
          <a:xfrm>
            <a:off x="6102350" y="3810000"/>
            <a:ext cx="6089650" cy="6350"/>
          </a:xfrm>
          <a:prstGeom prst="rect">
            <a:avLst/>
          </a:prstGeom>
          <a:solidFill>
            <a:srgbClr val="CDD0D9"/>
          </a:solidFill>
          <a:ln/>
        </p:spPr>
      </p:sp>
      <p:sp>
        <p:nvSpPr>
          <p:cNvPr id="36" name="Text 34"/>
          <p:cNvSpPr txBox="1"/>
          <p:nvPr/>
        </p:nvSpPr>
        <p:spPr>
          <a:xfrm>
            <a:off x="6356350" y="4064000"/>
            <a:ext cx="1651000" cy="698500"/>
          </a:xfrm>
          <a:prstGeom prst="rect">
            <a:avLst/>
          </a:prstGeom>
          <a:noFill/>
          <a:ln/>
        </p:spPr>
        <p:txBody>
          <a:bodyPr wrap="square" lIns="0" tIns="0" rIns="0" bIns="0" rtlCol="0" anchor="t"/>
          <a:lstStyle/>
          <a:p>
            <a:pPr algn="l" indent="0" marL="0">
              <a:lnSpc>
                <a:spcPct val="112000"/>
              </a:lnSpc>
              <a:buNone/>
            </a:pPr>
            <a:r>
              <a:rPr lang="en-US" sz="4400" b="1" dirty="0">
                <a:solidFill>
                  <a:srgbClr val="194EFF"/>
                </a:solidFill>
                <a:latin typeface="Plus Jakarta Sans" pitchFamily="34" charset="0"/>
                <a:ea typeface="Plus Jakarta Sans" pitchFamily="34" charset="-122"/>
                <a:cs typeface="Plus Jakarta Sans" pitchFamily="34" charset="-120"/>
              </a:rPr>
              <a:t>1.0</a:t>
            </a:r>
            <a:endParaRPr lang="en-US" sz="4400" dirty="0"/>
          </a:p>
        </p:txBody>
      </p:sp>
      <p:sp>
        <p:nvSpPr>
          <p:cNvPr id="37" name="Text 35"/>
          <p:cNvSpPr txBox="1"/>
          <p:nvPr/>
        </p:nvSpPr>
        <p:spPr>
          <a:xfrm>
            <a:off x="6356350" y="4889500"/>
            <a:ext cx="15875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90%+ gross retention</a:t>
            </a:r>
            <a:endParaRPr lang="en-US" sz="1000" dirty="0"/>
          </a:p>
        </p:txBody>
      </p:sp>
      <p:sp>
        <p:nvSpPr>
          <p:cNvPr id="38" name="Shape 36"/>
          <p:cNvSpPr/>
          <p:nvPr/>
        </p:nvSpPr>
        <p:spPr>
          <a:xfrm>
            <a:off x="8134350" y="3810000"/>
            <a:ext cx="6350" cy="2032000"/>
          </a:xfrm>
          <a:prstGeom prst="rect">
            <a:avLst/>
          </a:prstGeom>
          <a:solidFill>
            <a:srgbClr val="CDD0D9"/>
          </a:solidFill>
          <a:ln/>
        </p:spPr>
      </p:sp>
      <p:sp>
        <p:nvSpPr>
          <p:cNvPr id="39" name="Shape 37"/>
          <p:cNvSpPr/>
          <p:nvPr/>
        </p:nvSpPr>
        <p:spPr>
          <a:xfrm>
            <a:off x="6102350" y="3810000"/>
            <a:ext cx="6089650" cy="6350"/>
          </a:xfrm>
          <a:prstGeom prst="rect">
            <a:avLst/>
          </a:prstGeom>
          <a:solidFill>
            <a:srgbClr val="CDD0D9"/>
          </a:solidFill>
          <a:ln/>
        </p:spPr>
      </p:sp>
      <p:sp>
        <p:nvSpPr>
          <p:cNvPr id="40" name="Text 38"/>
          <p:cNvSpPr txBox="1"/>
          <p:nvPr/>
        </p:nvSpPr>
        <p:spPr>
          <a:xfrm>
            <a:off x="8388350" y="4064000"/>
            <a:ext cx="1651000" cy="698500"/>
          </a:xfrm>
          <a:prstGeom prst="rect">
            <a:avLst/>
          </a:prstGeom>
          <a:noFill/>
          <a:ln/>
        </p:spPr>
        <p:txBody>
          <a:bodyPr wrap="square" lIns="0" tIns="0" rIns="0" bIns="0" rtlCol="0" anchor="t"/>
          <a:lstStyle/>
          <a:p>
            <a:pPr algn="l" indent="0" marL="0">
              <a:lnSpc>
                <a:spcPct val="112000"/>
              </a:lnSpc>
              <a:buNone/>
            </a:pPr>
            <a:r>
              <a:rPr lang="en-US" sz="4400" b="1" dirty="0">
                <a:solidFill>
                  <a:srgbClr val="13151C"/>
                </a:solidFill>
                <a:latin typeface="Plus Jakarta Sans" pitchFamily="34" charset="0"/>
                <a:ea typeface="Plus Jakarta Sans" pitchFamily="34" charset="-122"/>
                <a:cs typeface="Plus Jakarta Sans" pitchFamily="34" charset="-120"/>
              </a:rPr>
              <a:t>0.5</a:t>
            </a:r>
            <a:endParaRPr lang="en-US" sz="4400" dirty="0"/>
          </a:p>
        </p:txBody>
      </p:sp>
      <p:sp>
        <p:nvSpPr>
          <p:cNvPr id="41" name="Text 39"/>
          <p:cNvSpPr txBox="1"/>
          <p:nvPr/>
        </p:nvSpPr>
        <p:spPr>
          <a:xfrm>
            <a:off x="8388350" y="4889500"/>
            <a:ext cx="15875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80–89.99% retention</a:t>
            </a:r>
            <a:endParaRPr lang="en-US" sz="1000" dirty="0"/>
          </a:p>
        </p:txBody>
      </p:sp>
      <p:sp>
        <p:nvSpPr>
          <p:cNvPr id="42" name="Shape 40"/>
          <p:cNvSpPr/>
          <p:nvPr/>
        </p:nvSpPr>
        <p:spPr>
          <a:xfrm>
            <a:off x="10166350" y="3810000"/>
            <a:ext cx="6350" cy="2032000"/>
          </a:xfrm>
          <a:prstGeom prst="rect">
            <a:avLst/>
          </a:prstGeom>
          <a:solidFill>
            <a:srgbClr val="CDD0D9"/>
          </a:solidFill>
          <a:ln/>
        </p:spPr>
      </p:sp>
      <p:sp>
        <p:nvSpPr>
          <p:cNvPr id="43" name="Shape 41"/>
          <p:cNvSpPr/>
          <p:nvPr/>
        </p:nvSpPr>
        <p:spPr>
          <a:xfrm>
            <a:off x="6102350" y="3810000"/>
            <a:ext cx="6089650" cy="6350"/>
          </a:xfrm>
          <a:prstGeom prst="rect">
            <a:avLst/>
          </a:prstGeom>
          <a:solidFill>
            <a:srgbClr val="CDD0D9"/>
          </a:solidFill>
          <a:ln/>
        </p:spPr>
      </p:sp>
      <p:sp>
        <p:nvSpPr>
          <p:cNvPr id="44" name="Text 42"/>
          <p:cNvSpPr txBox="1"/>
          <p:nvPr/>
        </p:nvSpPr>
        <p:spPr>
          <a:xfrm>
            <a:off x="10420350" y="4064000"/>
            <a:ext cx="1651000" cy="698500"/>
          </a:xfrm>
          <a:prstGeom prst="rect">
            <a:avLst/>
          </a:prstGeom>
          <a:noFill/>
          <a:ln/>
        </p:spPr>
        <p:txBody>
          <a:bodyPr wrap="square" lIns="0" tIns="0" rIns="0" bIns="0" rtlCol="0" anchor="t"/>
          <a:lstStyle/>
          <a:p>
            <a:pPr algn="l" indent="0" marL="0">
              <a:lnSpc>
                <a:spcPct val="112000"/>
              </a:lnSpc>
              <a:buNone/>
            </a:pPr>
            <a:r>
              <a:rPr lang="en-US" sz="4400" b="1" dirty="0">
                <a:solidFill>
                  <a:srgbClr val="13151C"/>
                </a:solidFill>
                <a:latin typeface="Plus Jakarta Sans" pitchFamily="34" charset="0"/>
                <a:ea typeface="Plus Jakarta Sans" pitchFamily="34" charset="-122"/>
                <a:cs typeface="Plus Jakarta Sans" pitchFamily="34" charset="-120"/>
              </a:rPr>
              <a:t>0.0</a:t>
            </a:r>
            <a:endParaRPr lang="en-US" sz="4400" dirty="0"/>
          </a:p>
        </p:txBody>
      </p:sp>
      <p:sp>
        <p:nvSpPr>
          <p:cNvPr id="45" name="Text 43"/>
          <p:cNvSpPr txBox="1"/>
          <p:nvPr/>
        </p:nvSpPr>
        <p:spPr>
          <a:xfrm>
            <a:off x="10420350" y="4889500"/>
            <a:ext cx="15875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Below 80% retention</a:t>
            </a:r>
            <a:endParaRPr lang="en-US" sz="1000" dirty="0"/>
          </a:p>
        </p:txBody>
      </p:sp>
      <p:sp>
        <p:nvSpPr>
          <p:cNvPr id="46" name="Shape 44"/>
          <p:cNvSpPr/>
          <p:nvPr/>
        </p:nvSpPr>
        <p:spPr>
          <a:xfrm>
            <a:off x="0" y="5842000"/>
            <a:ext cx="12192000" cy="1016000"/>
          </a:xfrm>
          <a:prstGeom prst="rect">
            <a:avLst/>
          </a:prstGeom>
          <a:solidFill>
            <a:srgbClr val="F5F9FB"/>
          </a:solidFill>
          <a:ln/>
        </p:spPr>
      </p:sp>
      <p:pic>
        <p:nvPicPr>
          <p:cNvPr id="47"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48"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49" name="Text 45"/>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Subject to Terms</a:t>
            </a:r>
            <a:endParaRPr lang="en-US" sz="1200" dirty="0"/>
          </a:p>
        </p:txBody>
      </p:sp>
      <p:sp>
        <p:nvSpPr>
          <p:cNvPr id="50" name="Text 46"/>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Year 1, 2 and 3 values of standard three-year contracts are all New ARR Bookings, credited at your new-business rate.</a:t>
            </a:r>
            <a:endParaRPr lang="en-US" sz="1100" dirty="0"/>
          </a:p>
        </p:txBody>
      </p:sp>
      <p:sp>
        <p:nvSpPr>
          <p:cNvPr id="51" name="Text 47"/>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09 · DISCOUNTING &amp; VALUE ACCELERATION</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Price integrity that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protects</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your margin</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7302500" y="1244600"/>
            <a:ext cx="6350" cy="4597400"/>
          </a:xfrm>
          <a:prstGeom prst="rect">
            <a:avLst/>
          </a:prstGeom>
          <a:solidFill>
            <a:srgbClr val="CDD0D9"/>
          </a:solidFill>
          <a:ln/>
        </p:spPr>
      </p:sp>
      <p:sp>
        <p:nvSpPr>
          <p:cNvPr id="7" name="Text 5"/>
          <p:cNvSpPr txBox="1"/>
          <p:nvPr/>
        </p:nvSpPr>
        <p:spPr>
          <a:xfrm>
            <a:off x="304800" y="1409700"/>
            <a:ext cx="6731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HOW A DISCOUNT AFFECTS COMMISSION: $100,000 GOLD SOURCED EXAMPLE</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04800" y="1663700"/>
          <a:ext cx="6692900" cy="914400"/>
        </p:xfrm>
        <a:graphic>
          <a:graphicData uri="http://schemas.openxmlformats.org/drawingml/2006/table">
            <a:tbl>
              <a:tblPr/>
              <a:tblGrid>
                <a:gridCol w="889000"/>
                <a:gridCol w="1143000"/>
                <a:gridCol w="1841500"/>
                <a:gridCol w="2819400"/>
              </a:tblGrid>
              <a:tr h="3937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Discount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Net ARR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Commission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Treatment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3937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0%</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$100,000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$30,000 (30%)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On full eligible ARR</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937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10%</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$90,000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$27,000 (30% of net)</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Discount shared via lower net base</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937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30%</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$70,000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$21,000 (30% of net)</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Recalculated; not wiped to zero</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937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50%</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$50,000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$5,000 (10% floor)</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Strategic exception; stepped to floor</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bl>
          </a:graphicData>
        </a:graphic>
      </p:graphicFrame>
      <p:sp>
        <p:nvSpPr>
          <p:cNvPr id="9" name="Text 6"/>
          <p:cNvSpPr txBox="1"/>
          <p:nvPr/>
        </p:nvSpPr>
        <p:spPr>
          <a:xfrm>
            <a:off x="304800" y="3810000"/>
            <a:ext cx="6692900" cy="698500"/>
          </a:xfrm>
          <a:prstGeom prst="rect">
            <a:avLst/>
          </a:prstGeom>
          <a:noFill/>
          <a:ln/>
        </p:spPr>
        <p:txBody>
          <a:bodyPr wrap="square" lIns="0" tIns="0" rIns="0" bIns="0" rtlCol="0" anchor="t"/>
          <a:lstStyle/>
          <a:p>
            <a:pPr algn="l" indent="0" marL="0">
              <a:lnSpc>
                <a:spcPct val="125000"/>
              </a:lnSpc>
              <a:buNone/>
            </a:pPr>
            <a:r>
              <a:rPr lang="en-US" sz="1050" dirty="0">
                <a:solidFill>
                  <a:srgbClr val="5A5C63"/>
                </a:solidFill>
                <a:latin typeface="Plus Jakarta Sans" pitchFamily="34" charset="0"/>
                <a:ea typeface="Plus Jakarta Sans" pitchFamily="34" charset="-122"/>
                <a:cs typeface="Plus Jakarta Sans" pitchFamily="34" charset="-120"/>
              </a:rPr>
              <a:t>All customer discounts need DignifyX approval before being shared. Commission is calculated on net eligible ARR, and protected minimums mean it is never wiped to zero.</a:t>
            </a:r>
            <a:endParaRPr lang="en-US" sz="1050" dirty="0"/>
          </a:p>
        </p:txBody>
      </p:sp>
      <p:sp>
        <p:nvSpPr>
          <p:cNvPr id="10" name="Shape 7"/>
          <p:cNvSpPr/>
          <p:nvPr/>
        </p:nvSpPr>
        <p:spPr>
          <a:xfrm>
            <a:off x="0" y="4635500"/>
            <a:ext cx="7302500" cy="1206500"/>
          </a:xfrm>
          <a:prstGeom prst="rect">
            <a:avLst/>
          </a:prstGeom>
          <a:solidFill>
            <a:srgbClr val="EDF1FF"/>
          </a:solidFill>
          <a:ln/>
        </p:spPr>
      </p:sp>
      <p:sp>
        <p:nvSpPr>
          <p:cNvPr id="11" name="Shape 8"/>
          <p:cNvSpPr/>
          <p:nvPr/>
        </p:nvSpPr>
        <p:spPr>
          <a:xfrm>
            <a:off x="0" y="4635500"/>
            <a:ext cx="7302500" cy="6350"/>
          </a:xfrm>
          <a:prstGeom prst="rect">
            <a:avLst/>
          </a:prstGeom>
          <a:solidFill>
            <a:srgbClr val="CDD0D9"/>
          </a:solidFill>
          <a:ln/>
        </p:spPr>
      </p:sp>
      <p:sp>
        <p:nvSpPr>
          <p:cNvPr id="12" name="Text 9"/>
          <p:cNvSpPr txBox="1"/>
          <p:nvPr/>
        </p:nvSpPr>
        <p:spPr>
          <a:xfrm>
            <a:off x="304800" y="4800600"/>
            <a:ext cx="6350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Value Acceleration Credits</a:t>
            </a:r>
            <a:endParaRPr lang="en-US" sz="1400" dirty="0"/>
          </a:p>
        </p:txBody>
      </p:sp>
      <p:sp>
        <p:nvSpPr>
          <p:cNvPr id="13" name="Text 10"/>
          <p:cNvSpPr txBox="1"/>
          <p:nvPr/>
        </p:nvSpPr>
        <p:spPr>
          <a:xfrm>
            <a:off x="304800" y="5118100"/>
            <a:ext cx="6692900" cy="571500"/>
          </a:xfrm>
          <a:prstGeom prst="rect">
            <a:avLst/>
          </a:prstGeom>
          <a:noFill/>
          <a:ln/>
        </p:spPr>
        <p:txBody>
          <a:bodyPr wrap="square" lIns="0" tIns="0" rIns="0" bIns="0" rtlCol="0" anchor="t"/>
          <a:lstStyle/>
          <a:p>
            <a:pPr algn="l" indent="0" marL="0">
              <a:lnSpc>
                <a:spcPct val="125000"/>
              </a:lnSpc>
              <a:buNone/>
            </a:pPr>
            <a:r>
              <a:rPr lang="en-US" sz="1050" dirty="0">
                <a:solidFill>
                  <a:srgbClr val="13151C"/>
                </a:solidFill>
                <a:latin typeface="Plus Jakarta Sans" pitchFamily="34" charset="0"/>
                <a:ea typeface="Plus Jakarta Sans" pitchFamily="34" charset="-122"/>
                <a:cs typeface="Plus Jakarta Sans" pitchFamily="34" charset="-120"/>
              </a:rPr>
              <a:t>An approved non-discount mechanism to accelerate implementation, adoption or outcomes, helping you win without eroding price.</a:t>
            </a:r>
            <a:endParaRPr lang="en-US" sz="1050" dirty="0"/>
          </a:p>
        </p:txBody>
      </p:sp>
      <p:sp>
        <p:nvSpPr>
          <p:cNvPr id="14" name="Text 11"/>
          <p:cNvSpPr txBox="1"/>
          <p:nvPr/>
        </p:nvSpPr>
        <p:spPr>
          <a:xfrm>
            <a:off x="7607300" y="1409700"/>
            <a:ext cx="4318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PROTECTED COMMISSION MINIMUMS</a:t>
            </a:r>
            <a:endParaRPr lang="en-US" sz="850" dirty="0"/>
          </a:p>
        </p:txBody>
      </p:sp>
      <p:sp>
        <p:nvSpPr>
          <p:cNvPr id="15" name="Shape 12"/>
          <p:cNvSpPr/>
          <p:nvPr/>
        </p:nvSpPr>
        <p:spPr>
          <a:xfrm>
            <a:off x="7308850" y="1663700"/>
            <a:ext cx="4883150" cy="6350"/>
          </a:xfrm>
          <a:prstGeom prst="rect">
            <a:avLst/>
          </a:prstGeom>
          <a:solidFill>
            <a:srgbClr val="CDD0D9"/>
          </a:solidFill>
          <a:ln/>
        </p:spPr>
      </p:sp>
      <p:sp>
        <p:nvSpPr>
          <p:cNvPr id="16" name="Shape 13"/>
          <p:cNvSpPr/>
          <p:nvPr/>
        </p:nvSpPr>
        <p:spPr>
          <a:xfrm>
            <a:off x="7308850" y="1670050"/>
            <a:ext cx="2438400" cy="2082800"/>
          </a:xfrm>
          <a:prstGeom prst="rect">
            <a:avLst/>
          </a:prstGeom>
          <a:solidFill>
            <a:srgbClr val="F7FBFD"/>
          </a:solidFill>
          <a:ln/>
        </p:spPr>
      </p:sp>
      <p:sp>
        <p:nvSpPr>
          <p:cNvPr id="17" name="Text 14"/>
          <p:cNvSpPr txBox="1"/>
          <p:nvPr/>
        </p:nvSpPr>
        <p:spPr>
          <a:xfrm>
            <a:off x="7562850" y="2044700"/>
            <a:ext cx="2032000" cy="698500"/>
          </a:xfrm>
          <a:prstGeom prst="rect">
            <a:avLst/>
          </a:prstGeom>
          <a:noFill/>
          <a:ln/>
        </p:spPr>
        <p:txBody>
          <a:bodyPr wrap="square" lIns="0" tIns="0" rIns="0" bIns="0" rtlCol="0" anchor="b"/>
          <a:lstStyle/>
          <a:p>
            <a:pPr algn="l" indent="0" marL="0">
              <a:lnSpc>
                <a:spcPct val="112000"/>
              </a:lnSpc>
              <a:buNone/>
            </a:pPr>
            <a:r>
              <a:rPr lang="en-US" sz="4200" b="1" dirty="0">
                <a:solidFill>
                  <a:srgbClr val="13151C"/>
                </a:solidFill>
                <a:latin typeface="Plus Jakarta Sans" pitchFamily="34" charset="0"/>
                <a:ea typeface="Plus Jakarta Sans" pitchFamily="34" charset="-122"/>
                <a:cs typeface="Plus Jakarta Sans" pitchFamily="34" charset="-120"/>
              </a:rPr>
              <a:t>10</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200" dirty="0"/>
          </a:p>
        </p:txBody>
      </p:sp>
      <p:sp>
        <p:nvSpPr>
          <p:cNvPr id="18" name="Text 15"/>
          <p:cNvSpPr txBox="1"/>
          <p:nvPr/>
        </p:nvSpPr>
        <p:spPr>
          <a:xfrm>
            <a:off x="7562850" y="2870200"/>
            <a:ext cx="1905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Partner-sourced sales partner</a:t>
            </a:r>
            <a:endParaRPr lang="en-US" sz="1000" dirty="0"/>
          </a:p>
        </p:txBody>
      </p:sp>
      <p:sp>
        <p:nvSpPr>
          <p:cNvPr id="19" name="Shape 16"/>
          <p:cNvSpPr/>
          <p:nvPr/>
        </p:nvSpPr>
        <p:spPr>
          <a:xfrm>
            <a:off x="7308850" y="1663700"/>
            <a:ext cx="4883150" cy="6350"/>
          </a:xfrm>
          <a:prstGeom prst="rect">
            <a:avLst/>
          </a:prstGeom>
          <a:solidFill>
            <a:srgbClr val="CDD0D9"/>
          </a:solidFill>
          <a:ln/>
        </p:spPr>
      </p:sp>
      <p:sp>
        <p:nvSpPr>
          <p:cNvPr id="20" name="Shape 17"/>
          <p:cNvSpPr/>
          <p:nvPr/>
        </p:nvSpPr>
        <p:spPr>
          <a:xfrm>
            <a:off x="9747250" y="1663700"/>
            <a:ext cx="6350" cy="2089150"/>
          </a:xfrm>
          <a:prstGeom prst="rect">
            <a:avLst/>
          </a:prstGeom>
          <a:solidFill>
            <a:srgbClr val="CDD0D9"/>
          </a:solidFill>
          <a:ln/>
        </p:spPr>
      </p:sp>
      <p:sp>
        <p:nvSpPr>
          <p:cNvPr id="21" name="Text 18"/>
          <p:cNvSpPr txBox="1"/>
          <p:nvPr/>
        </p:nvSpPr>
        <p:spPr>
          <a:xfrm>
            <a:off x="10001250" y="2044700"/>
            <a:ext cx="2032000" cy="698500"/>
          </a:xfrm>
          <a:prstGeom prst="rect">
            <a:avLst/>
          </a:prstGeom>
          <a:noFill/>
          <a:ln/>
        </p:spPr>
        <p:txBody>
          <a:bodyPr wrap="square" lIns="0" tIns="0" rIns="0" bIns="0" rtlCol="0" anchor="b"/>
          <a:lstStyle/>
          <a:p>
            <a:pPr algn="l" indent="0" marL="0">
              <a:lnSpc>
                <a:spcPct val="112000"/>
              </a:lnSpc>
              <a:buNone/>
            </a:pPr>
            <a:r>
              <a:rPr lang="en-US" sz="4200" b="1" dirty="0">
                <a:solidFill>
                  <a:srgbClr val="13151C"/>
                </a:solidFill>
                <a:latin typeface="Plus Jakarta Sans" pitchFamily="34" charset="0"/>
                <a:ea typeface="Plus Jakarta Sans" pitchFamily="34" charset="-122"/>
                <a:cs typeface="Plus Jakarta Sans" pitchFamily="34" charset="-120"/>
              </a:rPr>
              <a:t>7.5</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200" dirty="0"/>
          </a:p>
        </p:txBody>
      </p:sp>
      <p:sp>
        <p:nvSpPr>
          <p:cNvPr id="22" name="Text 19"/>
          <p:cNvSpPr txBox="1"/>
          <p:nvPr/>
        </p:nvSpPr>
        <p:spPr>
          <a:xfrm>
            <a:off x="10001250" y="2870200"/>
            <a:ext cx="1905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Partner-driven sales partner</a:t>
            </a:r>
            <a:endParaRPr lang="en-US" sz="1000" dirty="0"/>
          </a:p>
        </p:txBody>
      </p:sp>
      <p:sp>
        <p:nvSpPr>
          <p:cNvPr id="23" name="Shape 20"/>
          <p:cNvSpPr/>
          <p:nvPr/>
        </p:nvSpPr>
        <p:spPr>
          <a:xfrm>
            <a:off x="7308850" y="3752850"/>
            <a:ext cx="4883150" cy="6350"/>
          </a:xfrm>
          <a:prstGeom prst="rect">
            <a:avLst/>
          </a:prstGeom>
          <a:solidFill>
            <a:srgbClr val="CDD0D9"/>
          </a:solidFill>
          <a:ln/>
        </p:spPr>
      </p:sp>
      <p:sp>
        <p:nvSpPr>
          <p:cNvPr id="24" name="Text 21"/>
          <p:cNvSpPr txBox="1"/>
          <p:nvPr/>
        </p:nvSpPr>
        <p:spPr>
          <a:xfrm>
            <a:off x="7562850" y="4133850"/>
            <a:ext cx="2032000" cy="698500"/>
          </a:xfrm>
          <a:prstGeom prst="rect">
            <a:avLst/>
          </a:prstGeom>
          <a:noFill/>
          <a:ln/>
        </p:spPr>
        <p:txBody>
          <a:bodyPr wrap="square" lIns="0" tIns="0" rIns="0" bIns="0" rtlCol="0" anchor="b"/>
          <a:lstStyle/>
          <a:p>
            <a:pPr algn="l" indent="0" marL="0">
              <a:lnSpc>
                <a:spcPct val="112000"/>
              </a:lnSpc>
              <a:buNone/>
            </a:pPr>
            <a:r>
              <a:rPr lang="en-US" sz="4200" b="1" dirty="0">
                <a:solidFill>
                  <a:srgbClr val="13151C"/>
                </a:solidFill>
                <a:latin typeface="Plus Jakarta Sans" pitchFamily="34" charset="0"/>
                <a:ea typeface="Plus Jakarta Sans" pitchFamily="34" charset="-122"/>
                <a:cs typeface="Plus Jakarta Sans" pitchFamily="34" charset="-120"/>
              </a:rPr>
              <a:t>5</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200" dirty="0"/>
          </a:p>
        </p:txBody>
      </p:sp>
      <p:sp>
        <p:nvSpPr>
          <p:cNvPr id="25" name="Text 22"/>
          <p:cNvSpPr txBox="1"/>
          <p:nvPr/>
        </p:nvSpPr>
        <p:spPr>
          <a:xfrm>
            <a:off x="7562850" y="4959350"/>
            <a:ext cx="1905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Partner-assisted / service partner</a:t>
            </a:r>
            <a:endParaRPr lang="en-US" sz="1000" dirty="0"/>
          </a:p>
        </p:txBody>
      </p:sp>
      <p:sp>
        <p:nvSpPr>
          <p:cNvPr id="26" name="Shape 23"/>
          <p:cNvSpPr/>
          <p:nvPr/>
        </p:nvSpPr>
        <p:spPr>
          <a:xfrm>
            <a:off x="7308850" y="3752850"/>
            <a:ext cx="4883150" cy="6350"/>
          </a:xfrm>
          <a:prstGeom prst="rect">
            <a:avLst/>
          </a:prstGeom>
          <a:solidFill>
            <a:srgbClr val="CDD0D9"/>
          </a:solidFill>
          <a:ln/>
        </p:spPr>
      </p:sp>
      <p:sp>
        <p:nvSpPr>
          <p:cNvPr id="27" name="Shape 24"/>
          <p:cNvSpPr/>
          <p:nvPr/>
        </p:nvSpPr>
        <p:spPr>
          <a:xfrm>
            <a:off x="9747250" y="3752850"/>
            <a:ext cx="6350" cy="2089150"/>
          </a:xfrm>
          <a:prstGeom prst="rect">
            <a:avLst/>
          </a:prstGeom>
          <a:solidFill>
            <a:srgbClr val="CDD0D9"/>
          </a:solidFill>
          <a:ln/>
        </p:spPr>
      </p:sp>
      <p:sp>
        <p:nvSpPr>
          <p:cNvPr id="28" name="Shape 25"/>
          <p:cNvSpPr/>
          <p:nvPr/>
        </p:nvSpPr>
        <p:spPr>
          <a:xfrm>
            <a:off x="9747250" y="3759200"/>
            <a:ext cx="2438400" cy="2082800"/>
          </a:xfrm>
          <a:prstGeom prst="rect">
            <a:avLst/>
          </a:prstGeom>
          <a:solidFill>
            <a:srgbClr val="F7FBFD"/>
          </a:solidFill>
          <a:ln/>
        </p:spPr>
      </p:sp>
      <p:sp>
        <p:nvSpPr>
          <p:cNvPr id="29" name="Text 26"/>
          <p:cNvSpPr txBox="1"/>
          <p:nvPr/>
        </p:nvSpPr>
        <p:spPr>
          <a:xfrm>
            <a:off x="10001250" y="4133850"/>
            <a:ext cx="2032000" cy="698500"/>
          </a:xfrm>
          <a:prstGeom prst="rect">
            <a:avLst/>
          </a:prstGeom>
          <a:noFill/>
          <a:ln/>
        </p:spPr>
        <p:txBody>
          <a:bodyPr wrap="square" lIns="0" tIns="0" rIns="0" bIns="0" rtlCol="0" anchor="b"/>
          <a:lstStyle/>
          <a:p>
            <a:pPr algn="l" indent="0" marL="0">
              <a:lnSpc>
                <a:spcPct val="112000"/>
              </a:lnSpc>
              <a:buNone/>
            </a:pPr>
            <a:r>
              <a:rPr lang="en-US" sz="4200" b="1" dirty="0">
                <a:solidFill>
                  <a:srgbClr val="13151C"/>
                </a:solidFill>
                <a:latin typeface="Plus Jakarta Sans" pitchFamily="34" charset="0"/>
                <a:ea typeface="Plus Jakarta Sans" pitchFamily="34" charset="-122"/>
                <a:cs typeface="Plus Jakarta Sans" pitchFamily="34" charset="-120"/>
              </a:rPr>
              <a:t>3</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200" dirty="0"/>
          </a:p>
        </p:txBody>
      </p:sp>
      <p:sp>
        <p:nvSpPr>
          <p:cNvPr id="30" name="Text 27"/>
          <p:cNvSpPr txBox="1"/>
          <p:nvPr/>
        </p:nvSpPr>
        <p:spPr>
          <a:xfrm>
            <a:off x="10001250" y="4959350"/>
            <a:ext cx="1905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Referral partner</a:t>
            </a:r>
            <a:endParaRPr lang="en-US" sz="1000" dirty="0"/>
          </a:p>
        </p:txBody>
      </p:sp>
      <p:sp>
        <p:nvSpPr>
          <p:cNvPr id="31" name="Shape 28"/>
          <p:cNvSpPr/>
          <p:nvPr/>
        </p:nvSpPr>
        <p:spPr>
          <a:xfrm>
            <a:off x="0" y="5842000"/>
            <a:ext cx="12192000" cy="1016000"/>
          </a:xfrm>
          <a:prstGeom prst="rect">
            <a:avLst/>
          </a:prstGeom>
          <a:solidFill>
            <a:srgbClr val="F5F9FB"/>
          </a:solidFill>
          <a:ln/>
        </p:spPr>
      </p:sp>
      <p:pic>
        <p:nvPicPr>
          <p:cNvPr id="32"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33"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34" name="Text 29"/>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Floors, Not Zero</a:t>
            </a:r>
            <a:endParaRPr lang="en-US" sz="1200" dirty="0"/>
          </a:p>
        </p:txBody>
      </p:sp>
      <p:sp>
        <p:nvSpPr>
          <p:cNvPr id="35" name="Text 30"/>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Discounts lower the commission base, never below the protected floor for your role.</a:t>
            </a:r>
            <a:endParaRPr lang="en-US" sz="1100" dirty="0"/>
          </a:p>
        </p:txBody>
      </p:sp>
      <p:sp>
        <p:nvSpPr>
          <p:cNvPr id="36" name="Text 31"/>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10–11 · SERVICE PARTNERS, ALLIANCES, MARKETPLACE &amp; TECHNOLOGY</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Implementation track and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strategic</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motions</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6985000" y="1244600"/>
            <a:ext cx="6350" cy="4597400"/>
          </a:xfrm>
          <a:prstGeom prst="rect">
            <a:avLst/>
          </a:prstGeom>
          <a:solidFill>
            <a:srgbClr val="CDD0D9"/>
          </a:solidFill>
          <a:ln/>
        </p:spPr>
      </p:sp>
      <p:sp>
        <p:nvSpPr>
          <p:cNvPr id="7" name="Text 5"/>
          <p:cNvSpPr txBox="1"/>
          <p:nvPr/>
        </p:nvSpPr>
        <p:spPr>
          <a:xfrm>
            <a:off x="304800" y="1409700"/>
            <a:ext cx="6350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INFLUENCE FEES FOR DELIVERY PARTNERS</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04800" y="1663700"/>
          <a:ext cx="6375400" cy="914400"/>
        </p:xfrm>
        <a:graphic>
          <a:graphicData uri="http://schemas.openxmlformats.org/drawingml/2006/table">
            <a:tbl>
              <a:tblPr/>
              <a:tblGrid>
                <a:gridCol w="3048000"/>
                <a:gridCol w="3327400"/>
              </a:tblGrid>
              <a:tr h="5842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Scenario</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Recommended treatment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584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Supports technical validation but does not lead the sale</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Up to 5% approved influence fee / success rebate when contribution is documented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84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Materially influences the executive decision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Up to 10% approved influence fee / success rebate when evidence confirms contribution</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584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Acts as approved prime contractor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Case-by-case DignifyX approval</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84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Subcontractor only, after the deal is won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No influence fee unless separately approved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bl>
          </a:graphicData>
        </a:graphic>
      </p:graphicFrame>
      <p:sp>
        <p:nvSpPr>
          <p:cNvPr id="9" name="Text 6"/>
          <p:cNvSpPr txBox="1"/>
          <p:nvPr/>
        </p:nvSpPr>
        <p:spPr>
          <a:xfrm>
            <a:off x="304800" y="4724400"/>
            <a:ext cx="6375400" cy="952500"/>
          </a:xfrm>
          <a:prstGeom prst="rect">
            <a:avLst/>
          </a:prstGeom>
          <a:noFill/>
          <a:ln/>
        </p:spPr>
        <p:txBody>
          <a:bodyPr wrap="square" lIns="0" tIns="0" rIns="0" bIns="0" rtlCol="0" anchor="t"/>
          <a:lstStyle/>
          <a:p>
            <a:pPr algn="l" indent="0" marL="0">
              <a:lnSpc>
                <a:spcPct val="125000"/>
              </a:lnSpc>
              <a:buNone/>
            </a:pPr>
            <a:r>
              <a:rPr lang="en-US" sz="950" dirty="0">
                <a:solidFill>
                  <a:srgbClr val="5A5C63"/>
                </a:solidFill>
                <a:latin typeface="Plus Jakarta Sans" pitchFamily="34" charset="0"/>
                <a:ea typeface="Plus Jakarta Sans" pitchFamily="34" charset="-122"/>
                <a:cs typeface="Plus Jakarta Sans" pitchFamily="34" charset="-120"/>
              </a:rPr>
              <a:t>Implementation and service partners earn Year-2 / Year-3 and post-expiry renewal commission only if assigned by DignifyX, accountable for customer success and support, and approved in the opportunity record or commercial schedule.</a:t>
            </a:r>
            <a:endParaRPr lang="en-US" sz="950" dirty="0"/>
          </a:p>
        </p:txBody>
      </p:sp>
      <p:sp>
        <p:nvSpPr>
          <p:cNvPr id="10" name="Shape 7"/>
          <p:cNvSpPr/>
          <p:nvPr/>
        </p:nvSpPr>
        <p:spPr>
          <a:xfrm>
            <a:off x="6991350" y="1250950"/>
            <a:ext cx="5200650" cy="1143000"/>
          </a:xfrm>
          <a:prstGeom prst="rect">
            <a:avLst/>
          </a:prstGeom>
          <a:solidFill>
            <a:srgbClr val="F7FBFD"/>
          </a:solidFill>
          <a:ln/>
        </p:spPr>
      </p:sp>
      <p:sp>
        <p:nvSpPr>
          <p:cNvPr id="11" name="Text 8"/>
          <p:cNvSpPr txBox="1"/>
          <p:nvPr/>
        </p:nvSpPr>
        <p:spPr>
          <a:xfrm>
            <a:off x="7245350" y="14287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01</a:t>
            </a:r>
            <a:endParaRPr lang="en-US" sz="1400" dirty="0"/>
          </a:p>
        </p:txBody>
      </p:sp>
      <p:sp>
        <p:nvSpPr>
          <p:cNvPr id="12" name="Text 9"/>
          <p:cNvSpPr txBox="1"/>
          <p:nvPr/>
        </p:nvSpPr>
        <p:spPr>
          <a:xfrm>
            <a:off x="7753350" y="1441450"/>
            <a:ext cx="4191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Cloud marketplace</a:t>
            </a:r>
            <a:endParaRPr lang="en-US" sz="1250" dirty="0"/>
          </a:p>
        </p:txBody>
      </p:sp>
      <p:sp>
        <p:nvSpPr>
          <p:cNvPr id="13" name="Text 10"/>
          <p:cNvSpPr txBox="1"/>
          <p:nvPr/>
        </p:nvSpPr>
        <p:spPr>
          <a:xfrm>
            <a:off x="7753350" y="1708150"/>
            <a:ext cx="4191000" cy="635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Private offer or marketplace motion may follow hyperscaler-specific rules, fees, listing requirements and procurement routes.</a:t>
            </a:r>
            <a:endParaRPr lang="en-US" sz="900" dirty="0"/>
          </a:p>
        </p:txBody>
      </p:sp>
      <p:sp>
        <p:nvSpPr>
          <p:cNvPr id="14" name="Shape 11"/>
          <p:cNvSpPr/>
          <p:nvPr/>
        </p:nvSpPr>
        <p:spPr>
          <a:xfrm>
            <a:off x="6991350" y="2400300"/>
            <a:ext cx="5200650" cy="6350"/>
          </a:xfrm>
          <a:prstGeom prst="rect">
            <a:avLst/>
          </a:prstGeom>
          <a:solidFill>
            <a:srgbClr val="CDD0D9"/>
          </a:solidFill>
          <a:ln/>
        </p:spPr>
      </p:sp>
      <p:sp>
        <p:nvSpPr>
          <p:cNvPr id="15" name="Text 12"/>
          <p:cNvSpPr txBox="1"/>
          <p:nvPr/>
        </p:nvSpPr>
        <p:spPr>
          <a:xfrm>
            <a:off x="7245350" y="257810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02</a:t>
            </a:r>
            <a:endParaRPr lang="en-US" sz="1400" dirty="0"/>
          </a:p>
        </p:txBody>
      </p:sp>
      <p:sp>
        <p:nvSpPr>
          <p:cNvPr id="16" name="Text 13"/>
          <p:cNvSpPr txBox="1"/>
          <p:nvPr/>
        </p:nvSpPr>
        <p:spPr>
          <a:xfrm>
            <a:off x="7753350" y="2590800"/>
            <a:ext cx="4191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Technology integration</a:t>
            </a:r>
            <a:endParaRPr lang="en-US" sz="1250" dirty="0"/>
          </a:p>
        </p:txBody>
      </p:sp>
      <p:sp>
        <p:nvSpPr>
          <p:cNvPr id="17" name="Text 14"/>
          <p:cNvSpPr txBox="1"/>
          <p:nvPr/>
        </p:nvSpPr>
        <p:spPr>
          <a:xfrm>
            <a:off x="7753350" y="2857500"/>
            <a:ext cx="4191000" cy="635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Technical validation, integration scope, security and data-handling review, support model and approved messaging.</a:t>
            </a:r>
            <a:endParaRPr lang="en-US" sz="900" dirty="0"/>
          </a:p>
        </p:txBody>
      </p:sp>
      <p:sp>
        <p:nvSpPr>
          <p:cNvPr id="18" name="Shape 15"/>
          <p:cNvSpPr/>
          <p:nvPr/>
        </p:nvSpPr>
        <p:spPr>
          <a:xfrm>
            <a:off x="6991350" y="3549650"/>
            <a:ext cx="5200650" cy="6350"/>
          </a:xfrm>
          <a:prstGeom prst="rect">
            <a:avLst/>
          </a:prstGeom>
          <a:solidFill>
            <a:srgbClr val="CDD0D9"/>
          </a:solidFill>
          <a:ln/>
        </p:spPr>
      </p:sp>
      <p:sp>
        <p:nvSpPr>
          <p:cNvPr id="19" name="Shape 16"/>
          <p:cNvSpPr/>
          <p:nvPr/>
        </p:nvSpPr>
        <p:spPr>
          <a:xfrm>
            <a:off x="6991350" y="3549650"/>
            <a:ext cx="5200650" cy="1143000"/>
          </a:xfrm>
          <a:prstGeom prst="rect">
            <a:avLst/>
          </a:prstGeom>
          <a:solidFill>
            <a:srgbClr val="F7FBFD"/>
          </a:solidFill>
          <a:ln/>
        </p:spPr>
      </p:sp>
      <p:sp>
        <p:nvSpPr>
          <p:cNvPr id="20" name="Text 17"/>
          <p:cNvSpPr txBox="1"/>
          <p:nvPr/>
        </p:nvSpPr>
        <p:spPr>
          <a:xfrm>
            <a:off x="7245350" y="37274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03</a:t>
            </a:r>
            <a:endParaRPr lang="en-US" sz="1400" dirty="0"/>
          </a:p>
        </p:txBody>
      </p:sp>
      <p:sp>
        <p:nvSpPr>
          <p:cNvPr id="21" name="Text 18"/>
          <p:cNvSpPr txBox="1"/>
          <p:nvPr/>
        </p:nvSpPr>
        <p:spPr>
          <a:xfrm>
            <a:off x="7753350" y="3740150"/>
            <a:ext cx="4191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Strategic alliance</a:t>
            </a:r>
            <a:endParaRPr lang="en-US" sz="1250" dirty="0"/>
          </a:p>
        </p:txBody>
      </p:sp>
      <p:sp>
        <p:nvSpPr>
          <p:cNvPr id="22" name="Text 19"/>
          <p:cNvSpPr txBox="1"/>
          <p:nvPr/>
        </p:nvSpPr>
        <p:spPr>
          <a:xfrm>
            <a:off x="7753350" y="4006850"/>
            <a:ext cx="4191000" cy="635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Executive sponsorship, joint business plan, target accounts, country coverage, co-marketing plan and governance cadence.</a:t>
            </a:r>
            <a:endParaRPr lang="en-US" sz="900" dirty="0"/>
          </a:p>
        </p:txBody>
      </p:sp>
      <p:sp>
        <p:nvSpPr>
          <p:cNvPr id="23" name="Shape 20"/>
          <p:cNvSpPr/>
          <p:nvPr/>
        </p:nvSpPr>
        <p:spPr>
          <a:xfrm>
            <a:off x="6991350" y="4699000"/>
            <a:ext cx="5200650" cy="6350"/>
          </a:xfrm>
          <a:prstGeom prst="rect">
            <a:avLst/>
          </a:prstGeom>
          <a:solidFill>
            <a:srgbClr val="CDD0D9"/>
          </a:solidFill>
          <a:ln/>
        </p:spPr>
      </p:sp>
      <p:sp>
        <p:nvSpPr>
          <p:cNvPr id="24" name="Text 21"/>
          <p:cNvSpPr txBox="1"/>
          <p:nvPr/>
        </p:nvSpPr>
        <p:spPr>
          <a:xfrm>
            <a:off x="7245350" y="487680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04</a:t>
            </a:r>
            <a:endParaRPr lang="en-US" sz="1400" dirty="0"/>
          </a:p>
        </p:txBody>
      </p:sp>
      <p:sp>
        <p:nvSpPr>
          <p:cNvPr id="25" name="Text 22"/>
          <p:cNvSpPr txBox="1"/>
          <p:nvPr/>
        </p:nvSpPr>
        <p:spPr>
          <a:xfrm>
            <a:off x="7753350" y="4889500"/>
            <a:ext cx="4191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Managed service</a:t>
            </a:r>
            <a:endParaRPr lang="en-US" sz="1250" dirty="0"/>
          </a:p>
        </p:txBody>
      </p:sp>
      <p:sp>
        <p:nvSpPr>
          <p:cNvPr id="26" name="Text 23"/>
          <p:cNvSpPr txBox="1"/>
          <p:nvPr/>
        </p:nvSpPr>
        <p:spPr>
          <a:xfrm>
            <a:off x="7753350" y="5156200"/>
            <a:ext cx="4191000" cy="635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Scope, customer responsibilities, support model, operational controls, compliance obligations and approval.</a:t>
            </a:r>
            <a:endParaRPr lang="en-US" sz="900" dirty="0"/>
          </a:p>
        </p:txBody>
      </p:sp>
      <p:sp>
        <p:nvSpPr>
          <p:cNvPr id="27" name="Shape 24"/>
          <p:cNvSpPr/>
          <p:nvPr/>
        </p:nvSpPr>
        <p:spPr>
          <a:xfrm>
            <a:off x="0" y="5842000"/>
            <a:ext cx="12192000" cy="1016000"/>
          </a:xfrm>
          <a:prstGeom prst="rect">
            <a:avLst/>
          </a:prstGeom>
          <a:solidFill>
            <a:srgbClr val="F5F9FB"/>
          </a:solidFill>
          <a:ln/>
        </p:spPr>
      </p:sp>
      <p:pic>
        <p:nvPicPr>
          <p:cNvPr id="28"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29"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30" name="Text 25"/>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Go Further Together</a:t>
            </a:r>
            <a:endParaRPr lang="en-US" sz="1200" dirty="0"/>
          </a:p>
        </p:txBody>
      </p:sp>
      <p:sp>
        <p:nvSpPr>
          <p:cNvPr id="31" name="Text 26"/>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Delivery partners are rewarded when they shape the buying decision, and alliances grow through shared plans.</a:t>
            </a:r>
            <a:endParaRPr lang="en-US" sz="1100" dirty="0"/>
          </a:p>
        </p:txBody>
      </p:sp>
      <p:sp>
        <p:nvSpPr>
          <p:cNvPr id="32" name="Text 27"/>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12 · COUNTRY ELIGIBILITY &amp; CROSS-BORDER</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Sell across borders,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the right way</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6096000" y="1244600"/>
            <a:ext cx="6350" cy="2095500"/>
          </a:xfrm>
          <a:prstGeom prst="rect">
            <a:avLst/>
          </a:prstGeom>
          <a:solidFill>
            <a:srgbClr val="CDD0D9"/>
          </a:solidFill>
          <a:ln/>
        </p:spPr>
      </p:sp>
      <p:sp>
        <p:nvSpPr>
          <p:cNvPr id="7" name="Shape 5"/>
          <p:cNvSpPr/>
          <p:nvPr/>
        </p:nvSpPr>
        <p:spPr>
          <a:xfrm>
            <a:off x="6102350" y="1250950"/>
            <a:ext cx="6089650" cy="2089150"/>
          </a:xfrm>
          <a:prstGeom prst="rect">
            <a:avLst/>
          </a:prstGeom>
          <a:solidFill>
            <a:srgbClr val="F5F9FB"/>
          </a:solidFill>
          <a:ln/>
        </p:spPr>
      </p:sp>
      <p:sp>
        <p:nvSpPr>
          <p:cNvPr id="8" name="Text 6"/>
          <p:cNvSpPr txBox="1"/>
          <p:nvPr/>
        </p:nvSpPr>
        <p:spPr>
          <a:xfrm>
            <a:off x="304800" y="1460500"/>
            <a:ext cx="5461000" cy="2794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Licensed in each country of sale</a:t>
            </a:r>
            <a:endParaRPr lang="en-US" sz="1500" dirty="0"/>
          </a:p>
        </p:txBody>
      </p:sp>
      <p:sp>
        <p:nvSpPr>
          <p:cNvPr id="9" name="Text 7"/>
          <p:cNvSpPr txBox="1"/>
          <p:nvPr/>
        </p:nvSpPr>
        <p:spPr>
          <a:xfrm>
            <a:off x="304800" y="1828800"/>
            <a:ext cx="5461000" cy="1270000"/>
          </a:xfrm>
          <a:prstGeom prst="rect">
            <a:avLst/>
          </a:prstGeom>
          <a:noFill/>
          <a:ln/>
        </p:spPr>
        <p:txBody>
          <a:bodyPr wrap="square" lIns="0" tIns="0" rIns="0" bIns="0" rtlCol="0" anchor="t"/>
          <a:lstStyle/>
          <a:p>
            <a:pPr algn="l" indent="0" marL="0">
              <a:lnSpc>
                <a:spcPct val="125000"/>
              </a:lnSpc>
              <a:buNone/>
            </a:pPr>
            <a:r>
              <a:rPr lang="en-US" sz="1100" dirty="0">
                <a:solidFill>
                  <a:srgbClr val="13151C"/>
                </a:solidFill>
                <a:latin typeface="Plus Jakarta Sans" pitchFamily="34" charset="0"/>
                <a:ea typeface="Plus Jakarta Sans" pitchFamily="34" charset="-122"/>
                <a:cs typeface="Plus Jakarta Sans" pitchFamily="34" charset="-120"/>
              </a:rPr>
              <a:t>Eligible for full role-based commission per country, under a per-country agreement or a master agreement with approved country annexes.</a:t>
            </a:r>
            <a:endParaRPr lang="en-US" sz="1100" dirty="0"/>
          </a:p>
        </p:txBody>
      </p:sp>
      <p:sp>
        <p:nvSpPr>
          <p:cNvPr id="10" name="Text 8"/>
          <p:cNvSpPr txBox="1"/>
          <p:nvPr/>
        </p:nvSpPr>
        <p:spPr>
          <a:xfrm>
            <a:off x="6400800" y="1460500"/>
            <a:ext cx="5461000" cy="279400"/>
          </a:xfrm>
          <a:prstGeom prst="rect">
            <a:avLst/>
          </a:prstGeom>
          <a:noFill/>
          <a:ln/>
        </p:spPr>
        <p:txBody>
          <a:bodyPr wrap="square" lIns="0" tIns="0" rIns="0" bIns="0" rtlCol="0" anchor="t"/>
          <a:lstStyle/>
          <a:p>
            <a:pPr algn="l" indent="0" marL="0">
              <a:lnSpc>
                <a:spcPct val="112000"/>
              </a:lnSpc>
              <a:buNone/>
            </a:pPr>
            <a:r>
              <a:rPr lang="en-US" sz="1500" b="1" dirty="0">
                <a:solidFill>
                  <a:srgbClr val="13151C"/>
                </a:solidFill>
                <a:latin typeface="Plus Jakarta Sans" pitchFamily="34" charset="0"/>
                <a:ea typeface="Plus Jakarta Sans" pitchFamily="34" charset="-122"/>
                <a:cs typeface="Plus Jakarta Sans" pitchFamily="34" charset="-120"/>
              </a:rPr>
              <a:t>Licensed at home only</a:t>
            </a:r>
            <a:endParaRPr lang="en-US" sz="1500" dirty="0"/>
          </a:p>
        </p:txBody>
      </p:sp>
      <p:sp>
        <p:nvSpPr>
          <p:cNvPr id="11" name="Text 9"/>
          <p:cNvSpPr txBox="1"/>
          <p:nvPr/>
        </p:nvSpPr>
        <p:spPr>
          <a:xfrm>
            <a:off x="6400800" y="1828800"/>
            <a:ext cx="5461000" cy="1270000"/>
          </a:xfrm>
          <a:prstGeom prst="rect">
            <a:avLst/>
          </a:prstGeom>
          <a:noFill/>
          <a:ln/>
        </p:spPr>
        <p:txBody>
          <a:bodyPr wrap="square" lIns="0" tIns="0" rIns="0" bIns="0" rtlCol="0" anchor="t"/>
          <a:lstStyle/>
          <a:p>
            <a:pPr algn="l" indent="0" marL="0">
              <a:lnSpc>
                <a:spcPct val="125000"/>
              </a:lnSpc>
              <a:buNone/>
            </a:pPr>
            <a:r>
              <a:rPr lang="en-US" sz="1100" dirty="0">
                <a:solidFill>
                  <a:srgbClr val="13151C"/>
                </a:solidFill>
                <a:latin typeface="Plus Jakarta Sans" pitchFamily="34" charset="0"/>
                <a:ea typeface="Plus Jakarta Sans" pitchFamily="34" charset="-122"/>
                <a:cs typeface="Plus Jakarta Sans" pitchFamily="34" charset="-120"/>
              </a:rPr>
              <a:t>Cannot contract, invoice or be paid as selling partner where not locally eligible. May be credited as referral / origination; a locally eligible partner or DignifyX entity becomes partner-of-record.</a:t>
            </a:r>
            <a:endParaRPr lang="en-US" sz="1100" dirty="0"/>
          </a:p>
        </p:txBody>
      </p:sp>
      <p:sp>
        <p:nvSpPr>
          <p:cNvPr id="12" name="Shape 10"/>
          <p:cNvSpPr/>
          <p:nvPr/>
        </p:nvSpPr>
        <p:spPr>
          <a:xfrm>
            <a:off x="0" y="3340100"/>
            <a:ext cx="12192000" cy="6350"/>
          </a:xfrm>
          <a:prstGeom prst="rect">
            <a:avLst/>
          </a:prstGeom>
          <a:solidFill>
            <a:srgbClr val="CDD0D9"/>
          </a:solidFill>
          <a:ln/>
        </p:spPr>
      </p:sp>
      <p:sp>
        <p:nvSpPr>
          <p:cNvPr id="13" name="Text 11"/>
          <p:cNvSpPr txBox="1"/>
          <p:nvPr/>
        </p:nvSpPr>
        <p:spPr>
          <a:xfrm>
            <a:off x="304800" y="3479800"/>
            <a:ext cx="5715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THREE WAYS TO SELL ACROSS BORDERS</a:t>
            </a:r>
            <a:endParaRPr lang="en-US" sz="850" dirty="0"/>
          </a:p>
        </p:txBody>
      </p:sp>
      <p:sp>
        <p:nvSpPr>
          <p:cNvPr id="14" name="Shape 12"/>
          <p:cNvSpPr/>
          <p:nvPr/>
        </p:nvSpPr>
        <p:spPr>
          <a:xfrm>
            <a:off x="0" y="3733800"/>
            <a:ext cx="12192000" cy="6350"/>
          </a:xfrm>
          <a:prstGeom prst="rect">
            <a:avLst/>
          </a:prstGeom>
          <a:solidFill>
            <a:srgbClr val="CDD0D9"/>
          </a:solidFill>
          <a:ln/>
        </p:spPr>
      </p:sp>
      <p:sp>
        <p:nvSpPr>
          <p:cNvPr id="15" name="Text 13"/>
          <p:cNvSpPr txBox="1"/>
          <p:nvPr/>
        </p:nvSpPr>
        <p:spPr>
          <a:xfrm>
            <a:off x="304800" y="3886200"/>
            <a:ext cx="635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94EFF"/>
                </a:solidFill>
                <a:latin typeface="Plus Jakarta Sans" pitchFamily="34" charset="0"/>
                <a:ea typeface="Plus Jakarta Sans" pitchFamily="34" charset="-122"/>
                <a:cs typeface="Plus Jakarta Sans" pitchFamily="34" charset="-120"/>
              </a:rPr>
              <a:t>A</a:t>
            </a:r>
            <a:endParaRPr lang="en-US" sz="2800" dirty="0"/>
          </a:p>
        </p:txBody>
      </p:sp>
      <p:sp>
        <p:nvSpPr>
          <p:cNvPr id="16" name="Text 14"/>
          <p:cNvSpPr txBox="1"/>
          <p:nvPr/>
        </p:nvSpPr>
        <p:spPr>
          <a:xfrm>
            <a:off x="889000" y="3987800"/>
            <a:ext cx="2921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Origination / Referral</a:t>
            </a:r>
            <a:endParaRPr lang="en-US" sz="1300" dirty="0"/>
          </a:p>
        </p:txBody>
      </p:sp>
      <p:sp>
        <p:nvSpPr>
          <p:cNvPr id="17" name="Text 15"/>
          <p:cNvSpPr txBox="1"/>
          <p:nvPr/>
        </p:nvSpPr>
        <p:spPr>
          <a:xfrm>
            <a:off x="304800" y="4483100"/>
            <a:ext cx="3492500" cy="1206500"/>
          </a:xfrm>
          <a:prstGeom prst="rect">
            <a:avLst/>
          </a:prstGeom>
          <a:noFill/>
          <a:ln/>
        </p:spPr>
        <p:txBody>
          <a:bodyPr wrap="square" lIns="0" tIns="0" rIns="0" bIns="0" rtlCol="0" anchor="t"/>
          <a:lstStyle/>
          <a:p>
            <a:pPr algn="l" indent="0" marL="0">
              <a:lnSpc>
                <a:spcPct val="125000"/>
              </a:lnSpc>
              <a:buNone/>
            </a:pPr>
            <a:r>
              <a:rPr lang="en-US" sz="1000" dirty="0">
                <a:solidFill>
                  <a:srgbClr val="5A5C63"/>
                </a:solidFill>
                <a:latin typeface="Plus Jakarta Sans" pitchFamily="34" charset="0"/>
                <a:ea typeface="Plus Jakarta Sans" pitchFamily="34" charset="-122"/>
                <a:cs typeface="Plus Jakarta Sans" pitchFamily="34" charset="-120"/>
              </a:rPr>
              <a:t>DignifyX may approve a referral / origination fee; the local DignifyX entity or an approved local partner is partner-of-record.</a:t>
            </a:r>
            <a:endParaRPr lang="en-US" sz="1000" dirty="0"/>
          </a:p>
        </p:txBody>
      </p:sp>
      <p:sp>
        <p:nvSpPr>
          <p:cNvPr id="18" name="Shape 16"/>
          <p:cNvSpPr/>
          <p:nvPr/>
        </p:nvSpPr>
        <p:spPr>
          <a:xfrm>
            <a:off x="4064000" y="3733800"/>
            <a:ext cx="6350" cy="2108200"/>
          </a:xfrm>
          <a:prstGeom prst="rect">
            <a:avLst/>
          </a:prstGeom>
          <a:solidFill>
            <a:srgbClr val="CDD0D9"/>
          </a:solidFill>
          <a:ln/>
        </p:spPr>
      </p:sp>
      <p:sp>
        <p:nvSpPr>
          <p:cNvPr id="19" name="Shape 17"/>
          <p:cNvSpPr/>
          <p:nvPr/>
        </p:nvSpPr>
        <p:spPr>
          <a:xfrm>
            <a:off x="0" y="3733800"/>
            <a:ext cx="12192000" cy="6350"/>
          </a:xfrm>
          <a:prstGeom prst="rect">
            <a:avLst/>
          </a:prstGeom>
          <a:solidFill>
            <a:srgbClr val="CDD0D9"/>
          </a:solidFill>
          <a:ln/>
        </p:spPr>
      </p:sp>
      <p:sp>
        <p:nvSpPr>
          <p:cNvPr id="20" name="Text 18"/>
          <p:cNvSpPr txBox="1"/>
          <p:nvPr/>
        </p:nvSpPr>
        <p:spPr>
          <a:xfrm>
            <a:off x="4368800" y="3886200"/>
            <a:ext cx="635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94EFF"/>
                </a:solidFill>
                <a:latin typeface="Plus Jakarta Sans" pitchFamily="34" charset="0"/>
                <a:ea typeface="Plus Jakarta Sans" pitchFamily="34" charset="-122"/>
                <a:cs typeface="Plus Jakarta Sans" pitchFamily="34" charset="-120"/>
              </a:rPr>
              <a:t>B</a:t>
            </a:r>
            <a:endParaRPr lang="en-US" sz="2800" dirty="0"/>
          </a:p>
        </p:txBody>
      </p:sp>
      <p:sp>
        <p:nvSpPr>
          <p:cNvPr id="21" name="Text 19"/>
          <p:cNvSpPr txBox="1"/>
          <p:nvPr/>
        </p:nvSpPr>
        <p:spPr>
          <a:xfrm>
            <a:off x="4953000" y="3987800"/>
            <a:ext cx="2921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Local Registration</a:t>
            </a:r>
            <a:endParaRPr lang="en-US" sz="1300" dirty="0"/>
          </a:p>
        </p:txBody>
      </p:sp>
      <p:sp>
        <p:nvSpPr>
          <p:cNvPr id="22" name="Text 20"/>
          <p:cNvSpPr txBox="1"/>
          <p:nvPr/>
        </p:nvSpPr>
        <p:spPr>
          <a:xfrm>
            <a:off x="4368800" y="4483100"/>
            <a:ext cx="3492500" cy="1206500"/>
          </a:xfrm>
          <a:prstGeom prst="rect">
            <a:avLst/>
          </a:prstGeom>
          <a:noFill/>
          <a:ln/>
        </p:spPr>
        <p:txBody>
          <a:bodyPr wrap="square" lIns="0" tIns="0" rIns="0" bIns="0" rtlCol="0" anchor="t"/>
          <a:lstStyle/>
          <a:p>
            <a:pPr algn="l" indent="0" marL="0">
              <a:lnSpc>
                <a:spcPct val="125000"/>
              </a:lnSpc>
              <a:buNone/>
            </a:pPr>
            <a:r>
              <a:rPr lang="en-US" sz="1000" dirty="0">
                <a:solidFill>
                  <a:srgbClr val="5A5C63"/>
                </a:solidFill>
                <a:latin typeface="Plus Jakarta Sans" pitchFamily="34" charset="0"/>
                <a:ea typeface="Plus Jakarta Sans" pitchFamily="34" charset="-122"/>
                <a:cs typeface="Plus Jakarta Sans" pitchFamily="34" charset="-120"/>
              </a:rPr>
              <a:t>Establish or activate a local entity or registration; once approved, eligible for full local commission from the approval date.</a:t>
            </a:r>
            <a:endParaRPr lang="en-US" sz="1000" dirty="0"/>
          </a:p>
        </p:txBody>
      </p:sp>
      <p:sp>
        <p:nvSpPr>
          <p:cNvPr id="23" name="Shape 21"/>
          <p:cNvSpPr/>
          <p:nvPr/>
        </p:nvSpPr>
        <p:spPr>
          <a:xfrm>
            <a:off x="8128000" y="3733800"/>
            <a:ext cx="6350" cy="2108200"/>
          </a:xfrm>
          <a:prstGeom prst="rect">
            <a:avLst/>
          </a:prstGeom>
          <a:solidFill>
            <a:srgbClr val="CDD0D9"/>
          </a:solidFill>
          <a:ln/>
        </p:spPr>
      </p:sp>
      <p:sp>
        <p:nvSpPr>
          <p:cNvPr id="24" name="Shape 22"/>
          <p:cNvSpPr/>
          <p:nvPr/>
        </p:nvSpPr>
        <p:spPr>
          <a:xfrm>
            <a:off x="0" y="3733800"/>
            <a:ext cx="12192000" cy="6350"/>
          </a:xfrm>
          <a:prstGeom prst="rect">
            <a:avLst/>
          </a:prstGeom>
          <a:solidFill>
            <a:srgbClr val="CDD0D9"/>
          </a:solidFill>
          <a:ln/>
        </p:spPr>
      </p:sp>
      <p:sp>
        <p:nvSpPr>
          <p:cNvPr id="25" name="Shape 23"/>
          <p:cNvSpPr/>
          <p:nvPr/>
        </p:nvSpPr>
        <p:spPr>
          <a:xfrm>
            <a:off x="8134350" y="3740150"/>
            <a:ext cx="4057650" cy="2101850"/>
          </a:xfrm>
          <a:prstGeom prst="rect">
            <a:avLst/>
          </a:prstGeom>
          <a:solidFill>
            <a:srgbClr val="EDF1FF"/>
          </a:solidFill>
          <a:ln/>
        </p:spPr>
      </p:sp>
      <p:sp>
        <p:nvSpPr>
          <p:cNvPr id="26" name="Text 24"/>
          <p:cNvSpPr txBox="1"/>
          <p:nvPr/>
        </p:nvSpPr>
        <p:spPr>
          <a:xfrm>
            <a:off x="8432800" y="3886200"/>
            <a:ext cx="635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94EFF"/>
                </a:solidFill>
                <a:latin typeface="Plus Jakarta Sans" pitchFamily="34" charset="0"/>
                <a:ea typeface="Plus Jakarta Sans" pitchFamily="34" charset="-122"/>
                <a:cs typeface="Plus Jakarta Sans" pitchFamily="34" charset="-120"/>
              </a:rPr>
              <a:t>C</a:t>
            </a:r>
            <a:endParaRPr lang="en-US" sz="2800" dirty="0"/>
          </a:p>
        </p:txBody>
      </p:sp>
      <p:sp>
        <p:nvSpPr>
          <p:cNvPr id="27" name="Text 25"/>
          <p:cNvSpPr txBox="1"/>
          <p:nvPr/>
        </p:nvSpPr>
        <p:spPr>
          <a:xfrm>
            <a:off x="9017000" y="3987800"/>
            <a:ext cx="2921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Master + Country Annexes</a:t>
            </a:r>
            <a:endParaRPr lang="en-US" sz="1300" dirty="0"/>
          </a:p>
        </p:txBody>
      </p:sp>
      <p:sp>
        <p:nvSpPr>
          <p:cNvPr id="28" name="Text 26"/>
          <p:cNvSpPr txBox="1"/>
          <p:nvPr/>
        </p:nvSpPr>
        <p:spPr>
          <a:xfrm>
            <a:off x="8432800" y="4483100"/>
            <a:ext cx="3492500" cy="1206500"/>
          </a:xfrm>
          <a:prstGeom prst="rect">
            <a:avLst/>
          </a:prstGeom>
          <a:noFill/>
          <a:ln/>
        </p:spPr>
        <p:txBody>
          <a:bodyPr wrap="square" lIns="0" tIns="0" rIns="0" bIns="0" rtlCol="0" anchor="t"/>
          <a:lstStyle/>
          <a:p>
            <a:pPr algn="l" indent="0" marL="0">
              <a:lnSpc>
                <a:spcPct val="125000"/>
              </a:lnSpc>
              <a:buNone/>
            </a:pPr>
            <a:r>
              <a:rPr lang="en-US" sz="1000" dirty="0">
                <a:solidFill>
                  <a:srgbClr val="5A5C63"/>
                </a:solidFill>
                <a:latin typeface="Plus Jakarta Sans" pitchFamily="34" charset="0"/>
                <a:ea typeface="Plus Jakarta Sans" pitchFamily="34" charset="-122"/>
                <a:cs typeface="Plus Jakarta Sans" pitchFamily="34" charset="-120"/>
              </a:rPr>
              <a:t>For approved multi-country partners; each annex defines contracting, tax, commission eligibility, data residency, delivery and support.</a:t>
            </a:r>
            <a:endParaRPr lang="en-US" sz="1000" dirty="0"/>
          </a:p>
        </p:txBody>
      </p:sp>
      <p:sp>
        <p:nvSpPr>
          <p:cNvPr id="29" name="Shape 27"/>
          <p:cNvSpPr/>
          <p:nvPr/>
        </p:nvSpPr>
        <p:spPr>
          <a:xfrm>
            <a:off x="0" y="5842000"/>
            <a:ext cx="12192000" cy="1016000"/>
          </a:xfrm>
          <a:prstGeom prst="rect">
            <a:avLst/>
          </a:prstGeom>
          <a:solidFill>
            <a:srgbClr val="F5F9FB"/>
          </a:solidFill>
          <a:ln/>
        </p:spPr>
      </p:sp>
      <p:pic>
        <p:nvPicPr>
          <p:cNvPr id="30"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31"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32" name="Text 28"/>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Partner-of-Record</a:t>
            </a:r>
            <a:endParaRPr lang="en-US" sz="1200" dirty="0"/>
          </a:p>
        </p:txBody>
      </p:sp>
      <p:sp>
        <p:nvSpPr>
          <p:cNvPr id="33" name="Text 29"/>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Commission follows the entity legally eligible in the country, where it can lawfully transact, not where it found the opportunity.</a:t>
            </a:r>
            <a:endParaRPr lang="en-US" sz="1100" dirty="0"/>
          </a:p>
        </p:txBody>
      </p:sp>
      <p:sp>
        <p:nvSpPr>
          <p:cNvPr id="34" name="Text 30"/>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13 · DEAL REGISTRATION &amp; SALES COLLABORATION</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Register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early</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Stay protected.</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8890000" y="1244600"/>
            <a:ext cx="6350" cy="4597400"/>
          </a:xfrm>
          <a:prstGeom prst="rect">
            <a:avLst/>
          </a:prstGeom>
          <a:solidFill>
            <a:srgbClr val="CDD0D9"/>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04800" y="1409700"/>
          <a:ext cx="8293100" cy="914400"/>
        </p:xfrm>
        <a:graphic>
          <a:graphicData uri="http://schemas.openxmlformats.org/drawingml/2006/table">
            <a:tbl>
              <a:tblPr/>
              <a:tblGrid>
                <a:gridCol w="1524000"/>
                <a:gridCol w="3048000"/>
                <a:gridCol w="3721100"/>
              </a:tblGrid>
              <a:tr h="5588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Role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Definition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Evidence required</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5588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Partner-Sourced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Partner originated and actively drives the opportunity</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Introduction, discovery, opportunity plan, decision process, active until close</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588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Partner-Driven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DignifyX generated the lead; partner leads the sales motion</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Opportunity plan, customer meetings, proposal / demo / pilot, active execution</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5588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Partner-Assisted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Material contribution without owning the full cycle</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Workshop, domain advisory, executive intro, reference, architecture input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588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Referral</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Introduces a qualified prospect and hands off</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Confirmed introduction and qualified meeting</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bl>
          </a:graphicData>
        </a:graphic>
      </p:graphicFrame>
      <p:sp>
        <p:nvSpPr>
          <p:cNvPr id="8" name="Shape 5"/>
          <p:cNvSpPr/>
          <p:nvPr/>
        </p:nvSpPr>
        <p:spPr>
          <a:xfrm>
            <a:off x="0" y="4445000"/>
            <a:ext cx="8890000" cy="1397000"/>
          </a:xfrm>
          <a:prstGeom prst="rect">
            <a:avLst/>
          </a:prstGeom>
          <a:solidFill>
            <a:srgbClr val="EDF1FF"/>
          </a:solidFill>
          <a:ln/>
        </p:spPr>
      </p:sp>
      <p:sp>
        <p:nvSpPr>
          <p:cNvPr id="9" name="Shape 6"/>
          <p:cNvSpPr/>
          <p:nvPr/>
        </p:nvSpPr>
        <p:spPr>
          <a:xfrm>
            <a:off x="0" y="4445000"/>
            <a:ext cx="8890000" cy="6350"/>
          </a:xfrm>
          <a:prstGeom prst="rect">
            <a:avLst/>
          </a:prstGeom>
          <a:solidFill>
            <a:srgbClr val="CDD0D9"/>
          </a:solidFill>
          <a:ln/>
        </p:spPr>
      </p:sp>
      <p:sp>
        <p:nvSpPr>
          <p:cNvPr id="10" name="Text 7"/>
          <p:cNvSpPr txBox="1"/>
          <p:nvPr/>
        </p:nvSpPr>
        <p:spPr>
          <a:xfrm>
            <a:off x="304800" y="4597400"/>
            <a:ext cx="3810000" cy="228600"/>
          </a:xfrm>
          <a:prstGeom prst="rect">
            <a:avLst/>
          </a:prstGeom>
          <a:noFill/>
          <a:ln/>
        </p:spPr>
        <p:txBody>
          <a:bodyPr wrap="square" lIns="0" tIns="0" rIns="0" bIns="0" rtlCol="0" anchor="t"/>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Registration fields</a:t>
            </a:r>
            <a:endParaRPr lang="en-US" sz="1200" dirty="0"/>
          </a:p>
        </p:txBody>
      </p:sp>
      <p:sp>
        <p:nvSpPr>
          <p:cNvPr id="11" name="Text 8"/>
          <p:cNvSpPr txBox="1"/>
          <p:nvPr/>
        </p:nvSpPr>
        <p:spPr>
          <a:xfrm>
            <a:off x="304800" y="4876800"/>
            <a:ext cx="8293100" cy="825500"/>
          </a:xfrm>
          <a:prstGeom prst="rect">
            <a:avLst/>
          </a:prstGeom>
          <a:noFill/>
          <a:ln/>
        </p:spPr>
        <p:txBody>
          <a:bodyPr wrap="square" lIns="0" tIns="0" rIns="0" bIns="0" rtlCol="0" anchor="t"/>
          <a:lstStyle/>
          <a:p>
            <a:pPr algn="l" indent="0" marL="0">
              <a:lnSpc>
                <a:spcPct val="125000"/>
              </a:lnSpc>
              <a:buNone/>
            </a:pPr>
            <a:r>
              <a:rPr lang="en-US" sz="1000" dirty="0">
                <a:solidFill>
                  <a:srgbClr val="13151C"/>
                </a:solidFill>
                <a:latin typeface="Plus Jakarta Sans" pitchFamily="34" charset="0"/>
                <a:ea typeface="Plus Jakarta Sans" pitchFamily="34" charset="-122"/>
                <a:cs typeface="Plus Jakarta Sans" pitchFamily="34" charset="-120"/>
              </a:rPr>
              <a:t>Customer legal name · Business unit · Use case · Customer pain / initiative · Estimated ARR · Stakeholders · Decision timeline · Partner contribution · Next step (confirmed meeting, workshop, RFP, proposal or executive discussion).</a:t>
            </a:r>
            <a:endParaRPr lang="en-US" sz="1000" dirty="0"/>
          </a:p>
        </p:txBody>
      </p:sp>
      <p:sp>
        <p:nvSpPr>
          <p:cNvPr id="12" name="Shape 9"/>
          <p:cNvSpPr/>
          <p:nvPr/>
        </p:nvSpPr>
        <p:spPr>
          <a:xfrm>
            <a:off x="8896350" y="1250950"/>
            <a:ext cx="3295650" cy="4591050"/>
          </a:xfrm>
          <a:prstGeom prst="rect">
            <a:avLst/>
          </a:prstGeom>
          <a:solidFill>
            <a:srgbClr val="F5F9FB"/>
          </a:solidFill>
          <a:ln/>
        </p:spPr>
      </p:sp>
      <p:sp>
        <p:nvSpPr>
          <p:cNvPr id="13" name="Text 10"/>
          <p:cNvSpPr txBox="1"/>
          <p:nvPr/>
        </p:nvSpPr>
        <p:spPr>
          <a:xfrm>
            <a:off x="9201150" y="1479550"/>
            <a:ext cx="2794000" cy="571500"/>
          </a:xfrm>
          <a:prstGeom prst="rect">
            <a:avLst/>
          </a:prstGeom>
          <a:noFill/>
          <a:ln/>
        </p:spPr>
        <p:txBody>
          <a:bodyPr wrap="square" lIns="0" tIns="0" rIns="0" bIns="0" rtlCol="0" anchor="b"/>
          <a:lstStyle/>
          <a:p>
            <a:pPr algn="l" indent="0" marL="0">
              <a:lnSpc>
                <a:spcPct val="112000"/>
              </a:lnSpc>
              <a:buNone/>
            </a:pPr>
            <a:r>
              <a:rPr lang="en-US" sz="3600" b="1" dirty="0">
                <a:solidFill>
                  <a:srgbClr val="13151C"/>
                </a:solidFill>
                <a:latin typeface="Plus Jakarta Sans" pitchFamily="34" charset="0"/>
                <a:ea typeface="Plus Jakarta Sans" pitchFamily="34" charset="-122"/>
                <a:cs typeface="Plus Jakarta Sans" pitchFamily="34" charset="-120"/>
              </a:rPr>
              <a:t>90</a:t>
            </a:r>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 days</a:t>
            </a:r>
            <a:endParaRPr lang="en-US" sz="3600" dirty="0"/>
          </a:p>
        </p:txBody>
      </p:sp>
      <p:sp>
        <p:nvSpPr>
          <p:cNvPr id="14" name="Text 11"/>
          <p:cNvSpPr txBox="1"/>
          <p:nvPr/>
        </p:nvSpPr>
        <p:spPr>
          <a:xfrm>
            <a:off x="9201150" y="2139950"/>
            <a:ext cx="2667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Accepted registered lead</a:t>
            </a:r>
            <a:endParaRPr lang="en-US" sz="1000" dirty="0"/>
          </a:p>
        </p:txBody>
      </p:sp>
      <p:sp>
        <p:nvSpPr>
          <p:cNvPr id="15" name="Shape 12"/>
          <p:cNvSpPr/>
          <p:nvPr/>
        </p:nvSpPr>
        <p:spPr>
          <a:xfrm>
            <a:off x="8896350" y="2781300"/>
            <a:ext cx="3295650" cy="6350"/>
          </a:xfrm>
          <a:prstGeom prst="rect">
            <a:avLst/>
          </a:prstGeom>
          <a:solidFill>
            <a:srgbClr val="CDD0D9"/>
          </a:solidFill>
          <a:ln/>
        </p:spPr>
      </p:sp>
      <p:sp>
        <p:nvSpPr>
          <p:cNvPr id="16" name="Text 13"/>
          <p:cNvSpPr txBox="1"/>
          <p:nvPr/>
        </p:nvSpPr>
        <p:spPr>
          <a:xfrm>
            <a:off x="9201150" y="3009900"/>
            <a:ext cx="2794000" cy="571500"/>
          </a:xfrm>
          <a:prstGeom prst="rect">
            <a:avLst/>
          </a:prstGeom>
          <a:noFill/>
          <a:ln/>
        </p:spPr>
        <p:txBody>
          <a:bodyPr wrap="square" lIns="0" tIns="0" rIns="0" bIns="0" rtlCol="0" anchor="b"/>
          <a:lstStyle/>
          <a:p>
            <a:pPr algn="l" indent="0" marL="0">
              <a:lnSpc>
                <a:spcPct val="112000"/>
              </a:lnSpc>
              <a:buNone/>
            </a:pPr>
            <a:r>
              <a:rPr lang="en-US" sz="3600" b="1" dirty="0">
                <a:solidFill>
                  <a:srgbClr val="13151C"/>
                </a:solidFill>
                <a:latin typeface="Plus Jakarta Sans" pitchFamily="34" charset="0"/>
                <a:ea typeface="Plus Jakarta Sans" pitchFamily="34" charset="-122"/>
                <a:cs typeface="Plus Jakarta Sans" pitchFamily="34" charset="-120"/>
              </a:rPr>
              <a:t>+180</a:t>
            </a:r>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 days</a:t>
            </a:r>
            <a:endParaRPr lang="en-US" sz="3600" dirty="0"/>
          </a:p>
        </p:txBody>
      </p:sp>
      <p:sp>
        <p:nvSpPr>
          <p:cNvPr id="17" name="Text 14"/>
          <p:cNvSpPr txBox="1"/>
          <p:nvPr/>
        </p:nvSpPr>
        <p:spPr>
          <a:xfrm>
            <a:off x="9201150" y="3670300"/>
            <a:ext cx="2667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Converted opportunity with approved action plan</a:t>
            </a:r>
            <a:endParaRPr lang="en-US" sz="1000" dirty="0"/>
          </a:p>
        </p:txBody>
      </p:sp>
      <p:sp>
        <p:nvSpPr>
          <p:cNvPr id="18" name="Shape 15"/>
          <p:cNvSpPr/>
          <p:nvPr/>
        </p:nvSpPr>
        <p:spPr>
          <a:xfrm>
            <a:off x="8896350" y="4311650"/>
            <a:ext cx="3295650" cy="6350"/>
          </a:xfrm>
          <a:prstGeom prst="rect">
            <a:avLst/>
          </a:prstGeom>
          <a:solidFill>
            <a:srgbClr val="CDD0D9"/>
          </a:solidFill>
          <a:ln/>
        </p:spPr>
      </p:sp>
      <p:sp>
        <p:nvSpPr>
          <p:cNvPr id="19" name="Text 16"/>
          <p:cNvSpPr txBox="1"/>
          <p:nvPr/>
        </p:nvSpPr>
        <p:spPr>
          <a:xfrm>
            <a:off x="9201150" y="4540250"/>
            <a:ext cx="2794000" cy="571500"/>
          </a:xfrm>
          <a:prstGeom prst="rect">
            <a:avLst/>
          </a:prstGeom>
          <a:noFill/>
          <a:ln/>
        </p:spPr>
        <p:txBody>
          <a:bodyPr wrap="square" lIns="0" tIns="0" rIns="0" bIns="0" rtlCol="0" anchor="b"/>
          <a:lstStyle/>
          <a:p>
            <a:pPr algn="l" indent="0" marL="0">
              <a:lnSpc>
                <a:spcPct val="112000"/>
              </a:lnSpc>
              <a:buNone/>
            </a:pPr>
            <a:r>
              <a:rPr lang="en-US" sz="3600" b="1" dirty="0">
                <a:solidFill>
                  <a:srgbClr val="13151C"/>
                </a:solidFill>
                <a:latin typeface="Plus Jakarta Sans" pitchFamily="34" charset="0"/>
                <a:ea typeface="Plus Jakarta Sans" pitchFamily="34" charset="-122"/>
                <a:cs typeface="Plus Jakarta Sans" pitchFamily="34" charset="-120"/>
              </a:rPr>
              <a:t>Until</a:t>
            </a:r>
            <a:pPr algn="l" indent="0" marL="0">
              <a:lnSpc>
                <a:spcPct val="112000"/>
              </a:lnSpc>
              <a:buNone/>
            </a:pPr>
            <a:r>
              <a:rPr lang="en-US" sz="1600" b="1" dirty="0">
                <a:solidFill>
                  <a:srgbClr val="194EFF"/>
                </a:solidFill>
                <a:latin typeface="Plus Jakarta Sans" pitchFamily="34" charset="0"/>
                <a:ea typeface="Plus Jakarta Sans" pitchFamily="34" charset="-122"/>
                <a:cs typeface="Plus Jakarta Sans" pitchFamily="34" charset="-120"/>
              </a:rPr>
              <a:t> decision</a:t>
            </a:r>
            <a:endParaRPr lang="en-US" sz="3600" dirty="0"/>
          </a:p>
        </p:txBody>
      </p:sp>
      <p:sp>
        <p:nvSpPr>
          <p:cNvPr id="20" name="Text 17"/>
          <p:cNvSpPr txBox="1"/>
          <p:nvPr/>
        </p:nvSpPr>
        <p:spPr>
          <a:xfrm>
            <a:off x="9201150" y="5200650"/>
            <a:ext cx="2667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Active RFP / tender, subject to tender rules</a:t>
            </a:r>
            <a:endParaRPr lang="en-US" sz="1000" dirty="0"/>
          </a:p>
        </p:txBody>
      </p:sp>
      <p:sp>
        <p:nvSpPr>
          <p:cNvPr id="21" name="Shape 18"/>
          <p:cNvSpPr/>
          <p:nvPr/>
        </p:nvSpPr>
        <p:spPr>
          <a:xfrm>
            <a:off x="0" y="5842000"/>
            <a:ext cx="12192000" cy="1016000"/>
          </a:xfrm>
          <a:prstGeom prst="rect">
            <a:avLst/>
          </a:prstGeom>
          <a:solidFill>
            <a:srgbClr val="F5F9FB"/>
          </a:solidFill>
          <a:ln/>
        </p:spPr>
      </p:sp>
      <p:pic>
        <p:nvPicPr>
          <p:cNvPr id="22"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23"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24" name="Text 19"/>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Approved Messaging</a:t>
            </a:r>
            <a:endParaRPr lang="en-US" sz="1200" dirty="0"/>
          </a:p>
        </p:txBody>
      </p:sp>
      <p:sp>
        <p:nvSpPr>
          <p:cNvPr id="25" name="Text 20"/>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000" dirty="0">
                <a:solidFill>
                  <a:srgbClr val="13151C"/>
                </a:solidFill>
                <a:latin typeface="Plus Jakarta Sans Medium" pitchFamily="34" charset="0"/>
                <a:ea typeface="Plus Jakarta Sans Medium" pitchFamily="34" charset="-122"/>
                <a:cs typeface="Plus Jakarta Sans Medium" pitchFamily="34" charset="-120"/>
              </a:rPr>
              <a:t>Use DignifyX-approved messaging, positioning, pricing and materials. No unapproved commitments on roadmap, data residency, SLA, discounts or references.</a:t>
            </a:r>
            <a:endParaRPr lang="en-US" sz="1000" dirty="0"/>
          </a:p>
        </p:txBody>
      </p:sp>
      <p:sp>
        <p:nvSpPr>
          <p:cNvPr id="26" name="Text 21"/>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14–15 · RFP, TENDER, RENEWAL &amp; ASSIGNMENT RULES</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Compete fairly. Keep customers.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Keep earning.</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6096000" y="1244600"/>
            <a:ext cx="6350" cy="4597400"/>
          </a:xfrm>
          <a:prstGeom prst="rect">
            <a:avLst/>
          </a:prstGeom>
          <a:solidFill>
            <a:srgbClr val="CDD0D9"/>
          </a:solidFill>
          <a:ln/>
        </p:spPr>
      </p:sp>
      <p:sp>
        <p:nvSpPr>
          <p:cNvPr id="7" name="Text 5"/>
          <p:cNvSpPr txBox="1"/>
          <p:nvPr/>
        </p:nvSpPr>
        <p:spPr>
          <a:xfrm>
            <a:off x="304800" y="1409700"/>
            <a:ext cx="5461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RFP AND TENDER</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04800" y="1663700"/>
          <a:ext cx="5486400" cy="914400"/>
        </p:xfrm>
        <a:graphic>
          <a:graphicData uri="http://schemas.openxmlformats.org/drawingml/2006/table">
            <a:tbl>
              <a:tblPr/>
              <a:tblGrid>
                <a:gridCol w="1905000"/>
                <a:gridCol w="3581400"/>
              </a:tblGrid>
              <a:tr h="6604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Situation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Rule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6604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Registered before RFP</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Keeps priority for role, credit and commission where permitted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6604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Multiple partners, open tender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Same approved base price, discount envelope and messaging</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6604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Winning partner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Only the winner earns, unless a referral / influence role was approved in writing pre-bid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6604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Open tender, no registration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DignifyX may approve a fixed participation fee or driven rate; no automatic commission</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6604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Discount cap</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No partner may exceed it; exceptions need DignifyX approval</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6400800" y="1409700"/>
            <a:ext cx="5461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RENEWAL AND ASSIGNMENT</a:t>
            </a:r>
            <a:endParaRPr lang="en-US" sz="85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400800" y="1663700"/>
          <a:ext cx="5486400" cy="914400"/>
        </p:xfrm>
        <a:graphic>
          <a:graphicData uri="http://schemas.openxmlformats.org/drawingml/2006/table">
            <a:tbl>
              <a:tblPr/>
              <a:tblGrid>
                <a:gridCol w="1905000"/>
                <a:gridCol w="3581400"/>
              </a:tblGrid>
              <a:tr h="6604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Area</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Rule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6604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Renewal eligibility</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Remain assigned, support customer success, no unresolved partner-caused escalation</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6604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Post-expiry renewal</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Based on level at the renewal event; Y2 / Y3 follow New ARR treatment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6604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Customer reassignment</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A written customer request may override; prior partner loses future credit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6604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New assigned partner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Eligible only if assigned ≥180 days before renewal, unless approved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6604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Missed renewal</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DignifyX may engage directly, reassign and deny renewal commission</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bl>
          </a:graphicData>
        </a:graphic>
      </p:graphicFrame>
      <p:sp>
        <p:nvSpPr>
          <p:cNvPr id="11" name="Shape 7"/>
          <p:cNvSpPr/>
          <p:nvPr/>
        </p:nvSpPr>
        <p:spPr>
          <a:xfrm>
            <a:off x="0" y="5842000"/>
            <a:ext cx="12192000" cy="1016000"/>
          </a:xfrm>
          <a:prstGeom prst="rect">
            <a:avLst/>
          </a:prstGeom>
          <a:solidFill>
            <a:srgbClr val="F5F9FB"/>
          </a:solidFill>
          <a:ln/>
        </p:spPr>
      </p:sp>
      <p:pic>
        <p:nvPicPr>
          <p:cNvPr id="12"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13"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14" name="Text 8"/>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One Position</a:t>
            </a:r>
            <a:endParaRPr lang="en-US" sz="1200" dirty="0"/>
          </a:p>
        </p:txBody>
      </p:sp>
      <p:sp>
        <p:nvSpPr>
          <p:cNvPr id="15" name="Text 9"/>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One opportunity, one approved DignifyX price, message and commercial position.</a:t>
            </a:r>
            <a:endParaRPr lang="en-US" sz="1100" dirty="0"/>
          </a:p>
        </p:txBody>
      </p:sp>
      <p:sp>
        <p:nvSpPr>
          <p:cNvPr id="16" name="Text 10"/>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16 · CO-MARKETING &amp; PROMOTION FUNDS</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Market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together</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4826000" y="1244600"/>
            <a:ext cx="6350" cy="4597400"/>
          </a:xfrm>
          <a:prstGeom prst="rect">
            <a:avLst/>
          </a:prstGeom>
          <a:solidFill>
            <a:srgbClr val="CDD0D9"/>
          </a:solidFill>
          <a:ln/>
        </p:spPr>
      </p:sp>
      <p:sp>
        <p:nvSpPr>
          <p:cNvPr id="7" name="Text 5"/>
          <p:cNvSpPr txBox="1"/>
          <p:nvPr/>
        </p:nvSpPr>
        <p:spPr>
          <a:xfrm>
            <a:off x="304800" y="1409700"/>
            <a:ext cx="4318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ANNUAL FUNDS BY LEVEL</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04800" y="1663700"/>
          <a:ext cx="4216400" cy="914400"/>
        </p:xfrm>
        <a:graphic>
          <a:graphicData uri="http://schemas.openxmlformats.org/drawingml/2006/table">
            <a:tbl>
              <a:tblPr/>
              <a:tblGrid>
                <a:gridCol w="1397000"/>
                <a:gridCol w="1549400"/>
                <a:gridCol w="1270000"/>
              </a:tblGrid>
              <a:tr h="4191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Level</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Co-marketing</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Promotion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4191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Registered</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Not eligible</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191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Silver</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Up to $2,500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$1,000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191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Gold</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Up to $7,500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$3,000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191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Platinum</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Up to $15,000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$7,500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191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Elite</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Up to $30,000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$15,000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304800" y="4381500"/>
            <a:ext cx="4216400" cy="1270000"/>
          </a:xfrm>
          <a:prstGeom prst="rect">
            <a:avLst/>
          </a:prstGeom>
          <a:noFill/>
          <a:ln/>
        </p:spPr>
        <p:txBody>
          <a:bodyPr wrap="square" lIns="0" tIns="0" rIns="0" bIns="0" rtlCol="0" anchor="t"/>
          <a:lstStyle/>
          <a:p>
            <a:pPr algn="l" indent="0" marL="0">
              <a:lnSpc>
                <a:spcPct val="125000"/>
              </a:lnSpc>
              <a:buNone/>
            </a:pPr>
            <a:r>
              <a:rPr lang="en-US" sz="900" dirty="0">
                <a:solidFill>
                  <a:srgbClr val="5A5C63"/>
                </a:solidFill>
                <a:latin typeface="Plus Jakarta Sans" pitchFamily="34" charset="0"/>
                <a:ea typeface="Plus Jakarta Sans" pitchFamily="34" charset="-122"/>
                <a:cs typeface="Plus Jakarta Sans" pitchFamily="34" charset="-120"/>
              </a:rPr>
              <a:t>Only approved direct campaign expenses qualify; no advance reimbursement without a written exception. Reimbursement follows an approved plan, proof of spend and pipeline review.</a:t>
            </a:r>
            <a:endParaRPr lang="en-US" sz="900" dirty="0"/>
          </a:p>
        </p:txBody>
      </p:sp>
      <p:sp>
        <p:nvSpPr>
          <p:cNvPr id="10" name="Shape 7"/>
          <p:cNvSpPr/>
          <p:nvPr/>
        </p:nvSpPr>
        <p:spPr>
          <a:xfrm>
            <a:off x="4832350" y="1250950"/>
            <a:ext cx="1835150" cy="1898650"/>
          </a:xfrm>
          <a:prstGeom prst="rect">
            <a:avLst/>
          </a:prstGeom>
          <a:solidFill>
            <a:srgbClr val="F7FBFD"/>
          </a:solidFill>
          <a:ln/>
        </p:spPr>
      </p:sp>
      <p:sp>
        <p:nvSpPr>
          <p:cNvPr id="11" name="Text 8"/>
          <p:cNvSpPr txBox="1"/>
          <p:nvPr/>
        </p:nvSpPr>
        <p:spPr>
          <a:xfrm>
            <a:off x="5035550" y="1435100"/>
            <a:ext cx="1270000" cy="1397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UP TO</a:t>
            </a:r>
            <a:endParaRPr lang="en-US" sz="750" dirty="0"/>
          </a:p>
        </p:txBody>
      </p:sp>
      <p:sp>
        <p:nvSpPr>
          <p:cNvPr id="12" name="Text 9"/>
          <p:cNvSpPr txBox="1"/>
          <p:nvPr/>
        </p:nvSpPr>
        <p:spPr>
          <a:xfrm>
            <a:off x="5035550" y="1587500"/>
            <a:ext cx="1524000" cy="635000"/>
          </a:xfrm>
          <a:prstGeom prst="rect">
            <a:avLst/>
          </a:prstGeom>
          <a:noFill/>
          <a:ln/>
        </p:spPr>
        <p:txBody>
          <a:bodyPr wrap="square" lIns="0" tIns="0" rIns="0" bIns="0" rtlCol="0" anchor="b"/>
          <a:lstStyle/>
          <a:p>
            <a:pPr algn="l" indent="0" marL="0">
              <a:lnSpc>
                <a:spcPct val="112000"/>
              </a:lnSpc>
              <a:buNone/>
            </a:pPr>
            <a:r>
              <a:rPr lang="en-US" sz="4000" b="1" dirty="0">
                <a:solidFill>
                  <a:srgbClr val="13151C"/>
                </a:solidFill>
                <a:latin typeface="Plus Jakarta Sans" pitchFamily="34" charset="0"/>
                <a:ea typeface="Plus Jakarta Sans" pitchFamily="34" charset="-122"/>
                <a:cs typeface="Plus Jakarta Sans" pitchFamily="34" charset="-120"/>
              </a:rPr>
              <a:t>50</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000" dirty="0"/>
          </a:p>
        </p:txBody>
      </p:sp>
      <p:sp>
        <p:nvSpPr>
          <p:cNvPr id="13" name="Text 10"/>
          <p:cNvSpPr txBox="1"/>
          <p:nvPr/>
        </p:nvSpPr>
        <p:spPr>
          <a:xfrm>
            <a:off x="5035550" y="2336800"/>
            <a:ext cx="1460500" cy="6350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Approved lead-gen campaign</a:t>
            </a:r>
            <a:endParaRPr lang="en-US" sz="950" dirty="0"/>
          </a:p>
        </p:txBody>
      </p:sp>
      <p:sp>
        <p:nvSpPr>
          <p:cNvPr id="14" name="Shape 11"/>
          <p:cNvSpPr/>
          <p:nvPr/>
        </p:nvSpPr>
        <p:spPr>
          <a:xfrm>
            <a:off x="6673850" y="1244600"/>
            <a:ext cx="6350" cy="1905000"/>
          </a:xfrm>
          <a:prstGeom prst="rect">
            <a:avLst/>
          </a:prstGeom>
          <a:solidFill>
            <a:srgbClr val="CDD0D9"/>
          </a:solidFill>
          <a:ln/>
        </p:spPr>
      </p:sp>
      <p:sp>
        <p:nvSpPr>
          <p:cNvPr id="15" name="Text 12"/>
          <p:cNvSpPr txBox="1"/>
          <p:nvPr/>
        </p:nvSpPr>
        <p:spPr>
          <a:xfrm>
            <a:off x="6877050" y="1435100"/>
            <a:ext cx="1270000" cy="1397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UP TO</a:t>
            </a:r>
            <a:endParaRPr lang="en-US" sz="750" dirty="0"/>
          </a:p>
        </p:txBody>
      </p:sp>
      <p:sp>
        <p:nvSpPr>
          <p:cNvPr id="16" name="Text 13"/>
          <p:cNvSpPr txBox="1"/>
          <p:nvPr/>
        </p:nvSpPr>
        <p:spPr>
          <a:xfrm>
            <a:off x="6877050" y="1587500"/>
            <a:ext cx="1524000" cy="635000"/>
          </a:xfrm>
          <a:prstGeom prst="rect">
            <a:avLst/>
          </a:prstGeom>
          <a:noFill/>
          <a:ln/>
        </p:spPr>
        <p:txBody>
          <a:bodyPr wrap="square" lIns="0" tIns="0" rIns="0" bIns="0" rtlCol="0" anchor="b"/>
          <a:lstStyle/>
          <a:p>
            <a:pPr algn="l" indent="0" marL="0">
              <a:lnSpc>
                <a:spcPct val="112000"/>
              </a:lnSpc>
              <a:buNone/>
            </a:pPr>
            <a:r>
              <a:rPr lang="en-US" sz="4000" b="1" dirty="0">
                <a:solidFill>
                  <a:srgbClr val="13151C"/>
                </a:solidFill>
                <a:latin typeface="Plus Jakarta Sans" pitchFamily="34" charset="0"/>
                <a:ea typeface="Plus Jakarta Sans" pitchFamily="34" charset="-122"/>
                <a:cs typeface="Plus Jakarta Sans" pitchFamily="34" charset="-120"/>
              </a:rPr>
              <a:t>50</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000" dirty="0"/>
          </a:p>
        </p:txBody>
      </p:sp>
      <p:sp>
        <p:nvSpPr>
          <p:cNvPr id="17" name="Text 14"/>
          <p:cNvSpPr txBox="1"/>
          <p:nvPr/>
        </p:nvSpPr>
        <p:spPr>
          <a:xfrm>
            <a:off x="6877050" y="2336800"/>
            <a:ext cx="1460500" cy="6350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Strategic executive event</a:t>
            </a:r>
            <a:endParaRPr lang="en-US" sz="950" dirty="0"/>
          </a:p>
        </p:txBody>
      </p:sp>
      <p:sp>
        <p:nvSpPr>
          <p:cNvPr id="18" name="Shape 15"/>
          <p:cNvSpPr/>
          <p:nvPr/>
        </p:nvSpPr>
        <p:spPr>
          <a:xfrm>
            <a:off x="8515350" y="1244600"/>
            <a:ext cx="6350" cy="1905000"/>
          </a:xfrm>
          <a:prstGeom prst="rect">
            <a:avLst/>
          </a:prstGeom>
          <a:solidFill>
            <a:srgbClr val="CDD0D9"/>
          </a:solidFill>
          <a:ln/>
        </p:spPr>
      </p:sp>
      <p:sp>
        <p:nvSpPr>
          <p:cNvPr id="19" name="Shape 16"/>
          <p:cNvSpPr/>
          <p:nvPr/>
        </p:nvSpPr>
        <p:spPr>
          <a:xfrm>
            <a:off x="8515350" y="1250950"/>
            <a:ext cx="1835150" cy="1898650"/>
          </a:xfrm>
          <a:prstGeom prst="rect">
            <a:avLst/>
          </a:prstGeom>
          <a:solidFill>
            <a:srgbClr val="F7FBFD"/>
          </a:solidFill>
          <a:ln/>
        </p:spPr>
      </p:sp>
      <p:sp>
        <p:nvSpPr>
          <p:cNvPr id="20" name="Text 17"/>
          <p:cNvSpPr txBox="1"/>
          <p:nvPr/>
        </p:nvSpPr>
        <p:spPr>
          <a:xfrm>
            <a:off x="8718550" y="1435100"/>
            <a:ext cx="1270000" cy="1397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UP TO</a:t>
            </a:r>
            <a:endParaRPr lang="en-US" sz="750" dirty="0"/>
          </a:p>
        </p:txBody>
      </p:sp>
      <p:sp>
        <p:nvSpPr>
          <p:cNvPr id="21" name="Text 18"/>
          <p:cNvSpPr txBox="1"/>
          <p:nvPr/>
        </p:nvSpPr>
        <p:spPr>
          <a:xfrm>
            <a:off x="8718550" y="1587500"/>
            <a:ext cx="1524000" cy="635000"/>
          </a:xfrm>
          <a:prstGeom prst="rect">
            <a:avLst/>
          </a:prstGeom>
          <a:noFill/>
          <a:ln/>
        </p:spPr>
        <p:txBody>
          <a:bodyPr wrap="square" lIns="0" tIns="0" rIns="0" bIns="0" rtlCol="0" anchor="b"/>
          <a:lstStyle/>
          <a:p>
            <a:pPr algn="l" indent="0" marL="0">
              <a:lnSpc>
                <a:spcPct val="112000"/>
              </a:lnSpc>
              <a:buNone/>
            </a:pPr>
            <a:r>
              <a:rPr lang="en-US" sz="4000" b="1" dirty="0">
                <a:solidFill>
                  <a:srgbClr val="13151C"/>
                </a:solidFill>
                <a:latin typeface="Plus Jakarta Sans" pitchFamily="34" charset="0"/>
                <a:ea typeface="Plus Jakarta Sans" pitchFamily="34" charset="-122"/>
                <a:cs typeface="Plus Jakarta Sans" pitchFamily="34" charset="-120"/>
              </a:rPr>
              <a:t>25</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000" dirty="0"/>
          </a:p>
        </p:txBody>
      </p:sp>
      <p:sp>
        <p:nvSpPr>
          <p:cNvPr id="22" name="Text 19"/>
          <p:cNvSpPr txBox="1"/>
          <p:nvPr/>
        </p:nvSpPr>
        <p:spPr>
          <a:xfrm>
            <a:off x="8718550" y="2336800"/>
            <a:ext cx="1460500" cy="6350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Partner-owned campaign</a:t>
            </a:r>
            <a:endParaRPr lang="en-US" sz="950" dirty="0"/>
          </a:p>
        </p:txBody>
      </p:sp>
      <p:sp>
        <p:nvSpPr>
          <p:cNvPr id="23" name="Shape 20"/>
          <p:cNvSpPr/>
          <p:nvPr/>
        </p:nvSpPr>
        <p:spPr>
          <a:xfrm>
            <a:off x="10356850" y="1244600"/>
            <a:ext cx="6350" cy="1905000"/>
          </a:xfrm>
          <a:prstGeom prst="rect">
            <a:avLst/>
          </a:prstGeom>
          <a:solidFill>
            <a:srgbClr val="CDD0D9"/>
          </a:solidFill>
          <a:ln/>
        </p:spPr>
      </p:sp>
      <p:sp>
        <p:nvSpPr>
          <p:cNvPr id="24" name="Shape 21"/>
          <p:cNvSpPr/>
          <p:nvPr/>
        </p:nvSpPr>
        <p:spPr>
          <a:xfrm>
            <a:off x="10356850" y="1250950"/>
            <a:ext cx="1835150" cy="1898650"/>
          </a:xfrm>
          <a:prstGeom prst="rect">
            <a:avLst/>
          </a:prstGeom>
          <a:solidFill>
            <a:srgbClr val="EDF1FF"/>
          </a:solidFill>
          <a:ln/>
        </p:spPr>
      </p:sp>
      <p:sp>
        <p:nvSpPr>
          <p:cNvPr id="25" name="Text 22"/>
          <p:cNvSpPr txBox="1"/>
          <p:nvPr/>
        </p:nvSpPr>
        <p:spPr>
          <a:xfrm>
            <a:off x="10560050" y="1435100"/>
            <a:ext cx="1270000" cy="139700"/>
          </a:xfrm>
          <a:prstGeom prst="rect">
            <a:avLst/>
          </a:prstGeom>
          <a:noFill/>
          <a:ln/>
        </p:spPr>
        <p:txBody>
          <a:bodyPr wrap="square" lIns="0" tIns="0" rIns="0" bIns="0" rtlCol="0" anchor="t"/>
          <a:lstStyle/>
          <a:p>
            <a:pPr algn="l" indent="0" marL="0">
              <a:lnSpc>
                <a:spcPct val="112000"/>
              </a:lnSpc>
              <a:buNone/>
            </a:pPr>
            <a:r>
              <a:rPr lang="en-US" sz="750" b="1" spc="150" kern="0" dirty="0">
                <a:solidFill>
                  <a:srgbClr val="194EFF"/>
                </a:solidFill>
                <a:latin typeface="Plus Jakarta Sans" pitchFamily="34" charset="0"/>
                <a:ea typeface="Plus Jakarta Sans" pitchFamily="34" charset="-122"/>
                <a:cs typeface="Plus Jakarta Sans" pitchFamily="34" charset="-120"/>
              </a:rPr>
              <a:t>UP TO</a:t>
            </a:r>
            <a:endParaRPr lang="en-US" sz="750" dirty="0"/>
          </a:p>
        </p:txBody>
      </p:sp>
      <p:sp>
        <p:nvSpPr>
          <p:cNvPr id="26" name="Text 23"/>
          <p:cNvSpPr txBox="1"/>
          <p:nvPr/>
        </p:nvSpPr>
        <p:spPr>
          <a:xfrm>
            <a:off x="10560050" y="1587500"/>
            <a:ext cx="1524000" cy="635000"/>
          </a:xfrm>
          <a:prstGeom prst="rect">
            <a:avLst/>
          </a:prstGeom>
          <a:noFill/>
          <a:ln/>
        </p:spPr>
        <p:txBody>
          <a:bodyPr wrap="square" lIns="0" tIns="0" rIns="0" bIns="0" rtlCol="0" anchor="b"/>
          <a:lstStyle/>
          <a:p>
            <a:pPr algn="l" indent="0" marL="0">
              <a:lnSpc>
                <a:spcPct val="112000"/>
              </a:lnSpc>
              <a:buNone/>
            </a:pPr>
            <a:r>
              <a:rPr lang="en-US" sz="4000" b="1" dirty="0">
                <a:solidFill>
                  <a:srgbClr val="13151C"/>
                </a:solidFill>
                <a:latin typeface="Plus Jakarta Sans" pitchFamily="34" charset="0"/>
                <a:ea typeface="Plus Jakarta Sans" pitchFamily="34" charset="-122"/>
                <a:cs typeface="Plus Jakarta Sans" pitchFamily="34" charset="-120"/>
              </a:rPr>
              <a:t>75</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000" dirty="0"/>
          </a:p>
        </p:txBody>
      </p:sp>
      <p:sp>
        <p:nvSpPr>
          <p:cNvPr id="27" name="Text 24"/>
          <p:cNvSpPr txBox="1"/>
          <p:nvPr/>
        </p:nvSpPr>
        <p:spPr>
          <a:xfrm>
            <a:off x="10560050" y="2336800"/>
            <a:ext cx="1460500" cy="6350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DignifyX-priority campaign (exec approval)</a:t>
            </a:r>
            <a:endParaRPr lang="en-US" sz="950" dirty="0"/>
          </a:p>
        </p:txBody>
      </p:sp>
      <p:sp>
        <p:nvSpPr>
          <p:cNvPr id="28" name="Shape 25"/>
          <p:cNvSpPr/>
          <p:nvPr/>
        </p:nvSpPr>
        <p:spPr>
          <a:xfrm>
            <a:off x="4832350" y="3149600"/>
            <a:ext cx="7359650" cy="6350"/>
          </a:xfrm>
          <a:prstGeom prst="rect">
            <a:avLst/>
          </a:prstGeom>
          <a:solidFill>
            <a:srgbClr val="CDD0D9"/>
          </a:solidFill>
          <a:ln/>
        </p:spPr>
      </p:sp>
      <p:sp>
        <p:nvSpPr>
          <p:cNvPr id="29" name="Text 26"/>
          <p:cNvSpPr txBox="1"/>
          <p:nvPr/>
        </p:nvSpPr>
        <p:spPr>
          <a:xfrm>
            <a:off x="5086350" y="3327400"/>
            <a:ext cx="3810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ELIGIBLE CAMPAIGNS</a:t>
            </a:r>
            <a:endParaRPr lang="en-US" sz="850" dirty="0"/>
          </a:p>
        </p:txBody>
      </p:sp>
      <p:sp>
        <p:nvSpPr>
          <p:cNvPr id="30" name="Shape 27"/>
          <p:cNvSpPr/>
          <p:nvPr/>
        </p:nvSpPr>
        <p:spPr>
          <a:xfrm>
            <a:off x="5086350" y="3619500"/>
            <a:ext cx="1841500" cy="279400"/>
          </a:xfrm>
          <a:prstGeom prst="roundRect">
            <a:avLst>
              <a:gd name="adj" fmla="val 18182"/>
            </a:avLst>
          </a:prstGeom>
          <a:solidFill>
            <a:srgbClr val="F7FBFD"/>
          </a:solidFill>
          <a:ln w="9525">
            <a:solidFill>
              <a:srgbClr val="CDD0D9"/>
            </a:solidFill>
            <a:prstDash val="solid"/>
          </a:ln>
        </p:spPr>
      </p:sp>
      <p:sp>
        <p:nvSpPr>
          <p:cNvPr id="31" name="Text 28"/>
          <p:cNvSpPr txBox="1"/>
          <p:nvPr/>
        </p:nvSpPr>
        <p:spPr>
          <a:xfrm>
            <a:off x="5086350" y="3619500"/>
            <a:ext cx="1841500" cy="279400"/>
          </a:xfrm>
          <a:prstGeom prst="rect">
            <a:avLst/>
          </a:prstGeom>
          <a:noFill/>
          <a:ln/>
        </p:spPr>
        <p:txBody>
          <a:bodyPr wrap="square" lIns="0" tIns="0" rIns="0" bIns="0" rtlCol="0" anchor="ctr"/>
          <a:lstStyle/>
          <a:p>
            <a:pPr algn="ctr" indent="0" marL="0">
              <a:lnSpc>
                <a:spcPct val="112000"/>
              </a:lnSpc>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Agency leader roundtables</a:t>
            </a:r>
            <a:endParaRPr lang="en-US" sz="900" dirty="0"/>
          </a:p>
        </p:txBody>
      </p:sp>
      <p:sp>
        <p:nvSpPr>
          <p:cNvPr id="32" name="Shape 29"/>
          <p:cNvSpPr/>
          <p:nvPr/>
        </p:nvSpPr>
        <p:spPr>
          <a:xfrm>
            <a:off x="7004050" y="3619500"/>
            <a:ext cx="2105660" cy="279400"/>
          </a:xfrm>
          <a:prstGeom prst="roundRect">
            <a:avLst>
              <a:gd name="adj" fmla="val 18182"/>
            </a:avLst>
          </a:prstGeom>
          <a:solidFill>
            <a:srgbClr val="F7FBFD"/>
          </a:solidFill>
          <a:ln w="9525">
            <a:solidFill>
              <a:srgbClr val="CDD0D9"/>
            </a:solidFill>
            <a:prstDash val="solid"/>
          </a:ln>
        </p:spPr>
      </p:sp>
      <p:sp>
        <p:nvSpPr>
          <p:cNvPr id="33" name="Text 30"/>
          <p:cNvSpPr txBox="1"/>
          <p:nvPr/>
        </p:nvSpPr>
        <p:spPr>
          <a:xfrm>
            <a:off x="7004050" y="3619500"/>
            <a:ext cx="2105660" cy="279400"/>
          </a:xfrm>
          <a:prstGeom prst="rect">
            <a:avLst/>
          </a:prstGeom>
          <a:noFill/>
          <a:ln/>
        </p:spPr>
        <p:txBody>
          <a:bodyPr wrap="square" lIns="0" tIns="0" rIns="0" bIns="0" rtlCol="0" anchor="ctr"/>
          <a:lstStyle/>
          <a:p>
            <a:pPr algn="ctr" indent="0" marL="0">
              <a:lnSpc>
                <a:spcPct val="112000"/>
              </a:lnSpc>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MDRT / COT readiness webinars</a:t>
            </a:r>
            <a:endParaRPr lang="en-US" sz="900" dirty="0"/>
          </a:p>
        </p:txBody>
      </p:sp>
      <p:sp>
        <p:nvSpPr>
          <p:cNvPr id="34" name="Shape 31"/>
          <p:cNvSpPr/>
          <p:nvPr/>
        </p:nvSpPr>
        <p:spPr>
          <a:xfrm>
            <a:off x="9185910" y="3619500"/>
            <a:ext cx="2369820" cy="279400"/>
          </a:xfrm>
          <a:prstGeom prst="roundRect">
            <a:avLst>
              <a:gd name="adj" fmla="val 18182"/>
            </a:avLst>
          </a:prstGeom>
          <a:solidFill>
            <a:srgbClr val="F7FBFD"/>
          </a:solidFill>
          <a:ln w="9525">
            <a:solidFill>
              <a:srgbClr val="CDD0D9"/>
            </a:solidFill>
            <a:prstDash val="solid"/>
          </a:ln>
        </p:spPr>
      </p:sp>
      <p:sp>
        <p:nvSpPr>
          <p:cNvPr id="35" name="Text 32"/>
          <p:cNvSpPr txBox="1"/>
          <p:nvPr/>
        </p:nvSpPr>
        <p:spPr>
          <a:xfrm>
            <a:off x="9185910" y="3619500"/>
            <a:ext cx="2369820" cy="279400"/>
          </a:xfrm>
          <a:prstGeom prst="rect">
            <a:avLst/>
          </a:prstGeom>
          <a:noFill/>
          <a:ln/>
        </p:spPr>
        <p:txBody>
          <a:bodyPr wrap="square" lIns="0" tIns="0" rIns="0" bIns="0" rtlCol="0" anchor="ctr"/>
          <a:lstStyle/>
          <a:p>
            <a:pPr algn="ctr" indent="0" marL="0">
              <a:lnSpc>
                <a:spcPct val="112000"/>
              </a:lnSpc>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AI-governance in insurance events</a:t>
            </a:r>
            <a:endParaRPr lang="en-US" sz="900" dirty="0"/>
          </a:p>
        </p:txBody>
      </p:sp>
      <p:sp>
        <p:nvSpPr>
          <p:cNvPr id="36" name="Shape 33"/>
          <p:cNvSpPr/>
          <p:nvPr/>
        </p:nvSpPr>
        <p:spPr>
          <a:xfrm>
            <a:off x="5086350" y="4013200"/>
            <a:ext cx="1775460" cy="279400"/>
          </a:xfrm>
          <a:prstGeom prst="roundRect">
            <a:avLst>
              <a:gd name="adj" fmla="val 18182"/>
            </a:avLst>
          </a:prstGeom>
          <a:solidFill>
            <a:srgbClr val="F7FBFD"/>
          </a:solidFill>
          <a:ln w="9525">
            <a:solidFill>
              <a:srgbClr val="CDD0D9"/>
            </a:solidFill>
            <a:prstDash val="solid"/>
          </a:ln>
        </p:spPr>
      </p:sp>
      <p:sp>
        <p:nvSpPr>
          <p:cNvPr id="37" name="Text 34"/>
          <p:cNvSpPr txBox="1"/>
          <p:nvPr/>
        </p:nvSpPr>
        <p:spPr>
          <a:xfrm>
            <a:off x="5086350" y="4013200"/>
            <a:ext cx="1775460" cy="279400"/>
          </a:xfrm>
          <a:prstGeom prst="rect">
            <a:avLst/>
          </a:prstGeom>
          <a:noFill/>
          <a:ln/>
        </p:spPr>
        <p:txBody>
          <a:bodyPr wrap="square" lIns="0" tIns="0" rIns="0" bIns="0" rtlCol="0" anchor="ctr"/>
          <a:lstStyle/>
          <a:p>
            <a:pPr algn="ctr" indent="0" marL="0">
              <a:lnSpc>
                <a:spcPct val="112000"/>
              </a:lnSpc>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Joint thought leadership</a:t>
            </a:r>
            <a:endParaRPr lang="en-US" sz="900" dirty="0"/>
          </a:p>
        </p:txBody>
      </p:sp>
      <p:sp>
        <p:nvSpPr>
          <p:cNvPr id="38" name="Shape 35"/>
          <p:cNvSpPr/>
          <p:nvPr/>
        </p:nvSpPr>
        <p:spPr>
          <a:xfrm>
            <a:off x="6938010" y="4013200"/>
            <a:ext cx="2567940" cy="279400"/>
          </a:xfrm>
          <a:prstGeom prst="roundRect">
            <a:avLst>
              <a:gd name="adj" fmla="val 18182"/>
            </a:avLst>
          </a:prstGeom>
          <a:solidFill>
            <a:srgbClr val="F7FBFD"/>
          </a:solidFill>
          <a:ln w="9525">
            <a:solidFill>
              <a:srgbClr val="CDD0D9"/>
            </a:solidFill>
            <a:prstDash val="solid"/>
          </a:ln>
        </p:spPr>
      </p:sp>
      <p:sp>
        <p:nvSpPr>
          <p:cNvPr id="39" name="Text 36"/>
          <p:cNvSpPr txBox="1"/>
          <p:nvPr/>
        </p:nvSpPr>
        <p:spPr>
          <a:xfrm>
            <a:off x="6938010" y="4013200"/>
            <a:ext cx="2567940" cy="279400"/>
          </a:xfrm>
          <a:prstGeom prst="rect">
            <a:avLst/>
          </a:prstGeom>
          <a:noFill/>
          <a:ln/>
        </p:spPr>
        <p:txBody>
          <a:bodyPr wrap="square" lIns="0" tIns="0" rIns="0" bIns="0" rtlCol="0" anchor="ctr"/>
          <a:lstStyle/>
          <a:p>
            <a:pPr algn="ctr" indent="0" marL="0">
              <a:lnSpc>
                <a:spcPct val="112000"/>
              </a:lnSpc>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Insurance &amp; distribution conferences</a:t>
            </a:r>
            <a:endParaRPr lang="en-US" sz="900" dirty="0"/>
          </a:p>
        </p:txBody>
      </p:sp>
      <p:sp>
        <p:nvSpPr>
          <p:cNvPr id="40" name="Shape 37"/>
          <p:cNvSpPr/>
          <p:nvPr/>
        </p:nvSpPr>
        <p:spPr>
          <a:xfrm>
            <a:off x="9582150" y="4013200"/>
            <a:ext cx="1181100" cy="279400"/>
          </a:xfrm>
          <a:prstGeom prst="roundRect">
            <a:avLst>
              <a:gd name="adj" fmla="val 18182"/>
            </a:avLst>
          </a:prstGeom>
          <a:solidFill>
            <a:srgbClr val="F7FBFD"/>
          </a:solidFill>
          <a:ln w="9525">
            <a:solidFill>
              <a:srgbClr val="CDD0D9"/>
            </a:solidFill>
            <a:prstDash val="solid"/>
          </a:ln>
        </p:spPr>
      </p:sp>
      <p:sp>
        <p:nvSpPr>
          <p:cNvPr id="41" name="Text 38"/>
          <p:cNvSpPr txBox="1"/>
          <p:nvPr/>
        </p:nvSpPr>
        <p:spPr>
          <a:xfrm>
            <a:off x="9582150" y="4013200"/>
            <a:ext cx="1181100" cy="279400"/>
          </a:xfrm>
          <a:prstGeom prst="rect">
            <a:avLst/>
          </a:prstGeom>
          <a:noFill/>
          <a:ln/>
        </p:spPr>
        <p:txBody>
          <a:bodyPr wrap="square" lIns="0" tIns="0" rIns="0" bIns="0" rtlCol="0" anchor="ctr"/>
          <a:lstStyle/>
          <a:p>
            <a:pPr algn="ctr" indent="0" marL="0">
              <a:lnSpc>
                <a:spcPct val="112000"/>
              </a:lnSpc>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C-level dinners</a:t>
            </a:r>
            <a:endParaRPr lang="en-US" sz="900" dirty="0"/>
          </a:p>
        </p:txBody>
      </p:sp>
      <p:sp>
        <p:nvSpPr>
          <p:cNvPr id="42" name="Shape 39"/>
          <p:cNvSpPr/>
          <p:nvPr/>
        </p:nvSpPr>
        <p:spPr>
          <a:xfrm>
            <a:off x="5086350" y="4406900"/>
            <a:ext cx="1709420" cy="279400"/>
          </a:xfrm>
          <a:prstGeom prst="roundRect">
            <a:avLst>
              <a:gd name="adj" fmla="val 18182"/>
            </a:avLst>
          </a:prstGeom>
          <a:solidFill>
            <a:srgbClr val="F7FBFD"/>
          </a:solidFill>
          <a:ln w="9525">
            <a:solidFill>
              <a:srgbClr val="CDD0D9"/>
            </a:solidFill>
            <a:prstDash val="solid"/>
          </a:ln>
        </p:spPr>
      </p:sp>
      <p:sp>
        <p:nvSpPr>
          <p:cNvPr id="43" name="Text 40"/>
          <p:cNvSpPr txBox="1"/>
          <p:nvPr/>
        </p:nvSpPr>
        <p:spPr>
          <a:xfrm>
            <a:off x="5086350" y="4406900"/>
            <a:ext cx="1709420" cy="279400"/>
          </a:xfrm>
          <a:prstGeom prst="rect">
            <a:avLst/>
          </a:prstGeom>
          <a:noFill/>
          <a:ln/>
        </p:spPr>
        <p:txBody>
          <a:bodyPr wrap="square" lIns="0" tIns="0" rIns="0" bIns="0" rtlCol="0" anchor="ctr"/>
          <a:lstStyle/>
          <a:p>
            <a:pPr algn="ctr" indent="0" marL="0">
              <a:lnSpc>
                <a:spcPct val="112000"/>
              </a:lnSpc>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Account-based campaigns</a:t>
            </a:r>
            <a:endParaRPr lang="en-US" sz="900" dirty="0"/>
          </a:p>
        </p:txBody>
      </p:sp>
      <p:sp>
        <p:nvSpPr>
          <p:cNvPr id="44" name="Shape 41"/>
          <p:cNvSpPr/>
          <p:nvPr/>
        </p:nvSpPr>
        <p:spPr>
          <a:xfrm>
            <a:off x="6871970" y="4406900"/>
            <a:ext cx="1313180" cy="279400"/>
          </a:xfrm>
          <a:prstGeom prst="roundRect">
            <a:avLst>
              <a:gd name="adj" fmla="val 18182"/>
            </a:avLst>
          </a:prstGeom>
          <a:solidFill>
            <a:srgbClr val="F7FBFD"/>
          </a:solidFill>
          <a:ln w="9525">
            <a:solidFill>
              <a:srgbClr val="CDD0D9"/>
            </a:solidFill>
            <a:prstDash val="solid"/>
          </a:ln>
        </p:spPr>
      </p:sp>
      <p:sp>
        <p:nvSpPr>
          <p:cNvPr id="45" name="Text 42"/>
          <p:cNvSpPr txBox="1"/>
          <p:nvPr/>
        </p:nvSpPr>
        <p:spPr>
          <a:xfrm>
            <a:off x="6871970" y="4406900"/>
            <a:ext cx="1313180" cy="279400"/>
          </a:xfrm>
          <a:prstGeom prst="rect">
            <a:avLst/>
          </a:prstGeom>
          <a:noFill/>
          <a:ln/>
        </p:spPr>
        <p:txBody>
          <a:bodyPr wrap="square" lIns="0" tIns="0" rIns="0" bIns="0" rtlCol="0" anchor="ctr"/>
          <a:lstStyle/>
          <a:p>
            <a:pPr algn="ctr" indent="0" marL="0">
              <a:lnSpc>
                <a:spcPct val="112000"/>
              </a:lnSpc>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Cloud marketplace</a:t>
            </a:r>
            <a:endParaRPr lang="en-US" sz="900" dirty="0"/>
          </a:p>
        </p:txBody>
      </p:sp>
      <p:sp>
        <p:nvSpPr>
          <p:cNvPr id="46" name="Shape 43"/>
          <p:cNvSpPr/>
          <p:nvPr/>
        </p:nvSpPr>
        <p:spPr>
          <a:xfrm>
            <a:off x="8261350" y="4406900"/>
            <a:ext cx="2105660" cy="279400"/>
          </a:xfrm>
          <a:prstGeom prst="roundRect">
            <a:avLst>
              <a:gd name="adj" fmla="val 18182"/>
            </a:avLst>
          </a:prstGeom>
          <a:solidFill>
            <a:srgbClr val="F7FBFD"/>
          </a:solidFill>
          <a:ln w="9525">
            <a:solidFill>
              <a:srgbClr val="CDD0D9"/>
            </a:solidFill>
            <a:prstDash val="solid"/>
          </a:ln>
        </p:spPr>
      </p:sp>
      <p:sp>
        <p:nvSpPr>
          <p:cNvPr id="47" name="Text 44"/>
          <p:cNvSpPr txBox="1"/>
          <p:nvPr/>
        </p:nvSpPr>
        <p:spPr>
          <a:xfrm>
            <a:off x="8261350" y="4406900"/>
            <a:ext cx="2105660" cy="279400"/>
          </a:xfrm>
          <a:prstGeom prst="rect">
            <a:avLst/>
          </a:prstGeom>
          <a:noFill/>
          <a:ln/>
        </p:spPr>
        <p:txBody>
          <a:bodyPr wrap="square" lIns="0" tIns="0" rIns="0" bIns="0" rtlCol="0" anchor="ctr"/>
          <a:lstStyle/>
          <a:p>
            <a:pPr algn="ctr" indent="0" marL="0">
              <a:lnSpc>
                <a:spcPct val="112000"/>
              </a:lnSpc>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Insurer innovation programmes</a:t>
            </a:r>
            <a:endParaRPr lang="en-US" sz="900" dirty="0"/>
          </a:p>
        </p:txBody>
      </p:sp>
      <p:sp>
        <p:nvSpPr>
          <p:cNvPr id="48" name="Shape 45"/>
          <p:cNvSpPr/>
          <p:nvPr/>
        </p:nvSpPr>
        <p:spPr>
          <a:xfrm>
            <a:off x="0" y="5842000"/>
            <a:ext cx="12192000" cy="1016000"/>
          </a:xfrm>
          <a:prstGeom prst="rect">
            <a:avLst/>
          </a:prstGeom>
          <a:solidFill>
            <a:srgbClr val="F5F9FB"/>
          </a:solidFill>
          <a:ln/>
        </p:spPr>
      </p:sp>
      <p:pic>
        <p:nvPicPr>
          <p:cNvPr id="49"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50"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51" name="Text 46"/>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Co-Invest</a:t>
            </a:r>
            <a:endParaRPr lang="en-US" sz="1200" dirty="0"/>
          </a:p>
        </p:txBody>
      </p:sp>
      <p:sp>
        <p:nvSpPr>
          <p:cNvPr id="52" name="Text 47"/>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DignifyX invests alongside you, with funds tied to target accounts, approved messaging, qualified leads and pipeline impact.</a:t>
            </a:r>
            <a:endParaRPr lang="en-US" sz="1100" dirty="0"/>
          </a:p>
        </p:txBody>
      </p:sp>
      <p:sp>
        <p:nvSpPr>
          <p:cNvPr id="53" name="Text 48"/>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17 · ENABLEMENT &amp; CERTIFICATION</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Get certified.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Get ahead.</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8128000" y="1244600"/>
            <a:ext cx="6350" cy="4597400"/>
          </a:xfrm>
          <a:prstGeom prst="rect">
            <a:avLst/>
          </a:prstGeom>
          <a:solidFill>
            <a:srgbClr val="CDD0D9"/>
          </a:solidFill>
          <a:ln/>
        </p:spPr>
      </p:sp>
      <p:sp>
        <p:nvSpPr>
          <p:cNvPr id="7" name="Shape 5"/>
          <p:cNvSpPr/>
          <p:nvPr/>
        </p:nvSpPr>
        <p:spPr>
          <a:xfrm>
            <a:off x="0" y="1250950"/>
            <a:ext cx="4057650" cy="1143000"/>
          </a:xfrm>
          <a:prstGeom prst="rect">
            <a:avLst/>
          </a:prstGeom>
          <a:solidFill>
            <a:srgbClr val="F7FBFD"/>
          </a:solidFill>
          <a:ln/>
        </p:spPr>
      </p:sp>
      <p:sp>
        <p:nvSpPr>
          <p:cNvPr id="8" name="Text 6"/>
          <p:cNvSpPr txBox="1"/>
          <p:nvPr/>
        </p:nvSpPr>
        <p:spPr>
          <a:xfrm>
            <a:off x="254000" y="14414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01</a:t>
            </a:r>
            <a:endParaRPr lang="en-US" sz="1400" dirty="0"/>
          </a:p>
        </p:txBody>
      </p:sp>
      <p:sp>
        <p:nvSpPr>
          <p:cNvPr id="9" name="Text 7"/>
          <p:cNvSpPr txBox="1"/>
          <p:nvPr/>
        </p:nvSpPr>
        <p:spPr>
          <a:xfrm>
            <a:off x="736600" y="1454150"/>
            <a:ext cx="3175000" cy="444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DignifyX Sales Foundation</a:t>
            </a:r>
            <a:endParaRPr lang="en-US" sz="1200" dirty="0"/>
          </a:p>
        </p:txBody>
      </p:sp>
      <p:sp>
        <p:nvSpPr>
          <p:cNvPr id="10" name="Text 8"/>
          <p:cNvSpPr txBox="1"/>
          <p:nvPr/>
        </p:nvSpPr>
        <p:spPr>
          <a:xfrm>
            <a:off x="736600" y="1911350"/>
            <a:ext cx="3175000" cy="381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Partner sales, BD and account managers</a:t>
            </a:r>
            <a:endParaRPr lang="en-US" sz="900" dirty="0"/>
          </a:p>
        </p:txBody>
      </p:sp>
      <p:sp>
        <p:nvSpPr>
          <p:cNvPr id="11" name="Shape 9"/>
          <p:cNvSpPr/>
          <p:nvPr/>
        </p:nvSpPr>
        <p:spPr>
          <a:xfrm>
            <a:off x="4064000" y="1250950"/>
            <a:ext cx="6350" cy="1149350"/>
          </a:xfrm>
          <a:prstGeom prst="rect">
            <a:avLst/>
          </a:prstGeom>
          <a:solidFill>
            <a:srgbClr val="CDD0D9"/>
          </a:solidFill>
          <a:ln/>
        </p:spPr>
      </p:sp>
      <p:sp>
        <p:nvSpPr>
          <p:cNvPr id="12" name="Text 10"/>
          <p:cNvSpPr txBox="1"/>
          <p:nvPr/>
        </p:nvSpPr>
        <p:spPr>
          <a:xfrm>
            <a:off x="4318000" y="14414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02</a:t>
            </a:r>
            <a:endParaRPr lang="en-US" sz="1400" dirty="0"/>
          </a:p>
        </p:txBody>
      </p:sp>
      <p:sp>
        <p:nvSpPr>
          <p:cNvPr id="13" name="Text 11"/>
          <p:cNvSpPr txBox="1"/>
          <p:nvPr/>
        </p:nvSpPr>
        <p:spPr>
          <a:xfrm>
            <a:off x="4800600" y="1454150"/>
            <a:ext cx="3175000" cy="444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Agency Coaching Sales Specialist</a:t>
            </a:r>
            <a:endParaRPr lang="en-US" sz="1200" dirty="0"/>
          </a:p>
        </p:txBody>
      </p:sp>
      <p:sp>
        <p:nvSpPr>
          <p:cNvPr id="14" name="Text 12"/>
          <p:cNvSpPr txBox="1"/>
          <p:nvPr/>
        </p:nvSpPr>
        <p:spPr>
          <a:xfrm>
            <a:off x="4800600" y="1911350"/>
            <a:ext cx="3175000" cy="381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Sellers to insurers, agencies and distribution leaders</a:t>
            </a:r>
            <a:endParaRPr lang="en-US" sz="900" dirty="0"/>
          </a:p>
        </p:txBody>
      </p:sp>
      <p:sp>
        <p:nvSpPr>
          <p:cNvPr id="15" name="Shape 13"/>
          <p:cNvSpPr/>
          <p:nvPr/>
        </p:nvSpPr>
        <p:spPr>
          <a:xfrm>
            <a:off x="0" y="2400300"/>
            <a:ext cx="8128000" cy="6350"/>
          </a:xfrm>
          <a:prstGeom prst="rect">
            <a:avLst/>
          </a:prstGeom>
          <a:solidFill>
            <a:srgbClr val="CDD0D9"/>
          </a:solidFill>
          <a:ln/>
        </p:spPr>
      </p:sp>
      <p:sp>
        <p:nvSpPr>
          <p:cNvPr id="16" name="Text 14"/>
          <p:cNvSpPr txBox="1"/>
          <p:nvPr/>
        </p:nvSpPr>
        <p:spPr>
          <a:xfrm>
            <a:off x="254000" y="259080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03</a:t>
            </a:r>
            <a:endParaRPr lang="en-US" sz="1400" dirty="0"/>
          </a:p>
        </p:txBody>
      </p:sp>
      <p:sp>
        <p:nvSpPr>
          <p:cNvPr id="17" name="Text 15"/>
          <p:cNvSpPr txBox="1"/>
          <p:nvPr/>
        </p:nvSpPr>
        <p:spPr>
          <a:xfrm>
            <a:off x="736600" y="2603500"/>
            <a:ext cx="3175000" cy="444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Enterprise AI Sales Specialist</a:t>
            </a:r>
            <a:endParaRPr lang="en-US" sz="1200" dirty="0"/>
          </a:p>
        </p:txBody>
      </p:sp>
      <p:sp>
        <p:nvSpPr>
          <p:cNvPr id="18" name="Text 16"/>
          <p:cNvSpPr txBox="1"/>
          <p:nvPr/>
        </p:nvSpPr>
        <p:spPr>
          <a:xfrm>
            <a:off x="736600" y="3060700"/>
            <a:ext cx="3175000" cy="381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Enterprise AI, L&amp;D and digital-transformation sellers</a:t>
            </a:r>
            <a:endParaRPr lang="en-US" sz="900" dirty="0"/>
          </a:p>
        </p:txBody>
      </p:sp>
      <p:sp>
        <p:nvSpPr>
          <p:cNvPr id="19" name="Shape 17"/>
          <p:cNvSpPr/>
          <p:nvPr/>
        </p:nvSpPr>
        <p:spPr>
          <a:xfrm>
            <a:off x="4064000" y="2400300"/>
            <a:ext cx="6350" cy="1149350"/>
          </a:xfrm>
          <a:prstGeom prst="rect">
            <a:avLst/>
          </a:prstGeom>
          <a:solidFill>
            <a:srgbClr val="CDD0D9"/>
          </a:solidFill>
          <a:ln/>
        </p:spPr>
      </p:sp>
      <p:sp>
        <p:nvSpPr>
          <p:cNvPr id="20" name="Shape 18"/>
          <p:cNvSpPr/>
          <p:nvPr/>
        </p:nvSpPr>
        <p:spPr>
          <a:xfrm>
            <a:off x="0" y="2400300"/>
            <a:ext cx="8128000" cy="6350"/>
          </a:xfrm>
          <a:prstGeom prst="rect">
            <a:avLst/>
          </a:prstGeom>
          <a:solidFill>
            <a:srgbClr val="CDD0D9"/>
          </a:solidFill>
          <a:ln/>
        </p:spPr>
      </p:sp>
      <p:sp>
        <p:nvSpPr>
          <p:cNvPr id="21" name="Shape 19"/>
          <p:cNvSpPr/>
          <p:nvPr/>
        </p:nvSpPr>
        <p:spPr>
          <a:xfrm>
            <a:off x="4064000" y="2400300"/>
            <a:ext cx="4057650" cy="1143000"/>
          </a:xfrm>
          <a:prstGeom prst="rect">
            <a:avLst/>
          </a:prstGeom>
          <a:solidFill>
            <a:srgbClr val="F7FBFD"/>
          </a:solidFill>
          <a:ln/>
        </p:spPr>
      </p:sp>
      <p:sp>
        <p:nvSpPr>
          <p:cNvPr id="22" name="Text 20"/>
          <p:cNvSpPr txBox="1"/>
          <p:nvPr/>
        </p:nvSpPr>
        <p:spPr>
          <a:xfrm>
            <a:off x="4318000" y="259080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04</a:t>
            </a:r>
            <a:endParaRPr lang="en-US" sz="1400" dirty="0"/>
          </a:p>
        </p:txBody>
      </p:sp>
      <p:sp>
        <p:nvSpPr>
          <p:cNvPr id="23" name="Text 21"/>
          <p:cNvSpPr txBox="1"/>
          <p:nvPr/>
        </p:nvSpPr>
        <p:spPr>
          <a:xfrm>
            <a:off x="4800600" y="2603500"/>
            <a:ext cx="3175000" cy="444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Agency Coaching Pre-Sales Specialist</a:t>
            </a:r>
            <a:endParaRPr lang="en-US" sz="1200" dirty="0"/>
          </a:p>
        </p:txBody>
      </p:sp>
      <p:sp>
        <p:nvSpPr>
          <p:cNvPr id="24" name="Text 22"/>
          <p:cNvSpPr txBox="1"/>
          <p:nvPr/>
        </p:nvSpPr>
        <p:spPr>
          <a:xfrm>
            <a:off x="4800600" y="3060700"/>
            <a:ext cx="3175000" cy="381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Distribution, training and agency-development consultants</a:t>
            </a:r>
            <a:endParaRPr lang="en-US" sz="900" dirty="0"/>
          </a:p>
        </p:txBody>
      </p:sp>
      <p:sp>
        <p:nvSpPr>
          <p:cNvPr id="25" name="Shape 23"/>
          <p:cNvSpPr/>
          <p:nvPr/>
        </p:nvSpPr>
        <p:spPr>
          <a:xfrm>
            <a:off x="0" y="3549650"/>
            <a:ext cx="8128000" cy="6350"/>
          </a:xfrm>
          <a:prstGeom prst="rect">
            <a:avLst/>
          </a:prstGeom>
          <a:solidFill>
            <a:srgbClr val="CDD0D9"/>
          </a:solidFill>
          <a:ln/>
        </p:spPr>
      </p:sp>
      <p:sp>
        <p:nvSpPr>
          <p:cNvPr id="26" name="Shape 24"/>
          <p:cNvSpPr/>
          <p:nvPr/>
        </p:nvSpPr>
        <p:spPr>
          <a:xfrm>
            <a:off x="0" y="3549650"/>
            <a:ext cx="4057650" cy="1143000"/>
          </a:xfrm>
          <a:prstGeom prst="rect">
            <a:avLst/>
          </a:prstGeom>
          <a:solidFill>
            <a:srgbClr val="F7FBFD"/>
          </a:solidFill>
          <a:ln/>
        </p:spPr>
      </p:sp>
      <p:sp>
        <p:nvSpPr>
          <p:cNvPr id="27" name="Text 25"/>
          <p:cNvSpPr txBox="1"/>
          <p:nvPr/>
        </p:nvSpPr>
        <p:spPr>
          <a:xfrm>
            <a:off x="254000" y="37401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05</a:t>
            </a:r>
            <a:endParaRPr lang="en-US" sz="1400" dirty="0"/>
          </a:p>
        </p:txBody>
      </p:sp>
      <p:sp>
        <p:nvSpPr>
          <p:cNvPr id="28" name="Text 26"/>
          <p:cNvSpPr txBox="1"/>
          <p:nvPr/>
        </p:nvSpPr>
        <p:spPr>
          <a:xfrm>
            <a:off x="736600" y="3752850"/>
            <a:ext cx="3175000" cy="444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Enterprise AI Pre-Sales Specialist</a:t>
            </a:r>
            <a:endParaRPr lang="en-US" sz="1200" dirty="0"/>
          </a:p>
        </p:txBody>
      </p:sp>
      <p:sp>
        <p:nvSpPr>
          <p:cNvPr id="29" name="Text 27"/>
          <p:cNvSpPr txBox="1"/>
          <p:nvPr/>
        </p:nvSpPr>
        <p:spPr>
          <a:xfrm>
            <a:off x="736600" y="4210050"/>
            <a:ext cx="3175000" cy="381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AI consultants, enterprise architects, data consultants</a:t>
            </a:r>
            <a:endParaRPr lang="en-US" sz="900" dirty="0"/>
          </a:p>
        </p:txBody>
      </p:sp>
      <p:sp>
        <p:nvSpPr>
          <p:cNvPr id="30" name="Shape 28"/>
          <p:cNvSpPr/>
          <p:nvPr/>
        </p:nvSpPr>
        <p:spPr>
          <a:xfrm>
            <a:off x="4064000" y="3549650"/>
            <a:ext cx="6350" cy="1149350"/>
          </a:xfrm>
          <a:prstGeom prst="rect">
            <a:avLst/>
          </a:prstGeom>
          <a:solidFill>
            <a:srgbClr val="CDD0D9"/>
          </a:solidFill>
          <a:ln/>
        </p:spPr>
      </p:sp>
      <p:sp>
        <p:nvSpPr>
          <p:cNvPr id="31" name="Shape 29"/>
          <p:cNvSpPr/>
          <p:nvPr/>
        </p:nvSpPr>
        <p:spPr>
          <a:xfrm>
            <a:off x="0" y="3549650"/>
            <a:ext cx="8128000" cy="6350"/>
          </a:xfrm>
          <a:prstGeom prst="rect">
            <a:avLst/>
          </a:prstGeom>
          <a:solidFill>
            <a:srgbClr val="CDD0D9"/>
          </a:solidFill>
          <a:ln/>
        </p:spPr>
      </p:sp>
      <p:sp>
        <p:nvSpPr>
          <p:cNvPr id="32" name="Text 30"/>
          <p:cNvSpPr txBox="1"/>
          <p:nvPr/>
        </p:nvSpPr>
        <p:spPr>
          <a:xfrm>
            <a:off x="4318000" y="37401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06</a:t>
            </a:r>
            <a:endParaRPr lang="en-US" sz="1400" dirty="0"/>
          </a:p>
        </p:txBody>
      </p:sp>
      <p:sp>
        <p:nvSpPr>
          <p:cNvPr id="33" name="Text 31"/>
          <p:cNvSpPr txBox="1"/>
          <p:nvPr/>
        </p:nvSpPr>
        <p:spPr>
          <a:xfrm>
            <a:off x="4800600" y="3752850"/>
            <a:ext cx="3175000" cy="444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Implementation Foundation</a:t>
            </a:r>
            <a:endParaRPr lang="en-US" sz="1200" dirty="0"/>
          </a:p>
        </p:txBody>
      </p:sp>
      <p:sp>
        <p:nvSpPr>
          <p:cNvPr id="34" name="Text 32"/>
          <p:cNvSpPr txBox="1"/>
          <p:nvPr/>
        </p:nvSpPr>
        <p:spPr>
          <a:xfrm>
            <a:off x="4800600" y="4210050"/>
            <a:ext cx="3175000" cy="381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Delivery consultants and solution architects</a:t>
            </a:r>
            <a:endParaRPr lang="en-US" sz="900" dirty="0"/>
          </a:p>
        </p:txBody>
      </p:sp>
      <p:sp>
        <p:nvSpPr>
          <p:cNvPr id="35" name="Shape 33"/>
          <p:cNvSpPr/>
          <p:nvPr/>
        </p:nvSpPr>
        <p:spPr>
          <a:xfrm>
            <a:off x="0" y="4699000"/>
            <a:ext cx="8128000" cy="6350"/>
          </a:xfrm>
          <a:prstGeom prst="rect">
            <a:avLst/>
          </a:prstGeom>
          <a:solidFill>
            <a:srgbClr val="CDD0D9"/>
          </a:solidFill>
          <a:ln/>
        </p:spPr>
      </p:sp>
      <p:sp>
        <p:nvSpPr>
          <p:cNvPr id="36" name="Text 34"/>
          <p:cNvSpPr txBox="1"/>
          <p:nvPr/>
        </p:nvSpPr>
        <p:spPr>
          <a:xfrm>
            <a:off x="254000" y="488950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07</a:t>
            </a:r>
            <a:endParaRPr lang="en-US" sz="1400" dirty="0"/>
          </a:p>
        </p:txBody>
      </p:sp>
      <p:sp>
        <p:nvSpPr>
          <p:cNvPr id="37" name="Text 35"/>
          <p:cNvSpPr txBox="1"/>
          <p:nvPr/>
        </p:nvSpPr>
        <p:spPr>
          <a:xfrm>
            <a:off x="736600" y="4902200"/>
            <a:ext cx="3175000" cy="444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Support Foundation</a:t>
            </a:r>
            <a:endParaRPr lang="en-US" sz="1200" dirty="0"/>
          </a:p>
        </p:txBody>
      </p:sp>
      <p:sp>
        <p:nvSpPr>
          <p:cNvPr id="38" name="Text 36"/>
          <p:cNvSpPr txBox="1"/>
          <p:nvPr/>
        </p:nvSpPr>
        <p:spPr>
          <a:xfrm>
            <a:off x="736600" y="5359400"/>
            <a:ext cx="3175000" cy="381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Managed services and customer-success managers</a:t>
            </a:r>
            <a:endParaRPr lang="en-US" sz="900" dirty="0"/>
          </a:p>
        </p:txBody>
      </p:sp>
      <p:sp>
        <p:nvSpPr>
          <p:cNvPr id="39" name="Shape 37"/>
          <p:cNvSpPr/>
          <p:nvPr/>
        </p:nvSpPr>
        <p:spPr>
          <a:xfrm>
            <a:off x="4064000" y="4699000"/>
            <a:ext cx="6350" cy="1149350"/>
          </a:xfrm>
          <a:prstGeom prst="rect">
            <a:avLst/>
          </a:prstGeom>
          <a:solidFill>
            <a:srgbClr val="CDD0D9"/>
          </a:solidFill>
          <a:ln/>
        </p:spPr>
      </p:sp>
      <p:sp>
        <p:nvSpPr>
          <p:cNvPr id="40" name="Shape 38"/>
          <p:cNvSpPr/>
          <p:nvPr/>
        </p:nvSpPr>
        <p:spPr>
          <a:xfrm>
            <a:off x="0" y="4699000"/>
            <a:ext cx="8128000" cy="6350"/>
          </a:xfrm>
          <a:prstGeom prst="rect">
            <a:avLst/>
          </a:prstGeom>
          <a:solidFill>
            <a:srgbClr val="CDD0D9"/>
          </a:solidFill>
          <a:ln/>
        </p:spPr>
      </p:sp>
      <p:sp>
        <p:nvSpPr>
          <p:cNvPr id="41" name="Shape 39"/>
          <p:cNvSpPr/>
          <p:nvPr/>
        </p:nvSpPr>
        <p:spPr>
          <a:xfrm>
            <a:off x="4064000" y="4699000"/>
            <a:ext cx="4057650" cy="1143000"/>
          </a:xfrm>
          <a:prstGeom prst="rect">
            <a:avLst/>
          </a:prstGeom>
          <a:solidFill>
            <a:srgbClr val="F7FBFD"/>
          </a:solidFill>
          <a:ln/>
        </p:spPr>
      </p:sp>
      <p:sp>
        <p:nvSpPr>
          <p:cNvPr id="42" name="Text 40"/>
          <p:cNvSpPr txBox="1"/>
          <p:nvPr/>
        </p:nvSpPr>
        <p:spPr>
          <a:xfrm>
            <a:off x="4318000" y="488950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08</a:t>
            </a:r>
            <a:endParaRPr lang="en-US" sz="1400" dirty="0"/>
          </a:p>
        </p:txBody>
      </p:sp>
      <p:sp>
        <p:nvSpPr>
          <p:cNvPr id="43" name="Text 41"/>
          <p:cNvSpPr txBox="1"/>
          <p:nvPr/>
        </p:nvSpPr>
        <p:spPr>
          <a:xfrm>
            <a:off x="4800600" y="4902200"/>
            <a:ext cx="3175000" cy="444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Compliance &amp; Responsible AI Basics</a:t>
            </a:r>
            <a:endParaRPr lang="en-US" sz="1200" dirty="0"/>
          </a:p>
        </p:txBody>
      </p:sp>
      <p:sp>
        <p:nvSpPr>
          <p:cNvPr id="44" name="Text 42"/>
          <p:cNvSpPr txBox="1"/>
          <p:nvPr/>
        </p:nvSpPr>
        <p:spPr>
          <a:xfrm>
            <a:off x="4800600" y="5359400"/>
            <a:ext cx="3175000" cy="381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All customer-facing partner resources</a:t>
            </a:r>
            <a:endParaRPr lang="en-US" sz="900" dirty="0"/>
          </a:p>
        </p:txBody>
      </p:sp>
      <p:sp>
        <p:nvSpPr>
          <p:cNvPr id="45" name="Text 43"/>
          <p:cNvSpPr txBox="1"/>
          <p:nvPr/>
        </p:nvSpPr>
        <p:spPr>
          <a:xfrm>
            <a:off x="8432800" y="1409700"/>
            <a:ext cx="3556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CERTIFIED HEADCOUNT BY LEVEL</a:t>
            </a:r>
            <a:endParaRPr lang="en-US" sz="8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432800" y="1663700"/>
          <a:ext cx="3454400" cy="914400"/>
        </p:xfrm>
        <a:graphic>
          <a:graphicData uri="http://schemas.openxmlformats.org/drawingml/2006/table">
            <a:tbl>
              <a:tblPr/>
              <a:tblGrid>
                <a:gridCol w="1168400"/>
                <a:gridCol w="762000"/>
                <a:gridCol w="762000"/>
                <a:gridCol w="762000"/>
              </a:tblGrid>
              <a:tr h="4572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Level</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Sales</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Pre-sales</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Delivery</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4572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Registered</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1</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Silver</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2</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1</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572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Gold</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4</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2</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2</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Platinum</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6</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3</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4</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572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Elite</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10+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5+</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8+</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bl>
          </a:graphicData>
        </a:graphic>
      </p:graphicFrame>
      <p:sp>
        <p:nvSpPr>
          <p:cNvPr id="47" name="Shape 44"/>
          <p:cNvSpPr/>
          <p:nvPr/>
        </p:nvSpPr>
        <p:spPr>
          <a:xfrm>
            <a:off x="0" y="5842000"/>
            <a:ext cx="12192000" cy="1016000"/>
          </a:xfrm>
          <a:prstGeom prst="rect">
            <a:avLst/>
          </a:prstGeom>
          <a:solidFill>
            <a:srgbClr val="F5F9FB"/>
          </a:solidFill>
          <a:ln/>
        </p:spPr>
      </p:sp>
      <p:pic>
        <p:nvPicPr>
          <p:cNvPr id="48"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49"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50" name="Text 45"/>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Licence to Sell</a:t>
            </a:r>
            <a:endParaRPr lang="en-US" sz="1200" dirty="0"/>
          </a:p>
        </p:txBody>
      </p:sp>
      <p:sp>
        <p:nvSpPr>
          <p:cNvPr id="51" name="Text 46"/>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Certification is your licence to sell and deliver, and it powers your level progression.</a:t>
            </a:r>
            <a:endParaRPr lang="en-US" sz="1100" dirty="0"/>
          </a:p>
        </p:txBody>
      </p:sp>
      <p:sp>
        <p:nvSpPr>
          <p:cNvPr id="52" name="Text 47"/>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18 · DEMO, SANDBOX &amp; SUPPORT</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Tools to win: sandbox and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technical</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support</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5080000" y="1244600"/>
            <a:ext cx="6350" cy="4597400"/>
          </a:xfrm>
          <a:prstGeom prst="rect">
            <a:avLst/>
          </a:prstGeom>
          <a:solidFill>
            <a:srgbClr val="CDD0D9"/>
          </a:solidFill>
          <a:ln/>
        </p:spPr>
      </p:sp>
      <p:sp>
        <p:nvSpPr>
          <p:cNvPr id="7" name="Text 5"/>
          <p:cNvSpPr txBox="1"/>
          <p:nvPr/>
        </p:nvSpPr>
        <p:spPr>
          <a:xfrm>
            <a:off x="304800" y="1409700"/>
            <a:ext cx="4445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DEMO AND SANDBOX ACCESS</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04800" y="1663700"/>
          <a:ext cx="4470400" cy="914400"/>
        </p:xfrm>
        <a:graphic>
          <a:graphicData uri="http://schemas.openxmlformats.org/drawingml/2006/table">
            <a:tbl>
              <a:tblPr/>
              <a:tblGrid>
                <a:gridCol w="1079500"/>
                <a:gridCol w="2184400"/>
                <a:gridCol w="1206500"/>
              </a:tblGrid>
              <a:tr h="6096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Level</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Access</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Value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6096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Registered</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Limited demo environment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Up to $2,500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6096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Silver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Partner demo tenant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Up to $5,000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6096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Gold</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Demo + pilot toolkit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Up to $10,000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6096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Platinum</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Advanced demo + integration sandbox</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Up to $25,000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6096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Elite</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Strategic lab / multi-country demo</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Up to $50,000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384800" y="1409700"/>
            <a:ext cx="6350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SUPPORT BENEFITS</a:t>
            </a:r>
            <a:endParaRPr lang="en-US" sz="85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5384800" y="1663700"/>
          <a:ext cx="6502400" cy="914400"/>
        </p:xfrm>
        <a:graphic>
          <a:graphicData uri="http://schemas.openxmlformats.org/drawingml/2006/table">
            <a:tbl>
              <a:tblPr/>
              <a:tblGrid>
                <a:gridCol w="2247900"/>
                <a:gridCol w="762000"/>
                <a:gridCol w="825500"/>
                <a:gridCol w="825500"/>
                <a:gridCol w="889000"/>
                <a:gridCol w="952500"/>
              </a:tblGrid>
              <a:tr h="4572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Support benefit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Reg.</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Silver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Gold</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Plat.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194EFF"/>
                    </a:solidFill>
                  </a:tcPr>
                </a:tc>
              </a:tr>
              <a:tr h="457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Portal, knowledge base &amp; email</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94EFF"/>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Priority support</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Limited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b="1" dirty="0">
                          <a:solidFill>
                            <a:srgbClr val="194EFF"/>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57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Partner Success Manager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Shared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Shared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Named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Named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94EFF"/>
                          </a:solidFill>
                          <a:latin typeface="Plus Jakarta Sans" pitchFamily="34" charset="0"/>
                          <a:ea typeface="Plus Jakarta Sans" pitchFamily="34" charset="-122"/>
                          <a:cs typeface="Plus Jakarta Sans" pitchFamily="34" charset="-120"/>
                        </a:rPr>
                        <a:t>Strategic</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Product consultation cases / yr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10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25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50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100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b="1" dirty="0">
                          <a:solidFill>
                            <a:srgbClr val="194EFF"/>
                          </a:solidFill>
                          <a:latin typeface="Plus Jakarta Sans" pitchFamily="34" charset="0"/>
                          <a:ea typeface="Plus Jakarta Sans" pitchFamily="34" charset="-122"/>
                          <a:cs typeface="Plus Jakarta Sans" pitchFamily="34" charset="-120"/>
                        </a:rPr>
                        <a:t>Fair use</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57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Architecture advisory hrs / yr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15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40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94EFF"/>
                          </a:solidFill>
                          <a:latin typeface="Plus Jakarta Sans" pitchFamily="34" charset="0"/>
                          <a:ea typeface="Plus Jakarta Sans" pitchFamily="34" charset="-122"/>
                          <a:cs typeface="Plus Jakarta Sans" pitchFamily="34" charset="-120"/>
                        </a:rPr>
                        <a:t>100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R&amp;D expert consultations / yr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1</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2</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4</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00" b="1" dirty="0">
                          <a:solidFill>
                            <a:srgbClr val="194EFF"/>
                          </a:solidFill>
                          <a:latin typeface="Plus Jakarta Sans" pitchFamily="34" charset="0"/>
                          <a:ea typeface="Plus Jakarta Sans" pitchFamily="34" charset="-122"/>
                          <a:cs typeface="Plus Jakarta Sans" pitchFamily="34" charset="-120"/>
                        </a:rPr>
                        <a:t>8</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57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Executive roadmap session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Annual</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3151C"/>
                          </a:solidFill>
                          <a:latin typeface="Plus Jakarta Sans" pitchFamily="34" charset="0"/>
                          <a:ea typeface="Plus Jakarta Sans" pitchFamily="34" charset="-122"/>
                          <a:cs typeface="Plus Jakarta Sans" pitchFamily="34" charset="-120"/>
                        </a:rPr>
                        <a:t>Semi-ann.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94EFF"/>
                          </a:solidFill>
                          <a:latin typeface="Plus Jakarta Sans" pitchFamily="34" charset="0"/>
                          <a:ea typeface="Plus Jakarta Sans" pitchFamily="34" charset="-122"/>
                          <a:cs typeface="Plus Jakarta Sans" pitchFamily="34" charset="-120"/>
                        </a:rPr>
                        <a:t>Quarterly</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bl>
          </a:graphicData>
        </a:graphic>
      </p:graphicFrame>
      <p:sp>
        <p:nvSpPr>
          <p:cNvPr id="11" name="Shape 7"/>
          <p:cNvSpPr/>
          <p:nvPr/>
        </p:nvSpPr>
        <p:spPr>
          <a:xfrm>
            <a:off x="0" y="5842000"/>
            <a:ext cx="12192000" cy="1016000"/>
          </a:xfrm>
          <a:prstGeom prst="rect">
            <a:avLst/>
          </a:prstGeom>
          <a:solidFill>
            <a:srgbClr val="F5F9FB"/>
          </a:solidFill>
          <a:ln/>
        </p:spPr>
      </p:sp>
      <p:pic>
        <p:nvPicPr>
          <p:cNvPr id="12"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13"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14" name="Text 8"/>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Launch Support</a:t>
            </a:r>
            <a:endParaRPr lang="en-US" sz="1200" dirty="0"/>
          </a:p>
        </p:txBody>
      </p:sp>
      <p:sp>
        <p:nvSpPr>
          <p:cNvPr id="15" name="Text 9"/>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000" dirty="0">
                <a:solidFill>
                  <a:srgbClr val="13151C"/>
                </a:solidFill>
                <a:latin typeface="Plus Jakarta Sans Medium" pitchFamily="34" charset="0"/>
                <a:ea typeface="Plus Jakarta Sans Medium" pitchFamily="34" charset="-122"/>
                <a:cs typeface="Plus Jakarta Sans Medium" pitchFamily="34" charset="-120"/>
              </a:rPr>
              <a:t>Your first 3 qualified opportunities get discovery coaching, demo prep, scoping, use-case mapping, pilot planning, proposal review and executive-meeting prep.</a:t>
            </a:r>
            <a:endParaRPr lang="en-US" sz="1000" dirty="0"/>
          </a:p>
        </p:txBody>
      </p:sp>
      <p:sp>
        <p:nvSpPr>
          <p:cNvPr id="16" name="Text 10"/>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19–20 · ACTIVATION PACKAGES &amp; CUSTOMER SUCCESS</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Accelerate your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launch</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0" y="1250950"/>
            <a:ext cx="3041650" cy="698500"/>
          </a:xfrm>
          <a:prstGeom prst="rect">
            <a:avLst/>
          </a:prstGeom>
          <a:solidFill>
            <a:srgbClr val="EDF1FF"/>
          </a:solidFill>
          <a:ln/>
        </p:spPr>
      </p:sp>
      <p:sp>
        <p:nvSpPr>
          <p:cNvPr id="7" name="Text 5"/>
          <p:cNvSpPr txBox="1"/>
          <p:nvPr/>
        </p:nvSpPr>
        <p:spPr>
          <a:xfrm>
            <a:off x="254000" y="1397000"/>
            <a:ext cx="2540000" cy="139700"/>
          </a:xfrm>
          <a:prstGeom prst="rect">
            <a:avLst/>
          </a:prstGeom>
          <a:noFill/>
          <a:ln/>
        </p:spPr>
        <p:txBody>
          <a:bodyPr wrap="square" lIns="0" tIns="0" rIns="0" bIns="0" rtlCol="0" anchor="t"/>
          <a:lstStyle/>
          <a:p>
            <a:pPr algn="l" indent="0" marL="0">
              <a:lnSpc>
                <a:spcPct val="112000"/>
              </a:lnSpc>
              <a:buNone/>
            </a:pPr>
            <a:r>
              <a:rPr lang="en-US" sz="800" spc="150" kern="0" dirty="0">
                <a:solidFill>
                  <a:srgbClr val="194EFF"/>
                </a:solidFill>
                <a:latin typeface="Plus Jakarta Sans SemiBold" pitchFamily="34" charset="0"/>
                <a:ea typeface="Plus Jakarta Sans SemiBold" pitchFamily="34" charset="-122"/>
                <a:cs typeface="Plus Jakarta Sans SemiBold" pitchFamily="34" charset="-120"/>
              </a:rPr>
              <a:t>LEVEL 1–2</a:t>
            </a:r>
            <a:endParaRPr lang="en-US" sz="800" dirty="0"/>
          </a:p>
        </p:txBody>
      </p:sp>
      <p:sp>
        <p:nvSpPr>
          <p:cNvPr id="8" name="Text 6"/>
          <p:cNvSpPr txBox="1"/>
          <p:nvPr/>
        </p:nvSpPr>
        <p:spPr>
          <a:xfrm>
            <a:off x="254000" y="1562100"/>
            <a:ext cx="2667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3151C"/>
                </a:solidFill>
                <a:latin typeface="Plus Jakarta Sans" pitchFamily="34" charset="0"/>
                <a:ea typeface="Plus Jakarta Sans" pitchFamily="34" charset="-122"/>
                <a:cs typeface="Plus Jakarta Sans" pitchFamily="34" charset="-120"/>
              </a:rPr>
              <a:t>Foundation</a:t>
            </a:r>
            <a:endParaRPr lang="en-US" sz="1600" dirty="0"/>
          </a:p>
        </p:txBody>
      </p:sp>
      <p:sp>
        <p:nvSpPr>
          <p:cNvPr id="9" name="Shape 7"/>
          <p:cNvSpPr/>
          <p:nvPr/>
        </p:nvSpPr>
        <p:spPr>
          <a:xfrm>
            <a:off x="0" y="1949450"/>
            <a:ext cx="3048000" cy="6350"/>
          </a:xfrm>
          <a:prstGeom prst="rect">
            <a:avLst/>
          </a:prstGeom>
          <a:solidFill>
            <a:srgbClr val="CDD0D9"/>
          </a:solidFill>
          <a:ln/>
        </p:spPr>
      </p:sp>
      <p:sp>
        <p:nvSpPr>
          <p:cNvPr id="10" name="Text 8"/>
          <p:cNvSpPr txBox="1"/>
          <p:nvPr/>
        </p:nvSpPr>
        <p:spPr>
          <a:xfrm>
            <a:off x="254000" y="2108200"/>
            <a:ext cx="2667000" cy="571500"/>
          </a:xfrm>
          <a:prstGeom prst="rect">
            <a:avLst/>
          </a:prstGeom>
          <a:noFill/>
          <a:ln/>
        </p:spPr>
        <p:txBody>
          <a:bodyPr wrap="square" lIns="0" tIns="0" rIns="0" bIns="0" rtlCol="0" anchor="t"/>
          <a:lstStyle/>
          <a:p>
            <a:pPr algn="l" indent="0" marL="0">
              <a:lnSpc>
                <a:spcPct val="112000"/>
              </a:lnSpc>
              <a:buNone/>
            </a:pPr>
            <a:r>
              <a:rPr lang="en-US" sz="3600" b="1" dirty="0">
                <a:solidFill>
                  <a:srgbClr val="13151C"/>
                </a:solidFill>
                <a:latin typeface="Plus Jakarta Sans" pitchFamily="34" charset="0"/>
                <a:ea typeface="Plus Jakarta Sans" pitchFamily="34" charset="-122"/>
                <a:cs typeface="Plus Jakarta Sans" pitchFamily="34" charset="-120"/>
              </a:rPr>
              <a:t>$2,500</a:t>
            </a:r>
            <a:endParaRPr lang="en-US" sz="3600" dirty="0"/>
          </a:p>
        </p:txBody>
      </p:sp>
      <p:sp>
        <p:nvSpPr>
          <p:cNvPr id="11" name="Text 9"/>
          <p:cNvSpPr txBox="1"/>
          <p:nvPr/>
        </p:nvSpPr>
        <p:spPr>
          <a:xfrm>
            <a:off x="254000" y="2794000"/>
            <a:ext cx="2540000" cy="952500"/>
          </a:xfrm>
          <a:prstGeom prst="rect">
            <a:avLst/>
          </a:prstGeom>
          <a:noFill/>
          <a:ln/>
        </p:spPr>
        <p:txBody>
          <a:bodyPr wrap="square" lIns="0" tIns="0" rIns="0" bIns="0" rtlCol="0" anchor="t"/>
          <a:lstStyle/>
          <a:p>
            <a:pPr algn="l" indent="0" marL="0">
              <a:lnSpc>
                <a:spcPct val="125000"/>
              </a:lnSpc>
              <a:buNone/>
            </a:pPr>
            <a:r>
              <a:rPr lang="en-US" sz="1000" dirty="0">
                <a:solidFill>
                  <a:srgbClr val="5A5C63"/>
                </a:solidFill>
                <a:latin typeface="Plus Jakarta Sans" pitchFamily="34" charset="0"/>
                <a:ea typeface="Plus Jakarta Sans" pitchFamily="34" charset="-122"/>
                <a:cs typeface="Plus Jakarta Sans" pitchFamily="34" charset="-120"/>
              </a:rPr>
              <a:t>Sales onboarding, basic demo, 2 certifications, portal.</a:t>
            </a:r>
            <a:endParaRPr lang="en-US" sz="1000" dirty="0"/>
          </a:p>
        </p:txBody>
      </p:sp>
      <p:sp>
        <p:nvSpPr>
          <p:cNvPr id="12" name="Shape 10"/>
          <p:cNvSpPr/>
          <p:nvPr/>
        </p:nvSpPr>
        <p:spPr>
          <a:xfrm>
            <a:off x="3048000" y="1244600"/>
            <a:ext cx="6350" cy="2819400"/>
          </a:xfrm>
          <a:prstGeom prst="rect">
            <a:avLst/>
          </a:prstGeom>
          <a:solidFill>
            <a:srgbClr val="CDD0D9"/>
          </a:solidFill>
          <a:ln/>
        </p:spPr>
      </p:sp>
      <p:sp>
        <p:nvSpPr>
          <p:cNvPr id="13" name="Shape 11"/>
          <p:cNvSpPr/>
          <p:nvPr/>
        </p:nvSpPr>
        <p:spPr>
          <a:xfrm>
            <a:off x="3054350" y="1250950"/>
            <a:ext cx="3041650" cy="698500"/>
          </a:xfrm>
          <a:prstGeom prst="rect">
            <a:avLst/>
          </a:prstGeom>
          <a:solidFill>
            <a:srgbClr val="EDF1FF"/>
          </a:solidFill>
          <a:ln/>
        </p:spPr>
      </p:sp>
      <p:sp>
        <p:nvSpPr>
          <p:cNvPr id="14" name="Text 12"/>
          <p:cNvSpPr txBox="1"/>
          <p:nvPr/>
        </p:nvSpPr>
        <p:spPr>
          <a:xfrm>
            <a:off x="3302000" y="1397000"/>
            <a:ext cx="2540000" cy="139700"/>
          </a:xfrm>
          <a:prstGeom prst="rect">
            <a:avLst/>
          </a:prstGeom>
          <a:noFill/>
          <a:ln/>
        </p:spPr>
        <p:txBody>
          <a:bodyPr wrap="square" lIns="0" tIns="0" rIns="0" bIns="0" rtlCol="0" anchor="t"/>
          <a:lstStyle/>
          <a:p>
            <a:pPr algn="l" indent="0" marL="0">
              <a:lnSpc>
                <a:spcPct val="112000"/>
              </a:lnSpc>
              <a:buNone/>
            </a:pPr>
            <a:r>
              <a:rPr lang="en-US" sz="800" spc="150" kern="0" dirty="0">
                <a:solidFill>
                  <a:srgbClr val="194EFF"/>
                </a:solidFill>
                <a:latin typeface="Plus Jakarta Sans SemiBold" pitchFamily="34" charset="0"/>
                <a:ea typeface="Plus Jakarta Sans SemiBold" pitchFamily="34" charset="-122"/>
                <a:cs typeface="Plus Jakarta Sans SemiBold" pitchFamily="34" charset="-120"/>
              </a:rPr>
              <a:t>LEVEL 2–4</a:t>
            </a:r>
            <a:endParaRPr lang="en-US" sz="800" dirty="0"/>
          </a:p>
        </p:txBody>
      </p:sp>
      <p:sp>
        <p:nvSpPr>
          <p:cNvPr id="15" name="Text 13"/>
          <p:cNvSpPr txBox="1"/>
          <p:nvPr/>
        </p:nvSpPr>
        <p:spPr>
          <a:xfrm>
            <a:off x="3302000" y="1562100"/>
            <a:ext cx="2667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3151C"/>
                </a:solidFill>
                <a:latin typeface="Plus Jakarta Sans" pitchFamily="34" charset="0"/>
                <a:ea typeface="Plus Jakarta Sans" pitchFamily="34" charset="-122"/>
                <a:cs typeface="Plus Jakarta Sans" pitchFamily="34" charset="-120"/>
              </a:rPr>
              <a:t>Growth</a:t>
            </a:r>
            <a:endParaRPr lang="en-US" sz="1600" dirty="0"/>
          </a:p>
        </p:txBody>
      </p:sp>
      <p:sp>
        <p:nvSpPr>
          <p:cNvPr id="16" name="Shape 14"/>
          <p:cNvSpPr/>
          <p:nvPr/>
        </p:nvSpPr>
        <p:spPr>
          <a:xfrm>
            <a:off x="3048000" y="1949450"/>
            <a:ext cx="3048000" cy="6350"/>
          </a:xfrm>
          <a:prstGeom prst="rect">
            <a:avLst/>
          </a:prstGeom>
          <a:solidFill>
            <a:srgbClr val="CDD0D9"/>
          </a:solidFill>
          <a:ln/>
        </p:spPr>
      </p:sp>
      <p:sp>
        <p:nvSpPr>
          <p:cNvPr id="17" name="Text 15"/>
          <p:cNvSpPr txBox="1"/>
          <p:nvPr/>
        </p:nvSpPr>
        <p:spPr>
          <a:xfrm>
            <a:off x="3302000" y="2108200"/>
            <a:ext cx="2667000" cy="571500"/>
          </a:xfrm>
          <a:prstGeom prst="rect">
            <a:avLst/>
          </a:prstGeom>
          <a:noFill/>
          <a:ln/>
        </p:spPr>
        <p:txBody>
          <a:bodyPr wrap="square" lIns="0" tIns="0" rIns="0" bIns="0" rtlCol="0" anchor="t"/>
          <a:lstStyle/>
          <a:p>
            <a:pPr algn="l" indent="0" marL="0">
              <a:lnSpc>
                <a:spcPct val="112000"/>
              </a:lnSpc>
              <a:buNone/>
            </a:pPr>
            <a:r>
              <a:rPr lang="en-US" sz="3600" b="1" dirty="0">
                <a:solidFill>
                  <a:srgbClr val="13151C"/>
                </a:solidFill>
                <a:latin typeface="Plus Jakarta Sans" pitchFamily="34" charset="0"/>
                <a:ea typeface="Plus Jakarta Sans" pitchFamily="34" charset="-122"/>
                <a:cs typeface="Plus Jakarta Sans" pitchFamily="34" charset="-120"/>
              </a:rPr>
              <a:t>$5,000</a:t>
            </a:r>
            <a:endParaRPr lang="en-US" sz="3600" dirty="0"/>
          </a:p>
        </p:txBody>
      </p:sp>
      <p:sp>
        <p:nvSpPr>
          <p:cNvPr id="18" name="Text 16"/>
          <p:cNvSpPr txBox="1"/>
          <p:nvPr/>
        </p:nvSpPr>
        <p:spPr>
          <a:xfrm>
            <a:off x="3302000" y="2794000"/>
            <a:ext cx="2540000" cy="952500"/>
          </a:xfrm>
          <a:prstGeom prst="rect">
            <a:avLst/>
          </a:prstGeom>
          <a:noFill/>
          <a:ln/>
        </p:spPr>
        <p:txBody>
          <a:bodyPr wrap="square" lIns="0" tIns="0" rIns="0" bIns="0" rtlCol="0" anchor="t"/>
          <a:lstStyle/>
          <a:p>
            <a:pPr algn="l" indent="0" marL="0">
              <a:lnSpc>
                <a:spcPct val="125000"/>
              </a:lnSpc>
              <a:buNone/>
            </a:pPr>
            <a:r>
              <a:rPr lang="en-US" sz="1000" dirty="0">
                <a:solidFill>
                  <a:srgbClr val="5A5C63"/>
                </a:solidFill>
                <a:latin typeface="Plus Jakarta Sans" pitchFamily="34" charset="0"/>
                <a:ea typeface="Plus Jakarta Sans" pitchFamily="34" charset="-122"/>
                <a:cs typeface="Plus Jakarta Sans" pitchFamily="34" charset="-120"/>
              </a:rPr>
              <a:t>Demo access, 5 certifications, 10 advisory hours, GTM workshop.</a:t>
            </a:r>
            <a:endParaRPr lang="en-US" sz="1000" dirty="0"/>
          </a:p>
        </p:txBody>
      </p:sp>
      <p:sp>
        <p:nvSpPr>
          <p:cNvPr id="19" name="Shape 17"/>
          <p:cNvSpPr/>
          <p:nvPr/>
        </p:nvSpPr>
        <p:spPr>
          <a:xfrm>
            <a:off x="6096000" y="1244600"/>
            <a:ext cx="6350" cy="2819400"/>
          </a:xfrm>
          <a:prstGeom prst="rect">
            <a:avLst/>
          </a:prstGeom>
          <a:solidFill>
            <a:srgbClr val="CDD0D9"/>
          </a:solidFill>
          <a:ln/>
        </p:spPr>
      </p:sp>
      <p:sp>
        <p:nvSpPr>
          <p:cNvPr id="20" name="Shape 18"/>
          <p:cNvSpPr/>
          <p:nvPr/>
        </p:nvSpPr>
        <p:spPr>
          <a:xfrm>
            <a:off x="6102350" y="1250950"/>
            <a:ext cx="3041650" cy="698500"/>
          </a:xfrm>
          <a:prstGeom prst="rect">
            <a:avLst/>
          </a:prstGeom>
          <a:solidFill>
            <a:srgbClr val="EDF1FF"/>
          </a:solidFill>
          <a:ln/>
        </p:spPr>
      </p:sp>
      <p:sp>
        <p:nvSpPr>
          <p:cNvPr id="21" name="Text 19"/>
          <p:cNvSpPr txBox="1"/>
          <p:nvPr/>
        </p:nvSpPr>
        <p:spPr>
          <a:xfrm>
            <a:off x="6350000" y="1397000"/>
            <a:ext cx="2540000" cy="139700"/>
          </a:xfrm>
          <a:prstGeom prst="rect">
            <a:avLst/>
          </a:prstGeom>
          <a:noFill/>
          <a:ln/>
        </p:spPr>
        <p:txBody>
          <a:bodyPr wrap="square" lIns="0" tIns="0" rIns="0" bIns="0" rtlCol="0" anchor="t"/>
          <a:lstStyle/>
          <a:p>
            <a:pPr algn="l" indent="0" marL="0">
              <a:lnSpc>
                <a:spcPct val="112000"/>
              </a:lnSpc>
              <a:buNone/>
            </a:pPr>
            <a:r>
              <a:rPr lang="en-US" sz="800" spc="150" kern="0" dirty="0">
                <a:solidFill>
                  <a:srgbClr val="194EFF"/>
                </a:solidFill>
                <a:latin typeface="Plus Jakarta Sans SemiBold" pitchFamily="34" charset="0"/>
                <a:ea typeface="Plus Jakarta Sans SemiBold" pitchFamily="34" charset="-122"/>
                <a:cs typeface="Plus Jakarta Sans SemiBold" pitchFamily="34" charset="-120"/>
              </a:rPr>
              <a:t>LEVEL 3–5</a:t>
            </a:r>
            <a:endParaRPr lang="en-US" sz="800" dirty="0"/>
          </a:p>
        </p:txBody>
      </p:sp>
      <p:sp>
        <p:nvSpPr>
          <p:cNvPr id="22" name="Text 20"/>
          <p:cNvSpPr txBox="1"/>
          <p:nvPr/>
        </p:nvSpPr>
        <p:spPr>
          <a:xfrm>
            <a:off x="6350000" y="1562100"/>
            <a:ext cx="2667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13151C"/>
                </a:solidFill>
                <a:latin typeface="Plus Jakarta Sans" pitchFamily="34" charset="0"/>
                <a:ea typeface="Plus Jakarta Sans" pitchFamily="34" charset="-122"/>
                <a:cs typeface="Plus Jakarta Sans" pitchFamily="34" charset="-120"/>
              </a:rPr>
              <a:t>Practice Builder</a:t>
            </a:r>
            <a:endParaRPr lang="en-US" sz="1600" dirty="0"/>
          </a:p>
        </p:txBody>
      </p:sp>
      <p:sp>
        <p:nvSpPr>
          <p:cNvPr id="23" name="Shape 21"/>
          <p:cNvSpPr/>
          <p:nvPr/>
        </p:nvSpPr>
        <p:spPr>
          <a:xfrm>
            <a:off x="6096000" y="1949450"/>
            <a:ext cx="3048000" cy="6350"/>
          </a:xfrm>
          <a:prstGeom prst="rect">
            <a:avLst/>
          </a:prstGeom>
          <a:solidFill>
            <a:srgbClr val="CDD0D9"/>
          </a:solidFill>
          <a:ln/>
        </p:spPr>
      </p:sp>
      <p:sp>
        <p:nvSpPr>
          <p:cNvPr id="24" name="Text 22"/>
          <p:cNvSpPr txBox="1"/>
          <p:nvPr/>
        </p:nvSpPr>
        <p:spPr>
          <a:xfrm>
            <a:off x="6350000" y="2108200"/>
            <a:ext cx="2667000" cy="571500"/>
          </a:xfrm>
          <a:prstGeom prst="rect">
            <a:avLst/>
          </a:prstGeom>
          <a:noFill/>
          <a:ln/>
        </p:spPr>
        <p:txBody>
          <a:bodyPr wrap="square" lIns="0" tIns="0" rIns="0" bIns="0" rtlCol="0" anchor="t"/>
          <a:lstStyle/>
          <a:p>
            <a:pPr algn="l" indent="0" marL="0">
              <a:lnSpc>
                <a:spcPct val="112000"/>
              </a:lnSpc>
              <a:buNone/>
            </a:pPr>
            <a:r>
              <a:rPr lang="en-US" sz="3600" b="1" dirty="0">
                <a:solidFill>
                  <a:srgbClr val="13151C"/>
                </a:solidFill>
                <a:latin typeface="Plus Jakarta Sans" pitchFamily="34" charset="0"/>
                <a:ea typeface="Plus Jakarta Sans" pitchFamily="34" charset="-122"/>
                <a:cs typeface="Plus Jakarta Sans" pitchFamily="34" charset="-120"/>
              </a:rPr>
              <a:t>$10,000</a:t>
            </a:r>
            <a:endParaRPr lang="en-US" sz="3600" dirty="0"/>
          </a:p>
        </p:txBody>
      </p:sp>
      <p:sp>
        <p:nvSpPr>
          <p:cNvPr id="25" name="Text 23"/>
          <p:cNvSpPr txBox="1"/>
          <p:nvPr/>
        </p:nvSpPr>
        <p:spPr>
          <a:xfrm>
            <a:off x="6350000" y="2794000"/>
            <a:ext cx="2540000" cy="952500"/>
          </a:xfrm>
          <a:prstGeom prst="rect">
            <a:avLst/>
          </a:prstGeom>
          <a:noFill/>
          <a:ln/>
        </p:spPr>
        <p:txBody>
          <a:bodyPr wrap="square" lIns="0" tIns="0" rIns="0" bIns="0" rtlCol="0" anchor="t"/>
          <a:lstStyle/>
          <a:p>
            <a:pPr algn="l" indent="0" marL="0">
              <a:lnSpc>
                <a:spcPct val="125000"/>
              </a:lnSpc>
              <a:buNone/>
            </a:pPr>
            <a:r>
              <a:rPr lang="en-US" sz="1000" dirty="0">
                <a:solidFill>
                  <a:srgbClr val="5A5C63"/>
                </a:solidFill>
                <a:latin typeface="Plus Jakarta Sans" pitchFamily="34" charset="0"/>
                <a:ea typeface="Plus Jakarta Sans" pitchFamily="34" charset="-122"/>
                <a:cs typeface="Plus Jakarta Sans" pitchFamily="34" charset="-120"/>
              </a:rPr>
              <a:t>Advanced sandbox, 10 certifications, 25 advisory hours, architecture workshop.</a:t>
            </a:r>
            <a:endParaRPr lang="en-US" sz="1000" dirty="0"/>
          </a:p>
        </p:txBody>
      </p:sp>
      <p:sp>
        <p:nvSpPr>
          <p:cNvPr id="26" name="Shape 24"/>
          <p:cNvSpPr/>
          <p:nvPr/>
        </p:nvSpPr>
        <p:spPr>
          <a:xfrm>
            <a:off x="9144000" y="1244600"/>
            <a:ext cx="6350" cy="2819400"/>
          </a:xfrm>
          <a:prstGeom prst="rect">
            <a:avLst/>
          </a:prstGeom>
          <a:solidFill>
            <a:srgbClr val="CDD0D9"/>
          </a:solidFill>
          <a:ln/>
        </p:spPr>
      </p:sp>
      <p:sp>
        <p:nvSpPr>
          <p:cNvPr id="27" name="Shape 25"/>
          <p:cNvSpPr/>
          <p:nvPr/>
        </p:nvSpPr>
        <p:spPr>
          <a:xfrm>
            <a:off x="9150350" y="1250950"/>
            <a:ext cx="3041650" cy="698500"/>
          </a:xfrm>
          <a:prstGeom prst="rect">
            <a:avLst/>
          </a:prstGeom>
          <a:solidFill>
            <a:srgbClr val="194EFF"/>
          </a:solidFill>
          <a:ln/>
        </p:spPr>
      </p:sp>
      <p:sp>
        <p:nvSpPr>
          <p:cNvPr id="28" name="Text 26"/>
          <p:cNvSpPr txBox="1"/>
          <p:nvPr/>
        </p:nvSpPr>
        <p:spPr>
          <a:xfrm>
            <a:off x="9398000" y="1397000"/>
            <a:ext cx="2540000" cy="139700"/>
          </a:xfrm>
          <a:prstGeom prst="rect">
            <a:avLst/>
          </a:prstGeom>
          <a:noFill/>
          <a:ln/>
        </p:spPr>
        <p:txBody>
          <a:bodyPr wrap="square" lIns="0" tIns="0" rIns="0" bIns="0" rtlCol="0" anchor="t"/>
          <a:lstStyle/>
          <a:p>
            <a:pPr algn="l" indent="0" marL="0">
              <a:lnSpc>
                <a:spcPct val="112000"/>
              </a:lnSpc>
              <a:buNone/>
            </a:pPr>
            <a:r>
              <a:rPr lang="en-US" sz="800" spc="150" kern="0" dirty="0">
                <a:solidFill>
                  <a:srgbClr val="FFFFFF"/>
                </a:solidFill>
                <a:latin typeface="Plus Jakarta Sans SemiBold" pitchFamily="34" charset="0"/>
                <a:ea typeface="Plus Jakarta Sans SemiBold" pitchFamily="34" charset="-122"/>
                <a:cs typeface="Plus Jakarta Sans SemiBold" pitchFamily="34" charset="-120"/>
              </a:rPr>
              <a:t>LEVEL 4–5</a:t>
            </a:r>
            <a:endParaRPr lang="en-US" sz="800" dirty="0"/>
          </a:p>
        </p:txBody>
      </p:sp>
      <p:sp>
        <p:nvSpPr>
          <p:cNvPr id="29" name="Text 27"/>
          <p:cNvSpPr txBox="1"/>
          <p:nvPr/>
        </p:nvSpPr>
        <p:spPr>
          <a:xfrm>
            <a:off x="9398000" y="1562100"/>
            <a:ext cx="2667000" cy="292100"/>
          </a:xfrm>
          <a:prstGeom prst="rect">
            <a:avLst/>
          </a:prstGeom>
          <a:noFill/>
          <a:ln/>
        </p:spPr>
        <p:txBody>
          <a:bodyPr wrap="square" lIns="0" tIns="0" rIns="0" bIns="0" rtlCol="0" anchor="t"/>
          <a:lstStyle/>
          <a:p>
            <a:pPr algn="l" indent="0" marL="0">
              <a:lnSpc>
                <a:spcPct val="112000"/>
              </a:lnSpc>
              <a:buNone/>
            </a:pPr>
            <a:r>
              <a:rPr lang="en-US" sz="1600" b="1" dirty="0">
                <a:solidFill>
                  <a:srgbClr val="FFFFFF"/>
                </a:solidFill>
                <a:latin typeface="Plus Jakarta Sans" pitchFamily="34" charset="0"/>
                <a:ea typeface="Plus Jakarta Sans" pitchFamily="34" charset="-122"/>
                <a:cs typeface="Plus Jakarta Sans" pitchFamily="34" charset="-120"/>
              </a:rPr>
              <a:t>Strategic Alliance</a:t>
            </a:r>
            <a:endParaRPr lang="en-US" sz="1600" dirty="0"/>
          </a:p>
        </p:txBody>
      </p:sp>
      <p:sp>
        <p:nvSpPr>
          <p:cNvPr id="30" name="Shape 28"/>
          <p:cNvSpPr/>
          <p:nvPr/>
        </p:nvSpPr>
        <p:spPr>
          <a:xfrm>
            <a:off x="9144000" y="1949450"/>
            <a:ext cx="3048000" cy="6350"/>
          </a:xfrm>
          <a:prstGeom prst="rect">
            <a:avLst/>
          </a:prstGeom>
          <a:solidFill>
            <a:srgbClr val="CDD0D9"/>
          </a:solidFill>
          <a:ln/>
        </p:spPr>
      </p:sp>
      <p:sp>
        <p:nvSpPr>
          <p:cNvPr id="31" name="Text 29"/>
          <p:cNvSpPr txBox="1"/>
          <p:nvPr/>
        </p:nvSpPr>
        <p:spPr>
          <a:xfrm>
            <a:off x="9398000" y="2108200"/>
            <a:ext cx="2667000" cy="571500"/>
          </a:xfrm>
          <a:prstGeom prst="rect">
            <a:avLst/>
          </a:prstGeom>
          <a:noFill/>
          <a:ln/>
        </p:spPr>
        <p:txBody>
          <a:bodyPr wrap="square" lIns="0" tIns="0" rIns="0" bIns="0" rtlCol="0" anchor="t"/>
          <a:lstStyle/>
          <a:p>
            <a:pPr algn="l" indent="0" marL="0">
              <a:lnSpc>
                <a:spcPct val="112000"/>
              </a:lnSpc>
              <a:buNone/>
            </a:pPr>
            <a:r>
              <a:rPr lang="en-US" sz="3600" b="1" dirty="0">
                <a:solidFill>
                  <a:srgbClr val="13151C"/>
                </a:solidFill>
                <a:latin typeface="Plus Jakarta Sans" pitchFamily="34" charset="0"/>
                <a:ea typeface="Plus Jakarta Sans" pitchFamily="34" charset="-122"/>
                <a:cs typeface="Plus Jakarta Sans" pitchFamily="34" charset="-120"/>
              </a:rPr>
              <a:t>$20,000</a:t>
            </a:r>
            <a:endParaRPr lang="en-US" sz="3600" dirty="0"/>
          </a:p>
        </p:txBody>
      </p:sp>
      <p:sp>
        <p:nvSpPr>
          <p:cNvPr id="32" name="Text 30"/>
          <p:cNvSpPr txBox="1"/>
          <p:nvPr/>
        </p:nvSpPr>
        <p:spPr>
          <a:xfrm>
            <a:off x="9398000" y="2794000"/>
            <a:ext cx="2540000" cy="952500"/>
          </a:xfrm>
          <a:prstGeom prst="rect">
            <a:avLst/>
          </a:prstGeom>
          <a:noFill/>
          <a:ln/>
        </p:spPr>
        <p:txBody>
          <a:bodyPr wrap="square" lIns="0" tIns="0" rIns="0" bIns="0" rtlCol="0" anchor="t"/>
          <a:lstStyle/>
          <a:p>
            <a:pPr algn="l" indent="0" marL="0">
              <a:lnSpc>
                <a:spcPct val="125000"/>
              </a:lnSpc>
              <a:buNone/>
            </a:pPr>
            <a:r>
              <a:rPr lang="en-US" sz="1000" dirty="0">
                <a:solidFill>
                  <a:srgbClr val="5A5C63"/>
                </a:solidFill>
                <a:latin typeface="Plus Jakarta Sans" pitchFamily="34" charset="0"/>
                <a:ea typeface="Plus Jakarta Sans" pitchFamily="34" charset="-122"/>
                <a:cs typeface="Plus Jakarta Sans" pitchFamily="34" charset="-120"/>
              </a:rPr>
              <a:t>Executive enablement, joint account mapping, 50 advisory hours, roadmap session.</a:t>
            </a:r>
            <a:endParaRPr lang="en-US" sz="1000" dirty="0"/>
          </a:p>
        </p:txBody>
      </p:sp>
      <p:sp>
        <p:nvSpPr>
          <p:cNvPr id="33" name="Shape 31"/>
          <p:cNvSpPr/>
          <p:nvPr/>
        </p:nvSpPr>
        <p:spPr>
          <a:xfrm>
            <a:off x="0" y="4064000"/>
            <a:ext cx="12192000" cy="6350"/>
          </a:xfrm>
          <a:prstGeom prst="rect">
            <a:avLst/>
          </a:prstGeom>
          <a:solidFill>
            <a:srgbClr val="CDD0D9"/>
          </a:solidFill>
          <a:ln/>
        </p:spPr>
      </p:sp>
      <p:sp>
        <p:nvSpPr>
          <p:cNvPr id="34" name="Text 32"/>
          <p:cNvSpPr txBox="1"/>
          <p:nvPr/>
        </p:nvSpPr>
        <p:spPr>
          <a:xfrm>
            <a:off x="304800" y="4216400"/>
            <a:ext cx="5715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SHARED CUSTOMER-SUCCESS COMMITMENT</a:t>
            </a:r>
            <a:endParaRPr lang="en-US" sz="850" dirty="0"/>
          </a:p>
        </p:txBody>
      </p:sp>
      <p:sp>
        <p:nvSpPr>
          <p:cNvPr id="35" name="Shape 33"/>
          <p:cNvSpPr/>
          <p:nvPr/>
        </p:nvSpPr>
        <p:spPr>
          <a:xfrm>
            <a:off x="304800" y="4521200"/>
            <a:ext cx="1778000" cy="1079500"/>
          </a:xfrm>
          <a:prstGeom prst="roundRect">
            <a:avLst>
              <a:gd name="adj" fmla="val 4706"/>
            </a:avLst>
          </a:prstGeom>
          <a:solidFill>
            <a:srgbClr val="F7FBFD"/>
          </a:solidFill>
          <a:ln w="9525">
            <a:solidFill>
              <a:srgbClr val="CDD0D9"/>
            </a:solidFill>
            <a:prstDash val="solid"/>
          </a:ln>
        </p:spPr>
      </p:sp>
      <p:sp>
        <p:nvSpPr>
          <p:cNvPr id="36" name="Text 34"/>
          <p:cNvSpPr txBox="1"/>
          <p:nvPr/>
        </p:nvSpPr>
        <p:spPr>
          <a:xfrm>
            <a:off x="457200" y="4635500"/>
            <a:ext cx="63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01</a:t>
            </a:r>
            <a:endParaRPr lang="en-US" sz="1500" dirty="0"/>
          </a:p>
        </p:txBody>
      </p:sp>
      <p:sp>
        <p:nvSpPr>
          <p:cNvPr id="37" name="Text 35"/>
          <p:cNvSpPr txBox="1"/>
          <p:nvPr/>
        </p:nvSpPr>
        <p:spPr>
          <a:xfrm>
            <a:off x="457200" y="4965700"/>
            <a:ext cx="1524000" cy="5080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Discovery &amp; qualification</a:t>
            </a:r>
            <a:endParaRPr lang="en-US" sz="1050" dirty="0"/>
          </a:p>
        </p:txBody>
      </p:sp>
      <p:sp>
        <p:nvSpPr>
          <p:cNvPr id="38" name="Text 36"/>
          <p:cNvSpPr txBox="1"/>
          <p:nvPr/>
        </p:nvSpPr>
        <p:spPr>
          <a:xfrm>
            <a:off x="2095500" y="4902200"/>
            <a:ext cx="152400" cy="254000"/>
          </a:xfrm>
          <a:prstGeom prst="rect">
            <a:avLst/>
          </a:prstGeom>
          <a:noFill/>
          <a:ln/>
        </p:spPr>
        <p:txBody>
          <a:bodyPr wrap="square" lIns="0" tIns="0" rIns="0" bIns="0" rtlCol="0" anchor="t"/>
          <a:lstStyle/>
          <a:p>
            <a:pPr algn="l" indent="0" marL="0">
              <a:lnSpc>
                <a:spcPct val="112000"/>
              </a:lnSpc>
              <a:buNone/>
            </a:pPr>
            <a:r>
              <a:rPr lang="en-US" sz="1100" b="1" dirty="0">
                <a:solidFill>
                  <a:srgbClr val="194EFF"/>
                </a:solidFill>
                <a:latin typeface="Plus Jakarta Sans" pitchFamily="34" charset="0"/>
                <a:ea typeface="Plus Jakarta Sans" pitchFamily="34" charset="-122"/>
                <a:cs typeface="Plus Jakarta Sans" pitchFamily="34" charset="-120"/>
              </a:rPr>
              <a:t>→</a:t>
            </a:r>
            <a:endParaRPr lang="en-US" sz="1100" dirty="0"/>
          </a:p>
        </p:txBody>
      </p:sp>
      <p:sp>
        <p:nvSpPr>
          <p:cNvPr id="39" name="Shape 37"/>
          <p:cNvSpPr/>
          <p:nvPr/>
        </p:nvSpPr>
        <p:spPr>
          <a:xfrm>
            <a:off x="2235200" y="4521200"/>
            <a:ext cx="1778000" cy="1079500"/>
          </a:xfrm>
          <a:prstGeom prst="roundRect">
            <a:avLst>
              <a:gd name="adj" fmla="val 4706"/>
            </a:avLst>
          </a:prstGeom>
          <a:solidFill>
            <a:srgbClr val="F7FBFD"/>
          </a:solidFill>
          <a:ln w="9525">
            <a:solidFill>
              <a:srgbClr val="CDD0D9"/>
            </a:solidFill>
            <a:prstDash val="solid"/>
          </a:ln>
        </p:spPr>
      </p:sp>
      <p:sp>
        <p:nvSpPr>
          <p:cNvPr id="40" name="Text 38"/>
          <p:cNvSpPr txBox="1"/>
          <p:nvPr/>
        </p:nvSpPr>
        <p:spPr>
          <a:xfrm>
            <a:off x="2387600" y="4635500"/>
            <a:ext cx="63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02</a:t>
            </a:r>
            <a:endParaRPr lang="en-US" sz="1500" dirty="0"/>
          </a:p>
        </p:txBody>
      </p:sp>
      <p:sp>
        <p:nvSpPr>
          <p:cNvPr id="41" name="Text 39"/>
          <p:cNvSpPr txBox="1"/>
          <p:nvPr/>
        </p:nvSpPr>
        <p:spPr>
          <a:xfrm>
            <a:off x="2387600" y="4965700"/>
            <a:ext cx="1524000" cy="5080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Proposal &amp; scoping</a:t>
            </a:r>
            <a:endParaRPr lang="en-US" sz="1050" dirty="0"/>
          </a:p>
        </p:txBody>
      </p:sp>
      <p:sp>
        <p:nvSpPr>
          <p:cNvPr id="42" name="Text 40"/>
          <p:cNvSpPr txBox="1"/>
          <p:nvPr/>
        </p:nvSpPr>
        <p:spPr>
          <a:xfrm>
            <a:off x="4025900" y="4902200"/>
            <a:ext cx="152400" cy="254000"/>
          </a:xfrm>
          <a:prstGeom prst="rect">
            <a:avLst/>
          </a:prstGeom>
          <a:noFill/>
          <a:ln/>
        </p:spPr>
        <p:txBody>
          <a:bodyPr wrap="square" lIns="0" tIns="0" rIns="0" bIns="0" rtlCol="0" anchor="t"/>
          <a:lstStyle/>
          <a:p>
            <a:pPr algn="l" indent="0" marL="0">
              <a:lnSpc>
                <a:spcPct val="112000"/>
              </a:lnSpc>
              <a:buNone/>
            </a:pPr>
            <a:r>
              <a:rPr lang="en-US" sz="1100" b="1" dirty="0">
                <a:solidFill>
                  <a:srgbClr val="194EFF"/>
                </a:solidFill>
                <a:latin typeface="Plus Jakarta Sans" pitchFamily="34" charset="0"/>
                <a:ea typeface="Plus Jakarta Sans" pitchFamily="34" charset="-122"/>
                <a:cs typeface="Plus Jakarta Sans" pitchFamily="34" charset="-120"/>
              </a:rPr>
              <a:t>→</a:t>
            </a:r>
            <a:endParaRPr lang="en-US" sz="1100" dirty="0"/>
          </a:p>
        </p:txBody>
      </p:sp>
      <p:sp>
        <p:nvSpPr>
          <p:cNvPr id="43" name="Shape 41"/>
          <p:cNvSpPr/>
          <p:nvPr/>
        </p:nvSpPr>
        <p:spPr>
          <a:xfrm>
            <a:off x="4165600" y="4521200"/>
            <a:ext cx="1778000" cy="1079500"/>
          </a:xfrm>
          <a:prstGeom prst="roundRect">
            <a:avLst>
              <a:gd name="adj" fmla="val 4706"/>
            </a:avLst>
          </a:prstGeom>
          <a:solidFill>
            <a:srgbClr val="F7FBFD"/>
          </a:solidFill>
          <a:ln w="9525">
            <a:solidFill>
              <a:srgbClr val="CDD0D9"/>
            </a:solidFill>
            <a:prstDash val="solid"/>
          </a:ln>
        </p:spPr>
      </p:sp>
      <p:sp>
        <p:nvSpPr>
          <p:cNvPr id="44" name="Text 42"/>
          <p:cNvSpPr txBox="1"/>
          <p:nvPr/>
        </p:nvSpPr>
        <p:spPr>
          <a:xfrm>
            <a:off x="4318000" y="4635500"/>
            <a:ext cx="63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03</a:t>
            </a:r>
            <a:endParaRPr lang="en-US" sz="1500" dirty="0"/>
          </a:p>
        </p:txBody>
      </p:sp>
      <p:sp>
        <p:nvSpPr>
          <p:cNvPr id="45" name="Text 43"/>
          <p:cNvSpPr txBox="1"/>
          <p:nvPr/>
        </p:nvSpPr>
        <p:spPr>
          <a:xfrm>
            <a:off x="4318000" y="4965700"/>
            <a:ext cx="1524000" cy="5080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Implementation readiness</a:t>
            </a:r>
            <a:endParaRPr lang="en-US" sz="1050" dirty="0"/>
          </a:p>
        </p:txBody>
      </p:sp>
      <p:sp>
        <p:nvSpPr>
          <p:cNvPr id="46" name="Text 44"/>
          <p:cNvSpPr txBox="1"/>
          <p:nvPr/>
        </p:nvSpPr>
        <p:spPr>
          <a:xfrm>
            <a:off x="5956300" y="4902200"/>
            <a:ext cx="152400" cy="254000"/>
          </a:xfrm>
          <a:prstGeom prst="rect">
            <a:avLst/>
          </a:prstGeom>
          <a:noFill/>
          <a:ln/>
        </p:spPr>
        <p:txBody>
          <a:bodyPr wrap="square" lIns="0" tIns="0" rIns="0" bIns="0" rtlCol="0" anchor="t"/>
          <a:lstStyle/>
          <a:p>
            <a:pPr algn="l" indent="0" marL="0">
              <a:lnSpc>
                <a:spcPct val="112000"/>
              </a:lnSpc>
              <a:buNone/>
            </a:pPr>
            <a:r>
              <a:rPr lang="en-US" sz="1100" b="1" dirty="0">
                <a:solidFill>
                  <a:srgbClr val="194EFF"/>
                </a:solidFill>
                <a:latin typeface="Plus Jakarta Sans" pitchFamily="34" charset="0"/>
                <a:ea typeface="Plus Jakarta Sans" pitchFamily="34" charset="-122"/>
                <a:cs typeface="Plus Jakarta Sans" pitchFamily="34" charset="-120"/>
              </a:rPr>
              <a:t>→</a:t>
            </a:r>
            <a:endParaRPr lang="en-US" sz="1100" dirty="0"/>
          </a:p>
        </p:txBody>
      </p:sp>
      <p:sp>
        <p:nvSpPr>
          <p:cNvPr id="47" name="Shape 45"/>
          <p:cNvSpPr/>
          <p:nvPr/>
        </p:nvSpPr>
        <p:spPr>
          <a:xfrm>
            <a:off x="6096000" y="4521200"/>
            <a:ext cx="1778000" cy="1079500"/>
          </a:xfrm>
          <a:prstGeom prst="roundRect">
            <a:avLst>
              <a:gd name="adj" fmla="val 4706"/>
            </a:avLst>
          </a:prstGeom>
          <a:solidFill>
            <a:srgbClr val="F7FBFD"/>
          </a:solidFill>
          <a:ln w="9525">
            <a:solidFill>
              <a:srgbClr val="CDD0D9"/>
            </a:solidFill>
            <a:prstDash val="solid"/>
          </a:ln>
        </p:spPr>
      </p:sp>
      <p:sp>
        <p:nvSpPr>
          <p:cNvPr id="48" name="Text 46"/>
          <p:cNvSpPr txBox="1"/>
          <p:nvPr/>
        </p:nvSpPr>
        <p:spPr>
          <a:xfrm>
            <a:off x="6248400" y="4635500"/>
            <a:ext cx="63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04</a:t>
            </a:r>
            <a:endParaRPr lang="en-US" sz="1500" dirty="0"/>
          </a:p>
        </p:txBody>
      </p:sp>
      <p:sp>
        <p:nvSpPr>
          <p:cNvPr id="49" name="Text 47"/>
          <p:cNvSpPr txBox="1"/>
          <p:nvPr/>
        </p:nvSpPr>
        <p:spPr>
          <a:xfrm>
            <a:off x="6248400" y="4965700"/>
            <a:ext cx="1524000" cy="5080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Customer success</a:t>
            </a:r>
            <a:endParaRPr lang="en-US" sz="1050" dirty="0"/>
          </a:p>
        </p:txBody>
      </p:sp>
      <p:sp>
        <p:nvSpPr>
          <p:cNvPr id="50" name="Text 48"/>
          <p:cNvSpPr txBox="1"/>
          <p:nvPr/>
        </p:nvSpPr>
        <p:spPr>
          <a:xfrm>
            <a:off x="7886700" y="4902200"/>
            <a:ext cx="152400" cy="254000"/>
          </a:xfrm>
          <a:prstGeom prst="rect">
            <a:avLst/>
          </a:prstGeom>
          <a:noFill/>
          <a:ln/>
        </p:spPr>
        <p:txBody>
          <a:bodyPr wrap="square" lIns="0" tIns="0" rIns="0" bIns="0" rtlCol="0" anchor="t"/>
          <a:lstStyle/>
          <a:p>
            <a:pPr algn="l" indent="0" marL="0">
              <a:lnSpc>
                <a:spcPct val="112000"/>
              </a:lnSpc>
              <a:buNone/>
            </a:pPr>
            <a:r>
              <a:rPr lang="en-US" sz="1100" b="1" dirty="0">
                <a:solidFill>
                  <a:srgbClr val="194EFF"/>
                </a:solidFill>
                <a:latin typeface="Plus Jakarta Sans" pitchFamily="34" charset="0"/>
                <a:ea typeface="Plus Jakarta Sans" pitchFamily="34" charset="-122"/>
                <a:cs typeface="Plus Jakarta Sans" pitchFamily="34" charset="-120"/>
              </a:rPr>
              <a:t>→</a:t>
            </a:r>
            <a:endParaRPr lang="en-US" sz="1100" dirty="0"/>
          </a:p>
        </p:txBody>
      </p:sp>
      <p:sp>
        <p:nvSpPr>
          <p:cNvPr id="51" name="Shape 49"/>
          <p:cNvSpPr/>
          <p:nvPr/>
        </p:nvSpPr>
        <p:spPr>
          <a:xfrm>
            <a:off x="8026400" y="4521200"/>
            <a:ext cx="1778000" cy="1079500"/>
          </a:xfrm>
          <a:prstGeom prst="roundRect">
            <a:avLst>
              <a:gd name="adj" fmla="val 4706"/>
            </a:avLst>
          </a:prstGeom>
          <a:solidFill>
            <a:srgbClr val="F7FBFD"/>
          </a:solidFill>
          <a:ln w="9525">
            <a:solidFill>
              <a:srgbClr val="CDD0D9"/>
            </a:solidFill>
            <a:prstDash val="solid"/>
          </a:ln>
        </p:spPr>
      </p:sp>
      <p:sp>
        <p:nvSpPr>
          <p:cNvPr id="52" name="Text 50"/>
          <p:cNvSpPr txBox="1"/>
          <p:nvPr/>
        </p:nvSpPr>
        <p:spPr>
          <a:xfrm>
            <a:off x="8178800" y="4635500"/>
            <a:ext cx="63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05</a:t>
            </a:r>
            <a:endParaRPr lang="en-US" sz="1500" dirty="0"/>
          </a:p>
        </p:txBody>
      </p:sp>
      <p:sp>
        <p:nvSpPr>
          <p:cNvPr id="53" name="Text 51"/>
          <p:cNvSpPr txBox="1"/>
          <p:nvPr/>
        </p:nvSpPr>
        <p:spPr>
          <a:xfrm>
            <a:off x="8178800" y="4965700"/>
            <a:ext cx="1524000" cy="5080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Escalation handling</a:t>
            </a:r>
            <a:endParaRPr lang="en-US" sz="1050" dirty="0"/>
          </a:p>
        </p:txBody>
      </p:sp>
      <p:sp>
        <p:nvSpPr>
          <p:cNvPr id="54" name="Text 52"/>
          <p:cNvSpPr txBox="1"/>
          <p:nvPr/>
        </p:nvSpPr>
        <p:spPr>
          <a:xfrm>
            <a:off x="9817100" y="4902200"/>
            <a:ext cx="152400" cy="254000"/>
          </a:xfrm>
          <a:prstGeom prst="rect">
            <a:avLst/>
          </a:prstGeom>
          <a:noFill/>
          <a:ln/>
        </p:spPr>
        <p:txBody>
          <a:bodyPr wrap="square" lIns="0" tIns="0" rIns="0" bIns="0" rtlCol="0" anchor="t"/>
          <a:lstStyle/>
          <a:p>
            <a:pPr algn="l" indent="0" marL="0">
              <a:lnSpc>
                <a:spcPct val="112000"/>
              </a:lnSpc>
              <a:buNone/>
            </a:pPr>
            <a:r>
              <a:rPr lang="en-US" sz="1100" b="1" dirty="0">
                <a:solidFill>
                  <a:srgbClr val="194EFF"/>
                </a:solidFill>
                <a:latin typeface="Plus Jakarta Sans" pitchFamily="34" charset="0"/>
                <a:ea typeface="Plus Jakarta Sans" pitchFamily="34" charset="-122"/>
                <a:cs typeface="Plus Jakarta Sans" pitchFamily="34" charset="-120"/>
              </a:rPr>
              <a:t>→</a:t>
            </a:r>
            <a:endParaRPr lang="en-US" sz="1100" dirty="0"/>
          </a:p>
        </p:txBody>
      </p:sp>
      <p:sp>
        <p:nvSpPr>
          <p:cNvPr id="55" name="Shape 53"/>
          <p:cNvSpPr/>
          <p:nvPr/>
        </p:nvSpPr>
        <p:spPr>
          <a:xfrm>
            <a:off x="9956800" y="4521200"/>
            <a:ext cx="1778000" cy="1079500"/>
          </a:xfrm>
          <a:prstGeom prst="roundRect">
            <a:avLst>
              <a:gd name="adj" fmla="val 4706"/>
            </a:avLst>
          </a:prstGeom>
          <a:solidFill>
            <a:srgbClr val="194EFF"/>
          </a:solidFill>
          <a:ln/>
        </p:spPr>
      </p:sp>
      <p:sp>
        <p:nvSpPr>
          <p:cNvPr id="56" name="Text 54"/>
          <p:cNvSpPr txBox="1"/>
          <p:nvPr/>
        </p:nvSpPr>
        <p:spPr>
          <a:xfrm>
            <a:off x="10109200" y="4635500"/>
            <a:ext cx="635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Plus Jakarta Sans" pitchFamily="34" charset="0"/>
                <a:ea typeface="Plus Jakarta Sans" pitchFamily="34" charset="-122"/>
                <a:cs typeface="Plus Jakarta Sans" pitchFamily="34" charset="-120"/>
              </a:rPr>
              <a:t>06</a:t>
            </a:r>
            <a:endParaRPr lang="en-US" sz="1500" dirty="0"/>
          </a:p>
        </p:txBody>
      </p:sp>
      <p:sp>
        <p:nvSpPr>
          <p:cNvPr id="57" name="Text 55"/>
          <p:cNvSpPr txBox="1"/>
          <p:nvPr/>
        </p:nvSpPr>
        <p:spPr>
          <a:xfrm>
            <a:off x="10109200" y="4965700"/>
            <a:ext cx="1524000" cy="508000"/>
          </a:xfrm>
          <a:prstGeom prst="rect">
            <a:avLst/>
          </a:prstGeom>
          <a:noFill/>
          <a:ln/>
        </p:spPr>
        <p:txBody>
          <a:bodyPr wrap="square" lIns="0" tIns="0" rIns="0" bIns="0" rtlCol="0" anchor="t"/>
          <a:lstStyle/>
          <a:p>
            <a:pPr algn="l" indent="0" marL="0">
              <a:lnSpc>
                <a:spcPct val="112000"/>
              </a:lnSpc>
              <a:buNone/>
            </a:pPr>
            <a:r>
              <a:rPr lang="en-US" sz="1050" b="1" dirty="0">
                <a:solidFill>
                  <a:srgbClr val="FFFFFF"/>
                </a:solidFill>
                <a:latin typeface="Plus Jakarta Sans" pitchFamily="34" charset="0"/>
                <a:ea typeface="Plus Jakarta Sans" pitchFamily="34" charset="-122"/>
                <a:cs typeface="Plus Jakarta Sans" pitchFamily="34" charset="-120"/>
              </a:rPr>
              <a:t>Ongoing governance</a:t>
            </a:r>
            <a:endParaRPr lang="en-US" sz="1050" dirty="0"/>
          </a:p>
        </p:txBody>
      </p:sp>
      <p:sp>
        <p:nvSpPr>
          <p:cNvPr id="58" name="Shape 56"/>
          <p:cNvSpPr/>
          <p:nvPr/>
        </p:nvSpPr>
        <p:spPr>
          <a:xfrm>
            <a:off x="0" y="5842000"/>
            <a:ext cx="12192000" cy="1016000"/>
          </a:xfrm>
          <a:prstGeom prst="rect">
            <a:avLst/>
          </a:prstGeom>
          <a:solidFill>
            <a:srgbClr val="F5F9FB"/>
          </a:solidFill>
          <a:ln/>
        </p:spPr>
      </p:sp>
      <p:pic>
        <p:nvPicPr>
          <p:cNvPr id="59"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60"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61" name="Text 57"/>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Commitment</a:t>
            </a:r>
            <a:endParaRPr lang="en-US" sz="1200" dirty="0"/>
          </a:p>
        </p:txBody>
      </p:sp>
      <p:sp>
        <p:nvSpPr>
          <p:cNvPr id="62" name="Text 58"/>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950" dirty="0">
                <a:solidFill>
                  <a:srgbClr val="13151C"/>
                </a:solidFill>
                <a:latin typeface="Plus Jakarta Sans Medium" pitchFamily="34" charset="0"/>
                <a:ea typeface="Plus Jakarta Sans Medium" pitchFamily="34" charset="-122"/>
                <a:cs typeface="Plus Jakarta Sans Medium" pitchFamily="34" charset="-120"/>
              </a:rPr>
              <a:t>Summit passes scale with level. Level 4–5 partners keep a joint business plan, run ≥1 approved executive event or campaign, and show DignifyX practice adoption.</a:t>
            </a:r>
            <a:endParaRPr lang="en-US" sz="950" dirty="0"/>
          </a:p>
        </p:txBody>
      </p:sp>
      <p:sp>
        <p:nvSpPr>
          <p:cNvPr id="63" name="Text 59"/>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21 · COMPLIANCE, RESPONSIBLE AI &amp; BRAND</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Trust is our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shared</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licence to operate</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6096000" y="1244600"/>
            <a:ext cx="6350" cy="4597400"/>
          </a:xfrm>
          <a:prstGeom prst="rect">
            <a:avLst/>
          </a:prstGeom>
          <a:solidFill>
            <a:srgbClr val="CDD0D9"/>
          </a:solidFill>
          <a:ln/>
        </p:spPr>
      </p:sp>
      <p:sp>
        <p:nvSpPr>
          <p:cNvPr id="7" name="Shape 5"/>
          <p:cNvSpPr/>
          <p:nvPr/>
        </p:nvSpPr>
        <p:spPr>
          <a:xfrm>
            <a:off x="0" y="1250950"/>
            <a:ext cx="6089650" cy="755650"/>
          </a:xfrm>
          <a:prstGeom prst="rect">
            <a:avLst/>
          </a:prstGeom>
          <a:solidFill>
            <a:srgbClr val="F7FBFD"/>
          </a:solidFill>
          <a:ln/>
        </p:spPr>
      </p:sp>
      <p:sp>
        <p:nvSpPr>
          <p:cNvPr id="8" name="Text 6"/>
          <p:cNvSpPr txBox="1"/>
          <p:nvPr/>
        </p:nvSpPr>
        <p:spPr>
          <a:xfrm>
            <a:off x="304800" y="1479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01</a:t>
            </a:r>
            <a:endParaRPr lang="en-US" sz="1400" dirty="0"/>
          </a:p>
        </p:txBody>
      </p:sp>
      <p:sp>
        <p:nvSpPr>
          <p:cNvPr id="9" name="Text 7"/>
          <p:cNvSpPr txBox="1"/>
          <p:nvPr/>
        </p:nvSpPr>
        <p:spPr>
          <a:xfrm>
            <a:off x="812800" y="1365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Comply with anti-bribery, anti-corruption, sanctions, export-control, data-protection, privacy, procurement, insurance-regulatory, cybersecurity and responsible-AI requirements.</a:t>
            </a:r>
            <a:endParaRPr lang="en-US" sz="900" dirty="0"/>
          </a:p>
        </p:txBody>
      </p:sp>
      <p:sp>
        <p:nvSpPr>
          <p:cNvPr id="10" name="Shape 8"/>
          <p:cNvSpPr/>
          <p:nvPr/>
        </p:nvSpPr>
        <p:spPr>
          <a:xfrm>
            <a:off x="0" y="2012950"/>
            <a:ext cx="6096000" cy="6350"/>
          </a:xfrm>
          <a:prstGeom prst="rect">
            <a:avLst/>
          </a:prstGeom>
          <a:solidFill>
            <a:srgbClr val="CDD0D9"/>
          </a:solidFill>
          <a:ln/>
        </p:spPr>
      </p:sp>
      <p:sp>
        <p:nvSpPr>
          <p:cNvPr id="11" name="Text 9"/>
          <p:cNvSpPr txBox="1"/>
          <p:nvPr/>
        </p:nvSpPr>
        <p:spPr>
          <a:xfrm>
            <a:off x="304800" y="2241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02</a:t>
            </a:r>
            <a:endParaRPr lang="en-US" sz="1400" dirty="0"/>
          </a:p>
        </p:txBody>
      </p:sp>
      <p:sp>
        <p:nvSpPr>
          <p:cNvPr id="12" name="Text 10"/>
          <p:cNvSpPr txBox="1"/>
          <p:nvPr/>
        </p:nvSpPr>
        <p:spPr>
          <a:xfrm>
            <a:off x="812800" y="2127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No claims on regulatory approval, endorsements, capability, roadmap, deployment, data residency, SLA or compliance status unless DignifyX-approved.</a:t>
            </a:r>
            <a:endParaRPr lang="en-US" sz="900" dirty="0"/>
          </a:p>
        </p:txBody>
      </p:sp>
      <p:sp>
        <p:nvSpPr>
          <p:cNvPr id="13" name="Shape 11"/>
          <p:cNvSpPr/>
          <p:nvPr/>
        </p:nvSpPr>
        <p:spPr>
          <a:xfrm>
            <a:off x="0" y="2774950"/>
            <a:ext cx="6096000" cy="6350"/>
          </a:xfrm>
          <a:prstGeom prst="rect">
            <a:avLst/>
          </a:prstGeom>
          <a:solidFill>
            <a:srgbClr val="CDD0D9"/>
          </a:solidFill>
          <a:ln/>
        </p:spPr>
      </p:sp>
      <p:sp>
        <p:nvSpPr>
          <p:cNvPr id="14" name="Shape 12"/>
          <p:cNvSpPr/>
          <p:nvPr/>
        </p:nvSpPr>
        <p:spPr>
          <a:xfrm>
            <a:off x="0" y="2774950"/>
            <a:ext cx="6089650" cy="755650"/>
          </a:xfrm>
          <a:prstGeom prst="rect">
            <a:avLst/>
          </a:prstGeom>
          <a:solidFill>
            <a:srgbClr val="F7FBFD"/>
          </a:solidFill>
          <a:ln/>
        </p:spPr>
      </p:sp>
      <p:sp>
        <p:nvSpPr>
          <p:cNvPr id="15" name="Text 13"/>
          <p:cNvSpPr txBox="1"/>
          <p:nvPr/>
        </p:nvSpPr>
        <p:spPr>
          <a:xfrm>
            <a:off x="304800" y="3003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03</a:t>
            </a:r>
            <a:endParaRPr lang="en-US" sz="1400" dirty="0"/>
          </a:p>
        </p:txBody>
      </p:sp>
      <p:sp>
        <p:nvSpPr>
          <p:cNvPr id="16" name="Text 14"/>
          <p:cNvSpPr txBox="1"/>
          <p:nvPr/>
        </p:nvSpPr>
        <p:spPr>
          <a:xfrm>
            <a:off x="812800" y="2889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No agent, leader or client data in demos, pilots, training, model tuning or marketing without written approval.</a:t>
            </a:r>
            <a:endParaRPr lang="en-US" sz="900" dirty="0"/>
          </a:p>
        </p:txBody>
      </p:sp>
      <p:sp>
        <p:nvSpPr>
          <p:cNvPr id="17" name="Shape 15"/>
          <p:cNvSpPr/>
          <p:nvPr/>
        </p:nvSpPr>
        <p:spPr>
          <a:xfrm>
            <a:off x="0" y="3536950"/>
            <a:ext cx="6096000" cy="6350"/>
          </a:xfrm>
          <a:prstGeom prst="rect">
            <a:avLst/>
          </a:prstGeom>
          <a:solidFill>
            <a:srgbClr val="CDD0D9"/>
          </a:solidFill>
          <a:ln/>
        </p:spPr>
      </p:sp>
      <p:sp>
        <p:nvSpPr>
          <p:cNvPr id="18" name="Text 16"/>
          <p:cNvSpPr txBox="1"/>
          <p:nvPr/>
        </p:nvSpPr>
        <p:spPr>
          <a:xfrm>
            <a:off x="304800" y="3765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04</a:t>
            </a:r>
            <a:endParaRPr lang="en-US" sz="1400" dirty="0"/>
          </a:p>
        </p:txBody>
      </p:sp>
      <p:sp>
        <p:nvSpPr>
          <p:cNvPr id="19" name="Text 17"/>
          <p:cNvSpPr txBox="1"/>
          <p:nvPr/>
        </p:nvSpPr>
        <p:spPr>
          <a:xfrm>
            <a:off x="812800" y="3651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No gifts, incentives or entertainment that breach procurement rules or create conflict-of-interest risk.</a:t>
            </a:r>
            <a:endParaRPr lang="en-US" sz="900" dirty="0"/>
          </a:p>
        </p:txBody>
      </p:sp>
      <p:sp>
        <p:nvSpPr>
          <p:cNvPr id="20" name="Shape 18"/>
          <p:cNvSpPr/>
          <p:nvPr/>
        </p:nvSpPr>
        <p:spPr>
          <a:xfrm>
            <a:off x="0" y="4298950"/>
            <a:ext cx="6096000" cy="6350"/>
          </a:xfrm>
          <a:prstGeom prst="rect">
            <a:avLst/>
          </a:prstGeom>
          <a:solidFill>
            <a:srgbClr val="CDD0D9"/>
          </a:solidFill>
          <a:ln/>
        </p:spPr>
      </p:sp>
      <p:sp>
        <p:nvSpPr>
          <p:cNvPr id="21" name="Shape 19"/>
          <p:cNvSpPr/>
          <p:nvPr/>
        </p:nvSpPr>
        <p:spPr>
          <a:xfrm>
            <a:off x="0" y="4298950"/>
            <a:ext cx="6089650" cy="755650"/>
          </a:xfrm>
          <a:prstGeom prst="rect">
            <a:avLst/>
          </a:prstGeom>
          <a:solidFill>
            <a:srgbClr val="F7FBFD"/>
          </a:solidFill>
          <a:ln/>
        </p:spPr>
      </p:sp>
      <p:sp>
        <p:nvSpPr>
          <p:cNvPr id="22" name="Text 20"/>
          <p:cNvSpPr txBox="1"/>
          <p:nvPr/>
        </p:nvSpPr>
        <p:spPr>
          <a:xfrm>
            <a:off x="304800" y="4527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05</a:t>
            </a:r>
            <a:endParaRPr lang="en-US" sz="1400" dirty="0"/>
          </a:p>
        </p:txBody>
      </p:sp>
      <p:sp>
        <p:nvSpPr>
          <p:cNvPr id="23" name="Text 21"/>
          <p:cNvSpPr txBox="1"/>
          <p:nvPr/>
        </p:nvSpPr>
        <p:spPr>
          <a:xfrm>
            <a:off x="812800" y="4413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No resale to restricted territories, sanctioned entities, prohibited industries or customers failing due diligence.</a:t>
            </a:r>
            <a:endParaRPr lang="en-US" sz="900" dirty="0"/>
          </a:p>
        </p:txBody>
      </p:sp>
      <p:sp>
        <p:nvSpPr>
          <p:cNvPr id="24" name="Shape 22"/>
          <p:cNvSpPr/>
          <p:nvPr/>
        </p:nvSpPr>
        <p:spPr>
          <a:xfrm>
            <a:off x="0" y="5060950"/>
            <a:ext cx="6096000" cy="6350"/>
          </a:xfrm>
          <a:prstGeom prst="rect">
            <a:avLst/>
          </a:prstGeom>
          <a:solidFill>
            <a:srgbClr val="CDD0D9"/>
          </a:solidFill>
          <a:ln/>
        </p:spPr>
      </p:sp>
      <p:sp>
        <p:nvSpPr>
          <p:cNvPr id="25" name="Text 23"/>
          <p:cNvSpPr txBox="1"/>
          <p:nvPr/>
        </p:nvSpPr>
        <p:spPr>
          <a:xfrm>
            <a:off x="304800" y="5289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06</a:t>
            </a:r>
            <a:endParaRPr lang="en-US" sz="1400" dirty="0"/>
          </a:p>
        </p:txBody>
      </p:sp>
      <p:sp>
        <p:nvSpPr>
          <p:cNvPr id="26" name="Text 24"/>
          <p:cNvSpPr txBox="1"/>
          <p:nvPr/>
        </p:nvSpPr>
        <p:spPr>
          <a:xfrm>
            <a:off x="812800" y="5175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No DignifyX branding, customer logos, case studies, press releases or announcements without written approval.</a:t>
            </a:r>
            <a:endParaRPr lang="en-US" sz="900" dirty="0"/>
          </a:p>
        </p:txBody>
      </p:sp>
      <p:sp>
        <p:nvSpPr>
          <p:cNvPr id="27" name="Text 25"/>
          <p:cNvSpPr txBox="1"/>
          <p:nvPr/>
        </p:nvSpPr>
        <p:spPr>
          <a:xfrm>
            <a:off x="6400800" y="1409700"/>
            <a:ext cx="5461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BRAND AND ANNOUNCEMENTS</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0" y="1663700"/>
          <a:ext cx="5486400" cy="914400"/>
        </p:xfrm>
        <a:graphic>
          <a:graphicData uri="http://schemas.openxmlformats.org/drawingml/2006/table">
            <a:tbl>
              <a:tblPr/>
              <a:tblGrid>
                <a:gridCol w="1905000"/>
                <a:gridCol w="3581400"/>
              </a:tblGrid>
              <a:tr h="5842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Activity</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Rule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DignifyX logo use</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Only under approved brand guidelines, for approved purposes</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Joint announcement</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DignifyX review and written approval first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Customer logo / case study</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Customer approval and DignifyX approval</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Press release</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Approved messaging, quote, timing, legal and brand review</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Public demo / webinar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Approved messaging and environment; no unapproved customer data</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Social media post</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No unapproved claims, names, pricing or commitments</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bl>
          </a:graphicData>
        </a:graphic>
      </p:graphicFrame>
      <p:sp>
        <p:nvSpPr>
          <p:cNvPr id="29" name="Shape 26"/>
          <p:cNvSpPr/>
          <p:nvPr/>
        </p:nvSpPr>
        <p:spPr>
          <a:xfrm>
            <a:off x="0" y="5842000"/>
            <a:ext cx="12192000" cy="1016000"/>
          </a:xfrm>
          <a:prstGeom prst="rect">
            <a:avLst/>
          </a:prstGeom>
          <a:solidFill>
            <a:srgbClr val="F5F9FB"/>
          </a:solidFill>
          <a:ln/>
        </p:spPr>
      </p:sp>
      <p:pic>
        <p:nvPicPr>
          <p:cNvPr id="30"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31"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32" name="Text 27"/>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Public Sector</a:t>
            </a:r>
            <a:endParaRPr lang="en-US" sz="1200" dirty="0"/>
          </a:p>
        </p:txBody>
      </p:sp>
      <p:sp>
        <p:nvSpPr>
          <p:cNvPr id="33" name="Text 28"/>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000" dirty="0">
                <a:solidFill>
                  <a:srgbClr val="13151C"/>
                </a:solidFill>
                <a:latin typeface="Plus Jakarta Sans Medium" pitchFamily="34" charset="0"/>
                <a:ea typeface="Plus Jakarta Sans Medium" pitchFamily="34" charset="-122"/>
                <a:cs typeface="Plus Jakarta Sans Medium" pitchFamily="34" charset="-120"/>
              </a:rPr>
              <a:t>Government and state-owned accounts: no success-based referral or influence fee; engagement is through approved fixed-fee, deliverable-based services only.</a:t>
            </a:r>
            <a:endParaRPr lang="en-US" sz="1000" dirty="0"/>
          </a:p>
        </p:txBody>
      </p:sp>
      <p:sp>
        <p:nvSpPr>
          <p:cNvPr id="34" name="Text 29"/>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22 · PERFORMANCE, QBRS &amp; GOVERNANCE</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Grow with a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balanced</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scorecard</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0" y="1250950"/>
            <a:ext cx="1739900" cy="946150"/>
          </a:xfrm>
          <a:prstGeom prst="rect">
            <a:avLst/>
          </a:prstGeom>
          <a:solidFill>
            <a:srgbClr val="F7FBFD"/>
          </a:solidFill>
          <a:ln/>
        </p:spPr>
      </p:sp>
      <p:sp>
        <p:nvSpPr>
          <p:cNvPr id="7" name="Text 5"/>
          <p:cNvSpPr txBox="1"/>
          <p:nvPr/>
        </p:nvSpPr>
        <p:spPr>
          <a:xfrm>
            <a:off x="177800"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01</a:t>
            </a:r>
            <a:endParaRPr lang="en-US" sz="1300" dirty="0"/>
          </a:p>
        </p:txBody>
      </p:sp>
      <p:sp>
        <p:nvSpPr>
          <p:cNvPr id="8" name="Text 6"/>
          <p:cNvSpPr txBox="1"/>
          <p:nvPr/>
        </p:nvSpPr>
        <p:spPr>
          <a:xfrm>
            <a:off x="177800"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ARR Bookings</a:t>
            </a:r>
            <a:endParaRPr lang="en-US" sz="1050" dirty="0"/>
          </a:p>
        </p:txBody>
      </p:sp>
      <p:sp>
        <p:nvSpPr>
          <p:cNvPr id="9" name="Shape 7"/>
          <p:cNvSpPr/>
          <p:nvPr/>
        </p:nvSpPr>
        <p:spPr>
          <a:xfrm>
            <a:off x="1741805" y="1244600"/>
            <a:ext cx="6350" cy="952500"/>
          </a:xfrm>
          <a:prstGeom prst="rect">
            <a:avLst/>
          </a:prstGeom>
          <a:solidFill>
            <a:srgbClr val="CDD0D9"/>
          </a:solidFill>
          <a:ln/>
        </p:spPr>
      </p:sp>
      <p:sp>
        <p:nvSpPr>
          <p:cNvPr id="10" name="Text 8"/>
          <p:cNvSpPr txBox="1"/>
          <p:nvPr/>
        </p:nvSpPr>
        <p:spPr>
          <a:xfrm>
            <a:off x="1919605"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02</a:t>
            </a:r>
            <a:endParaRPr lang="en-US" sz="1300" dirty="0"/>
          </a:p>
        </p:txBody>
      </p:sp>
      <p:sp>
        <p:nvSpPr>
          <p:cNvPr id="11" name="Text 9"/>
          <p:cNvSpPr txBox="1"/>
          <p:nvPr/>
        </p:nvSpPr>
        <p:spPr>
          <a:xfrm>
            <a:off x="1919605"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Qualified pipeline</a:t>
            </a:r>
            <a:endParaRPr lang="en-US" sz="1050" dirty="0"/>
          </a:p>
        </p:txBody>
      </p:sp>
      <p:sp>
        <p:nvSpPr>
          <p:cNvPr id="12" name="Shape 10"/>
          <p:cNvSpPr/>
          <p:nvPr/>
        </p:nvSpPr>
        <p:spPr>
          <a:xfrm>
            <a:off x="3483610" y="1244600"/>
            <a:ext cx="6350" cy="952500"/>
          </a:xfrm>
          <a:prstGeom prst="rect">
            <a:avLst/>
          </a:prstGeom>
          <a:solidFill>
            <a:srgbClr val="CDD0D9"/>
          </a:solidFill>
          <a:ln/>
        </p:spPr>
      </p:sp>
      <p:sp>
        <p:nvSpPr>
          <p:cNvPr id="13" name="Shape 11"/>
          <p:cNvSpPr/>
          <p:nvPr/>
        </p:nvSpPr>
        <p:spPr>
          <a:xfrm>
            <a:off x="3483610" y="1250950"/>
            <a:ext cx="1739900" cy="946150"/>
          </a:xfrm>
          <a:prstGeom prst="rect">
            <a:avLst/>
          </a:prstGeom>
          <a:solidFill>
            <a:srgbClr val="F7FBFD"/>
          </a:solidFill>
          <a:ln/>
        </p:spPr>
      </p:sp>
      <p:sp>
        <p:nvSpPr>
          <p:cNvPr id="14" name="Text 12"/>
          <p:cNvSpPr txBox="1"/>
          <p:nvPr/>
        </p:nvSpPr>
        <p:spPr>
          <a:xfrm>
            <a:off x="3661410"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03</a:t>
            </a:r>
            <a:endParaRPr lang="en-US" sz="1300" dirty="0"/>
          </a:p>
        </p:txBody>
      </p:sp>
      <p:sp>
        <p:nvSpPr>
          <p:cNvPr id="15" name="Text 13"/>
          <p:cNvSpPr txBox="1"/>
          <p:nvPr/>
        </p:nvSpPr>
        <p:spPr>
          <a:xfrm>
            <a:off x="3661410"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Renewal / customer success</a:t>
            </a:r>
            <a:endParaRPr lang="en-US" sz="1050" dirty="0"/>
          </a:p>
        </p:txBody>
      </p:sp>
      <p:sp>
        <p:nvSpPr>
          <p:cNvPr id="16" name="Shape 14"/>
          <p:cNvSpPr/>
          <p:nvPr/>
        </p:nvSpPr>
        <p:spPr>
          <a:xfrm>
            <a:off x="5225415" y="1244600"/>
            <a:ext cx="6350" cy="952500"/>
          </a:xfrm>
          <a:prstGeom prst="rect">
            <a:avLst/>
          </a:prstGeom>
          <a:solidFill>
            <a:srgbClr val="CDD0D9"/>
          </a:solidFill>
          <a:ln/>
        </p:spPr>
      </p:sp>
      <p:sp>
        <p:nvSpPr>
          <p:cNvPr id="17" name="Text 15"/>
          <p:cNvSpPr txBox="1"/>
          <p:nvPr/>
        </p:nvSpPr>
        <p:spPr>
          <a:xfrm>
            <a:off x="5403215"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04</a:t>
            </a:r>
            <a:endParaRPr lang="en-US" sz="1300" dirty="0"/>
          </a:p>
        </p:txBody>
      </p:sp>
      <p:sp>
        <p:nvSpPr>
          <p:cNvPr id="18" name="Text 16"/>
          <p:cNvSpPr txBox="1"/>
          <p:nvPr/>
        </p:nvSpPr>
        <p:spPr>
          <a:xfrm>
            <a:off x="5403215"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Certification &amp; capability</a:t>
            </a:r>
            <a:endParaRPr lang="en-US" sz="1050" dirty="0"/>
          </a:p>
        </p:txBody>
      </p:sp>
      <p:sp>
        <p:nvSpPr>
          <p:cNvPr id="19" name="Shape 17"/>
          <p:cNvSpPr/>
          <p:nvPr/>
        </p:nvSpPr>
        <p:spPr>
          <a:xfrm>
            <a:off x="6967220" y="1244600"/>
            <a:ext cx="6350" cy="952500"/>
          </a:xfrm>
          <a:prstGeom prst="rect">
            <a:avLst/>
          </a:prstGeom>
          <a:solidFill>
            <a:srgbClr val="CDD0D9"/>
          </a:solidFill>
          <a:ln/>
        </p:spPr>
      </p:sp>
      <p:sp>
        <p:nvSpPr>
          <p:cNvPr id="20" name="Shape 18"/>
          <p:cNvSpPr/>
          <p:nvPr/>
        </p:nvSpPr>
        <p:spPr>
          <a:xfrm>
            <a:off x="6967220" y="1250950"/>
            <a:ext cx="1739900" cy="946150"/>
          </a:xfrm>
          <a:prstGeom prst="rect">
            <a:avLst/>
          </a:prstGeom>
          <a:solidFill>
            <a:srgbClr val="F7FBFD"/>
          </a:solidFill>
          <a:ln/>
        </p:spPr>
      </p:sp>
      <p:sp>
        <p:nvSpPr>
          <p:cNvPr id="21" name="Text 19"/>
          <p:cNvSpPr txBox="1"/>
          <p:nvPr/>
        </p:nvSpPr>
        <p:spPr>
          <a:xfrm>
            <a:off x="7145020"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05</a:t>
            </a:r>
            <a:endParaRPr lang="en-US" sz="1300" dirty="0"/>
          </a:p>
        </p:txBody>
      </p:sp>
      <p:sp>
        <p:nvSpPr>
          <p:cNvPr id="22" name="Text 20"/>
          <p:cNvSpPr txBox="1"/>
          <p:nvPr/>
        </p:nvSpPr>
        <p:spPr>
          <a:xfrm>
            <a:off x="7145020"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Strategic account access</a:t>
            </a:r>
            <a:endParaRPr lang="en-US" sz="1050" dirty="0"/>
          </a:p>
        </p:txBody>
      </p:sp>
      <p:sp>
        <p:nvSpPr>
          <p:cNvPr id="23" name="Shape 21"/>
          <p:cNvSpPr/>
          <p:nvPr/>
        </p:nvSpPr>
        <p:spPr>
          <a:xfrm>
            <a:off x="8709025" y="1244600"/>
            <a:ext cx="6350" cy="952500"/>
          </a:xfrm>
          <a:prstGeom prst="rect">
            <a:avLst/>
          </a:prstGeom>
          <a:solidFill>
            <a:srgbClr val="CDD0D9"/>
          </a:solidFill>
          <a:ln/>
        </p:spPr>
      </p:sp>
      <p:sp>
        <p:nvSpPr>
          <p:cNvPr id="24" name="Text 22"/>
          <p:cNvSpPr txBox="1"/>
          <p:nvPr/>
        </p:nvSpPr>
        <p:spPr>
          <a:xfrm>
            <a:off x="8886825"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06</a:t>
            </a:r>
            <a:endParaRPr lang="en-US" sz="1300" dirty="0"/>
          </a:p>
        </p:txBody>
      </p:sp>
      <p:sp>
        <p:nvSpPr>
          <p:cNvPr id="25" name="Text 23"/>
          <p:cNvSpPr txBox="1"/>
          <p:nvPr/>
        </p:nvSpPr>
        <p:spPr>
          <a:xfrm>
            <a:off x="8886825"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Delivery quality</a:t>
            </a:r>
            <a:endParaRPr lang="en-US" sz="1050" dirty="0"/>
          </a:p>
        </p:txBody>
      </p:sp>
      <p:sp>
        <p:nvSpPr>
          <p:cNvPr id="26" name="Shape 24"/>
          <p:cNvSpPr/>
          <p:nvPr/>
        </p:nvSpPr>
        <p:spPr>
          <a:xfrm>
            <a:off x="10450830" y="1244600"/>
            <a:ext cx="6350" cy="952500"/>
          </a:xfrm>
          <a:prstGeom prst="rect">
            <a:avLst/>
          </a:prstGeom>
          <a:solidFill>
            <a:srgbClr val="CDD0D9"/>
          </a:solidFill>
          <a:ln/>
        </p:spPr>
      </p:sp>
      <p:sp>
        <p:nvSpPr>
          <p:cNvPr id="27" name="Shape 25"/>
          <p:cNvSpPr/>
          <p:nvPr/>
        </p:nvSpPr>
        <p:spPr>
          <a:xfrm>
            <a:off x="10450830" y="1250950"/>
            <a:ext cx="1739900" cy="946150"/>
          </a:xfrm>
          <a:prstGeom prst="rect">
            <a:avLst/>
          </a:prstGeom>
          <a:solidFill>
            <a:srgbClr val="F7FBFD"/>
          </a:solidFill>
          <a:ln/>
        </p:spPr>
      </p:sp>
      <p:sp>
        <p:nvSpPr>
          <p:cNvPr id="28" name="Text 26"/>
          <p:cNvSpPr txBox="1"/>
          <p:nvPr/>
        </p:nvSpPr>
        <p:spPr>
          <a:xfrm>
            <a:off x="10628630"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07</a:t>
            </a:r>
            <a:endParaRPr lang="en-US" sz="1300" dirty="0"/>
          </a:p>
        </p:txBody>
      </p:sp>
      <p:sp>
        <p:nvSpPr>
          <p:cNvPr id="29" name="Text 27"/>
          <p:cNvSpPr txBox="1"/>
          <p:nvPr/>
        </p:nvSpPr>
        <p:spPr>
          <a:xfrm>
            <a:off x="10628630"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Compliance &amp; governance</a:t>
            </a:r>
            <a:endParaRPr lang="en-US" sz="1050" dirty="0"/>
          </a:p>
        </p:txBody>
      </p:sp>
      <p:sp>
        <p:nvSpPr>
          <p:cNvPr id="30" name="Shape 28"/>
          <p:cNvSpPr/>
          <p:nvPr/>
        </p:nvSpPr>
        <p:spPr>
          <a:xfrm>
            <a:off x="0" y="2197100"/>
            <a:ext cx="12192000" cy="6350"/>
          </a:xfrm>
          <a:prstGeom prst="rect">
            <a:avLst/>
          </a:prstGeom>
          <a:solidFill>
            <a:srgbClr val="CDD0D9"/>
          </a:solidFill>
          <a:ln/>
        </p:spPr>
      </p:sp>
      <p:sp>
        <p:nvSpPr>
          <p:cNvPr id="31" name="Shape 29"/>
          <p:cNvSpPr/>
          <p:nvPr/>
        </p:nvSpPr>
        <p:spPr>
          <a:xfrm>
            <a:off x="8001000" y="2197100"/>
            <a:ext cx="6350" cy="3644900"/>
          </a:xfrm>
          <a:prstGeom prst="rect">
            <a:avLst/>
          </a:prstGeom>
          <a:solidFill>
            <a:srgbClr val="CDD0D9"/>
          </a:solidFill>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04800" y="2349500"/>
          <a:ext cx="7391400" cy="914400"/>
        </p:xfrm>
        <a:graphic>
          <a:graphicData uri="http://schemas.openxmlformats.org/drawingml/2006/table">
            <a:tbl>
              <a:tblPr/>
              <a:tblGrid>
                <a:gridCol w="3810000"/>
                <a:gridCol w="3581400"/>
              </a:tblGrid>
              <a:tr h="4191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Trigger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Possible action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No qualified pipeline 2 consecutive quarters</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Downgrade, activation plan or benefit suspension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No certified resources</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Loss of sales / delivery authorisation until certified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Poor feedback / delivery escalation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Reassignment, suspension or termination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Forecast inaccuracy or account parking</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Lead-registration limits or downgrade</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Unauthorised discounting / misrepresentation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Commission denial, suspension or termination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Compliance, security, procurement or data breach</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Immediate suspension or termination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Brand misuse / unauthorised announcement</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Correction, suspension or termination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bl>
          </a:graphicData>
        </a:graphic>
      </p:graphicFrame>
      <p:sp>
        <p:nvSpPr>
          <p:cNvPr id="33" name="Shape 30"/>
          <p:cNvSpPr/>
          <p:nvPr/>
        </p:nvSpPr>
        <p:spPr>
          <a:xfrm>
            <a:off x="8007350" y="2203450"/>
            <a:ext cx="4184650" cy="3638550"/>
          </a:xfrm>
          <a:prstGeom prst="rect">
            <a:avLst/>
          </a:prstGeom>
          <a:solidFill>
            <a:srgbClr val="EDF1FF"/>
          </a:solidFill>
          <a:ln/>
        </p:spPr>
      </p:sp>
      <p:sp>
        <p:nvSpPr>
          <p:cNvPr id="34" name="Text 31"/>
          <p:cNvSpPr txBox="1"/>
          <p:nvPr/>
        </p:nvSpPr>
        <p:spPr>
          <a:xfrm>
            <a:off x="8261350" y="2387600"/>
            <a:ext cx="3683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Joint business plans &amp; QBRs</a:t>
            </a:r>
            <a:endParaRPr lang="en-US" sz="1300" dirty="0"/>
          </a:p>
        </p:txBody>
      </p:sp>
      <p:sp>
        <p:nvSpPr>
          <p:cNvPr id="35" name="Text 32"/>
          <p:cNvSpPr txBox="1"/>
          <p:nvPr/>
        </p:nvSpPr>
        <p:spPr>
          <a:xfrm>
            <a:off x="8261350" y="2717800"/>
            <a:ext cx="3683000" cy="1270000"/>
          </a:xfrm>
          <a:prstGeom prst="rect">
            <a:avLst/>
          </a:prstGeom>
          <a:noFill/>
          <a:ln/>
        </p:spPr>
        <p:txBody>
          <a:bodyPr wrap="square" lIns="0" tIns="0" rIns="0" bIns="0" rtlCol="0" anchor="t"/>
          <a:lstStyle/>
          <a:p>
            <a:pPr algn="l" indent="0" marL="0">
              <a:lnSpc>
                <a:spcPct val="125000"/>
              </a:lnSpc>
              <a:buNone/>
            </a:pPr>
            <a:r>
              <a:rPr lang="en-US" sz="950" dirty="0">
                <a:solidFill>
                  <a:srgbClr val="13151C"/>
                </a:solidFill>
                <a:latin typeface="Plus Jakarta Sans" pitchFamily="34" charset="0"/>
                <a:ea typeface="Plus Jakarta Sans" pitchFamily="34" charset="-122"/>
                <a:cs typeface="Plus Jakarta Sans" pitchFamily="34" charset="-120"/>
              </a:rPr>
              <a:t>Level 2–5 partners keep an annual joint business plan: target accounts, sectors, countries, enablement, pipeline goals, marketing, executive alignment, support model and quarterly milestones.</a:t>
            </a:r>
            <a:endParaRPr lang="en-US" sz="950" dirty="0"/>
          </a:p>
        </p:txBody>
      </p:sp>
      <p:sp>
        <p:nvSpPr>
          <p:cNvPr id="36" name="Text 33"/>
          <p:cNvSpPr txBox="1"/>
          <p:nvPr/>
        </p:nvSpPr>
        <p:spPr>
          <a:xfrm>
            <a:off x="8261350" y="4127500"/>
            <a:ext cx="3683000" cy="1016000"/>
          </a:xfrm>
          <a:prstGeom prst="rect">
            <a:avLst/>
          </a:prstGeom>
          <a:noFill/>
          <a:ln/>
        </p:spPr>
        <p:txBody>
          <a:bodyPr wrap="square" lIns="0" tIns="0" rIns="0" bIns="0" rtlCol="0" anchor="t"/>
          <a:lstStyle/>
          <a:p>
            <a:pPr algn="l" indent="0" marL="0">
              <a:lnSpc>
                <a:spcPct val="125000"/>
              </a:lnSpc>
              <a:buNone/>
            </a:pPr>
            <a:r>
              <a:rPr lang="en-US" sz="950" dirty="0">
                <a:solidFill>
                  <a:srgbClr val="5A5C63"/>
                </a:solidFill>
                <a:latin typeface="Plus Jakarta Sans" pitchFamily="34" charset="0"/>
                <a:ea typeface="Plus Jakarta Sans" pitchFamily="34" charset="-122"/>
                <a:cs typeface="Plus Jakarta Sans" pitchFamily="34" charset="-120"/>
              </a:rPr>
              <a:t>QBRs review pipeline, wins, losses, blockers, enablement, marketing outcomes, delivery quality, renewal risks and next-quarter priorities.</a:t>
            </a:r>
            <a:endParaRPr lang="en-US" sz="950" dirty="0"/>
          </a:p>
        </p:txBody>
      </p:sp>
      <p:sp>
        <p:nvSpPr>
          <p:cNvPr id="37" name="Shape 34"/>
          <p:cNvSpPr/>
          <p:nvPr/>
        </p:nvSpPr>
        <p:spPr>
          <a:xfrm>
            <a:off x="0" y="5842000"/>
            <a:ext cx="12192000" cy="1016000"/>
          </a:xfrm>
          <a:prstGeom prst="rect">
            <a:avLst/>
          </a:prstGeom>
          <a:solidFill>
            <a:srgbClr val="F5F9FB"/>
          </a:solidFill>
          <a:ln/>
        </p:spPr>
      </p:sp>
      <p:pic>
        <p:nvPicPr>
          <p:cNvPr id="38"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39"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40" name="Text 35"/>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Not Revenue Alone</a:t>
            </a:r>
            <a:endParaRPr lang="en-US" sz="1200" dirty="0"/>
          </a:p>
        </p:txBody>
      </p:sp>
      <p:sp>
        <p:nvSpPr>
          <p:cNvPr id="41" name="Text 36"/>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000" dirty="0">
                <a:solidFill>
                  <a:srgbClr val="13151C"/>
                </a:solidFill>
                <a:latin typeface="Plus Jakarta Sans Medium" pitchFamily="34" charset="0"/>
                <a:ea typeface="Plus Jakarta Sans Medium" pitchFamily="34" charset="-122"/>
                <a:cs typeface="Plus Jakarta Sans Medium" pitchFamily="34" charset="-120"/>
              </a:rPr>
              <a:t>Formal exit and dispute processes cover unpaid commissions, active opportunities, assignments, data return and deletion, demo access and confidential information.</a:t>
            </a:r>
            <a:endParaRPr lang="en-US" sz="1000" dirty="0"/>
          </a:p>
        </p:txBody>
      </p:sp>
      <p:sp>
        <p:nvSpPr>
          <p:cNvPr id="42" name="Text 37"/>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rot="2700000">
            <a:off x="317500" y="323850"/>
            <a:ext cx="69850" cy="69850"/>
          </a:xfrm>
          <a:prstGeom prst="rect">
            <a:avLst/>
          </a:prstGeom>
          <a:solidFill>
            <a:srgbClr val="7519FF"/>
          </a:solidFill>
          <a:ln/>
        </p:spPr>
      </p:sp>
      <p:sp>
        <p:nvSpPr>
          <p:cNvPr id="3" name="Text 1"/>
          <p:cNvSpPr txBox="1"/>
          <p:nvPr/>
        </p:nvSpPr>
        <p:spPr>
          <a:xfrm>
            <a:off x="457200" y="254000"/>
            <a:ext cx="10160000" cy="215900"/>
          </a:xfrm>
          <a:prstGeom prst="rect">
            <a:avLst/>
          </a:prstGeom>
          <a:noFill/>
          <a:ln/>
        </p:spPr>
        <p:txBody>
          <a:bodyPr wrap="square" lIns="0" tIns="0" rIns="0" bIns="0" rtlCol="0" anchor="t"/>
          <a:lstStyle/>
          <a:p>
            <a:pPr algn="l" indent="0" marL="0">
              <a:lnSpc>
                <a:spcPct val="112000"/>
              </a:lnSpc>
              <a:buNone/>
            </a:pPr>
            <a:r>
              <a:rPr lang="en-US" sz="1100" b="1" spc="100" kern="0" dirty="0">
                <a:solidFill>
                  <a:srgbClr val="7519FF"/>
                </a:solidFill>
                <a:latin typeface="Plus Jakarta Sans" pitchFamily="34" charset="0"/>
                <a:ea typeface="Plus Jakarta Sans" pitchFamily="34" charset="-122"/>
                <a:cs typeface="Plus Jakarta Sans" pitchFamily="34" charset="-120"/>
              </a:rPr>
              <a:t>23 · HOW TO JOIN AND LAUNCH WITH DIGNIFYX</a:t>
            </a:r>
            <a:endParaRPr lang="en-US" sz="1100" dirty="0"/>
          </a:p>
        </p:txBody>
      </p:sp>
      <p:sp>
        <p:nvSpPr>
          <p:cNvPr id="4" name="Text 2"/>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Your launch journey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starts here</a:t>
            </a:r>
            <a:endParaRPr lang="en-US" sz="2000" dirty="0"/>
          </a:p>
        </p:txBody>
      </p:sp>
      <p:sp>
        <p:nvSpPr>
          <p:cNvPr id="5" name="Shape 3"/>
          <p:cNvSpPr/>
          <p:nvPr/>
        </p:nvSpPr>
        <p:spPr>
          <a:xfrm>
            <a:off x="0" y="1244600"/>
            <a:ext cx="12192000" cy="6350"/>
          </a:xfrm>
          <a:prstGeom prst="rect">
            <a:avLst/>
          </a:prstGeom>
          <a:solidFill>
            <a:srgbClr val="CDD0D9"/>
          </a:solidFill>
          <a:ln/>
        </p:spPr>
      </p:sp>
      <p:sp>
        <p:nvSpPr>
          <p:cNvPr id="6" name="Shape 4"/>
          <p:cNvSpPr/>
          <p:nvPr/>
        </p:nvSpPr>
        <p:spPr>
          <a:xfrm>
            <a:off x="0" y="1250950"/>
            <a:ext cx="1739900" cy="2305050"/>
          </a:xfrm>
          <a:prstGeom prst="rect">
            <a:avLst/>
          </a:prstGeom>
          <a:solidFill>
            <a:srgbClr val="F7FBFD"/>
          </a:solidFill>
          <a:ln/>
        </p:spPr>
      </p:sp>
      <p:sp>
        <p:nvSpPr>
          <p:cNvPr id="7" name="Text 5"/>
          <p:cNvSpPr txBox="1"/>
          <p:nvPr/>
        </p:nvSpPr>
        <p:spPr>
          <a:xfrm>
            <a:off x="177800"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01</a:t>
            </a:r>
            <a:endParaRPr lang="en-US" sz="1800" dirty="0"/>
          </a:p>
        </p:txBody>
      </p:sp>
      <p:sp>
        <p:nvSpPr>
          <p:cNvPr id="8" name="Text 6"/>
          <p:cNvSpPr txBox="1"/>
          <p:nvPr/>
        </p:nvSpPr>
        <p:spPr>
          <a:xfrm>
            <a:off x="177800"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Interest &amp; application</a:t>
            </a:r>
            <a:endParaRPr lang="en-US" sz="1200" dirty="0"/>
          </a:p>
        </p:txBody>
      </p:sp>
      <p:sp>
        <p:nvSpPr>
          <p:cNvPr id="9" name="Text 7"/>
          <p:cNvSpPr txBox="1"/>
          <p:nvPr/>
        </p:nvSpPr>
        <p:spPr>
          <a:xfrm>
            <a:off x="177800" y="2667000"/>
            <a:ext cx="1435100" cy="508000"/>
          </a:xfrm>
          <a:prstGeom prst="rect">
            <a:avLst/>
          </a:prstGeom>
          <a:noFill/>
          <a:ln/>
        </p:spPr>
        <p:txBody>
          <a:bodyPr wrap="square" lIns="0" tIns="0" rIns="0" bIns="0" rtlCol="0" anchor="t"/>
          <a:lstStyle/>
          <a:p>
            <a:pPr algn="l" indent="0" marL="0">
              <a:lnSpc>
                <a:spcPct val="112000"/>
              </a:lnSpc>
              <a:buNone/>
            </a:pPr>
            <a:r>
              <a:rPr lang="en-US" sz="950" b="1" dirty="0">
                <a:solidFill>
                  <a:srgbClr val="194E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50" dirty="0">
                <a:solidFill>
                  <a:srgbClr val="13151C"/>
                </a:solidFill>
                <a:latin typeface="Plus Jakarta Sans" pitchFamily="34" charset="0"/>
                <a:ea typeface="Plus Jakarta Sans" pitchFamily="34" charset="-122"/>
                <a:cs typeface="Plus Jakarta Sans" pitchFamily="34" charset="-120"/>
              </a:rPr>
              <a:t>Initial qualification</a:t>
            </a:r>
            <a:endParaRPr lang="en-US" sz="950" dirty="0"/>
          </a:p>
        </p:txBody>
      </p:sp>
      <p:sp>
        <p:nvSpPr>
          <p:cNvPr id="10" name="Shape 8"/>
          <p:cNvSpPr/>
          <p:nvPr/>
        </p:nvSpPr>
        <p:spPr>
          <a:xfrm>
            <a:off x="1741805" y="1244600"/>
            <a:ext cx="6350" cy="2311400"/>
          </a:xfrm>
          <a:prstGeom prst="rect">
            <a:avLst/>
          </a:prstGeom>
          <a:solidFill>
            <a:srgbClr val="CDD0D9"/>
          </a:solidFill>
          <a:ln/>
        </p:spPr>
      </p:sp>
      <p:sp>
        <p:nvSpPr>
          <p:cNvPr id="11" name="Text 9"/>
          <p:cNvSpPr txBox="1"/>
          <p:nvPr/>
        </p:nvSpPr>
        <p:spPr>
          <a:xfrm>
            <a:off x="1919605"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02</a:t>
            </a:r>
            <a:endParaRPr lang="en-US" sz="1800" dirty="0"/>
          </a:p>
        </p:txBody>
      </p:sp>
      <p:sp>
        <p:nvSpPr>
          <p:cNvPr id="12" name="Text 10"/>
          <p:cNvSpPr txBox="1"/>
          <p:nvPr/>
        </p:nvSpPr>
        <p:spPr>
          <a:xfrm>
            <a:off x="1919605"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Due diligence</a:t>
            </a:r>
            <a:endParaRPr lang="en-US" sz="1200" dirty="0"/>
          </a:p>
        </p:txBody>
      </p:sp>
      <p:sp>
        <p:nvSpPr>
          <p:cNvPr id="13" name="Text 11"/>
          <p:cNvSpPr txBox="1"/>
          <p:nvPr/>
        </p:nvSpPr>
        <p:spPr>
          <a:xfrm>
            <a:off x="1919605" y="2667000"/>
            <a:ext cx="1435100" cy="508000"/>
          </a:xfrm>
          <a:prstGeom prst="rect">
            <a:avLst/>
          </a:prstGeom>
          <a:noFill/>
          <a:ln/>
        </p:spPr>
        <p:txBody>
          <a:bodyPr wrap="square" lIns="0" tIns="0" rIns="0" bIns="0" rtlCol="0" anchor="t"/>
          <a:lstStyle/>
          <a:p>
            <a:pPr algn="l" indent="0" marL="0">
              <a:lnSpc>
                <a:spcPct val="112000"/>
              </a:lnSpc>
              <a:buNone/>
            </a:pPr>
            <a:r>
              <a:rPr lang="en-US" sz="950" b="1" dirty="0">
                <a:solidFill>
                  <a:srgbClr val="194E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50" dirty="0">
                <a:solidFill>
                  <a:srgbClr val="13151C"/>
                </a:solidFill>
                <a:latin typeface="Plus Jakarta Sans" pitchFamily="34" charset="0"/>
                <a:ea typeface="Plus Jakarta Sans" pitchFamily="34" charset="-122"/>
                <a:cs typeface="Plus Jakarta Sans" pitchFamily="34" charset="-120"/>
              </a:rPr>
              <a:t>Approved / conditional</a:t>
            </a:r>
            <a:endParaRPr lang="en-US" sz="950" dirty="0"/>
          </a:p>
        </p:txBody>
      </p:sp>
      <p:sp>
        <p:nvSpPr>
          <p:cNvPr id="14" name="Shape 12"/>
          <p:cNvSpPr/>
          <p:nvPr/>
        </p:nvSpPr>
        <p:spPr>
          <a:xfrm>
            <a:off x="3483610" y="1244600"/>
            <a:ext cx="6350" cy="2311400"/>
          </a:xfrm>
          <a:prstGeom prst="rect">
            <a:avLst/>
          </a:prstGeom>
          <a:solidFill>
            <a:srgbClr val="CDD0D9"/>
          </a:solidFill>
          <a:ln/>
        </p:spPr>
      </p:sp>
      <p:sp>
        <p:nvSpPr>
          <p:cNvPr id="15" name="Shape 13"/>
          <p:cNvSpPr/>
          <p:nvPr/>
        </p:nvSpPr>
        <p:spPr>
          <a:xfrm>
            <a:off x="3483610" y="1250950"/>
            <a:ext cx="1739900" cy="2305050"/>
          </a:xfrm>
          <a:prstGeom prst="rect">
            <a:avLst/>
          </a:prstGeom>
          <a:solidFill>
            <a:srgbClr val="F7FBFD"/>
          </a:solidFill>
          <a:ln/>
        </p:spPr>
      </p:sp>
      <p:sp>
        <p:nvSpPr>
          <p:cNvPr id="16" name="Text 14"/>
          <p:cNvSpPr txBox="1"/>
          <p:nvPr/>
        </p:nvSpPr>
        <p:spPr>
          <a:xfrm>
            <a:off x="3661410"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03</a:t>
            </a:r>
            <a:endParaRPr lang="en-US" sz="1800" dirty="0"/>
          </a:p>
        </p:txBody>
      </p:sp>
      <p:sp>
        <p:nvSpPr>
          <p:cNvPr id="17" name="Text 15"/>
          <p:cNvSpPr txBox="1"/>
          <p:nvPr/>
        </p:nvSpPr>
        <p:spPr>
          <a:xfrm>
            <a:off x="3661410"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Agreement</a:t>
            </a:r>
            <a:endParaRPr lang="en-US" sz="1200" dirty="0"/>
          </a:p>
        </p:txBody>
      </p:sp>
      <p:sp>
        <p:nvSpPr>
          <p:cNvPr id="18" name="Text 16"/>
          <p:cNvSpPr txBox="1"/>
          <p:nvPr/>
        </p:nvSpPr>
        <p:spPr>
          <a:xfrm>
            <a:off x="3661410" y="2667000"/>
            <a:ext cx="1435100" cy="508000"/>
          </a:xfrm>
          <a:prstGeom prst="rect">
            <a:avLst/>
          </a:prstGeom>
          <a:noFill/>
          <a:ln/>
        </p:spPr>
        <p:txBody>
          <a:bodyPr wrap="square" lIns="0" tIns="0" rIns="0" bIns="0" rtlCol="0" anchor="t"/>
          <a:lstStyle/>
          <a:p>
            <a:pPr algn="l" indent="0" marL="0">
              <a:lnSpc>
                <a:spcPct val="112000"/>
              </a:lnSpc>
              <a:buNone/>
            </a:pPr>
            <a:r>
              <a:rPr lang="en-US" sz="950" b="1" dirty="0">
                <a:solidFill>
                  <a:srgbClr val="194E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50" dirty="0">
                <a:solidFill>
                  <a:srgbClr val="13151C"/>
                </a:solidFill>
                <a:latin typeface="Plus Jakarta Sans" pitchFamily="34" charset="0"/>
                <a:ea typeface="Plus Jakarta Sans" pitchFamily="34" charset="-122"/>
                <a:cs typeface="Plus Jakarta Sans" pitchFamily="34" charset="-120"/>
              </a:rPr>
              <a:t>Active partner status</a:t>
            </a:r>
            <a:endParaRPr lang="en-US" sz="950" dirty="0"/>
          </a:p>
        </p:txBody>
      </p:sp>
      <p:sp>
        <p:nvSpPr>
          <p:cNvPr id="19" name="Shape 17"/>
          <p:cNvSpPr/>
          <p:nvPr/>
        </p:nvSpPr>
        <p:spPr>
          <a:xfrm>
            <a:off x="5225415" y="1244600"/>
            <a:ext cx="6350" cy="2311400"/>
          </a:xfrm>
          <a:prstGeom prst="rect">
            <a:avLst/>
          </a:prstGeom>
          <a:solidFill>
            <a:srgbClr val="CDD0D9"/>
          </a:solidFill>
          <a:ln/>
        </p:spPr>
      </p:sp>
      <p:sp>
        <p:nvSpPr>
          <p:cNvPr id="20" name="Text 18"/>
          <p:cNvSpPr txBox="1"/>
          <p:nvPr/>
        </p:nvSpPr>
        <p:spPr>
          <a:xfrm>
            <a:off x="5403215"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04</a:t>
            </a:r>
            <a:endParaRPr lang="en-US" sz="1800" dirty="0"/>
          </a:p>
        </p:txBody>
      </p:sp>
      <p:sp>
        <p:nvSpPr>
          <p:cNvPr id="21" name="Text 19"/>
          <p:cNvSpPr txBox="1"/>
          <p:nvPr/>
        </p:nvSpPr>
        <p:spPr>
          <a:xfrm>
            <a:off x="5403215"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Enablement</a:t>
            </a:r>
            <a:endParaRPr lang="en-US" sz="1200" dirty="0"/>
          </a:p>
        </p:txBody>
      </p:sp>
      <p:sp>
        <p:nvSpPr>
          <p:cNvPr id="22" name="Text 20"/>
          <p:cNvSpPr txBox="1"/>
          <p:nvPr/>
        </p:nvSpPr>
        <p:spPr>
          <a:xfrm>
            <a:off x="5403215" y="2667000"/>
            <a:ext cx="1435100" cy="508000"/>
          </a:xfrm>
          <a:prstGeom prst="rect">
            <a:avLst/>
          </a:prstGeom>
          <a:noFill/>
          <a:ln/>
        </p:spPr>
        <p:txBody>
          <a:bodyPr wrap="square" lIns="0" tIns="0" rIns="0" bIns="0" rtlCol="0" anchor="t"/>
          <a:lstStyle/>
          <a:p>
            <a:pPr algn="l" indent="0" marL="0">
              <a:lnSpc>
                <a:spcPct val="112000"/>
              </a:lnSpc>
              <a:buNone/>
            </a:pPr>
            <a:r>
              <a:rPr lang="en-US" sz="950" b="1" dirty="0">
                <a:solidFill>
                  <a:srgbClr val="194E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50" dirty="0">
                <a:solidFill>
                  <a:srgbClr val="13151C"/>
                </a:solidFill>
                <a:latin typeface="Plus Jakarta Sans" pitchFamily="34" charset="0"/>
                <a:ea typeface="Plus Jakarta Sans" pitchFamily="34" charset="-122"/>
                <a:cs typeface="Plus Jakarta Sans" pitchFamily="34" charset="-120"/>
              </a:rPr>
              <a:t>Certified contacts</a:t>
            </a:r>
            <a:endParaRPr lang="en-US" sz="950" dirty="0"/>
          </a:p>
        </p:txBody>
      </p:sp>
      <p:sp>
        <p:nvSpPr>
          <p:cNvPr id="23" name="Shape 21"/>
          <p:cNvSpPr/>
          <p:nvPr/>
        </p:nvSpPr>
        <p:spPr>
          <a:xfrm>
            <a:off x="6967220" y="1244600"/>
            <a:ext cx="6350" cy="2311400"/>
          </a:xfrm>
          <a:prstGeom prst="rect">
            <a:avLst/>
          </a:prstGeom>
          <a:solidFill>
            <a:srgbClr val="CDD0D9"/>
          </a:solidFill>
          <a:ln/>
        </p:spPr>
      </p:sp>
      <p:sp>
        <p:nvSpPr>
          <p:cNvPr id="24" name="Shape 22"/>
          <p:cNvSpPr/>
          <p:nvPr/>
        </p:nvSpPr>
        <p:spPr>
          <a:xfrm>
            <a:off x="6967220" y="1250950"/>
            <a:ext cx="1739900" cy="2305050"/>
          </a:xfrm>
          <a:prstGeom prst="rect">
            <a:avLst/>
          </a:prstGeom>
          <a:solidFill>
            <a:srgbClr val="F7FBFD"/>
          </a:solidFill>
          <a:ln/>
        </p:spPr>
      </p:sp>
      <p:sp>
        <p:nvSpPr>
          <p:cNvPr id="25" name="Text 23"/>
          <p:cNvSpPr txBox="1"/>
          <p:nvPr/>
        </p:nvSpPr>
        <p:spPr>
          <a:xfrm>
            <a:off x="7145020"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05</a:t>
            </a:r>
            <a:endParaRPr lang="en-US" sz="1800" dirty="0"/>
          </a:p>
        </p:txBody>
      </p:sp>
      <p:sp>
        <p:nvSpPr>
          <p:cNvPr id="26" name="Text 24"/>
          <p:cNvSpPr txBox="1"/>
          <p:nvPr/>
        </p:nvSpPr>
        <p:spPr>
          <a:xfrm>
            <a:off x="7145020"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GTM planning</a:t>
            </a:r>
            <a:endParaRPr lang="en-US" sz="1200" dirty="0"/>
          </a:p>
        </p:txBody>
      </p:sp>
      <p:sp>
        <p:nvSpPr>
          <p:cNvPr id="27" name="Text 25"/>
          <p:cNvSpPr txBox="1"/>
          <p:nvPr/>
        </p:nvSpPr>
        <p:spPr>
          <a:xfrm>
            <a:off x="7145020" y="2667000"/>
            <a:ext cx="1435100" cy="508000"/>
          </a:xfrm>
          <a:prstGeom prst="rect">
            <a:avLst/>
          </a:prstGeom>
          <a:noFill/>
          <a:ln/>
        </p:spPr>
        <p:txBody>
          <a:bodyPr wrap="square" lIns="0" tIns="0" rIns="0" bIns="0" rtlCol="0" anchor="t"/>
          <a:lstStyle/>
          <a:p>
            <a:pPr algn="l" indent="0" marL="0">
              <a:lnSpc>
                <a:spcPct val="112000"/>
              </a:lnSpc>
              <a:buNone/>
            </a:pPr>
            <a:r>
              <a:rPr lang="en-US" sz="950" b="1" dirty="0">
                <a:solidFill>
                  <a:srgbClr val="194E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50" dirty="0">
                <a:solidFill>
                  <a:srgbClr val="13151C"/>
                </a:solidFill>
                <a:latin typeface="Plus Jakarta Sans" pitchFamily="34" charset="0"/>
                <a:ea typeface="Plus Jakarta Sans" pitchFamily="34" charset="-122"/>
                <a:cs typeface="Plus Jakarta Sans" pitchFamily="34" charset="-120"/>
              </a:rPr>
              <a:t>Joint action plan</a:t>
            </a:r>
            <a:endParaRPr lang="en-US" sz="950" dirty="0"/>
          </a:p>
        </p:txBody>
      </p:sp>
      <p:sp>
        <p:nvSpPr>
          <p:cNvPr id="28" name="Shape 26"/>
          <p:cNvSpPr/>
          <p:nvPr/>
        </p:nvSpPr>
        <p:spPr>
          <a:xfrm>
            <a:off x="8709025" y="1244600"/>
            <a:ext cx="6350" cy="2311400"/>
          </a:xfrm>
          <a:prstGeom prst="rect">
            <a:avLst/>
          </a:prstGeom>
          <a:solidFill>
            <a:srgbClr val="CDD0D9"/>
          </a:solidFill>
          <a:ln/>
        </p:spPr>
      </p:sp>
      <p:sp>
        <p:nvSpPr>
          <p:cNvPr id="29" name="Text 27"/>
          <p:cNvSpPr txBox="1"/>
          <p:nvPr/>
        </p:nvSpPr>
        <p:spPr>
          <a:xfrm>
            <a:off x="8886825"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06</a:t>
            </a:r>
            <a:endParaRPr lang="en-US" sz="1800" dirty="0"/>
          </a:p>
        </p:txBody>
      </p:sp>
      <p:sp>
        <p:nvSpPr>
          <p:cNvPr id="30" name="Text 28"/>
          <p:cNvSpPr txBox="1"/>
          <p:nvPr/>
        </p:nvSpPr>
        <p:spPr>
          <a:xfrm>
            <a:off x="8886825"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First opportunities</a:t>
            </a:r>
            <a:endParaRPr lang="en-US" sz="1200" dirty="0"/>
          </a:p>
        </p:txBody>
      </p:sp>
      <p:sp>
        <p:nvSpPr>
          <p:cNvPr id="31" name="Text 29"/>
          <p:cNvSpPr txBox="1"/>
          <p:nvPr/>
        </p:nvSpPr>
        <p:spPr>
          <a:xfrm>
            <a:off x="8886825" y="2667000"/>
            <a:ext cx="1435100" cy="508000"/>
          </a:xfrm>
          <a:prstGeom prst="rect">
            <a:avLst/>
          </a:prstGeom>
          <a:noFill/>
          <a:ln/>
        </p:spPr>
        <p:txBody>
          <a:bodyPr wrap="square" lIns="0" tIns="0" rIns="0" bIns="0" rtlCol="0" anchor="t"/>
          <a:lstStyle/>
          <a:p>
            <a:pPr algn="l" indent="0" marL="0">
              <a:lnSpc>
                <a:spcPct val="112000"/>
              </a:lnSpc>
              <a:buNone/>
            </a:pPr>
            <a:r>
              <a:rPr lang="en-US" sz="950" b="1" dirty="0">
                <a:solidFill>
                  <a:srgbClr val="194E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50" dirty="0">
                <a:solidFill>
                  <a:srgbClr val="13151C"/>
                </a:solidFill>
                <a:latin typeface="Plus Jakarta Sans" pitchFamily="34" charset="0"/>
                <a:ea typeface="Plus Jakarta Sans" pitchFamily="34" charset="-122"/>
                <a:cs typeface="Plus Jakarta Sans" pitchFamily="34" charset="-120"/>
              </a:rPr>
              <a:t>Qualified pipeline</a:t>
            </a:r>
            <a:endParaRPr lang="en-US" sz="950" dirty="0"/>
          </a:p>
        </p:txBody>
      </p:sp>
      <p:sp>
        <p:nvSpPr>
          <p:cNvPr id="32" name="Shape 30"/>
          <p:cNvSpPr/>
          <p:nvPr/>
        </p:nvSpPr>
        <p:spPr>
          <a:xfrm>
            <a:off x="10450830" y="1244600"/>
            <a:ext cx="6350" cy="2311400"/>
          </a:xfrm>
          <a:prstGeom prst="rect">
            <a:avLst/>
          </a:prstGeom>
          <a:solidFill>
            <a:srgbClr val="CDD0D9"/>
          </a:solidFill>
          <a:ln/>
        </p:spPr>
      </p:sp>
      <p:sp>
        <p:nvSpPr>
          <p:cNvPr id="33" name="Shape 31"/>
          <p:cNvSpPr/>
          <p:nvPr/>
        </p:nvSpPr>
        <p:spPr>
          <a:xfrm>
            <a:off x="10450830" y="1250950"/>
            <a:ext cx="1739900" cy="2305050"/>
          </a:xfrm>
          <a:prstGeom prst="rect">
            <a:avLst/>
          </a:prstGeom>
          <a:solidFill>
            <a:srgbClr val="EDF1FF"/>
          </a:solidFill>
          <a:ln/>
        </p:spPr>
      </p:sp>
      <p:sp>
        <p:nvSpPr>
          <p:cNvPr id="34" name="Text 32"/>
          <p:cNvSpPr txBox="1"/>
          <p:nvPr/>
        </p:nvSpPr>
        <p:spPr>
          <a:xfrm>
            <a:off x="10628630"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07</a:t>
            </a:r>
            <a:endParaRPr lang="en-US" sz="1800" dirty="0"/>
          </a:p>
        </p:txBody>
      </p:sp>
      <p:sp>
        <p:nvSpPr>
          <p:cNvPr id="35" name="Text 33"/>
          <p:cNvSpPr txBox="1"/>
          <p:nvPr/>
        </p:nvSpPr>
        <p:spPr>
          <a:xfrm>
            <a:off x="10628630"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Review &amp; scale</a:t>
            </a:r>
            <a:endParaRPr lang="en-US" sz="1200" dirty="0"/>
          </a:p>
        </p:txBody>
      </p:sp>
      <p:sp>
        <p:nvSpPr>
          <p:cNvPr id="36" name="Text 34"/>
          <p:cNvSpPr txBox="1"/>
          <p:nvPr/>
        </p:nvSpPr>
        <p:spPr>
          <a:xfrm>
            <a:off x="10628630" y="2667000"/>
            <a:ext cx="1435100" cy="508000"/>
          </a:xfrm>
          <a:prstGeom prst="rect">
            <a:avLst/>
          </a:prstGeom>
          <a:noFill/>
          <a:ln/>
        </p:spPr>
        <p:txBody>
          <a:bodyPr wrap="square" lIns="0" tIns="0" rIns="0" bIns="0" rtlCol="0" anchor="t"/>
          <a:lstStyle/>
          <a:p>
            <a:pPr algn="l" indent="0" marL="0">
              <a:lnSpc>
                <a:spcPct val="112000"/>
              </a:lnSpc>
              <a:buNone/>
            </a:pPr>
            <a:r>
              <a:rPr lang="en-US" sz="950" b="1" dirty="0">
                <a:solidFill>
                  <a:srgbClr val="194E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50" dirty="0">
                <a:solidFill>
                  <a:srgbClr val="13151C"/>
                </a:solidFill>
                <a:latin typeface="Plus Jakarta Sans" pitchFamily="34" charset="0"/>
                <a:ea typeface="Plus Jakarta Sans" pitchFamily="34" charset="-122"/>
                <a:cs typeface="Plus Jakarta Sans" pitchFamily="34" charset="-120"/>
              </a:rPr>
              <a:t>Level progression</a:t>
            </a:r>
            <a:endParaRPr lang="en-US" sz="950" dirty="0"/>
          </a:p>
        </p:txBody>
      </p:sp>
      <p:sp>
        <p:nvSpPr>
          <p:cNvPr id="37" name="Shape 35"/>
          <p:cNvSpPr/>
          <p:nvPr/>
        </p:nvSpPr>
        <p:spPr>
          <a:xfrm>
            <a:off x="0" y="3556000"/>
            <a:ext cx="12192000" cy="6350"/>
          </a:xfrm>
          <a:prstGeom prst="rect">
            <a:avLst/>
          </a:prstGeom>
          <a:solidFill>
            <a:srgbClr val="CDD0D9"/>
          </a:solidFill>
          <a:ln/>
        </p:spPr>
      </p:sp>
      <p:sp>
        <p:nvSpPr>
          <p:cNvPr id="38" name="Shape 36"/>
          <p:cNvSpPr/>
          <p:nvPr/>
        </p:nvSpPr>
        <p:spPr>
          <a:xfrm>
            <a:off x="0" y="3562350"/>
            <a:ext cx="12192000" cy="2279650"/>
          </a:xfrm>
          <a:prstGeom prst="rect">
            <a:avLst/>
          </a:prstGeom>
          <a:solidFill>
            <a:srgbClr val="194EFF"/>
          </a:solidFill>
          <a:ln/>
        </p:spPr>
      </p:sp>
      <p:sp>
        <p:nvSpPr>
          <p:cNvPr id="39" name="Text 37"/>
          <p:cNvSpPr txBox="1"/>
          <p:nvPr/>
        </p:nvSpPr>
        <p:spPr>
          <a:xfrm>
            <a:off x="762000" y="3810000"/>
            <a:ext cx="8890000" cy="190500"/>
          </a:xfrm>
          <a:prstGeom prst="rect">
            <a:avLst/>
          </a:prstGeom>
          <a:noFill/>
          <a:ln/>
        </p:spPr>
        <p:txBody>
          <a:bodyPr wrap="square" lIns="0" tIns="0" rIns="0" bIns="0" rtlCol="0" anchor="t"/>
          <a:lstStyle/>
          <a:p>
            <a:pPr algn="l" indent="0" marL="0">
              <a:lnSpc>
                <a:spcPct val="112000"/>
              </a:lnSpc>
              <a:buNone/>
            </a:pPr>
            <a:r>
              <a:rPr lang="en-US" sz="900" b="1" spc="200" kern="0" dirty="0">
                <a:solidFill>
                  <a:srgbClr val="FFFFFF"/>
                </a:solidFill>
                <a:latin typeface="Plus Jakarta Sans" pitchFamily="34" charset="0"/>
                <a:ea typeface="Plus Jakarta Sans" pitchFamily="34" charset="-122"/>
                <a:cs typeface="Plus Jakarta Sans" pitchFamily="34" charset="-120"/>
              </a:rPr>
              <a:t>GET STARTED · DIGNIFYX CHANNEL &amp; ALLIANCES</a:t>
            </a:r>
            <a:endParaRPr lang="en-US" sz="900" dirty="0"/>
          </a:p>
        </p:txBody>
      </p:sp>
      <p:sp>
        <p:nvSpPr>
          <p:cNvPr id="40" name="Text 38"/>
          <p:cNvSpPr txBox="1"/>
          <p:nvPr/>
        </p:nvSpPr>
        <p:spPr>
          <a:xfrm>
            <a:off x="762000" y="4064000"/>
            <a:ext cx="9525000" cy="571500"/>
          </a:xfrm>
          <a:prstGeom prst="rect">
            <a:avLst/>
          </a:prstGeom>
          <a:noFill/>
          <a:ln/>
        </p:spPr>
        <p:txBody>
          <a:bodyPr wrap="square" lIns="0" tIns="0" rIns="0" bIns="0" rtlCol="0" anchor="t"/>
          <a:lstStyle/>
          <a:p>
            <a:pPr algn="l" indent="0" marL="0">
              <a:lnSpc>
                <a:spcPct val="112000"/>
              </a:lnSpc>
              <a:buNone/>
            </a:pPr>
            <a:r>
              <a:rPr lang="en-US" sz="3200" b="1" dirty="0">
                <a:solidFill>
                  <a:srgbClr val="FFFFFF"/>
                </a:solidFill>
                <a:latin typeface="Plus Jakarta Sans" pitchFamily="34" charset="0"/>
                <a:ea typeface="Plus Jakarta Sans" pitchFamily="34" charset="-122"/>
                <a:cs typeface="Plus Jakarta Sans" pitchFamily="34" charset="-120"/>
              </a:rPr>
              <a:t>Request a partner discovery session.</a:t>
            </a:r>
            <a:endParaRPr lang="en-US" sz="3200" dirty="0"/>
          </a:p>
        </p:txBody>
      </p:sp>
      <p:sp>
        <p:nvSpPr>
          <p:cNvPr id="41" name="Text 39"/>
          <p:cNvSpPr txBox="1"/>
          <p:nvPr/>
        </p:nvSpPr>
        <p:spPr>
          <a:xfrm>
            <a:off x="762000" y="4724400"/>
            <a:ext cx="8890000" cy="279400"/>
          </a:xfrm>
          <a:prstGeom prst="rect">
            <a:avLst/>
          </a:prstGeom>
          <a:noFill/>
          <a:ln/>
        </p:spPr>
        <p:txBody>
          <a:bodyPr wrap="square" lIns="0" tIns="0" rIns="0" bIns="0" rtlCol="0" anchor="t"/>
          <a:lstStyle/>
          <a:p>
            <a:pPr algn="l" indent="0" marL="0">
              <a:lnSpc>
                <a:spcPct val="112000"/>
              </a:lnSpc>
              <a:buNone/>
            </a:pPr>
            <a:r>
              <a:rPr lang="en-US" sz="1400" dirty="0">
                <a:solidFill>
                  <a:srgbClr val="FFFFFF"/>
                </a:solidFill>
                <a:latin typeface="Plus Jakarta Sans Medium" pitchFamily="34" charset="0"/>
                <a:ea typeface="Plus Jakarta Sans Medium" pitchFamily="34" charset="-122"/>
                <a:cs typeface="Plus Jakarta Sans Medium" pitchFamily="34" charset="-120"/>
              </a:rPr>
              <a:t>Confirm fit, target markets, solution focus and your first 90-day activation plan.</a:t>
            </a:r>
            <a:endParaRPr lang="en-US" sz="1400" dirty="0"/>
          </a:p>
        </p:txBody>
      </p:sp>
      <p:sp>
        <p:nvSpPr>
          <p:cNvPr id="42" name="Text 40"/>
          <p:cNvSpPr txBox="1"/>
          <p:nvPr/>
        </p:nvSpPr>
        <p:spPr>
          <a:xfrm>
            <a:off x="762000" y="5207000"/>
            <a:ext cx="8890000" cy="2794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info@dignifyx.com  ·  dignifyx.com</a:t>
            </a:r>
            <a:endParaRPr lang="en-US" sz="1400" dirty="0"/>
          </a:p>
        </p:txBody>
      </p:sp>
      <p:sp>
        <p:nvSpPr>
          <p:cNvPr id="43" name="Shape 41"/>
          <p:cNvSpPr/>
          <p:nvPr/>
        </p:nvSpPr>
        <p:spPr>
          <a:xfrm>
            <a:off x="0" y="5842000"/>
            <a:ext cx="12192000" cy="1016000"/>
          </a:xfrm>
          <a:prstGeom prst="rect">
            <a:avLst/>
          </a:prstGeom>
          <a:solidFill>
            <a:srgbClr val="F5F9FB"/>
          </a:solidFill>
          <a:ln/>
        </p:spPr>
      </p:sp>
      <p:pic>
        <p:nvPicPr>
          <p:cNvPr id="44" name="Image 0" descr="/tmp/claude-0/-home-user-hosting/7c832a48-0979-56aa-9fdf-7d53efb9dc7a/scratchpad/build/img/motif-left.png">    </p:cNvPr>
          <p:cNvPicPr>
            <a:picLocks noChangeAspect="1"/>
          </p:cNvPicPr>
          <p:nvPr/>
        </p:nvPicPr>
        <p:blipFill>
          <a:blip r:embed="rId1"/>
          <a:stretch>
            <a:fillRect/>
          </a:stretch>
        </p:blipFill>
        <p:spPr>
          <a:xfrm>
            <a:off x="0" y="5842000"/>
            <a:ext cx="844550" cy="1016000"/>
          </a:xfrm>
          <a:prstGeom prst="rect">
            <a:avLst/>
          </a:prstGeom>
        </p:spPr>
      </p:pic>
      <p:pic>
        <p:nvPicPr>
          <p:cNvPr id="45" name="Image 1" descr="/tmp/claude-0/-home-user-hosting/7c832a48-0979-56aa-9fdf-7d53efb9dc7a/scratchpad/build/img/motif-right.png">    </p:cNvPr>
          <p:cNvPicPr>
            <a:picLocks noChangeAspect="1"/>
          </p:cNvPicPr>
          <p:nvPr/>
        </p:nvPicPr>
        <p:blipFill>
          <a:blip r:embed="rId2"/>
          <a:stretch>
            <a:fillRect/>
          </a:stretch>
        </p:blipFill>
        <p:spPr>
          <a:xfrm>
            <a:off x="11347450" y="5842000"/>
            <a:ext cx="844550" cy="1016000"/>
          </a:xfrm>
          <a:prstGeom prst="rect">
            <a:avLst/>
          </a:prstGeom>
        </p:spPr>
      </p:pic>
      <p:sp>
        <p:nvSpPr>
          <p:cNvPr id="46" name="Text 42"/>
          <p:cNvSpPr txBox="1"/>
          <p:nvPr/>
        </p:nvSpPr>
        <p:spPr>
          <a:xfrm>
            <a:off x="1079500" y="5969000"/>
            <a:ext cx="10033000" cy="558800"/>
          </a:xfrm>
          <a:prstGeom prst="rect">
            <a:avLst/>
          </a:prstGeom>
          <a:noFill/>
          <a:ln/>
        </p:spPr>
        <p:txBody>
          <a:bodyPr wrap="square" lIns="0" tIns="0" rIns="0" bIns="0" rtlCol="0" anchor="ctr"/>
          <a:lstStyle/>
          <a:p>
            <a:pPr algn="ctr" indent="0" marL="0">
              <a:lnSpc>
                <a:spcPct val="112000"/>
              </a:lnSpc>
              <a:buNone/>
            </a:pPr>
            <a:r>
              <a:rPr lang="en-US" sz="1300" dirty="0">
                <a:solidFill>
                  <a:srgbClr val="13151C"/>
                </a:solidFill>
                <a:latin typeface="Plus Jakarta Sans Medium" pitchFamily="34" charset="0"/>
                <a:ea typeface="Plus Jakarta Sans Medium" pitchFamily="34" charset="-122"/>
                <a:cs typeface="Plus Jakarta Sans Medium" pitchFamily="34" charset="-120"/>
              </a:rPr>
              <a:t>A structured onboarding journey to qualify, enable and create your first pipeline motion.</a:t>
            </a:r>
            <a:endParaRPr lang="en-US" sz="1300" dirty="0"/>
          </a:p>
        </p:txBody>
      </p:sp>
      <p:sp>
        <p:nvSpPr>
          <p:cNvPr id="47" name="Text 43"/>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tmp/claude-0/-home-user-hosting/7c832a48-0979-56aa-9fdf-7d53efb9dc7a/scratchpad/build/img/xmark.png">    </p:cNvPr>
          <p:cNvPicPr>
            <a:picLocks noChangeAspect="1"/>
          </p:cNvPicPr>
          <p:nvPr/>
        </p:nvPicPr>
        <p:blipFill>
          <a:blip r:embed="rId1"/>
          <a:stretch>
            <a:fillRect/>
          </a:stretch>
        </p:blipFill>
        <p:spPr>
          <a:xfrm>
            <a:off x="6350000" y="-952500"/>
            <a:ext cx="8890000" cy="8636000"/>
          </a:xfrm>
          <a:prstGeom prst="rect">
            <a:avLst/>
          </a:prstGeom>
        </p:spPr>
      </p:pic>
      <p:pic>
        <p:nvPicPr>
          <p:cNvPr id="3" name="Image 1" descr="/tmp/claude-0/-home-user-hosting/7c832a48-0979-56aa-9fdf-7d53efb9dc7a/scratchpad/build/img/logo-light.png">    </p:cNvPr>
          <p:cNvPicPr>
            <a:picLocks noChangeAspect="1"/>
          </p:cNvPicPr>
          <p:nvPr/>
        </p:nvPicPr>
        <p:blipFill>
          <a:blip r:embed="rId2"/>
          <a:stretch>
            <a:fillRect/>
          </a:stretch>
        </p:blipFill>
        <p:spPr>
          <a:xfrm>
            <a:off x="762000" y="1155700"/>
            <a:ext cx="2616200" cy="628650"/>
          </a:xfrm>
          <a:prstGeom prst="rect">
            <a:avLst/>
          </a:prstGeom>
        </p:spPr>
      </p:pic>
      <p:sp>
        <p:nvSpPr>
          <p:cNvPr id="4" name="Text 0"/>
          <p:cNvSpPr txBox="1"/>
          <p:nvPr/>
        </p:nvSpPr>
        <p:spPr>
          <a:xfrm>
            <a:off x="762000" y="2222500"/>
            <a:ext cx="5715000" cy="254000"/>
          </a:xfrm>
          <a:prstGeom prst="rect">
            <a:avLst/>
          </a:prstGeom>
          <a:noFill/>
          <a:ln/>
        </p:spPr>
        <p:txBody>
          <a:bodyPr wrap="square" lIns="0" tIns="0" rIns="0" bIns="0" rtlCol="0" anchor="t"/>
          <a:lstStyle/>
          <a:p>
            <a:pPr algn="l" indent="0" marL="0">
              <a:lnSpc>
                <a:spcPct val="112000"/>
              </a:lnSpc>
              <a:buNone/>
            </a:pPr>
            <a:r>
              <a:rPr lang="en-US" sz="1400" dirty="0">
                <a:solidFill>
                  <a:srgbClr val="194EFF"/>
                </a:solidFill>
                <a:latin typeface="Plus Jakarta Sans ExtraBold" pitchFamily="34" charset="0"/>
                <a:ea typeface="Plus Jakarta Sans ExtraBold" pitchFamily="34" charset="-122"/>
                <a:cs typeface="Plus Jakarta Sans ExtraBold" pitchFamily="34" charset="-120"/>
              </a:rPr>
              <a:t>DIGNIFYX CHANNEL &amp; ALLIANCES</a:t>
            </a:r>
            <a:endParaRPr lang="en-US" sz="1400" dirty="0"/>
          </a:p>
        </p:txBody>
      </p:sp>
      <p:sp>
        <p:nvSpPr>
          <p:cNvPr id="5" name="Text 1"/>
          <p:cNvSpPr txBox="1"/>
          <p:nvPr/>
        </p:nvSpPr>
        <p:spPr>
          <a:xfrm>
            <a:off x="762000" y="2540000"/>
            <a:ext cx="5715000" cy="1524000"/>
          </a:xfrm>
          <a:prstGeom prst="rect">
            <a:avLst/>
          </a:prstGeom>
          <a:noFill/>
          <a:ln/>
        </p:spPr>
        <p:txBody>
          <a:bodyPr wrap="square" lIns="0" tIns="0" rIns="0" bIns="0" rtlCol="0" anchor="t"/>
          <a:lstStyle/>
          <a:p>
            <a:pPr algn="l" indent="0" marL="0">
              <a:lnSpc>
                <a:spcPct val="105000"/>
              </a:lnSpc>
              <a:buNone/>
            </a:pPr>
            <a:r>
              <a:rPr lang="en-US" sz="4600" b="1" dirty="0">
                <a:solidFill>
                  <a:srgbClr val="13151C"/>
                </a:solidFill>
                <a:latin typeface="Plus Jakarta Sans" pitchFamily="34" charset="0"/>
                <a:ea typeface="Plus Jakarta Sans" pitchFamily="34" charset="-122"/>
                <a:cs typeface="Plus Jakarta Sans" pitchFamily="34" charset="-120"/>
              </a:rPr>
              <a:t>Let’s build what’s next, </a:t>
            </a:r>
            <a:pPr algn="l" indent="0" marL="0">
              <a:lnSpc>
                <a:spcPct val="105000"/>
              </a:lnSpc>
              <a:buNone/>
            </a:pPr>
            <a:r>
              <a:rPr lang="en-US" sz="4600" b="1" dirty="0">
                <a:solidFill>
                  <a:srgbClr val="194EFF"/>
                </a:solidFill>
                <a:latin typeface="Plus Jakarta Sans" pitchFamily="34" charset="0"/>
                <a:ea typeface="Plus Jakarta Sans" pitchFamily="34" charset="-122"/>
                <a:cs typeface="Plus Jakarta Sans" pitchFamily="34" charset="-120"/>
              </a:rPr>
              <a:t>together.</a:t>
            </a:r>
            <a:endParaRPr lang="en-US" sz="4600" dirty="0"/>
          </a:p>
        </p:txBody>
      </p:sp>
      <p:sp>
        <p:nvSpPr>
          <p:cNvPr id="6" name="Shape 2"/>
          <p:cNvSpPr/>
          <p:nvPr/>
        </p:nvSpPr>
        <p:spPr>
          <a:xfrm>
            <a:off x="762000" y="4292600"/>
            <a:ext cx="19050" cy="254000"/>
          </a:xfrm>
          <a:prstGeom prst="rect">
            <a:avLst/>
          </a:prstGeom>
          <a:solidFill>
            <a:srgbClr val="13151C"/>
          </a:solidFill>
          <a:ln/>
        </p:spPr>
      </p:sp>
      <p:sp>
        <p:nvSpPr>
          <p:cNvPr id="7" name="Text 3"/>
          <p:cNvSpPr txBox="1"/>
          <p:nvPr/>
        </p:nvSpPr>
        <p:spPr>
          <a:xfrm>
            <a:off x="889000" y="4292600"/>
            <a:ext cx="5461000" cy="254000"/>
          </a:xfrm>
          <a:prstGeom prst="rect">
            <a:avLst/>
          </a:prstGeom>
          <a:noFill/>
          <a:ln/>
        </p:spPr>
        <p:txBody>
          <a:bodyPr wrap="square" lIns="0" tIns="0" rIns="0" bIns="0" rtlCol="0" anchor="ctr"/>
          <a:lstStyle/>
          <a:p>
            <a:pPr algn="l" indent="0" marL="0">
              <a:lnSpc>
                <a:spcPct val="112000"/>
              </a:lnSpc>
              <a:buNone/>
            </a:pPr>
            <a:r>
              <a:rPr lang="en-US" sz="1500" dirty="0">
                <a:solidFill>
                  <a:srgbClr val="13151C"/>
                </a:solidFill>
                <a:latin typeface="Plus Jakarta Sans Medium" pitchFamily="34" charset="0"/>
                <a:ea typeface="Plus Jakarta Sans Medium" pitchFamily="34" charset="-122"/>
                <a:cs typeface="Plus Jakarta Sans Medium" pitchFamily="34" charset="-120"/>
              </a:rPr>
              <a:t>info@dignifyx.com  ·  dignifyx.com</a:t>
            </a:r>
            <a:endParaRPr lang="en-US" sz="1500" dirty="0"/>
          </a:p>
        </p:txBody>
      </p:sp>
      <p:sp>
        <p:nvSpPr>
          <p:cNvPr id="8" name="Text 4"/>
          <p:cNvSpPr txBox="1"/>
          <p:nvPr/>
        </p:nvSpPr>
        <p:spPr>
          <a:xfrm>
            <a:off x="762000" y="4775200"/>
            <a:ext cx="5715000" cy="215900"/>
          </a:xfrm>
          <a:prstGeom prst="rect">
            <a:avLst/>
          </a:prstGeom>
          <a:noFill/>
          <a:ln/>
        </p:spPr>
        <p:txBody>
          <a:bodyPr wrap="square" lIns="0" tIns="0" rIns="0" bIns="0" rtlCol="0" anchor="t"/>
          <a:lstStyle/>
          <a:p>
            <a:pPr algn="l" indent="0" marL="0">
              <a:lnSpc>
                <a:spcPct val="112000"/>
              </a:lnSpc>
              <a:buNone/>
            </a:pPr>
            <a:r>
              <a:rPr lang="en-US" sz="1100" spc="200" kern="0" dirty="0">
                <a:solidFill>
                  <a:srgbClr val="13151C"/>
                </a:solidFill>
                <a:latin typeface="Plus Jakarta Sans" pitchFamily="34" charset="0"/>
                <a:ea typeface="Plus Jakarta Sans" pitchFamily="34" charset="-122"/>
                <a:cs typeface="Plus Jakarta Sans" pitchFamily="34" charset="-120"/>
              </a:rPr>
              <a:t>TRUST  </a:t>
            </a:r>
            <a:pPr algn="l" indent="0" marL="0">
              <a:lnSpc>
                <a:spcPct val="112000"/>
              </a:lnSpc>
              <a:buNone/>
            </a:pPr>
            <a:r>
              <a:rPr lang="en-US" sz="1100" spc="200" kern="0" dirty="0">
                <a:solidFill>
                  <a:srgbClr val="194EFF"/>
                </a:solidFill>
                <a:latin typeface="Plus Jakarta Sans" pitchFamily="34" charset="0"/>
                <a:ea typeface="Plus Jakarta Sans" pitchFamily="34" charset="-122"/>
                <a:cs typeface="Plus Jakarta Sans" pitchFamily="34" charset="-120"/>
              </a:rPr>
              <a:t>|</a:t>
            </a:r>
            <a:pPr algn="l" indent="0" marL="0">
              <a:lnSpc>
                <a:spcPct val="112000"/>
              </a:lnSpc>
              <a:buNone/>
            </a:pPr>
            <a:r>
              <a:rPr lang="en-US" sz="1100" spc="200" kern="0" dirty="0">
                <a:solidFill>
                  <a:srgbClr val="13151C"/>
                </a:solidFill>
                <a:latin typeface="Plus Jakarta Sans" pitchFamily="34" charset="0"/>
                <a:ea typeface="Plus Jakarta Sans" pitchFamily="34" charset="-122"/>
                <a:cs typeface="Plus Jakarta Sans" pitchFamily="34" charset="-120"/>
              </a:rPr>
              <a:t>  INTEGRITY  </a:t>
            </a:r>
            <a:pPr algn="l" indent="0" marL="0">
              <a:lnSpc>
                <a:spcPct val="112000"/>
              </a:lnSpc>
              <a:buNone/>
            </a:pPr>
            <a:r>
              <a:rPr lang="en-US" sz="1100" spc="200" kern="0" dirty="0">
                <a:solidFill>
                  <a:srgbClr val="194EFF"/>
                </a:solidFill>
                <a:latin typeface="Plus Jakarta Sans" pitchFamily="34" charset="0"/>
                <a:ea typeface="Plus Jakarta Sans" pitchFamily="34" charset="-122"/>
                <a:cs typeface="Plus Jakarta Sans" pitchFamily="34" charset="-120"/>
              </a:rPr>
              <a:t>|</a:t>
            </a:r>
            <a:pPr algn="l" indent="0" marL="0">
              <a:lnSpc>
                <a:spcPct val="112000"/>
              </a:lnSpc>
              <a:buNone/>
            </a:pPr>
            <a:r>
              <a:rPr lang="en-US" sz="1100" spc="200" kern="0" dirty="0">
                <a:solidFill>
                  <a:srgbClr val="13151C"/>
                </a:solidFill>
                <a:latin typeface="Plus Jakarta Sans" pitchFamily="34" charset="0"/>
                <a:ea typeface="Plus Jakarta Sans" pitchFamily="34" charset="-122"/>
                <a:cs typeface="Plus Jakarta Sans" pitchFamily="34" charset="-120"/>
              </a:rPr>
              <a:t>  IMPACT  </a:t>
            </a:r>
            <a:pPr algn="l" indent="0" marL="0">
              <a:lnSpc>
                <a:spcPct val="112000"/>
              </a:lnSpc>
              <a:buNone/>
            </a:pPr>
            <a:r>
              <a:rPr lang="en-US" sz="1100" spc="200" kern="0" dirty="0">
                <a:solidFill>
                  <a:srgbClr val="194EFF"/>
                </a:solidFill>
                <a:latin typeface="Plus Jakarta Sans" pitchFamily="34" charset="0"/>
                <a:ea typeface="Plus Jakarta Sans" pitchFamily="34" charset="-122"/>
                <a:cs typeface="Plus Jakarta Sans" pitchFamily="34" charset="-120"/>
              </a:rPr>
              <a:t>|</a:t>
            </a:r>
            <a:pPr algn="l" indent="0" marL="0">
              <a:lnSpc>
                <a:spcPct val="112000"/>
              </a:lnSpc>
              <a:buNone/>
            </a:pPr>
            <a:r>
              <a:rPr lang="en-US" sz="1100" spc="200" kern="0" dirty="0">
                <a:solidFill>
                  <a:srgbClr val="13151C"/>
                </a:solidFill>
                <a:latin typeface="Plus Jakarta Sans" pitchFamily="34" charset="0"/>
                <a:ea typeface="Plus Jakarta Sans" pitchFamily="34" charset="-122"/>
                <a:cs typeface="Plus Jakarta Sans" pitchFamily="34" charset="-120"/>
              </a:rPr>
              <a:t>  CRAFTSMANSHIP</a:t>
            </a:r>
            <a:endParaRPr lang="en-US" sz="1100" dirty="0"/>
          </a:p>
        </p:txBody>
      </p:sp>
      <p:sp>
        <p:nvSpPr>
          <p:cNvPr id="9" name="Text 5"/>
          <p:cNvSpPr txBox="1"/>
          <p:nvPr/>
        </p:nvSpPr>
        <p:spPr>
          <a:xfrm>
            <a:off x="762000" y="5715000"/>
            <a:ext cx="5715000" cy="889000"/>
          </a:xfrm>
          <a:prstGeom prst="rect">
            <a:avLst/>
          </a:prstGeom>
          <a:noFill/>
          <a:ln/>
        </p:spPr>
        <p:txBody>
          <a:bodyPr wrap="square" lIns="0" tIns="0" rIns="0" bIns="0" rtlCol="0" anchor="t"/>
          <a:lstStyle/>
          <a:p>
            <a:pPr algn="l" indent="0" marL="0">
              <a:lnSpc>
                <a:spcPct val="130000"/>
              </a:lnSpc>
              <a:buNone/>
            </a:pPr>
            <a:r>
              <a:rPr lang="en-US" sz="750" dirty="0">
                <a:solidFill>
                  <a:srgbClr val="8A8C93"/>
                </a:solidFill>
                <a:latin typeface="Plus Jakarta Sans" pitchFamily="34" charset="0"/>
                <a:ea typeface="Plus Jakarta Sans" pitchFamily="34" charset="-122"/>
                <a:cs typeface="Plus Jakarta Sans" pitchFamily="34" charset="-120"/>
              </a:rPr>
              <a:t>Disclaimer: This guide is a programme description for partner awareness and onboarding, not an offer, quotation or contract, and creates no binding commitment. The signed partner agreement, commercial schedule, local legal terms and DignifyX approval processes govern in all cases. Commercial figures are indicative pending final DignifyX Finance and Legal approval and must be confirmed in the signed agreement.</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DignifyX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DignifyX Global Partner Program FY2026</dc:title>
  <dc:subject>PptxGenJS Presentation</dc:subject>
  <dc:creator>DignifyX Channel &amp; Alliances</dc:creator>
  <cp:lastModifiedBy>DignifyX Channel &amp; Alliances</cp:lastModifiedBy>
  <cp:revision>1</cp:revision>
  <dcterms:created xsi:type="dcterms:W3CDTF">2026-10-28T07:19:50Z</dcterms:created>
  <dcterms:modified xsi:type="dcterms:W3CDTF">2026-10-28T07:19:50Z</dcterms:modified>
</cp:coreProperties>
</file>