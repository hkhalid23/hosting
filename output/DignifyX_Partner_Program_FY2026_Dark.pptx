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3.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2.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chevron.png">    </p:cNvPr>
          <p:cNvPicPr>
            <a:picLocks noChangeAspect="1"/>
          </p:cNvPicPr>
          <p:nvPr/>
        </p:nvPicPr>
        <p:blipFill>
          <a:blip r:embed="rId2"/>
          <a:stretch>
            <a:fillRect/>
          </a:stretch>
        </p:blipFill>
        <p:spPr>
          <a:xfrm>
            <a:off x="7493000" y="-762000"/>
            <a:ext cx="5270500" cy="8382000"/>
          </a:xfrm>
          <a:prstGeom prst="rect">
            <a:avLst/>
          </a:prstGeom>
        </p:spPr>
      </p:pic>
      <p:pic>
        <p:nvPicPr>
          <p:cNvPr id="3" name="Image 1" descr="/tmp/claude-0/-home-user-hosting/7c832a48-0979-56aa-9fdf-7d53efb9dc7a/scratchpad/build/imgd/chevron.png">    </p:cNvPr>
          <p:cNvPicPr>
            <a:picLocks noChangeAspect="1"/>
          </p:cNvPicPr>
          <p:nvPr/>
        </p:nvPicPr>
        <p:blipFill>
          <a:blip r:embed="rId3">
            <a:alphaModFix amt="25000"/>
          </a:blip>
          <a:stretch>
            <a:fillRect/>
          </a:stretch>
        </p:blipFill>
        <p:spPr>
          <a:xfrm>
            <a:off x="9525000" y="1143000"/>
            <a:ext cx="2870200" cy="4572000"/>
          </a:xfrm>
          <a:prstGeom prst="rect">
            <a:avLst/>
          </a:prstGeom>
        </p:spPr>
      </p:pic>
      <p:pic>
        <p:nvPicPr>
          <p:cNvPr id="4" name="anim-1-1" descr="/tmp/claude-0/-home-user-hosting/7c832a48-0979-56aa-9fdf-7d53efb9dc7a/scratchpad/build/imgd/logo-white.png">    </p:cNvPr>
          <p:cNvPicPr>
            <a:picLocks noChangeAspect="1"/>
          </p:cNvPicPr>
          <p:nvPr/>
        </p:nvPicPr>
        <p:blipFill>
          <a:blip r:embed="rId4"/>
          <a:stretch>
            <a:fillRect/>
          </a:stretch>
        </p:blipFill>
        <p:spPr>
          <a:xfrm>
            <a:off x="762000" y="952500"/>
            <a:ext cx="2616200" cy="628650"/>
          </a:xfrm>
          <a:prstGeom prst="rect">
            <a:avLst/>
          </a:prstGeom>
        </p:spPr>
      </p:pic>
      <p:sp>
        <p:nvSpPr>
          <p:cNvPr id="5" name="anim-2-2"/>
          <p:cNvSpPr txBox="1"/>
          <p:nvPr/>
        </p:nvSpPr>
        <p:spPr>
          <a:xfrm>
            <a:off x="762000" y="2032000"/>
            <a:ext cx="6350000" cy="228600"/>
          </a:xfrm>
          <a:prstGeom prst="rect">
            <a:avLst/>
          </a:prstGeom>
          <a:noFill/>
          <a:ln/>
        </p:spPr>
        <p:txBody>
          <a:bodyPr wrap="square" lIns="0" tIns="0" rIns="0" bIns="0" rtlCol="0" anchor="t"/>
          <a:lstStyle/>
          <a:p>
            <a:pPr algn="l" indent="0" marL="0">
              <a:lnSpc>
                <a:spcPct val="112000"/>
              </a:lnSpc>
              <a:buNone/>
            </a:pPr>
            <a:r>
              <a:rPr lang="en-US" sz="1200" spc="400" kern="0" dirty="0">
                <a:solidFill>
                  <a:srgbClr val="15B6FF"/>
                </a:solidFill>
                <a:latin typeface="Plus Jakarta Sans SemiBold" pitchFamily="34" charset="0"/>
                <a:ea typeface="Plus Jakarta Sans SemiBold" pitchFamily="34" charset="-122"/>
                <a:cs typeface="Plus Jakarta Sans SemiBold" pitchFamily="34" charset="-120"/>
              </a:rPr>
              <a:t>DIGNIFYX GLOBAL PARTNER PROGRAM · FY2026</a:t>
            </a:r>
            <a:endParaRPr lang="en-US" sz="1200" dirty="0"/>
          </a:p>
        </p:txBody>
      </p:sp>
      <p:sp>
        <p:nvSpPr>
          <p:cNvPr id="6" name="anim-2-3"/>
          <p:cNvSpPr txBox="1"/>
          <p:nvPr/>
        </p:nvSpPr>
        <p:spPr>
          <a:xfrm>
            <a:off x="762000" y="2324100"/>
            <a:ext cx="6985000" cy="762000"/>
          </a:xfrm>
          <a:prstGeom prst="rect">
            <a:avLst/>
          </a:prstGeom>
          <a:noFill/>
          <a:ln/>
        </p:spPr>
        <p:txBody>
          <a:bodyPr wrap="square" lIns="0" tIns="0" rIns="0" bIns="0" rtlCol="0" anchor="t"/>
          <a:lstStyle/>
          <a:p>
            <a:pPr algn="l" indent="0" marL="0">
              <a:lnSpc>
                <a:spcPct val="112000"/>
              </a:lnSpc>
              <a:buNone/>
            </a:pPr>
            <a:r>
              <a:rPr lang="en-US" sz="4800" b="1" dirty="0">
                <a:solidFill>
                  <a:srgbClr val="FFFFFF"/>
                </a:solidFill>
                <a:latin typeface="Plus Jakarta Sans" pitchFamily="34" charset="0"/>
                <a:ea typeface="Plus Jakarta Sans" pitchFamily="34" charset="-122"/>
                <a:cs typeface="Plus Jakarta Sans" pitchFamily="34" charset="-120"/>
              </a:rPr>
              <a:t>Build. Sell. </a:t>
            </a:r>
            <a:pPr algn="l" indent="0" marL="0">
              <a:lnSpc>
                <a:spcPct val="112000"/>
              </a:lnSpc>
              <a:buNone/>
            </a:pPr>
            <a:r>
              <a:rPr lang="en-US" sz="4800" b="1" dirty="0">
                <a:solidFill>
                  <a:srgbClr val="15B6FF"/>
                </a:solidFill>
                <a:latin typeface="Plus Jakarta Sans" pitchFamily="34" charset="0"/>
                <a:ea typeface="Plus Jakarta Sans" pitchFamily="34" charset="-122"/>
                <a:cs typeface="Plus Jakarta Sans" pitchFamily="34" charset="-120"/>
              </a:rPr>
              <a:t>Scale.</a:t>
            </a:r>
            <a:endParaRPr lang="en-US" sz="4800" dirty="0"/>
          </a:p>
        </p:txBody>
      </p:sp>
      <p:sp>
        <p:nvSpPr>
          <p:cNvPr id="7" name="anim-3-4"/>
          <p:cNvSpPr txBox="1"/>
          <p:nvPr/>
        </p:nvSpPr>
        <p:spPr>
          <a:xfrm>
            <a:off x="762000" y="3302000"/>
            <a:ext cx="5715000" cy="889000"/>
          </a:xfrm>
          <a:prstGeom prst="rect">
            <a:avLst/>
          </a:prstGeom>
          <a:noFill/>
          <a:ln/>
        </p:spPr>
        <p:txBody>
          <a:bodyPr wrap="square" lIns="0" tIns="0" rIns="0" bIns="0" rtlCol="0" anchor="t"/>
          <a:lstStyle/>
          <a:p>
            <a:pPr algn="l" indent="0" marL="0">
              <a:lnSpc>
                <a:spcPct val="125000"/>
              </a:lnSpc>
              <a:buNone/>
            </a:pPr>
            <a:r>
              <a:rPr lang="en-US" sz="1500" dirty="0">
                <a:solidFill>
                  <a:srgbClr val="C3C8D1"/>
                </a:solidFill>
                <a:latin typeface="Plus Jakarta Sans" pitchFamily="34" charset="0"/>
                <a:ea typeface="Plus Jakarta Sans" pitchFamily="34" charset="-122"/>
                <a:cs typeface="Plus Jakarta Sans" pitchFamily="34" charset="-120"/>
              </a:rPr>
              <a:t>The partner guide to growing a trusted AI coaching practice with DignifyX, from your first registered deal to a strategic, multi-country alliance.</a:t>
            </a:r>
            <a:endParaRPr lang="en-US" sz="1500" dirty="0"/>
          </a:p>
        </p:txBody>
      </p:sp>
      <p:sp>
        <p:nvSpPr>
          <p:cNvPr id="8" name="anim-4-5"/>
          <p:cNvSpPr/>
          <p:nvPr/>
        </p:nvSpPr>
        <p:spPr>
          <a:xfrm>
            <a:off x="762000" y="4521200"/>
            <a:ext cx="19050" cy="254000"/>
          </a:xfrm>
          <a:prstGeom prst="rect">
            <a:avLst/>
          </a:prstGeom>
          <a:solidFill>
            <a:srgbClr val="FFFFFF"/>
          </a:solidFill>
          <a:ln/>
        </p:spPr>
      </p:sp>
      <p:sp>
        <p:nvSpPr>
          <p:cNvPr id="9" name="anim-4-6"/>
          <p:cNvSpPr txBox="1"/>
          <p:nvPr/>
        </p:nvSpPr>
        <p:spPr>
          <a:xfrm>
            <a:off x="889000" y="4521200"/>
            <a:ext cx="4445000" cy="254000"/>
          </a:xfrm>
          <a:prstGeom prst="rect">
            <a:avLst/>
          </a:prstGeom>
          <a:noFill/>
          <a:ln/>
        </p:spPr>
        <p:txBody>
          <a:bodyPr wrap="square" lIns="0" tIns="0" rIns="0" bIns="0" rtlCol="0" anchor="ctr"/>
          <a:lstStyle/>
          <a:p>
            <a:pPr algn="l" indent="0" marL="0">
              <a:lnSpc>
                <a:spcPct val="112000"/>
              </a:lnSpc>
              <a:buNone/>
            </a:pPr>
            <a:r>
              <a:rPr lang="en-US" sz="1400" dirty="0">
                <a:solidFill>
                  <a:srgbClr val="FFFFFF"/>
                </a:solidFill>
                <a:latin typeface="Plus Jakarta Sans Medium" pitchFamily="34" charset="0"/>
                <a:ea typeface="Plus Jakarta Sans Medium" pitchFamily="34" charset="-122"/>
                <a:cs typeface="Plus Jakarta Sans Medium" pitchFamily="34" charset="-120"/>
              </a:rPr>
              <a:t>PARTNER-CONFIDENTIAL · NDA</a:t>
            </a:r>
            <a:endParaRPr lang="en-US" sz="1400" dirty="0"/>
          </a:p>
        </p:txBody>
      </p:sp>
      <p:sp>
        <p:nvSpPr>
          <p:cNvPr id="10" name="anim-5-7"/>
          <p:cNvSpPr txBox="1"/>
          <p:nvPr/>
        </p:nvSpPr>
        <p:spPr>
          <a:xfrm>
            <a:off x="762000" y="6096000"/>
            <a:ext cx="6350000" cy="444500"/>
          </a:xfrm>
          <a:prstGeom prst="rect">
            <a:avLst/>
          </a:prstGeom>
          <a:noFill/>
          <a:ln/>
        </p:spPr>
        <p:txBody>
          <a:bodyPr wrap="square" lIns="0" tIns="0" rIns="0" bIns="0" rtlCol="0" anchor="t"/>
          <a:lstStyle/>
          <a:p>
            <a:pPr algn="l" indent="0" marL="0">
              <a:lnSpc>
                <a:spcPct val="130000"/>
              </a:lnSpc>
              <a:buNone/>
            </a:pPr>
            <a:r>
              <a:rPr lang="en-US" sz="800" dirty="0">
                <a:solidFill>
                  <a:srgbClr val="8C93A3"/>
                </a:solidFill>
                <a:latin typeface="Plus Jakarta Sans" pitchFamily="34" charset="0"/>
                <a:ea typeface="Plus Jakarta Sans" pitchFamily="34" charset="-122"/>
                <a:cs typeface="Plus Jakarta Sans" pitchFamily="34" charset="-120"/>
              </a:rPr>
              <a:t>Owner: DignifyX Channel &amp; Alliances  |  FY2026 external partner guide  |  Confidential: for partners under signed NDA or partnership agreement. Do not post publicly or forward to unqualified parties.</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8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18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36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5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54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72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02</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01 · EXECUTIVE OVERVIEW</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A structured programme that rewards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real</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contribution and protects trust</a:t>
            </a:r>
            <a:endParaRPr lang="en-US" sz="2000" dirty="0"/>
          </a:p>
        </p:txBody>
      </p:sp>
      <p:sp>
        <p:nvSpPr>
          <p:cNvPr id="8" name="anim-2-4"/>
          <p:cNvSpPr/>
          <p:nvPr/>
        </p:nvSpPr>
        <p:spPr>
          <a:xfrm>
            <a:off x="508000" y="1308100"/>
            <a:ext cx="3623733" cy="1174750"/>
          </a:xfrm>
          <a:prstGeom prst="roundRect">
            <a:avLst>
              <a:gd name="adj" fmla="val 12973"/>
            </a:avLst>
          </a:prstGeom>
          <a:solidFill>
            <a:srgbClr val="194EFF">
              <a:alpha val="30000"/>
            </a:srgbClr>
          </a:solidFill>
          <a:ln w="15875">
            <a:solidFill>
              <a:srgbClr val="194EFF"/>
            </a:solidFill>
            <a:prstDash val="solid"/>
          </a:ln>
        </p:spPr>
      </p:sp>
      <p:sp>
        <p:nvSpPr>
          <p:cNvPr id="9" name="anim-2-5"/>
          <p:cNvSpPr txBox="1"/>
          <p:nvPr/>
        </p:nvSpPr>
        <p:spPr>
          <a:xfrm>
            <a:off x="711200" y="1460500"/>
            <a:ext cx="19050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50" dirty="0"/>
          </a:p>
        </p:txBody>
      </p:sp>
      <p:sp>
        <p:nvSpPr>
          <p:cNvPr id="10" name="anim-2-6"/>
          <p:cNvSpPr txBox="1"/>
          <p:nvPr/>
        </p:nvSpPr>
        <p:spPr>
          <a:xfrm>
            <a:off x="711200" y="1562100"/>
            <a:ext cx="3217333" cy="5080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40</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a:t>
            </a:r>
            <a:endParaRPr lang="en-US" sz="3400" dirty="0"/>
          </a:p>
        </p:txBody>
      </p:sp>
      <p:sp>
        <p:nvSpPr>
          <p:cNvPr id="11" name="anim-2-7"/>
          <p:cNvSpPr txBox="1"/>
          <p:nvPr/>
        </p:nvSpPr>
        <p:spPr>
          <a:xfrm>
            <a:off x="711200" y="2108200"/>
            <a:ext cx="3217333" cy="3302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Partner-sourced commission on first-year eligible ARR (Elite)</a:t>
            </a:r>
            <a:endParaRPr lang="en-US" sz="900" dirty="0"/>
          </a:p>
        </p:txBody>
      </p:sp>
      <p:sp>
        <p:nvSpPr>
          <p:cNvPr id="12" name="anim-3-8"/>
          <p:cNvSpPr/>
          <p:nvPr/>
        </p:nvSpPr>
        <p:spPr>
          <a:xfrm>
            <a:off x="4284133" y="1308100"/>
            <a:ext cx="3623733" cy="1174750"/>
          </a:xfrm>
          <a:prstGeom prst="roundRect">
            <a:avLst>
              <a:gd name="adj" fmla="val 12973"/>
            </a:avLst>
          </a:prstGeom>
          <a:solidFill>
            <a:srgbClr val="FFFFFF">
              <a:alpha val="5000"/>
            </a:srgbClr>
          </a:solidFill>
          <a:ln w="9525">
            <a:solidFill>
              <a:srgbClr val="FFFFFF">
                <a:alpha val="12000"/>
              </a:srgbClr>
            </a:solidFill>
            <a:prstDash val="solid"/>
          </a:ln>
        </p:spPr>
      </p:sp>
      <p:sp>
        <p:nvSpPr>
          <p:cNvPr id="13" name="anim-3-9"/>
          <p:cNvSpPr txBox="1"/>
          <p:nvPr/>
        </p:nvSpPr>
        <p:spPr>
          <a:xfrm>
            <a:off x="4487333" y="1562100"/>
            <a:ext cx="3217333" cy="5080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5</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 levels</a:t>
            </a:r>
            <a:endParaRPr lang="en-US" sz="3400" dirty="0"/>
          </a:p>
        </p:txBody>
      </p:sp>
      <p:sp>
        <p:nvSpPr>
          <p:cNvPr id="14" name="anim-3-10"/>
          <p:cNvSpPr txBox="1"/>
          <p:nvPr/>
        </p:nvSpPr>
        <p:spPr>
          <a:xfrm>
            <a:off x="4487333" y="2108200"/>
            <a:ext cx="3217333" cy="3302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Registered → Silver → Gold → Platinum → Elite, reviewed up to twice a year</a:t>
            </a:r>
            <a:endParaRPr lang="en-US" sz="900" dirty="0"/>
          </a:p>
        </p:txBody>
      </p:sp>
      <p:sp>
        <p:nvSpPr>
          <p:cNvPr id="15" name="anim-4-11"/>
          <p:cNvSpPr/>
          <p:nvPr/>
        </p:nvSpPr>
        <p:spPr>
          <a:xfrm>
            <a:off x="8060267" y="1308100"/>
            <a:ext cx="3623733" cy="1174750"/>
          </a:xfrm>
          <a:prstGeom prst="roundRect">
            <a:avLst>
              <a:gd name="adj" fmla="val 12973"/>
            </a:avLst>
          </a:prstGeom>
          <a:solidFill>
            <a:srgbClr val="FFFFFF">
              <a:alpha val="5000"/>
            </a:srgbClr>
          </a:solidFill>
          <a:ln w="9525">
            <a:solidFill>
              <a:srgbClr val="FFFFFF">
                <a:alpha val="12000"/>
              </a:srgbClr>
            </a:solidFill>
            <a:prstDash val="solid"/>
          </a:ln>
        </p:spPr>
      </p:sp>
      <p:sp>
        <p:nvSpPr>
          <p:cNvPr id="16" name="anim-4-12"/>
          <p:cNvSpPr txBox="1"/>
          <p:nvPr/>
        </p:nvSpPr>
        <p:spPr>
          <a:xfrm>
            <a:off x="8263467" y="1562100"/>
            <a:ext cx="3217333" cy="5080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3</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 years</a:t>
            </a:r>
            <a:endParaRPr lang="en-US" sz="3400" dirty="0"/>
          </a:p>
        </p:txBody>
      </p:sp>
      <p:sp>
        <p:nvSpPr>
          <p:cNvPr id="17" name="anim-4-13"/>
          <p:cNvSpPr txBox="1"/>
          <p:nvPr/>
        </p:nvSpPr>
        <p:spPr>
          <a:xfrm>
            <a:off x="8263467" y="2108200"/>
            <a:ext cx="3217333" cy="3302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Year 1, 2 and 3 of standard three-year contracts credited as New ARR Bookings</a:t>
            </a:r>
            <a:endParaRPr lang="en-US" sz="900" dirty="0"/>
          </a:p>
        </p:txBody>
      </p:sp>
      <p:sp>
        <p:nvSpPr>
          <p:cNvPr id="18" name="anim-5-14"/>
          <p:cNvSpPr/>
          <p:nvPr/>
        </p:nvSpPr>
        <p:spPr>
          <a:xfrm>
            <a:off x="508000" y="2635250"/>
            <a:ext cx="3623733" cy="1174750"/>
          </a:xfrm>
          <a:prstGeom prst="roundRect">
            <a:avLst>
              <a:gd name="adj" fmla="val 12973"/>
            </a:avLst>
          </a:prstGeom>
          <a:solidFill>
            <a:srgbClr val="FFFFFF">
              <a:alpha val="5000"/>
            </a:srgbClr>
          </a:solidFill>
          <a:ln w="9525">
            <a:solidFill>
              <a:srgbClr val="FFFFFF">
                <a:alpha val="12000"/>
              </a:srgbClr>
            </a:solidFill>
            <a:prstDash val="solid"/>
          </a:ln>
        </p:spPr>
      </p:sp>
      <p:sp>
        <p:nvSpPr>
          <p:cNvPr id="19" name="anim-5-15"/>
          <p:cNvSpPr txBox="1"/>
          <p:nvPr/>
        </p:nvSpPr>
        <p:spPr>
          <a:xfrm>
            <a:off x="711200" y="2889250"/>
            <a:ext cx="3217333" cy="5080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90 + 180</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 days</a:t>
            </a:r>
            <a:endParaRPr lang="en-US" sz="3400" dirty="0"/>
          </a:p>
        </p:txBody>
      </p:sp>
      <p:sp>
        <p:nvSpPr>
          <p:cNvPr id="20" name="anim-5-16"/>
          <p:cNvSpPr txBox="1"/>
          <p:nvPr/>
        </p:nvSpPr>
        <p:spPr>
          <a:xfrm>
            <a:off x="711200" y="3435350"/>
            <a:ext cx="3217333" cy="3302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Deal-registration protection: lead, then converted opportunity</a:t>
            </a:r>
            <a:endParaRPr lang="en-US" sz="900" dirty="0"/>
          </a:p>
        </p:txBody>
      </p:sp>
      <p:sp>
        <p:nvSpPr>
          <p:cNvPr id="21" name="anim-6-17"/>
          <p:cNvSpPr/>
          <p:nvPr/>
        </p:nvSpPr>
        <p:spPr>
          <a:xfrm>
            <a:off x="4284133" y="2635250"/>
            <a:ext cx="3623733" cy="1174750"/>
          </a:xfrm>
          <a:prstGeom prst="roundRect">
            <a:avLst>
              <a:gd name="adj" fmla="val 12973"/>
            </a:avLst>
          </a:prstGeom>
          <a:solidFill>
            <a:srgbClr val="FFFFFF">
              <a:alpha val="5000"/>
            </a:srgbClr>
          </a:solidFill>
          <a:ln w="9525">
            <a:solidFill>
              <a:srgbClr val="FFFFFF">
                <a:alpha val="12000"/>
              </a:srgbClr>
            </a:solidFill>
            <a:prstDash val="solid"/>
          </a:ln>
        </p:spPr>
      </p:sp>
      <p:sp>
        <p:nvSpPr>
          <p:cNvPr id="22" name="anim-6-18"/>
          <p:cNvSpPr txBox="1"/>
          <p:nvPr/>
        </p:nvSpPr>
        <p:spPr>
          <a:xfrm>
            <a:off x="4487333" y="2787650"/>
            <a:ext cx="19050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50" dirty="0"/>
          </a:p>
        </p:txBody>
      </p:sp>
      <p:sp>
        <p:nvSpPr>
          <p:cNvPr id="23" name="anim-6-19"/>
          <p:cNvSpPr txBox="1"/>
          <p:nvPr/>
        </p:nvSpPr>
        <p:spPr>
          <a:xfrm>
            <a:off x="4487333" y="2889250"/>
            <a:ext cx="3217333" cy="5080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$45</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K</a:t>
            </a:r>
            <a:endParaRPr lang="en-US" sz="3400" dirty="0"/>
          </a:p>
        </p:txBody>
      </p:sp>
      <p:sp>
        <p:nvSpPr>
          <p:cNvPr id="24" name="anim-6-20"/>
          <p:cNvSpPr txBox="1"/>
          <p:nvPr/>
        </p:nvSpPr>
        <p:spPr>
          <a:xfrm>
            <a:off x="4487333" y="3435350"/>
            <a:ext cx="3217333" cy="3302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Combined annual co-marketing ($30K) and promotion ($15K) funds at Elite</a:t>
            </a:r>
            <a:endParaRPr lang="en-US" sz="900" dirty="0"/>
          </a:p>
        </p:txBody>
      </p:sp>
      <p:sp>
        <p:nvSpPr>
          <p:cNvPr id="25" name="anim-7-21"/>
          <p:cNvSpPr/>
          <p:nvPr/>
        </p:nvSpPr>
        <p:spPr>
          <a:xfrm>
            <a:off x="8060267" y="2635250"/>
            <a:ext cx="3623733" cy="1174750"/>
          </a:xfrm>
          <a:prstGeom prst="roundRect">
            <a:avLst>
              <a:gd name="adj" fmla="val 12973"/>
            </a:avLst>
          </a:prstGeom>
          <a:solidFill>
            <a:srgbClr val="FFFFFF">
              <a:alpha val="5000"/>
            </a:srgbClr>
          </a:solidFill>
          <a:ln w="9525">
            <a:solidFill>
              <a:srgbClr val="FFFFFF">
                <a:alpha val="12000"/>
              </a:srgbClr>
            </a:solidFill>
            <a:prstDash val="solid"/>
          </a:ln>
        </p:spPr>
      </p:sp>
      <p:sp>
        <p:nvSpPr>
          <p:cNvPr id="26" name="anim-7-22"/>
          <p:cNvSpPr txBox="1"/>
          <p:nvPr/>
        </p:nvSpPr>
        <p:spPr>
          <a:xfrm>
            <a:off x="8263467" y="2787650"/>
            <a:ext cx="19050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50" dirty="0"/>
          </a:p>
        </p:txBody>
      </p:sp>
      <p:sp>
        <p:nvSpPr>
          <p:cNvPr id="27" name="anim-7-23"/>
          <p:cNvSpPr txBox="1"/>
          <p:nvPr/>
        </p:nvSpPr>
        <p:spPr>
          <a:xfrm>
            <a:off x="8263467" y="2889250"/>
            <a:ext cx="3217333" cy="5080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$50</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K</a:t>
            </a:r>
            <a:endParaRPr lang="en-US" sz="3400" dirty="0"/>
          </a:p>
        </p:txBody>
      </p:sp>
      <p:sp>
        <p:nvSpPr>
          <p:cNvPr id="28" name="anim-7-24"/>
          <p:cNvSpPr txBox="1"/>
          <p:nvPr/>
        </p:nvSpPr>
        <p:spPr>
          <a:xfrm>
            <a:off x="8263467" y="3435350"/>
            <a:ext cx="3217333" cy="3302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Indicative sandbox value, plus enhanced support on your first 3 opportunities</a:t>
            </a:r>
            <a:endParaRPr lang="en-US" sz="900" dirty="0"/>
          </a:p>
        </p:txBody>
      </p:sp>
      <p:sp>
        <p:nvSpPr>
          <p:cNvPr id="29" name="anim-8-25"/>
          <p:cNvSpPr/>
          <p:nvPr/>
        </p:nvSpPr>
        <p:spPr>
          <a:xfrm>
            <a:off x="508000" y="4064000"/>
            <a:ext cx="2113280" cy="1447800"/>
          </a:xfrm>
          <a:prstGeom prst="roundRect">
            <a:avLst>
              <a:gd name="adj" fmla="val 10526"/>
            </a:avLst>
          </a:prstGeom>
          <a:solidFill>
            <a:srgbClr val="FFFFFF">
              <a:alpha val="5000"/>
            </a:srgbClr>
          </a:solidFill>
          <a:ln w="9525">
            <a:solidFill>
              <a:srgbClr val="FFFFFF">
                <a:alpha val="12000"/>
              </a:srgbClr>
            </a:solidFill>
            <a:prstDash val="solid"/>
          </a:ln>
        </p:spPr>
      </p:sp>
      <p:sp>
        <p:nvSpPr>
          <p:cNvPr id="30" name="anim-8-26"/>
          <p:cNvSpPr txBox="1"/>
          <p:nvPr/>
        </p:nvSpPr>
        <p:spPr>
          <a:xfrm>
            <a:off x="685800" y="42164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01</a:t>
            </a:r>
            <a:endParaRPr lang="en-US" sz="2000" dirty="0"/>
          </a:p>
        </p:txBody>
      </p:sp>
      <p:sp>
        <p:nvSpPr>
          <p:cNvPr id="31" name="anim-8-27"/>
          <p:cNvSpPr txBox="1"/>
          <p:nvPr/>
        </p:nvSpPr>
        <p:spPr>
          <a:xfrm>
            <a:off x="685800" y="4597400"/>
            <a:ext cx="1757680" cy="2540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Join</a:t>
            </a:r>
            <a:endParaRPr lang="en-US" sz="1400" dirty="0"/>
          </a:p>
        </p:txBody>
      </p:sp>
      <p:sp>
        <p:nvSpPr>
          <p:cNvPr id="32" name="anim-8-28"/>
          <p:cNvSpPr txBox="1"/>
          <p:nvPr/>
        </p:nvSpPr>
        <p:spPr>
          <a:xfrm>
            <a:off x="685800" y="4889500"/>
            <a:ext cx="1757680" cy="4445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Apply, due diligence, sign</a:t>
            </a:r>
            <a:endParaRPr lang="en-US" sz="950" dirty="0"/>
          </a:p>
        </p:txBody>
      </p:sp>
      <p:sp>
        <p:nvSpPr>
          <p:cNvPr id="33" name="anim-8-29"/>
          <p:cNvSpPr txBox="1"/>
          <p:nvPr/>
        </p:nvSpPr>
        <p:spPr>
          <a:xfrm>
            <a:off x="2291080" y="4254500"/>
            <a:ext cx="254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5B6FF"/>
                </a:solidFill>
                <a:latin typeface="Plus Jakarta Sans" pitchFamily="34" charset="0"/>
                <a:ea typeface="Plus Jakarta Sans" pitchFamily="34" charset="-122"/>
                <a:cs typeface="Plus Jakarta Sans" pitchFamily="34" charset="-120"/>
              </a:rPr>
              <a:t>→</a:t>
            </a:r>
            <a:endParaRPr lang="en-US" sz="1400" dirty="0"/>
          </a:p>
        </p:txBody>
      </p:sp>
      <p:sp>
        <p:nvSpPr>
          <p:cNvPr id="34" name="anim-8-30"/>
          <p:cNvSpPr/>
          <p:nvPr/>
        </p:nvSpPr>
        <p:spPr>
          <a:xfrm>
            <a:off x="2773680" y="4064000"/>
            <a:ext cx="2113280" cy="1447800"/>
          </a:xfrm>
          <a:prstGeom prst="roundRect">
            <a:avLst>
              <a:gd name="adj" fmla="val 10526"/>
            </a:avLst>
          </a:prstGeom>
          <a:solidFill>
            <a:srgbClr val="FFFFFF">
              <a:alpha val="5000"/>
            </a:srgbClr>
          </a:solidFill>
          <a:ln w="9525">
            <a:solidFill>
              <a:srgbClr val="FFFFFF">
                <a:alpha val="12000"/>
              </a:srgbClr>
            </a:solidFill>
            <a:prstDash val="solid"/>
          </a:ln>
        </p:spPr>
      </p:sp>
      <p:sp>
        <p:nvSpPr>
          <p:cNvPr id="35" name="anim-8-31"/>
          <p:cNvSpPr txBox="1"/>
          <p:nvPr/>
        </p:nvSpPr>
        <p:spPr>
          <a:xfrm>
            <a:off x="2951480" y="42164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02</a:t>
            </a:r>
            <a:endParaRPr lang="en-US" sz="2000" dirty="0"/>
          </a:p>
        </p:txBody>
      </p:sp>
      <p:sp>
        <p:nvSpPr>
          <p:cNvPr id="36" name="anim-8-32"/>
          <p:cNvSpPr txBox="1"/>
          <p:nvPr/>
        </p:nvSpPr>
        <p:spPr>
          <a:xfrm>
            <a:off x="2951480" y="4597400"/>
            <a:ext cx="1757680" cy="2540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Enable</a:t>
            </a:r>
            <a:endParaRPr lang="en-US" sz="1400" dirty="0"/>
          </a:p>
        </p:txBody>
      </p:sp>
      <p:sp>
        <p:nvSpPr>
          <p:cNvPr id="37" name="anim-8-33"/>
          <p:cNvSpPr txBox="1"/>
          <p:nvPr/>
        </p:nvSpPr>
        <p:spPr>
          <a:xfrm>
            <a:off x="2951480" y="4889500"/>
            <a:ext cx="1757680" cy="4445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Certify your people</a:t>
            </a:r>
            <a:endParaRPr lang="en-US" sz="950" dirty="0"/>
          </a:p>
        </p:txBody>
      </p:sp>
      <p:sp>
        <p:nvSpPr>
          <p:cNvPr id="38" name="anim-8-34"/>
          <p:cNvSpPr txBox="1"/>
          <p:nvPr/>
        </p:nvSpPr>
        <p:spPr>
          <a:xfrm>
            <a:off x="4556760" y="4254500"/>
            <a:ext cx="254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5B6FF"/>
                </a:solidFill>
                <a:latin typeface="Plus Jakarta Sans" pitchFamily="34" charset="0"/>
                <a:ea typeface="Plus Jakarta Sans" pitchFamily="34" charset="-122"/>
                <a:cs typeface="Plus Jakarta Sans" pitchFamily="34" charset="-120"/>
              </a:rPr>
              <a:t>→</a:t>
            </a:r>
            <a:endParaRPr lang="en-US" sz="1400" dirty="0"/>
          </a:p>
        </p:txBody>
      </p:sp>
      <p:sp>
        <p:nvSpPr>
          <p:cNvPr id="39" name="anim-8-35"/>
          <p:cNvSpPr/>
          <p:nvPr/>
        </p:nvSpPr>
        <p:spPr>
          <a:xfrm>
            <a:off x="5039360" y="4064000"/>
            <a:ext cx="2113280" cy="1447800"/>
          </a:xfrm>
          <a:prstGeom prst="roundRect">
            <a:avLst>
              <a:gd name="adj" fmla="val 10526"/>
            </a:avLst>
          </a:prstGeom>
          <a:solidFill>
            <a:srgbClr val="FFFFFF">
              <a:alpha val="5000"/>
            </a:srgbClr>
          </a:solidFill>
          <a:ln w="9525">
            <a:solidFill>
              <a:srgbClr val="FFFFFF">
                <a:alpha val="12000"/>
              </a:srgbClr>
            </a:solidFill>
            <a:prstDash val="solid"/>
          </a:ln>
        </p:spPr>
      </p:sp>
      <p:sp>
        <p:nvSpPr>
          <p:cNvPr id="40" name="anim-8-36"/>
          <p:cNvSpPr txBox="1"/>
          <p:nvPr/>
        </p:nvSpPr>
        <p:spPr>
          <a:xfrm>
            <a:off x="5217160" y="42164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03</a:t>
            </a:r>
            <a:endParaRPr lang="en-US" sz="2000" dirty="0"/>
          </a:p>
        </p:txBody>
      </p:sp>
      <p:sp>
        <p:nvSpPr>
          <p:cNvPr id="41" name="anim-8-37"/>
          <p:cNvSpPr txBox="1"/>
          <p:nvPr/>
        </p:nvSpPr>
        <p:spPr>
          <a:xfrm>
            <a:off x="5217160" y="4597400"/>
            <a:ext cx="1757680" cy="2540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Sell</a:t>
            </a:r>
            <a:endParaRPr lang="en-US" sz="1400" dirty="0"/>
          </a:p>
        </p:txBody>
      </p:sp>
      <p:sp>
        <p:nvSpPr>
          <p:cNvPr id="42" name="anim-8-38"/>
          <p:cNvSpPr txBox="1"/>
          <p:nvPr/>
        </p:nvSpPr>
        <p:spPr>
          <a:xfrm>
            <a:off x="5217160" y="4889500"/>
            <a:ext cx="1757680" cy="4445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Register, co-sell, earn</a:t>
            </a:r>
            <a:endParaRPr lang="en-US" sz="950" dirty="0"/>
          </a:p>
        </p:txBody>
      </p:sp>
      <p:sp>
        <p:nvSpPr>
          <p:cNvPr id="43" name="anim-8-39"/>
          <p:cNvSpPr txBox="1"/>
          <p:nvPr/>
        </p:nvSpPr>
        <p:spPr>
          <a:xfrm>
            <a:off x="6822440" y="4254500"/>
            <a:ext cx="254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5B6FF"/>
                </a:solidFill>
                <a:latin typeface="Plus Jakarta Sans" pitchFamily="34" charset="0"/>
                <a:ea typeface="Plus Jakarta Sans" pitchFamily="34" charset="-122"/>
                <a:cs typeface="Plus Jakarta Sans" pitchFamily="34" charset="-120"/>
              </a:rPr>
              <a:t>→</a:t>
            </a:r>
            <a:endParaRPr lang="en-US" sz="1400" dirty="0"/>
          </a:p>
        </p:txBody>
      </p:sp>
      <p:sp>
        <p:nvSpPr>
          <p:cNvPr id="44" name="anim-8-40"/>
          <p:cNvSpPr/>
          <p:nvPr/>
        </p:nvSpPr>
        <p:spPr>
          <a:xfrm>
            <a:off x="7305040" y="4064000"/>
            <a:ext cx="2113280" cy="1447800"/>
          </a:xfrm>
          <a:prstGeom prst="roundRect">
            <a:avLst>
              <a:gd name="adj" fmla="val 10526"/>
            </a:avLst>
          </a:prstGeom>
          <a:solidFill>
            <a:srgbClr val="FFFFFF">
              <a:alpha val="5000"/>
            </a:srgbClr>
          </a:solidFill>
          <a:ln w="9525">
            <a:solidFill>
              <a:srgbClr val="FFFFFF">
                <a:alpha val="12000"/>
              </a:srgbClr>
            </a:solidFill>
            <a:prstDash val="solid"/>
          </a:ln>
        </p:spPr>
      </p:sp>
      <p:sp>
        <p:nvSpPr>
          <p:cNvPr id="45" name="anim-8-41"/>
          <p:cNvSpPr txBox="1"/>
          <p:nvPr/>
        </p:nvSpPr>
        <p:spPr>
          <a:xfrm>
            <a:off x="7482840" y="42164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04</a:t>
            </a:r>
            <a:endParaRPr lang="en-US" sz="2000" dirty="0"/>
          </a:p>
        </p:txBody>
      </p:sp>
      <p:sp>
        <p:nvSpPr>
          <p:cNvPr id="46" name="anim-8-42"/>
          <p:cNvSpPr txBox="1"/>
          <p:nvPr/>
        </p:nvSpPr>
        <p:spPr>
          <a:xfrm>
            <a:off x="7482840" y="4597400"/>
            <a:ext cx="1757680" cy="2540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Deliver</a:t>
            </a:r>
            <a:endParaRPr lang="en-US" sz="1400" dirty="0"/>
          </a:p>
        </p:txBody>
      </p:sp>
      <p:sp>
        <p:nvSpPr>
          <p:cNvPr id="47" name="anim-8-43"/>
          <p:cNvSpPr txBox="1"/>
          <p:nvPr/>
        </p:nvSpPr>
        <p:spPr>
          <a:xfrm>
            <a:off x="7482840" y="4889500"/>
            <a:ext cx="1757680" cy="4445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Adoption and renewals</a:t>
            </a:r>
            <a:endParaRPr lang="en-US" sz="950" dirty="0"/>
          </a:p>
        </p:txBody>
      </p:sp>
      <p:sp>
        <p:nvSpPr>
          <p:cNvPr id="48" name="anim-8-44"/>
          <p:cNvSpPr txBox="1"/>
          <p:nvPr/>
        </p:nvSpPr>
        <p:spPr>
          <a:xfrm>
            <a:off x="9088120" y="4254500"/>
            <a:ext cx="254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5B6FF"/>
                </a:solidFill>
                <a:latin typeface="Plus Jakarta Sans" pitchFamily="34" charset="0"/>
                <a:ea typeface="Plus Jakarta Sans" pitchFamily="34" charset="-122"/>
                <a:cs typeface="Plus Jakarta Sans" pitchFamily="34" charset="-120"/>
              </a:rPr>
              <a:t>→</a:t>
            </a:r>
            <a:endParaRPr lang="en-US" sz="1400" dirty="0"/>
          </a:p>
        </p:txBody>
      </p:sp>
      <p:sp>
        <p:nvSpPr>
          <p:cNvPr id="49" name="anim-8-45"/>
          <p:cNvSpPr/>
          <p:nvPr/>
        </p:nvSpPr>
        <p:spPr>
          <a:xfrm>
            <a:off x="9570720" y="4064000"/>
            <a:ext cx="2113280" cy="1447800"/>
          </a:xfrm>
          <a:prstGeom prst="roundRect">
            <a:avLst>
              <a:gd name="adj" fmla="val 10526"/>
            </a:avLst>
          </a:prstGeom>
          <a:solidFill>
            <a:srgbClr val="194EFF"/>
          </a:solidFill>
          <a:ln w="9525">
            <a:solidFill>
              <a:srgbClr val="15B6FF">
                <a:alpha val="40000"/>
              </a:srgbClr>
            </a:solidFill>
            <a:prstDash val="solid"/>
          </a:ln>
        </p:spPr>
      </p:sp>
      <p:sp>
        <p:nvSpPr>
          <p:cNvPr id="50" name="anim-8-46"/>
          <p:cNvSpPr txBox="1"/>
          <p:nvPr/>
        </p:nvSpPr>
        <p:spPr>
          <a:xfrm>
            <a:off x="9748520" y="42164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05</a:t>
            </a:r>
            <a:endParaRPr lang="en-US" sz="2000" dirty="0"/>
          </a:p>
        </p:txBody>
      </p:sp>
      <p:sp>
        <p:nvSpPr>
          <p:cNvPr id="51" name="anim-8-47"/>
          <p:cNvSpPr txBox="1"/>
          <p:nvPr/>
        </p:nvSpPr>
        <p:spPr>
          <a:xfrm>
            <a:off x="9748520" y="4597400"/>
            <a:ext cx="1757680" cy="2540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Scale</a:t>
            </a:r>
            <a:endParaRPr lang="en-US" sz="1400" dirty="0"/>
          </a:p>
        </p:txBody>
      </p:sp>
      <p:sp>
        <p:nvSpPr>
          <p:cNvPr id="52" name="anim-8-48"/>
          <p:cNvSpPr txBox="1"/>
          <p:nvPr/>
        </p:nvSpPr>
        <p:spPr>
          <a:xfrm>
            <a:off x="9748520" y="4889500"/>
            <a:ext cx="1757680" cy="444500"/>
          </a:xfrm>
          <a:prstGeom prst="rect">
            <a:avLst/>
          </a:prstGeom>
          <a:noFill/>
          <a:ln/>
        </p:spPr>
        <p:txBody>
          <a:bodyPr wrap="square" lIns="0" tIns="0" rIns="0" bIns="0" rtlCol="0" anchor="t"/>
          <a:lstStyle/>
          <a:p>
            <a:pPr algn="l" indent="0" marL="0">
              <a:lnSpc>
                <a:spcPct val="112000"/>
              </a:lnSpc>
              <a:buNone/>
            </a:pPr>
            <a:r>
              <a:rPr lang="en-US" sz="950" dirty="0">
                <a:solidFill>
                  <a:srgbClr val="FFFFFF"/>
                </a:solidFill>
                <a:latin typeface="Plus Jakarta Sans" pitchFamily="34" charset="0"/>
                <a:ea typeface="Plus Jakarta Sans" pitchFamily="34" charset="-122"/>
                <a:cs typeface="Plus Jakarta Sans" pitchFamily="34" charset="-120"/>
              </a:rPr>
              <a:t>Level up, unlock more</a:t>
            </a:r>
            <a:endParaRPr lang="en-US" sz="950" dirty="0"/>
          </a:p>
        </p:txBody>
      </p:sp>
      <p:sp>
        <p:nvSpPr>
          <p:cNvPr id="53" name="anim-9-49"/>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54" name="anim-9-50"/>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The Path</a:t>
            </a:r>
            <a:endParaRPr lang="en-US" sz="1100" dirty="0"/>
          </a:p>
        </p:txBody>
      </p:sp>
      <p:sp>
        <p:nvSpPr>
          <p:cNvPr id="55" name="anim-9-51"/>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Join, enable, sell, deliver and scale. Every level unlocks more investment from DignifyX.</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54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54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72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72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72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90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9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90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108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108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108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08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12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26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126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126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126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126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126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126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126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126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126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126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126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126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126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126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126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126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126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126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par>
                                <p:cTn id="137" presetID="10" presetClass="entr" presetSubtype="0" fill="hold" grpId="0" nodeType="withEffect">
                                  <p:stCondLst>
                                    <p:cond delay="126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500"/>
                                        <p:tgtEl>
                                          <p:spTgt spid="49"/>
                                        </p:tgtEl>
                                      </p:cBhvr>
                                    </p:animEffect>
                                  </p:childTnLst>
                                </p:cTn>
                              </p:par>
                              <p:par>
                                <p:cTn id="140" presetID="10" presetClass="entr" presetSubtype="0" fill="hold" grpId="0" nodeType="withEffect">
                                  <p:stCondLst>
                                    <p:cond delay="126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500"/>
                                        <p:tgtEl>
                                          <p:spTgt spid="50"/>
                                        </p:tgtEl>
                                      </p:cBhvr>
                                    </p:animEffect>
                                  </p:childTnLst>
                                </p:cTn>
                              </p:par>
                              <p:par>
                                <p:cTn id="143" presetID="10" presetClass="entr" presetSubtype="0" fill="hold" grpId="0" nodeType="withEffect">
                                  <p:stCondLst>
                                    <p:cond delay="126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500"/>
                                        <p:tgtEl>
                                          <p:spTgt spid="51"/>
                                        </p:tgtEl>
                                      </p:cBhvr>
                                    </p:animEffect>
                                  </p:childTnLst>
                                </p:cTn>
                              </p:par>
                              <p:par>
                                <p:cTn id="146" presetID="10" presetClass="entr" presetSubtype="0" fill="hold" grpId="0" nodeType="withEffect">
                                  <p:stCondLst>
                                    <p:cond delay="1260"/>
                                  </p:stCondLst>
                                  <p:childTnLst>
                                    <p:set>
                                      <p:cBhvr>
                                        <p:cTn id="147" dur="1" fill="hold">
                                          <p:stCondLst>
                                            <p:cond delay="0"/>
                                          </p:stCondLst>
                                        </p:cTn>
                                        <p:tgtEl>
                                          <p:spTgt spid="52"/>
                                        </p:tgtEl>
                                        <p:attrNameLst>
                                          <p:attrName>style.visibility</p:attrName>
                                        </p:attrNameLst>
                                      </p:cBhvr>
                                      <p:to>
                                        <p:strVal val="visible"/>
                                      </p:to>
                                    </p:set>
                                    <p:animEffect transition="in" filter="fade">
                                      <p:cBhvr>
                                        <p:cTn id="148" dur="500"/>
                                        <p:tgtEl>
                                          <p:spTgt spid="52"/>
                                        </p:tgtEl>
                                      </p:cBhvr>
                                    </p:animEffect>
                                  </p:childTnLst>
                                </p:cTn>
                              </p:par>
                              <p:par>
                                <p:cTn id="149" presetID="10" presetClass="entr" presetSubtype="0" fill="hold" grpId="0" nodeType="withEffect">
                                  <p:stCondLst>
                                    <p:cond delay="1440"/>
                                  </p:stCondLst>
                                  <p:childTnLst>
                                    <p:set>
                                      <p:cBhvr>
                                        <p:cTn id="150" dur="1" fill="hold">
                                          <p:stCondLst>
                                            <p:cond delay="0"/>
                                          </p:stCondLst>
                                        </p:cTn>
                                        <p:tgtEl>
                                          <p:spTgt spid="53"/>
                                        </p:tgtEl>
                                        <p:attrNameLst>
                                          <p:attrName>style.visibility</p:attrName>
                                        </p:attrNameLst>
                                      </p:cBhvr>
                                      <p:to>
                                        <p:strVal val="visible"/>
                                      </p:to>
                                    </p:set>
                                    <p:animEffect transition="in" filter="fade">
                                      <p:cBhvr>
                                        <p:cTn id="151" dur="500"/>
                                        <p:tgtEl>
                                          <p:spTgt spid="53"/>
                                        </p:tgtEl>
                                      </p:cBhvr>
                                    </p:animEffect>
                                  </p:childTnLst>
                                </p:cTn>
                              </p:par>
                              <p:par>
                                <p:cTn id="152" presetID="10" presetClass="entr" presetSubtype="0" fill="hold" grpId="0" nodeType="withEffect">
                                  <p:stCondLst>
                                    <p:cond delay="1440"/>
                                  </p:stCondLst>
                                  <p:childTnLst>
                                    <p:set>
                                      <p:cBhvr>
                                        <p:cTn id="153" dur="1" fill="hold">
                                          <p:stCondLst>
                                            <p:cond delay="0"/>
                                          </p:stCondLst>
                                        </p:cTn>
                                        <p:tgtEl>
                                          <p:spTgt spid="54"/>
                                        </p:tgtEl>
                                        <p:attrNameLst>
                                          <p:attrName>style.visibility</p:attrName>
                                        </p:attrNameLst>
                                      </p:cBhvr>
                                      <p:to>
                                        <p:strVal val="visible"/>
                                      </p:to>
                                    </p:set>
                                    <p:animEffect transition="in" filter="fade">
                                      <p:cBhvr>
                                        <p:cTn id="154" dur="500"/>
                                        <p:tgtEl>
                                          <p:spTgt spid="54"/>
                                        </p:tgtEl>
                                      </p:cBhvr>
                                    </p:animEffect>
                                  </p:childTnLst>
                                </p:cTn>
                              </p:par>
                              <p:par>
                                <p:cTn id="155" presetID="10" presetClass="entr" presetSubtype="0" fill="hold" grpId="0" nodeType="withEffect">
                                  <p:stCondLst>
                                    <p:cond delay="1440"/>
                                  </p:stCondLst>
                                  <p:childTnLst>
                                    <p:set>
                                      <p:cBhvr>
                                        <p:cTn id="156" dur="1" fill="hold">
                                          <p:stCondLst>
                                            <p:cond delay="0"/>
                                          </p:stCondLst>
                                        </p:cTn>
                                        <p:tgtEl>
                                          <p:spTgt spid="55"/>
                                        </p:tgtEl>
                                        <p:attrNameLst>
                                          <p:attrName>style.visibility</p:attrName>
                                        </p:attrNameLst>
                                      </p:cBhvr>
                                      <p:to>
                                        <p:strVal val="visible"/>
                                      </p:to>
                                    </p:set>
                                    <p:animEffect transition="in" filter="fade">
                                      <p:cBhvr>
                                        <p:cTn id="15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03</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02 · THE OPPORTUNITY</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Why partner with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DignifyX</a:t>
            </a:r>
            <a:endParaRPr lang="en-US" sz="2000" dirty="0"/>
          </a:p>
        </p:txBody>
      </p:sp>
      <p:sp>
        <p:nvSpPr>
          <p:cNvPr id="8" name="anim-2-4"/>
          <p:cNvSpPr/>
          <p:nvPr/>
        </p:nvSpPr>
        <p:spPr>
          <a:xfrm>
            <a:off x="508000" y="1308100"/>
            <a:ext cx="2667000" cy="1295400"/>
          </a:xfrm>
          <a:prstGeom prst="roundRect">
            <a:avLst>
              <a:gd name="adj" fmla="val 11765"/>
            </a:avLst>
          </a:prstGeom>
          <a:solidFill>
            <a:srgbClr val="194EFF">
              <a:alpha val="30000"/>
            </a:srgbClr>
          </a:solidFill>
          <a:ln w="15875">
            <a:solidFill>
              <a:srgbClr val="194EFF"/>
            </a:solidFill>
            <a:prstDash val="solid"/>
          </a:ln>
        </p:spPr>
      </p:sp>
      <p:sp>
        <p:nvSpPr>
          <p:cNvPr id="9" name="anim-2-5"/>
          <p:cNvSpPr txBox="1"/>
          <p:nvPr/>
        </p:nvSpPr>
        <p:spPr>
          <a:xfrm>
            <a:off x="711200" y="1460500"/>
            <a:ext cx="2286000" cy="571500"/>
          </a:xfrm>
          <a:prstGeom prst="rect">
            <a:avLst/>
          </a:prstGeom>
          <a:noFill/>
          <a:ln/>
        </p:spPr>
        <p:txBody>
          <a:bodyPr wrap="square" lIns="0" tIns="0" rIns="0" bIns="0" rtlCol="0" anchor="t"/>
          <a:lstStyle/>
          <a:p>
            <a:pPr algn="l" indent="0" marL="0">
              <a:lnSpc>
                <a:spcPct val="112000"/>
              </a:lnSpc>
              <a:buNone/>
            </a:pPr>
            <a:r>
              <a:rPr lang="en-US" sz="4000" b="1" dirty="0">
                <a:solidFill>
                  <a:srgbClr val="FFFFFF"/>
                </a:solidFill>
                <a:latin typeface="Plus Jakarta Sans" pitchFamily="34" charset="0"/>
                <a:ea typeface="Plus Jakarta Sans" pitchFamily="34" charset="-122"/>
                <a:cs typeface="Plus Jakarta Sans" pitchFamily="34" charset="-120"/>
              </a:rPr>
              <a:t>4</a:t>
            </a:r>
            <a:endParaRPr lang="en-US" sz="4000" dirty="0"/>
          </a:p>
        </p:txBody>
      </p:sp>
      <p:sp>
        <p:nvSpPr>
          <p:cNvPr id="10" name="anim-2-6"/>
          <p:cNvSpPr txBox="1"/>
          <p:nvPr/>
        </p:nvSpPr>
        <p:spPr>
          <a:xfrm>
            <a:off x="711200" y="2095500"/>
            <a:ext cx="2286000" cy="4064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pilot agencies across Singapore, Malaysia and Indonesia</a:t>
            </a:r>
            <a:endParaRPr lang="en-US" sz="950" dirty="0"/>
          </a:p>
        </p:txBody>
      </p:sp>
      <p:sp>
        <p:nvSpPr>
          <p:cNvPr id="11" name="anim-2-7"/>
          <p:cNvSpPr/>
          <p:nvPr/>
        </p:nvSpPr>
        <p:spPr>
          <a:xfrm>
            <a:off x="508000" y="2755900"/>
            <a:ext cx="2667000" cy="1295400"/>
          </a:xfrm>
          <a:prstGeom prst="roundRect">
            <a:avLst>
              <a:gd name="adj" fmla="val 11765"/>
            </a:avLst>
          </a:prstGeom>
          <a:solidFill>
            <a:srgbClr val="FFFFFF">
              <a:alpha val="5000"/>
            </a:srgbClr>
          </a:solidFill>
          <a:ln w="9525">
            <a:solidFill>
              <a:srgbClr val="FFFFFF">
                <a:alpha val="12000"/>
              </a:srgbClr>
            </a:solidFill>
            <a:prstDash val="solid"/>
          </a:ln>
        </p:spPr>
      </p:sp>
      <p:sp>
        <p:nvSpPr>
          <p:cNvPr id="12" name="anim-2-8"/>
          <p:cNvSpPr txBox="1"/>
          <p:nvPr/>
        </p:nvSpPr>
        <p:spPr>
          <a:xfrm>
            <a:off x="711200" y="2908300"/>
            <a:ext cx="2286000" cy="571500"/>
          </a:xfrm>
          <a:prstGeom prst="rect">
            <a:avLst/>
          </a:prstGeom>
          <a:noFill/>
          <a:ln/>
        </p:spPr>
        <p:txBody>
          <a:bodyPr wrap="square" lIns="0" tIns="0" rIns="0" bIns="0" rtlCol="0" anchor="t"/>
          <a:lstStyle/>
          <a:p>
            <a:pPr algn="l" indent="0" marL="0">
              <a:lnSpc>
                <a:spcPct val="112000"/>
              </a:lnSpc>
              <a:buNone/>
            </a:pPr>
            <a:r>
              <a:rPr lang="en-US" sz="4000" b="1" dirty="0">
                <a:solidFill>
                  <a:srgbClr val="FFFFFF"/>
                </a:solidFill>
                <a:latin typeface="Plus Jakarta Sans" pitchFamily="34" charset="0"/>
                <a:ea typeface="Plus Jakarta Sans" pitchFamily="34" charset="-122"/>
                <a:cs typeface="Plus Jakarta Sans" pitchFamily="34" charset="-120"/>
              </a:rPr>
              <a:t>~400</a:t>
            </a:r>
            <a:endParaRPr lang="en-US" sz="4000" dirty="0"/>
          </a:p>
        </p:txBody>
      </p:sp>
      <p:sp>
        <p:nvSpPr>
          <p:cNvPr id="13" name="anim-2-9"/>
          <p:cNvSpPr txBox="1"/>
          <p:nvPr/>
        </p:nvSpPr>
        <p:spPr>
          <a:xfrm>
            <a:off x="711200" y="3543300"/>
            <a:ext cx="2286000" cy="4064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beta users in Malaysia on the DX App</a:t>
            </a:r>
            <a:endParaRPr lang="en-US" sz="950" dirty="0"/>
          </a:p>
        </p:txBody>
      </p:sp>
      <p:sp>
        <p:nvSpPr>
          <p:cNvPr id="14" name="anim-2-10"/>
          <p:cNvSpPr/>
          <p:nvPr/>
        </p:nvSpPr>
        <p:spPr>
          <a:xfrm>
            <a:off x="508000" y="4203700"/>
            <a:ext cx="2667000" cy="1295400"/>
          </a:xfrm>
          <a:prstGeom prst="roundRect">
            <a:avLst>
              <a:gd name="adj" fmla="val 11765"/>
            </a:avLst>
          </a:prstGeom>
          <a:solidFill>
            <a:srgbClr val="FFFFFF">
              <a:alpha val="5000"/>
            </a:srgbClr>
          </a:solidFill>
          <a:ln w="9525">
            <a:solidFill>
              <a:srgbClr val="FFFFFF">
                <a:alpha val="12000"/>
              </a:srgbClr>
            </a:solidFill>
            <a:prstDash val="solid"/>
          </a:ln>
        </p:spPr>
      </p:sp>
      <p:sp>
        <p:nvSpPr>
          <p:cNvPr id="15" name="anim-2-11"/>
          <p:cNvSpPr txBox="1"/>
          <p:nvPr/>
        </p:nvSpPr>
        <p:spPr>
          <a:xfrm>
            <a:off x="711200" y="4356100"/>
            <a:ext cx="2286000" cy="571500"/>
          </a:xfrm>
          <a:prstGeom prst="rect">
            <a:avLst/>
          </a:prstGeom>
          <a:noFill/>
          <a:ln/>
        </p:spPr>
        <p:txBody>
          <a:bodyPr wrap="square" lIns="0" tIns="0" rIns="0" bIns="0" rtlCol="0" anchor="t"/>
          <a:lstStyle/>
          <a:p>
            <a:pPr algn="l" indent="0" marL="0">
              <a:lnSpc>
                <a:spcPct val="112000"/>
              </a:lnSpc>
              <a:buNone/>
            </a:pPr>
            <a:r>
              <a:rPr lang="en-US" sz="4000" b="1" dirty="0">
                <a:solidFill>
                  <a:srgbClr val="FFFFFF"/>
                </a:solidFill>
                <a:latin typeface="Plus Jakarta Sans" pitchFamily="34" charset="0"/>
                <a:ea typeface="Plus Jakarta Sans" pitchFamily="34" charset="-122"/>
                <a:cs typeface="Plus Jakarta Sans" pitchFamily="34" charset="-120"/>
              </a:rPr>
              <a:t>3</a:t>
            </a:r>
            <a:endParaRPr lang="en-US" sz="4000" dirty="0"/>
          </a:p>
        </p:txBody>
      </p:sp>
      <p:sp>
        <p:nvSpPr>
          <p:cNvPr id="16" name="anim-2-12"/>
          <p:cNvSpPr txBox="1"/>
          <p:nvPr/>
        </p:nvSpPr>
        <p:spPr>
          <a:xfrm>
            <a:off x="711200" y="4991100"/>
            <a:ext cx="2286000" cy="4064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agencies converted to a paid annual plan</a:t>
            </a:r>
            <a:endParaRPr lang="en-US" sz="950" dirty="0"/>
          </a:p>
        </p:txBody>
      </p:sp>
      <p:sp>
        <p:nvSpPr>
          <p:cNvPr id="17" name="anim-3-13"/>
          <p:cNvSpPr/>
          <p:nvPr/>
        </p:nvSpPr>
        <p:spPr>
          <a:xfrm>
            <a:off x="3327400" y="1308100"/>
            <a:ext cx="2683933" cy="952500"/>
          </a:xfrm>
          <a:prstGeom prst="roundRect">
            <a:avLst>
              <a:gd name="adj" fmla="val 16000"/>
            </a:avLst>
          </a:prstGeom>
          <a:solidFill>
            <a:srgbClr val="FFFFFF">
              <a:alpha val="5000"/>
            </a:srgbClr>
          </a:solidFill>
          <a:ln w="9525">
            <a:solidFill>
              <a:srgbClr val="FFFFFF">
                <a:alpha val="12000"/>
              </a:srgbClr>
            </a:solidFill>
            <a:prstDash val="solid"/>
          </a:ln>
        </p:spPr>
      </p:sp>
      <p:sp>
        <p:nvSpPr>
          <p:cNvPr id="18" name="anim-3-14"/>
          <p:cNvSpPr txBox="1"/>
          <p:nvPr/>
        </p:nvSpPr>
        <p:spPr>
          <a:xfrm>
            <a:off x="3479800" y="1422400"/>
            <a:ext cx="2379133"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01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Market relevance</a:t>
            </a:r>
            <a:endParaRPr lang="en-US" sz="1100" dirty="0"/>
          </a:p>
        </p:txBody>
      </p:sp>
      <p:sp>
        <p:nvSpPr>
          <p:cNvPr id="19" name="anim-3-15"/>
          <p:cNvSpPr txBox="1"/>
          <p:nvPr/>
        </p:nvSpPr>
        <p:spPr>
          <a:xfrm>
            <a:off x="3479800" y="1676400"/>
            <a:ext cx="2379133" cy="5334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Tap growing demand for AI-powered coaching, agency leadership, activation and productivity in life insurance.</a:t>
            </a:r>
            <a:endParaRPr lang="en-US" sz="800" dirty="0"/>
          </a:p>
        </p:txBody>
      </p:sp>
      <p:sp>
        <p:nvSpPr>
          <p:cNvPr id="20" name="anim-3-16"/>
          <p:cNvSpPr/>
          <p:nvPr/>
        </p:nvSpPr>
        <p:spPr>
          <a:xfrm>
            <a:off x="6163733" y="1308100"/>
            <a:ext cx="2683933" cy="952500"/>
          </a:xfrm>
          <a:prstGeom prst="roundRect">
            <a:avLst>
              <a:gd name="adj" fmla="val 16000"/>
            </a:avLst>
          </a:prstGeom>
          <a:solidFill>
            <a:srgbClr val="FFFFFF">
              <a:alpha val="5000"/>
            </a:srgbClr>
          </a:solidFill>
          <a:ln w="9525">
            <a:solidFill>
              <a:srgbClr val="FFFFFF">
                <a:alpha val="12000"/>
              </a:srgbClr>
            </a:solidFill>
            <a:prstDash val="solid"/>
          </a:ln>
        </p:spPr>
      </p:sp>
      <p:sp>
        <p:nvSpPr>
          <p:cNvPr id="21" name="anim-3-17"/>
          <p:cNvSpPr txBox="1"/>
          <p:nvPr/>
        </p:nvSpPr>
        <p:spPr>
          <a:xfrm>
            <a:off x="6316133" y="1422400"/>
            <a:ext cx="2379133"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02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Structured partner path</a:t>
            </a:r>
            <a:endParaRPr lang="en-US" sz="1100" dirty="0"/>
          </a:p>
        </p:txBody>
      </p:sp>
      <p:sp>
        <p:nvSpPr>
          <p:cNvPr id="22" name="anim-3-18"/>
          <p:cNvSpPr txBox="1"/>
          <p:nvPr/>
        </p:nvSpPr>
        <p:spPr>
          <a:xfrm>
            <a:off x="6316133" y="1676400"/>
            <a:ext cx="2379133" cy="5334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Progress through levels based on capability, pipeline, certifications, customer success and performance.</a:t>
            </a:r>
            <a:endParaRPr lang="en-US" sz="800" dirty="0"/>
          </a:p>
        </p:txBody>
      </p:sp>
      <p:sp>
        <p:nvSpPr>
          <p:cNvPr id="23" name="anim-3-19"/>
          <p:cNvSpPr/>
          <p:nvPr/>
        </p:nvSpPr>
        <p:spPr>
          <a:xfrm>
            <a:off x="9000067" y="1308100"/>
            <a:ext cx="2683933" cy="952500"/>
          </a:xfrm>
          <a:prstGeom prst="roundRect">
            <a:avLst>
              <a:gd name="adj" fmla="val 16000"/>
            </a:avLst>
          </a:prstGeom>
          <a:solidFill>
            <a:srgbClr val="FFFFFF">
              <a:alpha val="5000"/>
            </a:srgbClr>
          </a:solidFill>
          <a:ln w="9525">
            <a:solidFill>
              <a:srgbClr val="FFFFFF">
                <a:alpha val="12000"/>
              </a:srgbClr>
            </a:solidFill>
            <a:prstDash val="solid"/>
          </a:ln>
        </p:spPr>
      </p:sp>
      <p:sp>
        <p:nvSpPr>
          <p:cNvPr id="24" name="anim-3-20"/>
          <p:cNvSpPr txBox="1"/>
          <p:nvPr/>
        </p:nvSpPr>
        <p:spPr>
          <a:xfrm>
            <a:off x="9152467" y="1422400"/>
            <a:ext cx="2379133"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03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Commercial upside</a:t>
            </a:r>
            <a:endParaRPr lang="en-US" sz="1100" dirty="0"/>
          </a:p>
        </p:txBody>
      </p:sp>
      <p:sp>
        <p:nvSpPr>
          <p:cNvPr id="25" name="anim-3-21"/>
          <p:cNvSpPr txBox="1"/>
          <p:nvPr/>
        </p:nvSpPr>
        <p:spPr>
          <a:xfrm>
            <a:off x="9152467" y="1676400"/>
            <a:ext cx="2379133" cy="5334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Role-based incentives for sourced, driven, assisted, referral, renewal, expansion and marketplace motions.</a:t>
            </a:r>
            <a:endParaRPr lang="en-US" sz="800" dirty="0"/>
          </a:p>
        </p:txBody>
      </p:sp>
      <p:sp>
        <p:nvSpPr>
          <p:cNvPr id="26" name="anim-3-22"/>
          <p:cNvSpPr/>
          <p:nvPr/>
        </p:nvSpPr>
        <p:spPr>
          <a:xfrm>
            <a:off x="3327400" y="2374900"/>
            <a:ext cx="2683933" cy="952500"/>
          </a:xfrm>
          <a:prstGeom prst="roundRect">
            <a:avLst>
              <a:gd name="adj" fmla="val 16000"/>
            </a:avLst>
          </a:prstGeom>
          <a:solidFill>
            <a:srgbClr val="FFFFFF">
              <a:alpha val="5000"/>
            </a:srgbClr>
          </a:solidFill>
          <a:ln w="9525">
            <a:solidFill>
              <a:srgbClr val="FFFFFF">
                <a:alpha val="12000"/>
              </a:srgbClr>
            </a:solidFill>
            <a:prstDash val="solid"/>
          </a:ln>
        </p:spPr>
      </p:sp>
      <p:sp>
        <p:nvSpPr>
          <p:cNvPr id="27" name="anim-3-23"/>
          <p:cNvSpPr txBox="1"/>
          <p:nvPr/>
        </p:nvSpPr>
        <p:spPr>
          <a:xfrm>
            <a:off x="3479800" y="2489200"/>
            <a:ext cx="2379133"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04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Enablement &amp; support</a:t>
            </a:r>
            <a:endParaRPr lang="en-US" sz="1100" dirty="0"/>
          </a:p>
        </p:txBody>
      </p:sp>
      <p:sp>
        <p:nvSpPr>
          <p:cNvPr id="28" name="anim-3-24"/>
          <p:cNvSpPr txBox="1"/>
          <p:nvPr/>
        </p:nvSpPr>
        <p:spPr>
          <a:xfrm>
            <a:off x="3479800" y="2743200"/>
            <a:ext cx="2379133" cy="5334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Sales enablement, certification paths, demo support, presales coordination and technical advisory.</a:t>
            </a:r>
            <a:endParaRPr lang="en-US" sz="800" dirty="0"/>
          </a:p>
        </p:txBody>
      </p:sp>
      <p:sp>
        <p:nvSpPr>
          <p:cNvPr id="29" name="anim-3-25"/>
          <p:cNvSpPr/>
          <p:nvPr/>
        </p:nvSpPr>
        <p:spPr>
          <a:xfrm>
            <a:off x="6163733" y="2374900"/>
            <a:ext cx="2683933" cy="952500"/>
          </a:xfrm>
          <a:prstGeom prst="roundRect">
            <a:avLst>
              <a:gd name="adj" fmla="val 16000"/>
            </a:avLst>
          </a:prstGeom>
          <a:solidFill>
            <a:srgbClr val="FFFFFF">
              <a:alpha val="5000"/>
            </a:srgbClr>
          </a:solidFill>
          <a:ln w="9525">
            <a:solidFill>
              <a:srgbClr val="FFFFFF">
                <a:alpha val="12000"/>
              </a:srgbClr>
            </a:solidFill>
            <a:prstDash val="solid"/>
          </a:ln>
        </p:spPr>
      </p:sp>
      <p:sp>
        <p:nvSpPr>
          <p:cNvPr id="30" name="anim-3-26"/>
          <p:cNvSpPr txBox="1"/>
          <p:nvPr/>
        </p:nvSpPr>
        <p:spPr>
          <a:xfrm>
            <a:off x="6316133" y="2489200"/>
            <a:ext cx="2379133"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05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Joint GTM</a:t>
            </a:r>
            <a:endParaRPr lang="en-US" sz="1100" dirty="0"/>
          </a:p>
        </p:txBody>
      </p:sp>
      <p:sp>
        <p:nvSpPr>
          <p:cNvPr id="31" name="anim-3-27"/>
          <p:cNvSpPr txBox="1"/>
          <p:nvPr/>
        </p:nvSpPr>
        <p:spPr>
          <a:xfrm>
            <a:off x="6316133" y="2743200"/>
            <a:ext cx="2379133" cy="5334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Account mapping, webinars, leader roundtables, thought leadership and alliance motions.</a:t>
            </a:r>
            <a:endParaRPr lang="en-US" sz="800" dirty="0"/>
          </a:p>
        </p:txBody>
      </p:sp>
      <p:sp>
        <p:nvSpPr>
          <p:cNvPr id="32" name="anim-3-28"/>
          <p:cNvSpPr/>
          <p:nvPr/>
        </p:nvSpPr>
        <p:spPr>
          <a:xfrm>
            <a:off x="9000067" y="2374900"/>
            <a:ext cx="2683933" cy="952500"/>
          </a:xfrm>
          <a:prstGeom prst="roundRect">
            <a:avLst>
              <a:gd name="adj" fmla="val 16000"/>
            </a:avLst>
          </a:prstGeom>
          <a:solidFill>
            <a:srgbClr val="FFFFFF">
              <a:alpha val="5000"/>
            </a:srgbClr>
          </a:solidFill>
          <a:ln w="9525">
            <a:solidFill>
              <a:srgbClr val="FFFFFF">
                <a:alpha val="12000"/>
              </a:srgbClr>
            </a:solidFill>
            <a:prstDash val="solid"/>
          </a:ln>
        </p:spPr>
      </p:sp>
      <p:sp>
        <p:nvSpPr>
          <p:cNvPr id="33" name="anim-3-29"/>
          <p:cNvSpPr txBox="1"/>
          <p:nvPr/>
        </p:nvSpPr>
        <p:spPr>
          <a:xfrm>
            <a:off x="9152467" y="2489200"/>
            <a:ext cx="2379133"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06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Strategic growth</a:t>
            </a:r>
            <a:endParaRPr lang="en-US" sz="1100" dirty="0"/>
          </a:p>
        </p:txBody>
      </p:sp>
      <p:sp>
        <p:nvSpPr>
          <p:cNvPr id="34" name="anim-3-30"/>
          <p:cNvSpPr txBox="1"/>
          <p:nvPr/>
        </p:nvSpPr>
        <p:spPr>
          <a:xfrm>
            <a:off x="9152467" y="2743200"/>
            <a:ext cx="2379133" cy="5334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Regional or multi-country growth plans through joint business planning and executive sponsorship.</a:t>
            </a:r>
            <a:endParaRPr lang="en-US" sz="800" dirty="0"/>
          </a:p>
        </p:txBody>
      </p:sp>
      <p:sp>
        <p:nvSpPr>
          <p:cNvPr id="35" name="anim-4-31"/>
          <p:cNvSpPr/>
          <p:nvPr/>
        </p:nvSpPr>
        <p:spPr>
          <a:xfrm>
            <a:off x="3327400" y="3517900"/>
            <a:ext cx="8356600" cy="1993900"/>
          </a:xfrm>
          <a:prstGeom prst="roundRect">
            <a:avLst>
              <a:gd name="adj" fmla="val 7643"/>
            </a:avLst>
          </a:prstGeom>
          <a:solidFill>
            <a:srgbClr val="000000">
              <a:alpha val="18000"/>
            </a:srgbClr>
          </a:solidFill>
          <a:ln w="9525">
            <a:solidFill>
              <a:srgbClr val="FFFFFF">
                <a:alpha val="15000"/>
              </a:srgbClr>
            </a:solidFill>
            <a:prstDash val="solid"/>
          </a:ln>
        </p:spPr>
      </p:sp>
      <p:pic>
        <p:nvPicPr>
          <p:cNvPr id="36" name="anim-4-32" descr="/tmp/claude-0/-home-user-hosting/7c832a48-0979-56aa-9fdf-7d53efb9dc7a/scratchpad/build/imgd/blob.png">    </p:cNvPr>
          <p:cNvPicPr>
            <a:picLocks noChangeAspect="1"/>
          </p:cNvPicPr>
          <p:nvPr/>
        </p:nvPicPr>
        <p:blipFill>
          <a:blip r:embed="rId3"/>
          <a:stretch>
            <a:fillRect/>
          </a:stretch>
        </p:blipFill>
        <p:spPr>
          <a:xfrm>
            <a:off x="4445000" y="3048000"/>
            <a:ext cx="2921000" cy="2921000"/>
          </a:xfrm>
          <a:prstGeom prst="rect">
            <a:avLst/>
          </a:prstGeom>
        </p:spPr>
      </p:pic>
      <p:pic>
        <p:nvPicPr>
          <p:cNvPr id="37" name="anim-4-33" descr="/tmp/claude-0/-home-user-hosting/7c832a48-0979-56aa-9fdf-7d53efb9dc7a/scratchpad/build/imgd/blob.png">    </p:cNvPr>
          <p:cNvPicPr>
            <a:picLocks noChangeAspect="1"/>
          </p:cNvPicPr>
          <p:nvPr/>
        </p:nvPicPr>
        <p:blipFill>
          <a:blip r:embed="rId4"/>
          <a:stretch>
            <a:fillRect/>
          </a:stretch>
        </p:blipFill>
        <p:spPr>
          <a:xfrm>
            <a:off x="8255000" y="3048000"/>
            <a:ext cx="2921000" cy="2921000"/>
          </a:xfrm>
          <a:prstGeom prst="rect">
            <a:avLst/>
          </a:prstGeom>
        </p:spPr>
      </p:pic>
      <p:sp>
        <p:nvSpPr>
          <p:cNvPr id="38" name="anim-4-34"/>
          <p:cNvSpPr txBox="1"/>
          <p:nvPr/>
        </p:nvSpPr>
        <p:spPr>
          <a:xfrm>
            <a:off x="3530600" y="3632200"/>
            <a:ext cx="762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THE DIGNIFYX PLATFORM: SIX PRODUCTS FOR LIFE-INSURANCE AGENCY</a:t>
            </a:r>
            <a:endParaRPr lang="en-US" sz="800" dirty="0"/>
          </a:p>
        </p:txBody>
      </p:sp>
      <p:pic>
        <p:nvPicPr>
          <p:cNvPr id="39" name="anim-5-35" descr="/tmp/claude-0/-home-user-hosting/7c832a48-0979-56aa-9fdf-7d53efb9dc7a/scratchpad/build/imgd/intelligent-coaching.png">    </p:cNvPr>
          <p:cNvPicPr>
            <a:picLocks noChangeAspect="1"/>
          </p:cNvPicPr>
          <p:nvPr/>
        </p:nvPicPr>
        <p:blipFill>
          <a:blip r:embed="rId5"/>
          <a:stretch>
            <a:fillRect/>
          </a:stretch>
        </p:blipFill>
        <p:spPr>
          <a:xfrm>
            <a:off x="3702050" y="4015818"/>
            <a:ext cx="2032000" cy="451964"/>
          </a:xfrm>
          <a:prstGeom prst="rect">
            <a:avLst/>
          </a:prstGeom>
        </p:spPr>
      </p:pic>
      <p:pic>
        <p:nvPicPr>
          <p:cNvPr id="40" name="anim-5-36" descr="/tmp/claude-0/-home-user-hosting/7c832a48-0979-56aa-9fdf-7d53efb9dc7a/scratchpad/build/imgd/dx-coach.png">    </p:cNvPr>
          <p:cNvPicPr>
            <a:picLocks noChangeAspect="1"/>
          </p:cNvPicPr>
          <p:nvPr/>
        </p:nvPicPr>
        <p:blipFill>
          <a:blip r:embed="rId6"/>
          <a:stretch>
            <a:fillRect/>
          </a:stretch>
        </p:blipFill>
        <p:spPr>
          <a:xfrm>
            <a:off x="6489700" y="4068980"/>
            <a:ext cx="2032000" cy="345640"/>
          </a:xfrm>
          <a:prstGeom prst="rect">
            <a:avLst/>
          </a:prstGeom>
        </p:spPr>
      </p:pic>
      <p:pic>
        <p:nvPicPr>
          <p:cNvPr id="41" name="anim-5-37" descr="/tmp/claude-0/-home-user-hosting/7c832a48-0979-56aa-9fdf-7d53efb9dc7a/scratchpad/build/imgd/dx-learn.png">    </p:cNvPr>
          <p:cNvPicPr>
            <a:picLocks noChangeAspect="1"/>
          </p:cNvPicPr>
          <p:nvPr/>
        </p:nvPicPr>
        <p:blipFill>
          <a:blip r:embed="rId7"/>
          <a:stretch>
            <a:fillRect/>
          </a:stretch>
        </p:blipFill>
        <p:spPr>
          <a:xfrm>
            <a:off x="9277350" y="3991605"/>
            <a:ext cx="2032000" cy="500390"/>
          </a:xfrm>
          <a:prstGeom prst="rect">
            <a:avLst/>
          </a:prstGeom>
        </p:spPr>
      </p:pic>
      <p:pic>
        <p:nvPicPr>
          <p:cNvPr id="42" name="anim-6-38" descr="/tmp/claude-0/-home-user-hosting/7c832a48-0979-56aa-9fdf-7d53efb9dc7a/scratchpad/build/imgd/ai-customer-role-play.png">    </p:cNvPr>
          <p:cNvPicPr>
            <a:picLocks noChangeAspect="1"/>
          </p:cNvPicPr>
          <p:nvPr/>
        </p:nvPicPr>
        <p:blipFill>
          <a:blip r:embed="rId8"/>
          <a:stretch>
            <a:fillRect/>
          </a:stretch>
        </p:blipFill>
        <p:spPr>
          <a:xfrm>
            <a:off x="3826002" y="4699000"/>
            <a:ext cx="1784096" cy="609600"/>
          </a:xfrm>
          <a:prstGeom prst="rect">
            <a:avLst/>
          </a:prstGeom>
        </p:spPr>
      </p:pic>
      <p:pic>
        <p:nvPicPr>
          <p:cNvPr id="43" name="anim-6-39" descr="/tmp/claude-0/-home-user-hosting/7c832a48-0979-56aa-9fdf-7d53efb9dc7a/scratchpad/build/imgd/virtual-joint-fieldwork.png">    </p:cNvPr>
          <p:cNvPicPr>
            <a:picLocks noChangeAspect="1"/>
          </p:cNvPicPr>
          <p:nvPr/>
        </p:nvPicPr>
        <p:blipFill>
          <a:blip r:embed="rId9"/>
          <a:stretch>
            <a:fillRect/>
          </a:stretch>
        </p:blipFill>
        <p:spPr>
          <a:xfrm>
            <a:off x="6526844" y="4699000"/>
            <a:ext cx="1957712" cy="609600"/>
          </a:xfrm>
          <a:prstGeom prst="rect">
            <a:avLst/>
          </a:prstGeom>
        </p:spPr>
      </p:pic>
      <p:pic>
        <p:nvPicPr>
          <p:cNvPr id="44" name="anim-6-40" descr="/tmp/claude-0/-home-user-hosting/7c832a48-0979-56aa-9fdf-7d53efb9dc7a/scratchpad/build/imgd/agency-leader-avatar.png">    </p:cNvPr>
          <p:cNvPicPr>
            <a:picLocks noChangeAspect="1"/>
          </p:cNvPicPr>
          <p:nvPr/>
        </p:nvPicPr>
        <p:blipFill>
          <a:blip r:embed="rId10"/>
          <a:stretch>
            <a:fillRect/>
          </a:stretch>
        </p:blipFill>
        <p:spPr>
          <a:xfrm>
            <a:off x="9642228" y="4699000"/>
            <a:ext cx="1302244" cy="609600"/>
          </a:xfrm>
          <a:prstGeom prst="rect">
            <a:avLst/>
          </a:prstGeom>
        </p:spPr>
      </p:pic>
      <p:sp>
        <p:nvSpPr>
          <p:cNvPr id="45" name="anim-9-41"/>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46" name="anim-9-42"/>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Built with Agency</a:t>
            </a:r>
            <a:endParaRPr lang="en-US" sz="1100" dirty="0"/>
          </a:p>
        </p:txBody>
      </p:sp>
      <p:sp>
        <p:nvSpPr>
          <p:cNvPr id="47" name="anim-9-43"/>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Partners extend market reach, build customer trust, bring domain knowledge and create repeatable go-to-market motions.</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18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1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18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36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36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36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36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36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36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36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36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36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36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36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3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36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36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36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36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36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54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54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54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54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72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72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72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90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90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108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108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108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8" grpId="0" animBg="1"/>
      <p:bldP spid="45" grpId="0" animBg="1"/>
      <p:bldP spid="46" grpId="0" animBg="1"/>
      <p:bldP spid="4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04</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03 · HOW THE PROGRAMME WORKS</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Global by design, applied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locally</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with trust in every motion</a:t>
            </a:r>
            <a:endParaRPr lang="en-US" sz="2000" dirty="0"/>
          </a:p>
        </p:txBody>
      </p:sp>
      <p:sp>
        <p:nvSpPr>
          <p:cNvPr id="8" name="anim-2-4"/>
          <p:cNvSpPr/>
          <p:nvPr/>
        </p:nvSpPr>
        <p:spPr>
          <a:xfrm>
            <a:off x="508000" y="1308100"/>
            <a:ext cx="2113280" cy="2540000"/>
          </a:xfrm>
          <a:prstGeom prst="roundRect">
            <a:avLst>
              <a:gd name="adj" fmla="val 7212"/>
            </a:avLst>
          </a:prstGeom>
          <a:solidFill>
            <a:srgbClr val="FFFFFF">
              <a:alpha val="5000"/>
            </a:srgbClr>
          </a:solidFill>
          <a:ln w="9525">
            <a:solidFill>
              <a:srgbClr val="FFFFFF">
                <a:alpha val="12000"/>
              </a:srgbClr>
            </a:solidFill>
            <a:prstDash val="solid"/>
          </a:ln>
        </p:spPr>
      </p:sp>
      <p:sp>
        <p:nvSpPr>
          <p:cNvPr id="9" name="anim-2-5"/>
          <p:cNvSpPr txBox="1"/>
          <p:nvPr/>
        </p:nvSpPr>
        <p:spPr>
          <a:xfrm>
            <a:off x="685800" y="14605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01</a:t>
            </a:r>
            <a:endParaRPr lang="en-US" sz="2000" dirty="0"/>
          </a:p>
        </p:txBody>
      </p:sp>
      <p:sp>
        <p:nvSpPr>
          <p:cNvPr id="10" name="anim-2-6"/>
          <p:cNvSpPr txBox="1"/>
          <p:nvPr/>
        </p:nvSpPr>
        <p:spPr>
          <a:xfrm>
            <a:off x="685800" y="1854200"/>
            <a:ext cx="1757680" cy="60960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Plus Jakarta Sans" pitchFamily="34" charset="0"/>
                <a:ea typeface="Plus Jakarta Sans" pitchFamily="34" charset="-122"/>
                <a:cs typeface="Plus Jakarta Sans" pitchFamily="34" charset="-120"/>
              </a:rPr>
              <a:t>Partner-led growth</a:t>
            </a:r>
            <a:endParaRPr lang="en-US" sz="1250" dirty="0"/>
          </a:p>
        </p:txBody>
      </p:sp>
      <p:sp>
        <p:nvSpPr>
          <p:cNvPr id="11" name="anim-2-7"/>
          <p:cNvSpPr txBox="1"/>
          <p:nvPr/>
        </p:nvSpPr>
        <p:spPr>
          <a:xfrm>
            <a:off x="685800" y="2540000"/>
            <a:ext cx="1757680" cy="12700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DignifyX rewards partners that create qualified opportunities, drive value, support implementation and contribute to customer success.</a:t>
            </a:r>
            <a:endParaRPr lang="en-US" sz="900" dirty="0"/>
          </a:p>
        </p:txBody>
      </p:sp>
      <p:sp>
        <p:nvSpPr>
          <p:cNvPr id="12" name="anim-3-8"/>
          <p:cNvSpPr/>
          <p:nvPr/>
        </p:nvSpPr>
        <p:spPr>
          <a:xfrm>
            <a:off x="2773680" y="1308100"/>
            <a:ext cx="2113280" cy="2540000"/>
          </a:xfrm>
          <a:prstGeom prst="roundRect">
            <a:avLst>
              <a:gd name="adj" fmla="val 7212"/>
            </a:avLst>
          </a:prstGeom>
          <a:solidFill>
            <a:srgbClr val="FFFFFF">
              <a:alpha val="5000"/>
            </a:srgbClr>
          </a:solidFill>
          <a:ln w="9525">
            <a:solidFill>
              <a:srgbClr val="FFFFFF">
                <a:alpha val="12000"/>
              </a:srgbClr>
            </a:solidFill>
            <a:prstDash val="solid"/>
          </a:ln>
        </p:spPr>
      </p:sp>
      <p:sp>
        <p:nvSpPr>
          <p:cNvPr id="13" name="anim-3-9"/>
          <p:cNvSpPr txBox="1"/>
          <p:nvPr/>
        </p:nvSpPr>
        <p:spPr>
          <a:xfrm>
            <a:off x="2951480" y="14605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02</a:t>
            </a:r>
            <a:endParaRPr lang="en-US" sz="2000" dirty="0"/>
          </a:p>
        </p:txBody>
      </p:sp>
      <p:sp>
        <p:nvSpPr>
          <p:cNvPr id="14" name="anim-3-10"/>
          <p:cNvSpPr txBox="1"/>
          <p:nvPr/>
        </p:nvSpPr>
        <p:spPr>
          <a:xfrm>
            <a:off x="2951480" y="1854200"/>
            <a:ext cx="1757680" cy="60960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Plus Jakarta Sans" pitchFamily="34" charset="0"/>
                <a:ea typeface="Plus Jakarta Sans" pitchFamily="34" charset="-122"/>
                <a:cs typeface="Plus Jakarta Sans" pitchFamily="34" charset="-120"/>
              </a:rPr>
              <a:t>Specialisation over volume</a:t>
            </a:r>
            <a:endParaRPr lang="en-US" sz="1250" dirty="0"/>
          </a:p>
        </p:txBody>
      </p:sp>
      <p:sp>
        <p:nvSpPr>
          <p:cNvPr id="15" name="anim-3-11"/>
          <p:cNvSpPr txBox="1"/>
          <p:nvPr/>
        </p:nvSpPr>
        <p:spPr>
          <a:xfrm>
            <a:off x="2951480" y="2540000"/>
            <a:ext cx="1757680" cy="12700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We prioritise domain expertise, regulatory awareness, delivery quality, agency access and customer trust.</a:t>
            </a:r>
            <a:endParaRPr lang="en-US" sz="900" dirty="0"/>
          </a:p>
        </p:txBody>
      </p:sp>
      <p:sp>
        <p:nvSpPr>
          <p:cNvPr id="16" name="anim-4-12"/>
          <p:cNvSpPr/>
          <p:nvPr/>
        </p:nvSpPr>
        <p:spPr>
          <a:xfrm>
            <a:off x="5039360" y="1308100"/>
            <a:ext cx="2113280" cy="2540000"/>
          </a:xfrm>
          <a:prstGeom prst="roundRect">
            <a:avLst>
              <a:gd name="adj" fmla="val 7212"/>
            </a:avLst>
          </a:prstGeom>
          <a:solidFill>
            <a:srgbClr val="FFFFFF">
              <a:alpha val="5000"/>
            </a:srgbClr>
          </a:solidFill>
          <a:ln w="9525">
            <a:solidFill>
              <a:srgbClr val="FFFFFF">
                <a:alpha val="12000"/>
              </a:srgbClr>
            </a:solidFill>
            <a:prstDash val="solid"/>
          </a:ln>
        </p:spPr>
      </p:sp>
      <p:sp>
        <p:nvSpPr>
          <p:cNvPr id="17" name="anim-4-13"/>
          <p:cNvSpPr txBox="1"/>
          <p:nvPr/>
        </p:nvSpPr>
        <p:spPr>
          <a:xfrm>
            <a:off x="5217160" y="14605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03</a:t>
            </a:r>
            <a:endParaRPr lang="en-US" sz="2000" dirty="0"/>
          </a:p>
        </p:txBody>
      </p:sp>
      <p:sp>
        <p:nvSpPr>
          <p:cNvPr id="18" name="anim-4-14"/>
          <p:cNvSpPr txBox="1"/>
          <p:nvPr/>
        </p:nvSpPr>
        <p:spPr>
          <a:xfrm>
            <a:off x="5217160" y="1854200"/>
            <a:ext cx="1757680" cy="60960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Plus Jakarta Sans" pitchFamily="34" charset="0"/>
                <a:ea typeface="Plus Jakarta Sans" pitchFamily="34" charset="-122"/>
                <a:cs typeface="Plus Jakarta Sans" pitchFamily="34" charset="-120"/>
              </a:rPr>
              <a:t>Global consistency, local flexibility</a:t>
            </a:r>
            <a:endParaRPr lang="en-US" sz="1250" dirty="0"/>
          </a:p>
        </p:txBody>
      </p:sp>
      <p:sp>
        <p:nvSpPr>
          <p:cNvPr id="19" name="anim-4-15"/>
          <p:cNvSpPr txBox="1"/>
          <p:nvPr/>
        </p:nvSpPr>
        <p:spPr>
          <a:xfrm>
            <a:off x="5217160" y="2540000"/>
            <a:ext cx="1757680" cy="12700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One structure globally; local law, tax, procurement, data residency, currency and contracting handled country by country.</a:t>
            </a:r>
            <a:endParaRPr lang="en-US" sz="900" dirty="0"/>
          </a:p>
        </p:txBody>
      </p:sp>
      <p:sp>
        <p:nvSpPr>
          <p:cNvPr id="20" name="anim-5-16"/>
          <p:cNvSpPr/>
          <p:nvPr/>
        </p:nvSpPr>
        <p:spPr>
          <a:xfrm>
            <a:off x="7305040" y="1308100"/>
            <a:ext cx="2113280" cy="2540000"/>
          </a:xfrm>
          <a:prstGeom prst="roundRect">
            <a:avLst>
              <a:gd name="adj" fmla="val 7212"/>
            </a:avLst>
          </a:prstGeom>
          <a:solidFill>
            <a:srgbClr val="FFFFFF">
              <a:alpha val="5000"/>
            </a:srgbClr>
          </a:solidFill>
          <a:ln w="9525">
            <a:solidFill>
              <a:srgbClr val="FFFFFF">
                <a:alpha val="12000"/>
              </a:srgbClr>
            </a:solidFill>
            <a:prstDash val="solid"/>
          </a:ln>
        </p:spPr>
      </p:sp>
      <p:sp>
        <p:nvSpPr>
          <p:cNvPr id="21" name="anim-5-17"/>
          <p:cNvSpPr txBox="1"/>
          <p:nvPr/>
        </p:nvSpPr>
        <p:spPr>
          <a:xfrm>
            <a:off x="7482840" y="14605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04</a:t>
            </a:r>
            <a:endParaRPr lang="en-US" sz="2000" dirty="0"/>
          </a:p>
        </p:txBody>
      </p:sp>
      <p:sp>
        <p:nvSpPr>
          <p:cNvPr id="22" name="anim-5-18"/>
          <p:cNvSpPr txBox="1"/>
          <p:nvPr/>
        </p:nvSpPr>
        <p:spPr>
          <a:xfrm>
            <a:off x="7482840" y="1854200"/>
            <a:ext cx="1757680" cy="60960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Plus Jakarta Sans" pitchFamily="34" charset="0"/>
                <a:ea typeface="Plus Jakarta Sans" pitchFamily="34" charset="-122"/>
                <a:cs typeface="Plus Jakarta Sans" pitchFamily="34" charset="-120"/>
              </a:rPr>
              <a:t>Trust &amp; compliance by design</a:t>
            </a:r>
            <a:endParaRPr lang="en-US" sz="1250" dirty="0"/>
          </a:p>
        </p:txBody>
      </p:sp>
      <p:sp>
        <p:nvSpPr>
          <p:cNvPr id="23" name="anim-5-19"/>
          <p:cNvSpPr txBox="1"/>
          <p:nvPr/>
        </p:nvSpPr>
        <p:spPr>
          <a:xfrm>
            <a:off x="7482840" y="2540000"/>
            <a:ext cx="1757680" cy="12700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Partners follow approved messaging, pricing, data use, customer communication, procurement and responsible-AI rules.</a:t>
            </a:r>
            <a:endParaRPr lang="en-US" sz="900" dirty="0"/>
          </a:p>
        </p:txBody>
      </p:sp>
      <p:sp>
        <p:nvSpPr>
          <p:cNvPr id="24" name="anim-6-20"/>
          <p:cNvSpPr/>
          <p:nvPr/>
        </p:nvSpPr>
        <p:spPr>
          <a:xfrm>
            <a:off x="9570720" y="1308100"/>
            <a:ext cx="2113280" cy="2540000"/>
          </a:xfrm>
          <a:prstGeom prst="roundRect">
            <a:avLst>
              <a:gd name="adj" fmla="val 7212"/>
            </a:avLst>
          </a:prstGeom>
          <a:solidFill>
            <a:srgbClr val="FFFFFF">
              <a:alpha val="5000"/>
            </a:srgbClr>
          </a:solidFill>
          <a:ln w="9525">
            <a:solidFill>
              <a:srgbClr val="FFFFFF">
                <a:alpha val="12000"/>
              </a:srgbClr>
            </a:solidFill>
            <a:prstDash val="solid"/>
          </a:ln>
        </p:spPr>
      </p:sp>
      <p:sp>
        <p:nvSpPr>
          <p:cNvPr id="25" name="anim-6-21"/>
          <p:cNvSpPr txBox="1"/>
          <p:nvPr/>
        </p:nvSpPr>
        <p:spPr>
          <a:xfrm>
            <a:off x="9748520" y="1460500"/>
            <a:ext cx="762000" cy="317500"/>
          </a:xfrm>
          <a:prstGeom prst="rect">
            <a:avLst/>
          </a:prstGeom>
          <a:noFill/>
          <a:ln/>
        </p:spPr>
        <p:txBody>
          <a:bodyPr wrap="square" lIns="0" tIns="0" rIns="0" bIns="0" rtlCol="0" anchor="t"/>
          <a:lstStyle/>
          <a:p>
            <a:pPr algn="l" indent="0" marL="0">
              <a:lnSpc>
                <a:spcPct val="112000"/>
              </a:lnSpc>
              <a:buNone/>
            </a:pPr>
            <a:r>
              <a:rPr lang="en-US" sz="2000" dirty="0">
                <a:solidFill>
                  <a:srgbClr val="15B6FF"/>
                </a:solidFill>
                <a:latin typeface="Plus Jakarta Sans Light" pitchFamily="34" charset="0"/>
                <a:ea typeface="Plus Jakarta Sans Light" pitchFamily="34" charset="-122"/>
                <a:cs typeface="Plus Jakarta Sans Light" pitchFamily="34" charset="-120"/>
              </a:rPr>
              <a:t>05</a:t>
            </a:r>
            <a:endParaRPr lang="en-US" sz="2000" dirty="0"/>
          </a:p>
        </p:txBody>
      </p:sp>
      <p:sp>
        <p:nvSpPr>
          <p:cNvPr id="26" name="anim-6-22"/>
          <p:cNvSpPr txBox="1"/>
          <p:nvPr/>
        </p:nvSpPr>
        <p:spPr>
          <a:xfrm>
            <a:off x="9748520" y="1854200"/>
            <a:ext cx="1757680" cy="60960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Plus Jakarta Sans" pitchFamily="34" charset="0"/>
                <a:ea typeface="Plus Jakarta Sans" pitchFamily="34" charset="-122"/>
                <a:cs typeface="Plus Jakarta Sans" pitchFamily="34" charset="-120"/>
              </a:rPr>
              <a:t>Customer success before commission</a:t>
            </a:r>
            <a:endParaRPr lang="en-US" sz="1250" dirty="0"/>
          </a:p>
        </p:txBody>
      </p:sp>
      <p:sp>
        <p:nvSpPr>
          <p:cNvPr id="27" name="anim-6-23"/>
          <p:cNvSpPr txBox="1"/>
          <p:nvPr/>
        </p:nvSpPr>
        <p:spPr>
          <a:xfrm>
            <a:off x="9748520" y="2540000"/>
            <a:ext cx="1757680" cy="12700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Long-term value depends on customer outcomes, adoption, support quality and renewal and expansion contribution.</a:t>
            </a:r>
            <a:endParaRPr lang="en-US" sz="900" dirty="0"/>
          </a:p>
        </p:txBody>
      </p:sp>
      <p:sp>
        <p:nvSpPr>
          <p:cNvPr id="28" name="anim-7-24"/>
          <p:cNvSpPr/>
          <p:nvPr/>
        </p:nvSpPr>
        <p:spPr>
          <a:xfrm>
            <a:off x="508000" y="4000500"/>
            <a:ext cx="11176000" cy="1511300"/>
          </a:xfrm>
          <a:prstGeom prst="roundRect">
            <a:avLst>
              <a:gd name="adj" fmla="val 10084"/>
            </a:avLst>
          </a:prstGeom>
          <a:solidFill>
            <a:srgbClr val="194EFF">
              <a:alpha val="30000"/>
            </a:srgbClr>
          </a:solidFill>
          <a:ln w="15875">
            <a:solidFill>
              <a:srgbClr val="194EFF"/>
            </a:solidFill>
            <a:prstDash val="solid"/>
          </a:ln>
        </p:spPr>
      </p:sp>
      <p:sp>
        <p:nvSpPr>
          <p:cNvPr id="29" name="anim-7-25"/>
          <p:cNvSpPr txBox="1"/>
          <p:nvPr/>
        </p:nvSpPr>
        <p:spPr>
          <a:xfrm>
            <a:off x="762000" y="4191000"/>
            <a:ext cx="1524000" cy="254000"/>
          </a:xfrm>
          <a:prstGeom prst="rect">
            <a:avLst/>
          </a:prstGeom>
          <a:noFill/>
          <a:ln/>
        </p:spPr>
        <p:txBody>
          <a:bodyPr wrap="square" lIns="0" tIns="0" rIns="0" bIns="0" rtlCol="0" anchor="t"/>
          <a:lstStyle/>
          <a:p>
            <a:pPr algn="l" indent="0" marL="0">
              <a:lnSpc>
                <a:spcPct val="112000"/>
              </a:lnSpc>
              <a:buNone/>
            </a:pPr>
            <a:r>
              <a:rPr lang="en-US" sz="1500" b="1" dirty="0">
                <a:solidFill>
                  <a:srgbClr val="15B6FF"/>
                </a:solidFill>
                <a:latin typeface="Plus Jakarta Sans" pitchFamily="34" charset="0"/>
                <a:ea typeface="Plus Jakarta Sans" pitchFamily="34" charset="-122"/>
                <a:cs typeface="Plus Jakarta Sans" pitchFamily="34" charset="-120"/>
              </a:rPr>
              <a:t>Scope</a:t>
            </a:r>
            <a:endParaRPr lang="en-US" sz="1500" dirty="0"/>
          </a:p>
        </p:txBody>
      </p:sp>
      <p:sp>
        <p:nvSpPr>
          <p:cNvPr id="30" name="anim-7-26"/>
          <p:cNvSpPr txBox="1"/>
          <p:nvPr/>
        </p:nvSpPr>
        <p:spPr>
          <a:xfrm>
            <a:off x="2413000" y="4165600"/>
            <a:ext cx="9017000" cy="1244600"/>
          </a:xfrm>
          <a:prstGeom prst="rect">
            <a:avLst/>
          </a:prstGeom>
          <a:noFill/>
          <a:ln/>
        </p:spPr>
        <p:txBody>
          <a:bodyPr wrap="square" lIns="0" tIns="0" rIns="0" bIns="0" rtlCol="0" anchor="t"/>
          <a:lstStyle/>
          <a:p>
            <a:pPr algn="l" indent="0" marL="0">
              <a:lnSpc>
                <a:spcPct val="125000"/>
              </a:lnSpc>
              <a:buNone/>
            </a:pPr>
            <a:r>
              <a:rPr lang="en-US" sz="950" dirty="0">
                <a:solidFill>
                  <a:srgbClr val="FFFFFF"/>
                </a:solidFill>
                <a:latin typeface="Plus Jakarta Sans" pitchFamily="34" charset="0"/>
                <a:ea typeface="Plus Jakarta Sans" pitchFamily="34" charset="-122"/>
                <a:cs typeface="Plus Jakarta Sans" pitchFamily="34" charset="-120"/>
              </a:rPr>
              <a:t>Applies to DignifyX products, platforms, services and future AI solutions, including the DX App (Intelligent Coaching, DX Coach, DX Learn), approved add-ons, connectors, support packages, managed-service and marketplace motions. USD is the reference currency for thresholds unless a signed local agreement states otherwise. Local tax, withholding, procurement, data-residency, labour, commercial-agency, sanctions and regulatory requirements take precedence where legally required.</a:t>
            </a:r>
            <a:endParaRPr lang="en-US" sz="950" dirty="0"/>
          </a:p>
        </p:txBody>
      </p:sp>
      <p:sp>
        <p:nvSpPr>
          <p:cNvPr id="31" name="anim-9-27"/>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32" name="anim-9-28"/>
          <p:cNvSpPr txBox="1"/>
          <p:nvPr/>
        </p:nvSpPr>
        <p:spPr>
          <a:xfrm>
            <a:off x="762000" y="5664200"/>
            <a:ext cx="10668000" cy="406400"/>
          </a:xfrm>
          <a:prstGeom prst="rect">
            <a:avLst/>
          </a:prstGeom>
          <a:noFill/>
          <a:ln/>
        </p:spPr>
        <p:txBody>
          <a:bodyPr wrap="square" lIns="0" tIns="0" rIns="0" bIns="0" rtlCol="0" anchor="ctr"/>
          <a:lstStyle/>
          <a:p>
            <a:pPr algn="ctr" indent="0" marL="0">
              <a:lnSpc>
                <a:spcPct val="112000"/>
              </a:lnSpc>
              <a:buNone/>
            </a:pPr>
            <a:r>
              <a:rPr lang="en-US" sz="1100" dirty="0">
                <a:solidFill>
                  <a:srgbClr val="FFFFFF"/>
                </a:solidFill>
                <a:latin typeface="Plus Jakarta Sans Medium" pitchFamily="34" charset="0"/>
                <a:ea typeface="Plus Jakarta Sans Medium" pitchFamily="34" charset="-122"/>
                <a:cs typeface="Plus Jakarta Sans Medium" pitchFamily="34" charset="-120"/>
              </a:rPr>
              <a:t>Specialisation, trust and customer success come before volume.</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54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72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72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72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9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90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08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108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08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126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126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05</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04 · PARTNER ECOSYSTEM ROLES</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Find your place: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one partner can play several roles</a:t>
            </a:r>
            <a:endParaRPr lang="en-US" sz="2000" dirty="0"/>
          </a:p>
        </p:txBody>
      </p:sp>
      <p:sp>
        <p:nvSpPr>
          <p:cNvPr id="8" name="anim-2-4"/>
          <p:cNvSpPr/>
          <p:nvPr/>
        </p:nvSpPr>
        <p:spPr>
          <a:xfrm>
            <a:off x="508000" y="1308100"/>
            <a:ext cx="2679700" cy="2044700"/>
          </a:xfrm>
          <a:prstGeom prst="roundRect">
            <a:avLst>
              <a:gd name="adj" fmla="val 7453"/>
            </a:avLst>
          </a:prstGeom>
          <a:solidFill>
            <a:srgbClr val="FFFFFF">
              <a:alpha val="5000"/>
            </a:srgbClr>
          </a:solidFill>
          <a:ln w="9525">
            <a:solidFill>
              <a:srgbClr val="FFFFFF">
                <a:alpha val="12000"/>
              </a:srgbClr>
            </a:solidFill>
            <a:prstDash val="solid"/>
          </a:ln>
        </p:spPr>
      </p:sp>
      <p:sp>
        <p:nvSpPr>
          <p:cNvPr id="9" name="anim-2-5"/>
          <p:cNvSpPr txBox="1"/>
          <p:nvPr/>
        </p:nvSpPr>
        <p:spPr>
          <a:xfrm>
            <a:off x="660400" y="14478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01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Referral / Influencer</a:t>
            </a:r>
            <a:endParaRPr lang="en-US" sz="1100" dirty="0"/>
          </a:p>
        </p:txBody>
      </p:sp>
      <p:sp>
        <p:nvSpPr>
          <p:cNvPr id="10" name="anim-2-6"/>
          <p:cNvSpPr txBox="1"/>
          <p:nvPr/>
        </p:nvSpPr>
        <p:spPr>
          <a:xfrm>
            <a:off x="660400" y="17145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Introduces qualified opportunities; does not drive the sale or delivery.</a:t>
            </a:r>
            <a:endParaRPr lang="en-US" sz="850" dirty="0"/>
          </a:p>
        </p:txBody>
      </p:sp>
      <p:sp>
        <p:nvSpPr>
          <p:cNvPr id="11" name="anim-2-7"/>
          <p:cNvSpPr txBox="1"/>
          <p:nvPr/>
        </p:nvSpPr>
        <p:spPr>
          <a:xfrm>
            <a:off x="660400" y="23241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12" name="anim-2-8"/>
          <p:cNvSpPr txBox="1"/>
          <p:nvPr/>
        </p:nvSpPr>
        <p:spPr>
          <a:xfrm>
            <a:off x="660400" y="24892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One-time fee if pre-approved, registered before engagement and tied to a qualified opportunity; paid after customer payment.</a:t>
            </a:r>
            <a:endParaRPr lang="en-US" sz="850" dirty="0"/>
          </a:p>
        </p:txBody>
      </p:sp>
      <p:sp>
        <p:nvSpPr>
          <p:cNvPr id="13" name="anim-2-9"/>
          <p:cNvSpPr/>
          <p:nvPr/>
        </p:nvSpPr>
        <p:spPr>
          <a:xfrm>
            <a:off x="3340100" y="1308100"/>
            <a:ext cx="2679700" cy="2044700"/>
          </a:xfrm>
          <a:prstGeom prst="roundRect">
            <a:avLst>
              <a:gd name="adj" fmla="val 7453"/>
            </a:avLst>
          </a:prstGeom>
          <a:solidFill>
            <a:srgbClr val="FFFFFF">
              <a:alpha val="5000"/>
            </a:srgbClr>
          </a:solidFill>
          <a:ln w="9525">
            <a:solidFill>
              <a:srgbClr val="FFFFFF">
                <a:alpha val="12000"/>
              </a:srgbClr>
            </a:solidFill>
            <a:prstDash val="solid"/>
          </a:ln>
        </p:spPr>
      </p:sp>
      <p:sp>
        <p:nvSpPr>
          <p:cNvPr id="14" name="anim-2-10"/>
          <p:cNvSpPr txBox="1"/>
          <p:nvPr/>
        </p:nvSpPr>
        <p:spPr>
          <a:xfrm>
            <a:off x="3492500" y="14478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02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Reseller / VAR</a:t>
            </a:r>
            <a:endParaRPr lang="en-US" sz="1100" dirty="0"/>
          </a:p>
        </p:txBody>
      </p:sp>
      <p:sp>
        <p:nvSpPr>
          <p:cNvPr id="15" name="anim-2-11"/>
          <p:cNvSpPr txBox="1"/>
          <p:nvPr/>
        </p:nvSpPr>
        <p:spPr>
          <a:xfrm>
            <a:off x="3492500" y="17145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Sources, registers, develops and actively drives opportunities.</a:t>
            </a:r>
            <a:endParaRPr lang="en-US" sz="850" dirty="0"/>
          </a:p>
        </p:txBody>
      </p:sp>
      <p:sp>
        <p:nvSpPr>
          <p:cNvPr id="16" name="anim-2-12"/>
          <p:cNvSpPr txBox="1"/>
          <p:nvPr/>
        </p:nvSpPr>
        <p:spPr>
          <a:xfrm>
            <a:off x="3492500" y="23241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17" name="anim-2-13"/>
          <p:cNvSpPr txBox="1"/>
          <p:nvPr/>
        </p:nvSpPr>
        <p:spPr>
          <a:xfrm>
            <a:off x="3492500" y="24892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New-business, expansion and renewal incentives if assigned and compliant.</a:t>
            </a:r>
            <a:endParaRPr lang="en-US" sz="850" dirty="0"/>
          </a:p>
        </p:txBody>
      </p:sp>
      <p:sp>
        <p:nvSpPr>
          <p:cNvPr id="18" name="anim-2-14"/>
          <p:cNvSpPr/>
          <p:nvPr/>
        </p:nvSpPr>
        <p:spPr>
          <a:xfrm>
            <a:off x="6172200" y="1308100"/>
            <a:ext cx="2679700" cy="2044700"/>
          </a:xfrm>
          <a:prstGeom prst="roundRect">
            <a:avLst>
              <a:gd name="adj" fmla="val 7453"/>
            </a:avLst>
          </a:prstGeom>
          <a:solidFill>
            <a:srgbClr val="FFFFFF">
              <a:alpha val="5000"/>
            </a:srgbClr>
          </a:solidFill>
          <a:ln w="9525">
            <a:solidFill>
              <a:srgbClr val="FFFFFF">
                <a:alpha val="12000"/>
              </a:srgbClr>
            </a:solidFill>
            <a:prstDash val="solid"/>
          </a:ln>
        </p:spPr>
      </p:sp>
      <p:sp>
        <p:nvSpPr>
          <p:cNvPr id="19" name="anim-2-15"/>
          <p:cNvSpPr txBox="1"/>
          <p:nvPr/>
        </p:nvSpPr>
        <p:spPr>
          <a:xfrm>
            <a:off x="6324600" y="14478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03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Solution / Implementation</a:t>
            </a:r>
            <a:endParaRPr lang="en-US" sz="1100" dirty="0"/>
          </a:p>
        </p:txBody>
      </p:sp>
      <p:sp>
        <p:nvSpPr>
          <p:cNvPr id="20" name="anim-2-16"/>
          <p:cNvSpPr txBox="1"/>
          <p:nvPr/>
        </p:nvSpPr>
        <p:spPr>
          <a:xfrm>
            <a:off x="6324600" y="17145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Implements, configures, integrates, localises, trains and supports.</a:t>
            </a:r>
            <a:endParaRPr lang="en-US" sz="850" dirty="0"/>
          </a:p>
        </p:txBody>
      </p:sp>
      <p:sp>
        <p:nvSpPr>
          <p:cNvPr id="21" name="anim-2-17"/>
          <p:cNvSpPr txBox="1"/>
          <p:nvPr/>
        </p:nvSpPr>
        <p:spPr>
          <a:xfrm>
            <a:off x="6324600" y="23241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22" name="anim-2-18"/>
          <p:cNvSpPr txBox="1"/>
          <p:nvPr/>
        </p:nvSpPr>
        <p:spPr>
          <a:xfrm>
            <a:off x="6324600" y="24892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Services revenue; may earn an approved influence fee or success rebate where documented.</a:t>
            </a:r>
            <a:endParaRPr lang="en-US" sz="850" dirty="0"/>
          </a:p>
        </p:txBody>
      </p:sp>
      <p:sp>
        <p:nvSpPr>
          <p:cNvPr id="23" name="anim-2-19"/>
          <p:cNvSpPr/>
          <p:nvPr/>
        </p:nvSpPr>
        <p:spPr>
          <a:xfrm>
            <a:off x="9004300" y="1308100"/>
            <a:ext cx="2679700" cy="2044700"/>
          </a:xfrm>
          <a:prstGeom prst="roundRect">
            <a:avLst>
              <a:gd name="adj" fmla="val 7453"/>
            </a:avLst>
          </a:prstGeom>
          <a:solidFill>
            <a:srgbClr val="FFFFFF">
              <a:alpha val="5000"/>
            </a:srgbClr>
          </a:solidFill>
          <a:ln w="9525">
            <a:solidFill>
              <a:srgbClr val="FFFFFF">
                <a:alpha val="12000"/>
              </a:srgbClr>
            </a:solidFill>
            <a:prstDash val="solid"/>
          </a:ln>
        </p:spPr>
      </p:sp>
      <p:sp>
        <p:nvSpPr>
          <p:cNvPr id="24" name="anim-2-20"/>
          <p:cNvSpPr txBox="1"/>
          <p:nvPr/>
        </p:nvSpPr>
        <p:spPr>
          <a:xfrm>
            <a:off x="9156700" y="14478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04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Strategic Alliance</a:t>
            </a:r>
            <a:endParaRPr lang="en-US" sz="1100" dirty="0"/>
          </a:p>
        </p:txBody>
      </p:sp>
      <p:sp>
        <p:nvSpPr>
          <p:cNvPr id="25" name="anim-2-21"/>
          <p:cNvSpPr txBox="1"/>
          <p:nvPr/>
        </p:nvSpPr>
        <p:spPr>
          <a:xfrm>
            <a:off x="9156700" y="17145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Market access, executive alignment, co-sell and multi-country GTM.</a:t>
            </a:r>
            <a:endParaRPr lang="en-US" sz="850" dirty="0"/>
          </a:p>
        </p:txBody>
      </p:sp>
      <p:sp>
        <p:nvSpPr>
          <p:cNvPr id="26" name="anim-2-22"/>
          <p:cNvSpPr txBox="1"/>
          <p:nvPr/>
        </p:nvSpPr>
        <p:spPr>
          <a:xfrm>
            <a:off x="9156700" y="23241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27" name="anim-2-23"/>
          <p:cNvSpPr txBox="1"/>
          <p:nvPr/>
        </p:nvSpPr>
        <p:spPr>
          <a:xfrm>
            <a:off x="9156700" y="24892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Joint business planning, executive sponsorship and strategic alliance terms.</a:t>
            </a:r>
            <a:endParaRPr lang="en-US" sz="850" dirty="0"/>
          </a:p>
        </p:txBody>
      </p:sp>
      <p:sp>
        <p:nvSpPr>
          <p:cNvPr id="28" name="anim-3-24"/>
          <p:cNvSpPr/>
          <p:nvPr/>
        </p:nvSpPr>
        <p:spPr>
          <a:xfrm>
            <a:off x="508000" y="3492500"/>
            <a:ext cx="2679700" cy="2044700"/>
          </a:xfrm>
          <a:prstGeom prst="roundRect">
            <a:avLst>
              <a:gd name="adj" fmla="val 7453"/>
            </a:avLst>
          </a:prstGeom>
          <a:solidFill>
            <a:srgbClr val="FFFFFF">
              <a:alpha val="5000"/>
            </a:srgbClr>
          </a:solidFill>
          <a:ln w="9525">
            <a:solidFill>
              <a:srgbClr val="FFFFFF">
                <a:alpha val="12000"/>
              </a:srgbClr>
            </a:solidFill>
            <a:prstDash val="solid"/>
          </a:ln>
        </p:spPr>
      </p:sp>
      <p:sp>
        <p:nvSpPr>
          <p:cNvPr id="29" name="anim-3-25"/>
          <p:cNvSpPr txBox="1"/>
          <p:nvPr/>
        </p:nvSpPr>
        <p:spPr>
          <a:xfrm>
            <a:off x="660400" y="36322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05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Technology / Platform (ISV)</a:t>
            </a:r>
            <a:endParaRPr lang="en-US" sz="1100" dirty="0"/>
          </a:p>
        </p:txBody>
      </p:sp>
      <p:sp>
        <p:nvSpPr>
          <p:cNvPr id="30" name="anim-3-26"/>
          <p:cNvSpPr txBox="1"/>
          <p:nvPr/>
        </p:nvSpPr>
        <p:spPr>
          <a:xfrm>
            <a:off x="660400" y="38989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Integrates or enhances deployment, data, cloud, security, workflow or marketplace.</a:t>
            </a:r>
            <a:endParaRPr lang="en-US" sz="850" dirty="0"/>
          </a:p>
        </p:txBody>
      </p:sp>
      <p:sp>
        <p:nvSpPr>
          <p:cNvPr id="31" name="anim-3-27"/>
          <p:cNvSpPr txBox="1"/>
          <p:nvPr/>
        </p:nvSpPr>
        <p:spPr>
          <a:xfrm>
            <a:off x="660400" y="45085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32" name="anim-3-28"/>
          <p:cNvSpPr txBox="1"/>
          <p:nvPr/>
        </p:nvSpPr>
        <p:spPr>
          <a:xfrm>
            <a:off x="660400" y="46736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Technology, marketplace, integration or revenue-share terms.</a:t>
            </a:r>
            <a:endParaRPr lang="en-US" sz="850" dirty="0"/>
          </a:p>
        </p:txBody>
      </p:sp>
      <p:sp>
        <p:nvSpPr>
          <p:cNvPr id="33" name="anim-3-29"/>
          <p:cNvSpPr/>
          <p:nvPr/>
        </p:nvSpPr>
        <p:spPr>
          <a:xfrm>
            <a:off x="3340100" y="3492500"/>
            <a:ext cx="2679700" cy="2044700"/>
          </a:xfrm>
          <a:prstGeom prst="roundRect">
            <a:avLst>
              <a:gd name="adj" fmla="val 7453"/>
            </a:avLst>
          </a:prstGeom>
          <a:solidFill>
            <a:srgbClr val="FFFFFF">
              <a:alpha val="5000"/>
            </a:srgbClr>
          </a:solidFill>
          <a:ln w="9525">
            <a:solidFill>
              <a:srgbClr val="FFFFFF">
                <a:alpha val="12000"/>
              </a:srgbClr>
            </a:solidFill>
            <a:prstDash val="solid"/>
          </a:ln>
        </p:spPr>
      </p:sp>
      <p:sp>
        <p:nvSpPr>
          <p:cNvPr id="34" name="anim-3-30"/>
          <p:cNvSpPr txBox="1"/>
          <p:nvPr/>
        </p:nvSpPr>
        <p:spPr>
          <a:xfrm>
            <a:off x="3492500" y="36322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06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Managed Services</a:t>
            </a:r>
            <a:endParaRPr lang="en-US" sz="1100" dirty="0"/>
          </a:p>
        </p:txBody>
      </p:sp>
      <p:sp>
        <p:nvSpPr>
          <p:cNvPr id="35" name="anim-3-31"/>
          <p:cNvSpPr txBox="1"/>
          <p:nvPr/>
        </p:nvSpPr>
        <p:spPr>
          <a:xfrm>
            <a:off x="3492500" y="38989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Operates or supports customer environments around DignifyX solutions.</a:t>
            </a:r>
            <a:endParaRPr lang="en-US" sz="850" dirty="0"/>
          </a:p>
        </p:txBody>
      </p:sp>
      <p:sp>
        <p:nvSpPr>
          <p:cNvPr id="36" name="anim-3-32"/>
          <p:cNvSpPr txBox="1"/>
          <p:nvPr/>
        </p:nvSpPr>
        <p:spPr>
          <a:xfrm>
            <a:off x="3492500" y="45085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37" name="anim-3-33"/>
          <p:cNvSpPr txBox="1"/>
          <p:nvPr/>
        </p:nvSpPr>
        <p:spPr>
          <a:xfrm>
            <a:off x="3492500" y="46736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Services revenue plus eligible customer-success, renewal or managed-service incentives.</a:t>
            </a:r>
            <a:endParaRPr lang="en-US" sz="850" dirty="0"/>
          </a:p>
        </p:txBody>
      </p:sp>
      <p:sp>
        <p:nvSpPr>
          <p:cNvPr id="38" name="anim-3-34"/>
          <p:cNvSpPr/>
          <p:nvPr/>
        </p:nvSpPr>
        <p:spPr>
          <a:xfrm>
            <a:off x="6172200" y="3492500"/>
            <a:ext cx="2679700" cy="2044700"/>
          </a:xfrm>
          <a:prstGeom prst="roundRect">
            <a:avLst>
              <a:gd name="adj" fmla="val 7453"/>
            </a:avLst>
          </a:prstGeom>
          <a:solidFill>
            <a:srgbClr val="FFFFFF">
              <a:alpha val="5000"/>
            </a:srgbClr>
          </a:solidFill>
          <a:ln w="9525">
            <a:solidFill>
              <a:srgbClr val="FFFFFF">
                <a:alpha val="12000"/>
              </a:srgbClr>
            </a:solidFill>
            <a:prstDash val="solid"/>
          </a:ln>
        </p:spPr>
      </p:sp>
      <p:sp>
        <p:nvSpPr>
          <p:cNvPr id="39" name="anim-3-35"/>
          <p:cNvSpPr txBox="1"/>
          <p:nvPr/>
        </p:nvSpPr>
        <p:spPr>
          <a:xfrm>
            <a:off x="6324600" y="3632200"/>
            <a:ext cx="2374900" cy="215900"/>
          </a:xfrm>
          <a:prstGeom prst="rect">
            <a:avLst/>
          </a:prstGeom>
          <a:noFill/>
          <a:ln/>
        </p:spPr>
        <p:txBody>
          <a:bodyPr wrap="square" lIns="0" tIns="0" rIns="0" bIns="0" rtlCol="0" anchor="t"/>
          <a:lstStyle/>
          <a:p>
            <a:pPr algn="l" indent="0" marL="0">
              <a:lnSpc>
                <a:spcPct val="112000"/>
              </a:lnSpc>
              <a:buNone/>
            </a:pPr>
            <a:r>
              <a:rPr lang="en-US" sz="1100" dirty="0">
                <a:solidFill>
                  <a:srgbClr val="15B6FF"/>
                </a:solidFill>
                <a:latin typeface="Plus Jakarta Sans Light" pitchFamily="34" charset="0"/>
                <a:ea typeface="Plus Jakarta Sans Light" pitchFamily="34" charset="-122"/>
                <a:cs typeface="Plus Jakarta Sans Light" pitchFamily="34" charset="-120"/>
              </a:rPr>
              <a:t>07  </a:t>
            </a:r>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Regional Localisation</a:t>
            </a:r>
            <a:endParaRPr lang="en-US" sz="1100" dirty="0"/>
          </a:p>
        </p:txBody>
      </p:sp>
      <p:sp>
        <p:nvSpPr>
          <p:cNvPr id="40" name="anim-3-36"/>
          <p:cNvSpPr txBox="1"/>
          <p:nvPr/>
        </p:nvSpPr>
        <p:spPr>
          <a:xfrm>
            <a:off x="6324600" y="3898900"/>
            <a:ext cx="2374900" cy="4572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Language, regulatory terminology, local enablement and readiness.</a:t>
            </a:r>
            <a:endParaRPr lang="en-US" sz="850" dirty="0"/>
          </a:p>
        </p:txBody>
      </p:sp>
      <p:sp>
        <p:nvSpPr>
          <p:cNvPr id="41" name="anim-3-37"/>
          <p:cNvSpPr txBox="1"/>
          <p:nvPr/>
        </p:nvSpPr>
        <p:spPr>
          <a:xfrm>
            <a:off x="6324600" y="4508500"/>
            <a:ext cx="23749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HOW YOU EARN</a:t>
            </a:r>
            <a:endParaRPr lang="en-US" sz="700" dirty="0"/>
          </a:p>
        </p:txBody>
      </p:sp>
      <p:sp>
        <p:nvSpPr>
          <p:cNvPr id="42" name="anim-3-38"/>
          <p:cNvSpPr txBox="1"/>
          <p:nvPr/>
        </p:nvSpPr>
        <p:spPr>
          <a:xfrm>
            <a:off x="6324600" y="4673600"/>
            <a:ext cx="2374900" cy="762000"/>
          </a:xfrm>
          <a:prstGeom prst="rect">
            <a:avLst/>
          </a:prstGeom>
          <a:noFill/>
          <a:ln/>
        </p:spPr>
        <p:txBody>
          <a:bodyPr wrap="square" lIns="0" tIns="0" rIns="0" bIns="0" rtlCol="0" anchor="t"/>
          <a:lstStyle/>
          <a:p>
            <a:pPr algn="l" indent="0" marL="0">
              <a:lnSpc>
                <a:spcPct val="112000"/>
              </a:lnSpc>
              <a:buNone/>
            </a:pPr>
            <a:r>
              <a:rPr lang="en-US" sz="850" dirty="0">
                <a:solidFill>
                  <a:srgbClr val="FFFFFF"/>
                </a:solidFill>
                <a:latin typeface="Plus Jakarta Sans" pitchFamily="34" charset="0"/>
                <a:ea typeface="Plus Jakarta Sans" pitchFamily="34" charset="-122"/>
                <a:cs typeface="Plus Jakarta Sans" pitchFamily="34" charset="-120"/>
              </a:rPr>
              <a:t>Localisation, enablement or country-specific partner terms.</a:t>
            </a:r>
            <a:endParaRPr lang="en-US" sz="850" dirty="0"/>
          </a:p>
        </p:txBody>
      </p:sp>
      <p:sp>
        <p:nvSpPr>
          <p:cNvPr id="43" name="anim-4-39"/>
          <p:cNvSpPr/>
          <p:nvPr/>
        </p:nvSpPr>
        <p:spPr>
          <a:xfrm>
            <a:off x="9004300" y="3492500"/>
            <a:ext cx="2679700" cy="2044700"/>
          </a:xfrm>
          <a:prstGeom prst="roundRect">
            <a:avLst>
              <a:gd name="adj" fmla="val 7453"/>
            </a:avLst>
          </a:prstGeom>
          <a:solidFill>
            <a:srgbClr val="194EFF"/>
          </a:solidFill>
          <a:ln w="9525">
            <a:solidFill>
              <a:srgbClr val="15B6FF">
                <a:alpha val="40000"/>
              </a:srgbClr>
            </a:solidFill>
            <a:prstDash val="solid"/>
          </a:ln>
        </p:spPr>
      </p:sp>
      <p:sp>
        <p:nvSpPr>
          <p:cNvPr id="44" name="anim-4-40"/>
          <p:cNvSpPr txBox="1"/>
          <p:nvPr/>
        </p:nvSpPr>
        <p:spPr>
          <a:xfrm>
            <a:off x="9182100" y="3721100"/>
            <a:ext cx="2324100" cy="1143000"/>
          </a:xfrm>
          <a:prstGeom prst="rect">
            <a:avLst/>
          </a:prstGeom>
          <a:noFill/>
          <a:ln/>
        </p:spPr>
        <p:txBody>
          <a:bodyPr wrap="square" lIns="0" tIns="0" rIns="0" bIns="0" rtlCol="0" anchor="t"/>
          <a:lstStyle/>
          <a:p>
            <a:pPr algn="l" indent="0" marL="0">
              <a:lnSpc>
                <a:spcPct val="120000"/>
              </a:lnSpc>
              <a:buNone/>
            </a:pPr>
            <a:r>
              <a:rPr lang="en-US" sz="1600" b="1" dirty="0">
                <a:solidFill>
                  <a:srgbClr val="FFFFFF"/>
                </a:solidFill>
                <a:latin typeface="Plus Jakarta Sans" pitchFamily="34" charset="0"/>
                <a:ea typeface="Plus Jakarta Sans" pitchFamily="34" charset="-122"/>
                <a:cs typeface="Plus Jakarta Sans" pitchFamily="34" charset="-120"/>
              </a:rPr>
              <a:t>DignifyX classifies the </a:t>
            </a:r>
            <a:pPr algn="l" indent="0" marL="0">
              <a:lnSpc>
                <a:spcPct val="120000"/>
              </a:lnSpc>
              <a:buNone/>
            </a:pPr>
            <a:r>
              <a:rPr lang="en-US" sz="1600" b="1" i="1" dirty="0">
                <a:solidFill>
                  <a:srgbClr val="FFFFFF"/>
                </a:solidFill>
                <a:latin typeface="Plus Jakarta Sans Light" pitchFamily="34" charset="0"/>
                <a:ea typeface="Plus Jakarta Sans Light" pitchFamily="34" charset="-122"/>
                <a:cs typeface="Plus Jakarta Sans Light" pitchFamily="34" charset="-120"/>
              </a:rPr>
              <a:t>engagement</a:t>
            </a:r>
            <a:pPr algn="l" indent="0" marL="0">
              <a:lnSpc>
                <a:spcPct val="120000"/>
              </a:lnSpc>
              <a:buNone/>
            </a:pPr>
            <a:r>
              <a:rPr lang="en-US" sz="1600" b="1" dirty="0">
                <a:solidFill>
                  <a:srgbClr val="FFFFFF"/>
                </a:solidFill>
                <a:latin typeface="Plus Jakarta Sans" pitchFamily="34" charset="0"/>
                <a:ea typeface="Plus Jakarta Sans" pitchFamily="34" charset="-122"/>
                <a:cs typeface="Plus Jakarta Sans" pitchFamily="34" charset="-120"/>
              </a:rPr>
              <a:t>, not the firm.</a:t>
            </a:r>
            <a:endParaRPr lang="en-US" sz="1600" dirty="0"/>
          </a:p>
        </p:txBody>
      </p:sp>
      <p:sp>
        <p:nvSpPr>
          <p:cNvPr id="45" name="anim-4-41"/>
          <p:cNvSpPr txBox="1"/>
          <p:nvPr/>
        </p:nvSpPr>
        <p:spPr>
          <a:xfrm>
            <a:off x="9182100" y="4991100"/>
            <a:ext cx="2324100" cy="381000"/>
          </a:xfrm>
          <a:prstGeom prst="rect">
            <a:avLst/>
          </a:prstGeom>
          <a:noFill/>
          <a:ln/>
        </p:spPr>
        <p:txBody>
          <a:bodyPr wrap="square" lIns="0" tIns="0" rIns="0" bIns="0" rtlCol="0" anchor="t"/>
          <a:lstStyle/>
          <a:p>
            <a:pPr algn="l" indent="0" marL="0">
              <a:lnSpc>
                <a:spcPct val="112000"/>
              </a:lnSpc>
              <a:buNone/>
            </a:pPr>
            <a:r>
              <a:rPr lang="en-US" sz="900" dirty="0">
                <a:solidFill>
                  <a:srgbClr val="FFFFFF"/>
                </a:solidFill>
                <a:latin typeface="Plus Jakarta Sans" pitchFamily="34" charset="0"/>
                <a:ea typeface="Plus Jakarta Sans" pitchFamily="34" charset="-122"/>
                <a:cs typeface="Plus Jakarta Sans" pitchFamily="34" charset="-120"/>
              </a:rPr>
              <a:t>Roles are set per opportunity in the deal record.</a:t>
            </a:r>
            <a:endParaRPr lang="en-US" sz="900" dirty="0"/>
          </a:p>
        </p:txBody>
      </p:sp>
      <p:sp>
        <p:nvSpPr>
          <p:cNvPr id="46" name="anim-9-42"/>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47" name="anim-9-43"/>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Your Role</a:t>
            </a:r>
            <a:endParaRPr lang="en-US" sz="1100" dirty="0"/>
          </a:p>
        </p:txBody>
      </p:sp>
      <p:sp>
        <p:nvSpPr>
          <p:cNvPr id="48" name="anim-9-44"/>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Choose the motions that fit your business; incentives follow the role you play on each deal.</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18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1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18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18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18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18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18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18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18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18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18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18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18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18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36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3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36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36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36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36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36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36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36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36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36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36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36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36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36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54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54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54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72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72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72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06</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05 · PARTNER LEVELS &amp; PROGRESSION</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Five levels. One clear path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upward</a:t>
            </a:r>
            <a:endParaRPr lang="en-US" sz="2000" dirty="0"/>
          </a:p>
        </p:txBody>
      </p:sp>
      <p:sp>
        <p:nvSpPr>
          <p:cNvPr id="8" name="anim-2-4"/>
          <p:cNvSpPr/>
          <p:nvPr/>
        </p:nvSpPr>
        <p:spPr>
          <a:xfrm>
            <a:off x="508000" y="1308100"/>
            <a:ext cx="2113280" cy="4203700"/>
          </a:xfrm>
          <a:prstGeom prst="roundRect">
            <a:avLst>
              <a:gd name="adj" fmla="val 7212"/>
            </a:avLst>
          </a:prstGeom>
          <a:solidFill>
            <a:srgbClr val="FFFFFF">
              <a:alpha val="5000"/>
            </a:srgbClr>
          </a:solidFill>
          <a:ln w="9525">
            <a:solidFill>
              <a:srgbClr val="FFFFFF">
                <a:alpha val="12000"/>
              </a:srgbClr>
            </a:solidFill>
            <a:prstDash val="solid"/>
          </a:ln>
        </p:spPr>
      </p:sp>
      <p:sp>
        <p:nvSpPr>
          <p:cNvPr id="9" name="anim-2-5"/>
          <p:cNvSpPr txBox="1"/>
          <p:nvPr/>
        </p:nvSpPr>
        <p:spPr>
          <a:xfrm>
            <a:off x="685800" y="1447800"/>
            <a:ext cx="175768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1</a:t>
            </a:r>
            <a:endParaRPr lang="en-US" sz="750" dirty="0"/>
          </a:p>
        </p:txBody>
      </p:sp>
      <p:sp>
        <p:nvSpPr>
          <p:cNvPr id="10" name="anim-2-6"/>
          <p:cNvSpPr txBox="1"/>
          <p:nvPr/>
        </p:nvSpPr>
        <p:spPr>
          <a:xfrm>
            <a:off x="685800" y="1612900"/>
            <a:ext cx="1757680" cy="304800"/>
          </a:xfrm>
          <a:prstGeom prst="rect">
            <a:avLst/>
          </a:prstGeom>
          <a:noFill/>
          <a:ln/>
        </p:spPr>
        <p:txBody>
          <a:bodyPr wrap="square" lIns="0" tIns="0" rIns="0" bIns="0" rtlCol="0" anchor="t"/>
          <a:lstStyle/>
          <a:p>
            <a:pPr algn="l" indent="0" marL="0">
              <a:lnSpc>
                <a:spcPct val="112000"/>
              </a:lnSpc>
              <a:buNone/>
            </a:pPr>
            <a:r>
              <a:rPr lang="en-US" sz="1700" b="1" dirty="0">
                <a:solidFill>
                  <a:srgbClr val="FFFFFF"/>
                </a:solidFill>
                <a:latin typeface="Plus Jakarta Sans" pitchFamily="34" charset="0"/>
                <a:ea typeface="Plus Jakarta Sans" pitchFamily="34" charset="-122"/>
                <a:cs typeface="Plus Jakarta Sans" pitchFamily="34" charset="-120"/>
              </a:rPr>
              <a:t>Registered</a:t>
            </a:r>
            <a:endParaRPr lang="en-US" sz="1700" dirty="0"/>
          </a:p>
        </p:txBody>
      </p:sp>
      <p:sp>
        <p:nvSpPr>
          <p:cNvPr id="11" name="anim-2-7"/>
          <p:cNvSpPr txBox="1"/>
          <p:nvPr/>
        </p:nvSpPr>
        <p:spPr>
          <a:xfrm>
            <a:off x="685800" y="2159000"/>
            <a:ext cx="1757680" cy="1905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SemiBold" pitchFamily="34" charset="0"/>
                <a:ea typeface="Plus Jakarta Sans SemiBold" pitchFamily="34" charset="-122"/>
                <a:cs typeface="Plus Jakarta Sans SemiBold" pitchFamily="34" charset="-120"/>
              </a:rPr>
              <a:t>$0 – $99,999 ARR</a:t>
            </a:r>
            <a:endParaRPr lang="en-US" sz="900" dirty="0"/>
          </a:p>
        </p:txBody>
      </p:sp>
      <p:sp>
        <p:nvSpPr>
          <p:cNvPr id="12" name="anim-2-8"/>
          <p:cNvSpPr txBox="1"/>
          <p:nvPr/>
        </p:nvSpPr>
        <p:spPr>
          <a:xfrm>
            <a:off x="685800" y="2400300"/>
            <a:ext cx="1757680" cy="762000"/>
          </a:xfrm>
          <a:prstGeom prst="rect">
            <a:avLst/>
          </a:prstGeom>
          <a:noFill/>
          <a:ln/>
        </p:spPr>
        <p:txBody>
          <a:bodyPr wrap="square" lIns="0" tIns="0" rIns="0" bIns="0" rtlCol="0" anchor="b"/>
          <a:lstStyle/>
          <a:p>
            <a:pPr algn="l" indent="0" marL="0">
              <a:lnSpc>
                <a:spcPct val="112000"/>
              </a:lnSpc>
              <a:buNone/>
            </a:pPr>
            <a:r>
              <a:rPr lang="en-US" sz="5000" b="1" dirty="0">
                <a:solidFill>
                  <a:srgbClr val="FFFFFF"/>
                </a:solidFill>
                <a:latin typeface="Plus Jakarta Sans" pitchFamily="34" charset="0"/>
                <a:ea typeface="Plus Jakarta Sans" pitchFamily="34" charset="-122"/>
                <a:cs typeface="Plus Jakarta Sans" pitchFamily="34" charset="-120"/>
              </a:rPr>
              <a:t>20</a:t>
            </a:r>
            <a:pPr algn="l" indent="0" marL="0">
              <a:lnSpc>
                <a:spcPct val="112000"/>
              </a:lnSpc>
              <a:buNone/>
            </a:pPr>
            <a:r>
              <a:rPr lang="en-US" sz="2200" b="1" dirty="0">
                <a:solidFill>
                  <a:srgbClr val="15B6FF"/>
                </a:solidFill>
                <a:latin typeface="Plus Jakarta Sans" pitchFamily="34" charset="0"/>
                <a:ea typeface="Plus Jakarta Sans" pitchFamily="34" charset="-122"/>
                <a:cs typeface="Plus Jakarta Sans" pitchFamily="34" charset="-120"/>
              </a:rPr>
              <a:t>%</a:t>
            </a:r>
            <a:endParaRPr lang="en-US" sz="5000" dirty="0"/>
          </a:p>
        </p:txBody>
      </p:sp>
      <p:sp>
        <p:nvSpPr>
          <p:cNvPr id="13" name="anim-2-9"/>
          <p:cNvSpPr txBox="1"/>
          <p:nvPr/>
        </p:nvSpPr>
        <p:spPr>
          <a:xfrm>
            <a:off x="685800" y="3200400"/>
            <a:ext cx="1757680" cy="1778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sourced commission</a:t>
            </a:r>
            <a:endParaRPr lang="en-US" sz="900" dirty="0"/>
          </a:p>
        </p:txBody>
      </p:sp>
      <p:sp>
        <p:nvSpPr>
          <p:cNvPr id="14" name="anim-2-10"/>
          <p:cNvSpPr txBox="1"/>
          <p:nvPr/>
        </p:nvSpPr>
        <p:spPr>
          <a:xfrm>
            <a:off x="685800" y="3556000"/>
            <a:ext cx="1757680" cy="9525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Newly onboarded; basic enablement. Validate fit and seriousness.</a:t>
            </a:r>
            <a:endParaRPr lang="en-US" sz="900" dirty="0"/>
          </a:p>
        </p:txBody>
      </p:sp>
      <p:sp>
        <p:nvSpPr>
          <p:cNvPr id="15" name="anim-2-11"/>
          <p:cNvSpPr/>
          <p:nvPr/>
        </p:nvSpPr>
        <p:spPr>
          <a:xfrm>
            <a:off x="685800" y="5245100"/>
            <a:ext cx="1757680" cy="152400"/>
          </a:xfrm>
          <a:prstGeom prst="roundRect">
            <a:avLst>
              <a:gd name="adj" fmla="val 16667"/>
            </a:avLst>
          </a:prstGeom>
          <a:solidFill>
            <a:srgbClr val="194EFF">
              <a:alpha val="30000"/>
            </a:srgbClr>
          </a:solidFill>
          <a:ln/>
        </p:spPr>
      </p:sp>
      <p:sp>
        <p:nvSpPr>
          <p:cNvPr id="16" name="anim-3-12"/>
          <p:cNvSpPr/>
          <p:nvPr/>
        </p:nvSpPr>
        <p:spPr>
          <a:xfrm>
            <a:off x="2773680" y="1308100"/>
            <a:ext cx="2113280" cy="4203700"/>
          </a:xfrm>
          <a:prstGeom prst="roundRect">
            <a:avLst>
              <a:gd name="adj" fmla="val 7212"/>
            </a:avLst>
          </a:prstGeom>
          <a:solidFill>
            <a:srgbClr val="FFFFFF">
              <a:alpha val="5000"/>
            </a:srgbClr>
          </a:solidFill>
          <a:ln w="9525">
            <a:solidFill>
              <a:srgbClr val="FFFFFF">
                <a:alpha val="12000"/>
              </a:srgbClr>
            </a:solidFill>
            <a:prstDash val="solid"/>
          </a:ln>
        </p:spPr>
      </p:sp>
      <p:sp>
        <p:nvSpPr>
          <p:cNvPr id="17" name="anim-3-13"/>
          <p:cNvSpPr txBox="1"/>
          <p:nvPr/>
        </p:nvSpPr>
        <p:spPr>
          <a:xfrm>
            <a:off x="2951480" y="1447800"/>
            <a:ext cx="175768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2</a:t>
            </a:r>
            <a:endParaRPr lang="en-US" sz="750" dirty="0"/>
          </a:p>
        </p:txBody>
      </p:sp>
      <p:sp>
        <p:nvSpPr>
          <p:cNvPr id="18" name="anim-3-14"/>
          <p:cNvSpPr txBox="1"/>
          <p:nvPr/>
        </p:nvSpPr>
        <p:spPr>
          <a:xfrm>
            <a:off x="2951480" y="1612900"/>
            <a:ext cx="1757680" cy="304800"/>
          </a:xfrm>
          <a:prstGeom prst="rect">
            <a:avLst/>
          </a:prstGeom>
          <a:noFill/>
          <a:ln/>
        </p:spPr>
        <p:txBody>
          <a:bodyPr wrap="square" lIns="0" tIns="0" rIns="0" bIns="0" rtlCol="0" anchor="t"/>
          <a:lstStyle/>
          <a:p>
            <a:pPr algn="l" indent="0" marL="0">
              <a:lnSpc>
                <a:spcPct val="112000"/>
              </a:lnSpc>
              <a:buNone/>
            </a:pPr>
            <a:r>
              <a:rPr lang="en-US" sz="1700" b="1" dirty="0">
                <a:solidFill>
                  <a:srgbClr val="FFFFFF"/>
                </a:solidFill>
                <a:latin typeface="Plus Jakarta Sans" pitchFamily="34" charset="0"/>
                <a:ea typeface="Plus Jakarta Sans" pitchFamily="34" charset="-122"/>
                <a:cs typeface="Plus Jakarta Sans" pitchFamily="34" charset="-120"/>
              </a:rPr>
              <a:t>Silver</a:t>
            </a:r>
            <a:endParaRPr lang="en-US" sz="1700" dirty="0"/>
          </a:p>
        </p:txBody>
      </p:sp>
      <p:sp>
        <p:nvSpPr>
          <p:cNvPr id="19" name="anim-3-15"/>
          <p:cNvSpPr txBox="1"/>
          <p:nvPr/>
        </p:nvSpPr>
        <p:spPr>
          <a:xfrm>
            <a:off x="2951480" y="2159000"/>
            <a:ext cx="1757680" cy="1905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SemiBold" pitchFamily="34" charset="0"/>
                <a:ea typeface="Plus Jakarta Sans SemiBold" pitchFamily="34" charset="-122"/>
                <a:cs typeface="Plus Jakarta Sans SemiBold" pitchFamily="34" charset="-120"/>
              </a:rPr>
              <a:t>$100K – $299,999 ARR</a:t>
            </a:r>
            <a:endParaRPr lang="en-US" sz="900" dirty="0"/>
          </a:p>
        </p:txBody>
      </p:sp>
      <p:sp>
        <p:nvSpPr>
          <p:cNvPr id="20" name="anim-3-16"/>
          <p:cNvSpPr txBox="1"/>
          <p:nvPr/>
        </p:nvSpPr>
        <p:spPr>
          <a:xfrm>
            <a:off x="2951480" y="2400300"/>
            <a:ext cx="1757680" cy="762000"/>
          </a:xfrm>
          <a:prstGeom prst="rect">
            <a:avLst/>
          </a:prstGeom>
          <a:noFill/>
          <a:ln/>
        </p:spPr>
        <p:txBody>
          <a:bodyPr wrap="square" lIns="0" tIns="0" rIns="0" bIns="0" rtlCol="0" anchor="b"/>
          <a:lstStyle/>
          <a:p>
            <a:pPr algn="l" indent="0" marL="0">
              <a:lnSpc>
                <a:spcPct val="112000"/>
              </a:lnSpc>
              <a:buNone/>
            </a:pPr>
            <a:r>
              <a:rPr lang="en-US" sz="5000" b="1" dirty="0">
                <a:solidFill>
                  <a:srgbClr val="FFFFFF"/>
                </a:solidFill>
                <a:latin typeface="Plus Jakarta Sans" pitchFamily="34" charset="0"/>
                <a:ea typeface="Plus Jakarta Sans" pitchFamily="34" charset="-122"/>
                <a:cs typeface="Plus Jakarta Sans" pitchFamily="34" charset="-120"/>
              </a:rPr>
              <a:t>25</a:t>
            </a:r>
            <a:pPr algn="l" indent="0" marL="0">
              <a:lnSpc>
                <a:spcPct val="112000"/>
              </a:lnSpc>
              <a:buNone/>
            </a:pPr>
            <a:r>
              <a:rPr lang="en-US" sz="2200" b="1" dirty="0">
                <a:solidFill>
                  <a:srgbClr val="15B6FF"/>
                </a:solidFill>
                <a:latin typeface="Plus Jakarta Sans" pitchFamily="34" charset="0"/>
                <a:ea typeface="Plus Jakarta Sans" pitchFamily="34" charset="-122"/>
                <a:cs typeface="Plus Jakarta Sans" pitchFamily="34" charset="-120"/>
              </a:rPr>
              <a:t>%</a:t>
            </a:r>
            <a:endParaRPr lang="en-US" sz="5000" dirty="0"/>
          </a:p>
        </p:txBody>
      </p:sp>
      <p:sp>
        <p:nvSpPr>
          <p:cNvPr id="21" name="anim-3-17"/>
          <p:cNvSpPr txBox="1"/>
          <p:nvPr/>
        </p:nvSpPr>
        <p:spPr>
          <a:xfrm>
            <a:off x="2951480" y="3200400"/>
            <a:ext cx="1757680" cy="1778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sourced commission</a:t>
            </a:r>
            <a:endParaRPr lang="en-US" sz="900" dirty="0"/>
          </a:p>
        </p:txBody>
      </p:sp>
      <p:sp>
        <p:nvSpPr>
          <p:cNvPr id="22" name="anim-3-18"/>
          <p:cNvSpPr txBox="1"/>
          <p:nvPr/>
        </p:nvSpPr>
        <p:spPr>
          <a:xfrm>
            <a:off x="2951480" y="3556000"/>
            <a:ext cx="1757680" cy="9525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Trained resources, early pipeline. Build a repeatable motion and first wins.</a:t>
            </a:r>
            <a:endParaRPr lang="en-US" sz="900" dirty="0"/>
          </a:p>
        </p:txBody>
      </p:sp>
      <p:sp>
        <p:nvSpPr>
          <p:cNvPr id="23" name="anim-3-19"/>
          <p:cNvSpPr/>
          <p:nvPr/>
        </p:nvSpPr>
        <p:spPr>
          <a:xfrm>
            <a:off x="2951480" y="5092700"/>
            <a:ext cx="1757680" cy="304800"/>
          </a:xfrm>
          <a:prstGeom prst="roundRect">
            <a:avLst>
              <a:gd name="adj" fmla="val 8333"/>
            </a:avLst>
          </a:prstGeom>
          <a:solidFill>
            <a:srgbClr val="194EFF">
              <a:alpha val="42000"/>
            </a:srgbClr>
          </a:solidFill>
          <a:ln/>
        </p:spPr>
      </p:sp>
      <p:sp>
        <p:nvSpPr>
          <p:cNvPr id="24" name="anim-4-20"/>
          <p:cNvSpPr/>
          <p:nvPr/>
        </p:nvSpPr>
        <p:spPr>
          <a:xfrm>
            <a:off x="5039360" y="1308100"/>
            <a:ext cx="2113280" cy="4203700"/>
          </a:xfrm>
          <a:prstGeom prst="roundRect">
            <a:avLst>
              <a:gd name="adj" fmla="val 7212"/>
            </a:avLst>
          </a:prstGeom>
          <a:solidFill>
            <a:srgbClr val="FFFFFF">
              <a:alpha val="5000"/>
            </a:srgbClr>
          </a:solidFill>
          <a:ln w="9525">
            <a:solidFill>
              <a:srgbClr val="FFFFFF">
                <a:alpha val="12000"/>
              </a:srgbClr>
            </a:solidFill>
            <a:prstDash val="solid"/>
          </a:ln>
        </p:spPr>
      </p:sp>
      <p:sp>
        <p:nvSpPr>
          <p:cNvPr id="25" name="anim-4-21"/>
          <p:cNvSpPr txBox="1"/>
          <p:nvPr/>
        </p:nvSpPr>
        <p:spPr>
          <a:xfrm>
            <a:off x="5217160" y="1447800"/>
            <a:ext cx="175768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3</a:t>
            </a:r>
            <a:endParaRPr lang="en-US" sz="750" dirty="0"/>
          </a:p>
        </p:txBody>
      </p:sp>
      <p:sp>
        <p:nvSpPr>
          <p:cNvPr id="26" name="anim-4-22"/>
          <p:cNvSpPr txBox="1"/>
          <p:nvPr/>
        </p:nvSpPr>
        <p:spPr>
          <a:xfrm>
            <a:off x="5217160" y="1612900"/>
            <a:ext cx="1757680" cy="304800"/>
          </a:xfrm>
          <a:prstGeom prst="rect">
            <a:avLst/>
          </a:prstGeom>
          <a:noFill/>
          <a:ln/>
        </p:spPr>
        <p:txBody>
          <a:bodyPr wrap="square" lIns="0" tIns="0" rIns="0" bIns="0" rtlCol="0" anchor="t"/>
          <a:lstStyle/>
          <a:p>
            <a:pPr algn="l" indent="0" marL="0">
              <a:lnSpc>
                <a:spcPct val="112000"/>
              </a:lnSpc>
              <a:buNone/>
            </a:pPr>
            <a:r>
              <a:rPr lang="en-US" sz="1700" b="1" dirty="0">
                <a:solidFill>
                  <a:srgbClr val="FFFFFF"/>
                </a:solidFill>
                <a:latin typeface="Plus Jakarta Sans" pitchFamily="34" charset="0"/>
                <a:ea typeface="Plus Jakarta Sans" pitchFamily="34" charset="-122"/>
                <a:cs typeface="Plus Jakarta Sans" pitchFamily="34" charset="-120"/>
              </a:rPr>
              <a:t>Gold</a:t>
            </a:r>
            <a:endParaRPr lang="en-US" sz="1700" dirty="0"/>
          </a:p>
        </p:txBody>
      </p:sp>
      <p:sp>
        <p:nvSpPr>
          <p:cNvPr id="27" name="anim-4-23"/>
          <p:cNvSpPr txBox="1"/>
          <p:nvPr/>
        </p:nvSpPr>
        <p:spPr>
          <a:xfrm>
            <a:off x="5217160" y="2159000"/>
            <a:ext cx="1757680" cy="1905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SemiBold" pitchFamily="34" charset="0"/>
                <a:ea typeface="Plus Jakarta Sans SemiBold" pitchFamily="34" charset="-122"/>
                <a:cs typeface="Plus Jakarta Sans SemiBold" pitchFamily="34" charset="-120"/>
              </a:rPr>
              <a:t>$300K – $749,999 ARR</a:t>
            </a:r>
            <a:endParaRPr lang="en-US" sz="900" dirty="0"/>
          </a:p>
        </p:txBody>
      </p:sp>
      <p:sp>
        <p:nvSpPr>
          <p:cNvPr id="28" name="anim-4-24"/>
          <p:cNvSpPr txBox="1"/>
          <p:nvPr/>
        </p:nvSpPr>
        <p:spPr>
          <a:xfrm>
            <a:off x="5217160" y="2400300"/>
            <a:ext cx="1757680" cy="762000"/>
          </a:xfrm>
          <a:prstGeom prst="rect">
            <a:avLst/>
          </a:prstGeom>
          <a:noFill/>
          <a:ln/>
        </p:spPr>
        <p:txBody>
          <a:bodyPr wrap="square" lIns="0" tIns="0" rIns="0" bIns="0" rtlCol="0" anchor="b"/>
          <a:lstStyle/>
          <a:p>
            <a:pPr algn="l" indent="0" marL="0">
              <a:lnSpc>
                <a:spcPct val="112000"/>
              </a:lnSpc>
              <a:buNone/>
            </a:pPr>
            <a:r>
              <a:rPr lang="en-US" sz="5000" b="1" dirty="0">
                <a:solidFill>
                  <a:srgbClr val="FFFFFF"/>
                </a:solidFill>
                <a:latin typeface="Plus Jakarta Sans" pitchFamily="34" charset="0"/>
                <a:ea typeface="Plus Jakarta Sans" pitchFamily="34" charset="-122"/>
                <a:cs typeface="Plus Jakarta Sans" pitchFamily="34" charset="-120"/>
              </a:rPr>
              <a:t>30</a:t>
            </a:r>
            <a:pPr algn="l" indent="0" marL="0">
              <a:lnSpc>
                <a:spcPct val="112000"/>
              </a:lnSpc>
              <a:buNone/>
            </a:pPr>
            <a:r>
              <a:rPr lang="en-US" sz="2200" b="1" dirty="0">
                <a:solidFill>
                  <a:srgbClr val="15B6FF"/>
                </a:solidFill>
                <a:latin typeface="Plus Jakarta Sans" pitchFamily="34" charset="0"/>
                <a:ea typeface="Plus Jakarta Sans" pitchFamily="34" charset="-122"/>
                <a:cs typeface="Plus Jakarta Sans" pitchFamily="34" charset="-120"/>
              </a:rPr>
              <a:t>%</a:t>
            </a:r>
            <a:endParaRPr lang="en-US" sz="5000" dirty="0"/>
          </a:p>
        </p:txBody>
      </p:sp>
      <p:sp>
        <p:nvSpPr>
          <p:cNvPr id="29" name="anim-4-25"/>
          <p:cNvSpPr txBox="1"/>
          <p:nvPr/>
        </p:nvSpPr>
        <p:spPr>
          <a:xfrm>
            <a:off x="5217160" y="3200400"/>
            <a:ext cx="1757680" cy="1778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sourced commission</a:t>
            </a:r>
            <a:endParaRPr lang="en-US" sz="900" dirty="0"/>
          </a:p>
        </p:txBody>
      </p:sp>
      <p:sp>
        <p:nvSpPr>
          <p:cNvPr id="30" name="anim-4-26"/>
          <p:cNvSpPr txBox="1"/>
          <p:nvPr/>
        </p:nvSpPr>
        <p:spPr>
          <a:xfrm>
            <a:off x="5217160" y="3556000"/>
            <a:ext cx="1757680" cy="9525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Closed business, certified resources. Scale partner-led pipeline and delivery.</a:t>
            </a:r>
            <a:endParaRPr lang="en-US" sz="900" dirty="0"/>
          </a:p>
        </p:txBody>
      </p:sp>
      <p:sp>
        <p:nvSpPr>
          <p:cNvPr id="31" name="anim-4-27"/>
          <p:cNvSpPr/>
          <p:nvPr/>
        </p:nvSpPr>
        <p:spPr>
          <a:xfrm>
            <a:off x="5217160" y="4940300"/>
            <a:ext cx="1757680" cy="457200"/>
          </a:xfrm>
          <a:prstGeom prst="roundRect">
            <a:avLst>
              <a:gd name="adj" fmla="val 5556"/>
            </a:avLst>
          </a:prstGeom>
          <a:solidFill>
            <a:srgbClr val="194EFF">
              <a:alpha val="54000"/>
            </a:srgbClr>
          </a:solidFill>
          <a:ln/>
        </p:spPr>
      </p:sp>
      <p:sp>
        <p:nvSpPr>
          <p:cNvPr id="32" name="anim-5-28"/>
          <p:cNvSpPr/>
          <p:nvPr/>
        </p:nvSpPr>
        <p:spPr>
          <a:xfrm>
            <a:off x="7305040" y="1308100"/>
            <a:ext cx="2113280" cy="4203700"/>
          </a:xfrm>
          <a:prstGeom prst="roundRect">
            <a:avLst>
              <a:gd name="adj" fmla="val 7212"/>
            </a:avLst>
          </a:prstGeom>
          <a:solidFill>
            <a:srgbClr val="FFFFFF">
              <a:alpha val="5000"/>
            </a:srgbClr>
          </a:solidFill>
          <a:ln w="9525">
            <a:solidFill>
              <a:srgbClr val="FFFFFF">
                <a:alpha val="12000"/>
              </a:srgbClr>
            </a:solidFill>
            <a:prstDash val="solid"/>
          </a:ln>
        </p:spPr>
      </p:sp>
      <p:sp>
        <p:nvSpPr>
          <p:cNvPr id="33" name="anim-5-29"/>
          <p:cNvSpPr txBox="1"/>
          <p:nvPr/>
        </p:nvSpPr>
        <p:spPr>
          <a:xfrm>
            <a:off x="7482840" y="1447800"/>
            <a:ext cx="175768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4</a:t>
            </a:r>
            <a:endParaRPr lang="en-US" sz="750" dirty="0"/>
          </a:p>
        </p:txBody>
      </p:sp>
      <p:sp>
        <p:nvSpPr>
          <p:cNvPr id="34" name="anim-5-30"/>
          <p:cNvSpPr txBox="1"/>
          <p:nvPr/>
        </p:nvSpPr>
        <p:spPr>
          <a:xfrm>
            <a:off x="7482840" y="1612900"/>
            <a:ext cx="1757680" cy="304800"/>
          </a:xfrm>
          <a:prstGeom prst="rect">
            <a:avLst/>
          </a:prstGeom>
          <a:noFill/>
          <a:ln/>
        </p:spPr>
        <p:txBody>
          <a:bodyPr wrap="square" lIns="0" tIns="0" rIns="0" bIns="0" rtlCol="0" anchor="t"/>
          <a:lstStyle/>
          <a:p>
            <a:pPr algn="l" indent="0" marL="0">
              <a:lnSpc>
                <a:spcPct val="112000"/>
              </a:lnSpc>
              <a:buNone/>
            </a:pPr>
            <a:r>
              <a:rPr lang="en-US" sz="1700" b="1" dirty="0">
                <a:solidFill>
                  <a:srgbClr val="FFFFFF"/>
                </a:solidFill>
                <a:latin typeface="Plus Jakarta Sans" pitchFamily="34" charset="0"/>
                <a:ea typeface="Plus Jakarta Sans" pitchFamily="34" charset="-122"/>
                <a:cs typeface="Plus Jakarta Sans" pitchFamily="34" charset="-120"/>
              </a:rPr>
              <a:t>Platinum</a:t>
            </a:r>
            <a:endParaRPr lang="en-US" sz="1700" dirty="0"/>
          </a:p>
        </p:txBody>
      </p:sp>
      <p:sp>
        <p:nvSpPr>
          <p:cNvPr id="35" name="anim-5-31"/>
          <p:cNvSpPr txBox="1"/>
          <p:nvPr/>
        </p:nvSpPr>
        <p:spPr>
          <a:xfrm>
            <a:off x="7482840" y="2159000"/>
            <a:ext cx="1757680" cy="1905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SemiBold" pitchFamily="34" charset="0"/>
                <a:ea typeface="Plus Jakarta Sans SemiBold" pitchFamily="34" charset="-122"/>
                <a:cs typeface="Plus Jakarta Sans SemiBold" pitchFamily="34" charset="-120"/>
              </a:rPr>
              <a:t>$750K – $1,499,999 ARR</a:t>
            </a:r>
            <a:endParaRPr lang="en-US" sz="900" dirty="0"/>
          </a:p>
        </p:txBody>
      </p:sp>
      <p:sp>
        <p:nvSpPr>
          <p:cNvPr id="36" name="anim-5-32"/>
          <p:cNvSpPr txBox="1"/>
          <p:nvPr/>
        </p:nvSpPr>
        <p:spPr>
          <a:xfrm>
            <a:off x="7482840" y="2400300"/>
            <a:ext cx="1757680" cy="762000"/>
          </a:xfrm>
          <a:prstGeom prst="rect">
            <a:avLst/>
          </a:prstGeom>
          <a:noFill/>
          <a:ln/>
        </p:spPr>
        <p:txBody>
          <a:bodyPr wrap="square" lIns="0" tIns="0" rIns="0" bIns="0" rtlCol="0" anchor="b"/>
          <a:lstStyle/>
          <a:p>
            <a:pPr algn="l" indent="0" marL="0">
              <a:lnSpc>
                <a:spcPct val="112000"/>
              </a:lnSpc>
              <a:buNone/>
            </a:pPr>
            <a:r>
              <a:rPr lang="en-US" sz="5000" b="1" dirty="0">
                <a:solidFill>
                  <a:srgbClr val="FFFFFF"/>
                </a:solidFill>
                <a:latin typeface="Plus Jakarta Sans" pitchFamily="34" charset="0"/>
                <a:ea typeface="Plus Jakarta Sans" pitchFamily="34" charset="-122"/>
                <a:cs typeface="Plus Jakarta Sans" pitchFamily="34" charset="-120"/>
              </a:rPr>
              <a:t>35</a:t>
            </a:r>
            <a:pPr algn="l" indent="0" marL="0">
              <a:lnSpc>
                <a:spcPct val="112000"/>
              </a:lnSpc>
              <a:buNone/>
            </a:pPr>
            <a:r>
              <a:rPr lang="en-US" sz="2200" b="1" dirty="0">
                <a:solidFill>
                  <a:srgbClr val="15B6FF"/>
                </a:solidFill>
                <a:latin typeface="Plus Jakarta Sans" pitchFamily="34" charset="0"/>
                <a:ea typeface="Plus Jakarta Sans" pitchFamily="34" charset="-122"/>
                <a:cs typeface="Plus Jakarta Sans" pitchFamily="34" charset="-120"/>
              </a:rPr>
              <a:t>%</a:t>
            </a:r>
            <a:endParaRPr lang="en-US" sz="5000" dirty="0"/>
          </a:p>
        </p:txBody>
      </p:sp>
      <p:sp>
        <p:nvSpPr>
          <p:cNvPr id="37" name="anim-5-33"/>
          <p:cNvSpPr txBox="1"/>
          <p:nvPr/>
        </p:nvSpPr>
        <p:spPr>
          <a:xfrm>
            <a:off x="7482840" y="3200400"/>
            <a:ext cx="1757680" cy="1778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sourced commission</a:t>
            </a:r>
            <a:endParaRPr lang="en-US" sz="900" dirty="0"/>
          </a:p>
        </p:txBody>
      </p:sp>
      <p:sp>
        <p:nvSpPr>
          <p:cNvPr id="38" name="anim-5-34"/>
          <p:cNvSpPr txBox="1"/>
          <p:nvPr/>
        </p:nvSpPr>
        <p:spPr>
          <a:xfrm>
            <a:off x="7482840" y="3556000"/>
            <a:ext cx="1757680" cy="9525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Repeatable GTM, executive alignment. Invest in joint GTM and sponsorship.</a:t>
            </a:r>
            <a:endParaRPr lang="en-US" sz="900" dirty="0"/>
          </a:p>
        </p:txBody>
      </p:sp>
      <p:sp>
        <p:nvSpPr>
          <p:cNvPr id="39" name="anim-5-35"/>
          <p:cNvSpPr/>
          <p:nvPr/>
        </p:nvSpPr>
        <p:spPr>
          <a:xfrm>
            <a:off x="7482840" y="4787900"/>
            <a:ext cx="1757680" cy="609600"/>
          </a:xfrm>
          <a:prstGeom prst="roundRect">
            <a:avLst>
              <a:gd name="adj" fmla="val 4167"/>
            </a:avLst>
          </a:prstGeom>
          <a:solidFill>
            <a:srgbClr val="194EFF">
              <a:alpha val="66000"/>
            </a:srgbClr>
          </a:solidFill>
          <a:ln/>
        </p:spPr>
      </p:sp>
      <p:sp>
        <p:nvSpPr>
          <p:cNvPr id="40" name="anim-6-36"/>
          <p:cNvSpPr/>
          <p:nvPr/>
        </p:nvSpPr>
        <p:spPr>
          <a:xfrm>
            <a:off x="9570720" y="1308100"/>
            <a:ext cx="2113280" cy="4203700"/>
          </a:xfrm>
          <a:prstGeom prst="roundRect">
            <a:avLst>
              <a:gd name="adj" fmla="val 7212"/>
            </a:avLst>
          </a:prstGeom>
          <a:solidFill>
            <a:srgbClr val="194EFF">
              <a:alpha val="30000"/>
            </a:srgbClr>
          </a:solidFill>
          <a:ln w="15875">
            <a:solidFill>
              <a:srgbClr val="194EFF"/>
            </a:solidFill>
            <a:prstDash val="solid"/>
          </a:ln>
        </p:spPr>
      </p:sp>
      <p:sp>
        <p:nvSpPr>
          <p:cNvPr id="41" name="anim-6-37"/>
          <p:cNvSpPr/>
          <p:nvPr/>
        </p:nvSpPr>
        <p:spPr>
          <a:xfrm>
            <a:off x="9570720" y="1308100"/>
            <a:ext cx="2113280" cy="711200"/>
          </a:xfrm>
          <a:prstGeom prst="roundRect">
            <a:avLst>
              <a:gd name="adj" fmla="val 21429"/>
            </a:avLst>
          </a:prstGeom>
          <a:solidFill>
            <a:srgbClr val="194EFF"/>
          </a:solidFill>
          <a:ln/>
        </p:spPr>
      </p:sp>
      <p:sp>
        <p:nvSpPr>
          <p:cNvPr id="42" name="anim-6-38"/>
          <p:cNvSpPr txBox="1"/>
          <p:nvPr/>
        </p:nvSpPr>
        <p:spPr>
          <a:xfrm>
            <a:off x="9748520" y="1447800"/>
            <a:ext cx="175768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FFFFFF"/>
                </a:solidFill>
                <a:latin typeface="Plus Jakarta Sans SemiBold" pitchFamily="34" charset="0"/>
                <a:ea typeface="Plus Jakarta Sans SemiBold" pitchFamily="34" charset="-122"/>
                <a:cs typeface="Plus Jakarta Sans SemiBold" pitchFamily="34" charset="-120"/>
              </a:rPr>
              <a:t>LEVEL 5</a:t>
            </a:r>
            <a:endParaRPr lang="en-US" sz="750" dirty="0"/>
          </a:p>
        </p:txBody>
      </p:sp>
      <p:sp>
        <p:nvSpPr>
          <p:cNvPr id="43" name="anim-6-39"/>
          <p:cNvSpPr txBox="1"/>
          <p:nvPr/>
        </p:nvSpPr>
        <p:spPr>
          <a:xfrm>
            <a:off x="9748520" y="1612900"/>
            <a:ext cx="1757680" cy="304800"/>
          </a:xfrm>
          <a:prstGeom prst="rect">
            <a:avLst/>
          </a:prstGeom>
          <a:noFill/>
          <a:ln/>
        </p:spPr>
        <p:txBody>
          <a:bodyPr wrap="square" lIns="0" tIns="0" rIns="0" bIns="0" rtlCol="0" anchor="t"/>
          <a:lstStyle/>
          <a:p>
            <a:pPr algn="l" indent="0" marL="0">
              <a:lnSpc>
                <a:spcPct val="112000"/>
              </a:lnSpc>
              <a:buNone/>
            </a:pPr>
            <a:r>
              <a:rPr lang="en-US" sz="1700" b="1" dirty="0">
                <a:solidFill>
                  <a:srgbClr val="FFFFFF"/>
                </a:solidFill>
                <a:latin typeface="Plus Jakarta Sans" pitchFamily="34" charset="0"/>
                <a:ea typeface="Plus Jakarta Sans" pitchFamily="34" charset="-122"/>
                <a:cs typeface="Plus Jakarta Sans" pitchFamily="34" charset="-120"/>
              </a:rPr>
              <a:t>Elite</a:t>
            </a:r>
            <a:endParaRPr lang="en-US" sz="1700" dirty="0"/>
          </a:p>
        </p:txBody>
      </p:sp>
      <p:sp>
        <p:nvSpPr>
          <p:cNvPr id="44" name="anim-6-40"/>
          <p:cNvSpPr txBox="1"/>
          <p:nvPr/>
        </p:nvSpPr>
        <p:spPr>
          <a:xfrm>
            <a:off x="9748520" y="2159000"/>
            <a:ext cx="1757680" cy="1905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SemiBold" pitchFamily="34" charset="0"/>
                <a:ea typeface="Plus Jakarta Sans SemiBold" pitchFamily="34" charset="-122"/>
                <a:cs typeface="Plus Jakarta Sans SemiBold" pitchFamily="34" charset="-120"/>
              </a:rPr>
              <a:t>$1.5M+ ARR</a:t>
            </a:r>
            <a:endParaRPr lang="en-US" sz="900" dirty="0"/>
          </a:p>
        </p:txBody>
      </p:sp>
      <p:sp>
        <p:nvSpPr>
          <p:cNvPr id="45" name="anim-6-41"/>
          <p:cNvSpPr txBox="1"/>
          <p:nvPr/>
        </p:nvSpPr>
        <p:spPr>
          <a:xfrm>
            <a:off x="9748520" y="2400300"/>
            <a:ext cx="1757680" cy="762000"/>
          </a:xfrm>
          <a:prstGeom prst="rect">
            <a:avLst/>
          </a:prstGeom>
          <a:noFill/>
          <a:ln/>
        </p:spPr>
        <p:txBody>
          <a:bodyPr wrap="square" lIns="0" tIns="0" rIns="0" bIns="0" rtlCol="0" anchor="b"/>
          <a:lstStyle/>
          <a:p>
            <a:pPr algn="l" indent="0" marL="0">
              <a:lnSpc>
                <a:spcPct val="112000"/>
              </a:lnSpc>
              <a:buNone/>
            </a:pPr>
            <a:r>
              <a:rPr lang="en-US" sz="5000" b="1" dirty="0">
                <a:solidFill>
                  <a:srgbClr val="FFFFFF"/>
                </a:solidFill>
                <a:latin typeface="Plus Jakarta Sans" pitchFamily="34" charset="0"/>
                <a:ea typeface="Plus Jakarta Sans" pitchFamily="34" charset="-122"/>
                <a:cs typeface="Plus Jakarta Sans" pitchFamily="34" charset="-120"/>
              </a:rPr>
              <a:t>40</a:t>
            </a:r>
            <a:pPr algn="l" indent="0" marL="0">
              <a:lnSpc>
                <a:spcPct val="112000"/>
              </a:lnSpc>
              <a:buNone/>
            </a:pPr>
            <a:r>
              <a:rPr lang="en-US" sz="2200" b="1" dirty="0">
                <a:solidFill>
                  <a:srgbClr val="15B6FF"/>
                </a:solidFill>
                <a:latin typeface="Plus Jakarta Sans" pitchFamily="34" charset="0"/>
                <a:ea typeface="Plus Jakarta Sans" pitchFamily="34" charset="-122"/>
                <a:cs typeface="Plus Jakarta Sans" pitchFamily="34" charset="-120"/>
              </a:rPr>
              <a:t>%</a:t>
            </a:r>
            <a:endParaRPr lang="en-US" sz="5000" dirty="0"/>
          </a:p>
        </p:txBody>
      </p:sp>
      <p:sp>
        <p:nvSpPr>
          <p:cNvPr id="46" name="anim-6-42"/>
          <p:cNvSpPr txBox="1"/>
          <p:nvPr/>
        </p:nvSpPr>
        <p:spPr>
          <a:xfrm>
            <a:off x="9748520" y="3200400"/>
            <a:ext cx="1757680" cy="1778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sourced commission</a:t>
            </a:r>
            <a:endParaRPr lang="en-US" sz="900" dirty="0"/>
          </a:p>
        </p:txBody>
      </p:sp>
      <p:sp>
        <p:nvSpPr>
          <p:cNvPr id="47" name="anim-6-43"/>
          <p:cNvSpPr txBox="1"/>
          <p:nvPr/>
        </p:nvSpPr>
        <p:spPr>
          <a:xfrm>
            <a:off x="9748520" y="3556000"/>
            <a:ext cx="1757680" cy="952500"/>
          </a:xfrm>
          <a:prstGeom prst="rect">
            <a:avLst/>
          </a:prstGeom>
          <a:noFill/>
          <a:ln/>
        </p:spPr>
        <p:txBody>
          <a:bodyPr wrap="square" lIns="0" tIns="0" rIns="0" bIns="0" rtlCol="0" anchor="t"/>
          <a:lstStyle/>
          <a:p>
            <a:pPr algn="l" indent="0" marL="0">
              <a:lnSpc>
                <a:spcPct val="120000"/>
              </a:lnSpc>
              <a:buNone/>
            </a:pPr>
            <a:r>
              <a:rPr lang="en-US" sz="900" dirty="0">
                <a:solidFill>
                  <a:srgbClr val="C3C8D1"/>
                </a:solidFill>
                <a:latin typeface="Plus Jakarta Sans" pitchFamily="34" charset="0"/>
                <a:ea typeface="Plus Jakarta Sans" pitchFamily="34" charset="-122"/>
                <a:cs typeface="Plus Jakarta Sans" pitchFamily="34" charset="-120"/>
              </a:rPr>
              <a:t>Multi-country reach, certified practice. Co-create category and lighthouse deals.</a:t>
            </a:r>
            <a:endParaRPr lang="en-US" sz="900" dirty="0"/>
          </a:p>
        </p:txBody>
      </p:sp>
      <p:sp>
        <p:nvSpPr>
          <p:cNvPr id="48" name="anim-6-44"/>
          <p:cNvSpPr/>
          <p:nvPr/>
        </p:nvSpPr>
        <p:spPr>
          <a:xfrm>
            <a:off x="9748520" y="4635500"/>
            <a:ext cx="1757680" cy="762000"/>
          </a:xfrm>
          <a:prstGeom prst="roundRect">
            <a:avLst>
              <a:gd name="adj" fmla="val 3333"/>
            </a:avLst>
          </a:prstGeom>
          <a:solidFill>
            <a:srgbClr val="15B6FF"/>
          </a:solidFill>
          <a:ln/>
        </p:spPr>
      </p:sp>
      <p:sp>
        <p:nvSpPr>
          <p:cNvPr id="49" name="anim-9-45"/>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50" name="anim-9-46"/>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How Levels Move</a:t>
            </a:r>
            <a:endParaRPr lang="en-US" sz="1100" dirty="0"/>
          </a:p>
        </p:txBody>
      </p:sp>
      <p:sp>
        <p:nvSpPr>
          <p:cNvPr id="51" name="anim-9-47"/>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950" dirty="0">
                <a:solidFill>
                  <a:srgbClr val="FFFFFF"/>
                </a:solidFill>
                <a:latin typeface="Plus Jakarta Sans Medium" pitchFamily="34" charset="0"/>
                <a:ea typeface="Plus Jakarta Sans Medium" pitchFamily="34" charset="-122"/>
                <a:cs typeface="Plus Jakarta Sans Medium" pitchFamily="34" charset="-120"/>
              </a:rPr>
              <a:t>Levels can rise during the year (reviewed up to twice a year). ARR Bookings = eligible recurring value ÷ contract duration (3-year $300,000 = $100,000 ARR).</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18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1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36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36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36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36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36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36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54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54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54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54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54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54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54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54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72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72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72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72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72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72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72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72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90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90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90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90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90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90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par>
                                <p:cTn id="137" presetID="10" presetClass="entr" presetSubtype="0" fill="hold" grpId="0" nodeType="withEffect">
                                  <p:stCondLst>
                                    <p:cond delay="108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500"/>
                                        <p:tgtEl>
                                          <p:spTgt spid="49"/>
                                        </p:tgtEl>
                                      </p:cBhvr>
                                    </p:animEffect>
                                  </p:childTnLst>
                                </p:cTn>
                              </p:par>
                              <p:par>
                                <p:cTn id="140" presetID="10" presetClass="entr" presetSubtype="0" fill="hold" grpId="0" nodeType="withEffect">
                                  <p:stCondLst>
                                    <p:cond delay="108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500"/>
                                        <p:tgtEl>
                                          <p:spTgt spid="50"/>
                                        </p:tgtEl>
                                      </p:cBhvr>
                                    </p:animEffect>
                                  </p:childTnLst>
                                </p:cTn>
                              </p:par>
                              <p:par>
                                <p:cTn id="143" presetID="10" presetClass="entr" presetSubtype="0" fill="hold" grpId="0" nodeType="withEffect">
                                  <p:stCondLst>
                                    <p:cond delay="108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07</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06 · BENEFITS MATRIX</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Everything you unlock,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level by level</a:t>
            </a:r>
            <a:endParaRPr lang="en-US" sz="2000" dirty="0"/>
          </a:p>
        </p:txBody>
      </p:sp>
      <p:graphicFrame>
        <p:nvGraphicFramePr>
          <p:cNvPr id="8" name="anim-2-4"/>
          <p:cNvGraphicFramePr>
            <a:graphicFrameLocks noGrp="1"/>
          </p:cNvGraphicFramePr>
          <p:nvPr>
            <p:extLst>
              <p:ext uri="{D42A27DB-BD31-4B8C-83A1-F6EECF244321}">
                <p14:modId xmlns:p14="http://schemas.microsoft.com/office/powerpoint/2010/main" val="1579011935"/>
              </p:ext>
            </p:extLst>
          </p:nvPr>
        </p:nvGraphicFramePr>
        <p:xfrm>
          <a:off x="508000" y="1333500"/>
          <a:ext cx="11176000" cy="914400"/>
        </p:xfrm>
        <a:graphic>
          <a:graphicData uri="http://schemas.openxmlformats.org/drawingml/2006/table">
            <a:tbl>
              <a:tblPr/>
              <a:tblGrid>
                <a:gridCol w="3048000"/>
                <a:gridCol w="1625600"/>
                <a:gridCol w="1625600"/>
                <a:gridCol w="1625600"/>
                <a:gridCol w="1625600"/>
                <a:gridCol w="1625600"/>
              </a:tblGrid>
              <a:tr h="3175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Benefit / requirement</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Registered</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Silver</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Gold</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Platinum</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94EFF"/>
                    </a:solidFill>
                  </a:tcPr>
                </a:tc>
              </a:tr>
              <a:tr h="3175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Partner-sourced commission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20%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25%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30%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35%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b="1" dirty="0">
                          <a:solidFill>
                            <a:srgbClr val="15B6FF"/>
                          </a:solidFill>
                          <a:latin typeface="Plus Jakarta Sans" pitchFamily="34" charset="0"/>
                          <a:ea typeface="Plus Jakarta Sans" pitchFamily="34" charset="-122"/>
                          <a:cs typeface="Plus Jakarta Sans" pitchFamily="34" charset="-120"/>
                        </a:rPr>
                        <a:t>40%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175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Partner-driven commission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12.5%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17.5%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b="1" dirty="0">
                          <a:solidFill>
                            <a:srgbClr val="15B6FF"/>
                          </a:solidFill>
                          <a:latin typeface="Plus Jakarta Sans" pitchFamily="34" charset="0"/>
                          <a:ea typeface="Plus Jakarta Sans" pitchFamily="34" charset="-122"/>
                          <a:cs typeface="Plus Jakarta Sans" pitchFamily="34" charset="-120"/>
                        </a:rPr>
                        <a:t>20%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175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Post-expiry renewal commission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7.5%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12.5%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b="1" dirty="0">
                          <a:solidFill>
                            <a:srgbClr val="15B6FF"/>
                          </a:solidFill>
                          <a:latin typeface="Plus Jakarta Sans" pitchFamily="34" charset="0"/>
                          <a:ea typeface="Plus Jakarta Sans" pitchFamily="34" charset="-122"/>
                          <a:cs typeface="Plus Jakarta Sans" pitchFamily="34" charset="-120"/>
                        </a:rPr>
                        <a:t>15%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175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Annual co-marketing fund</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Not eligible</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Up to $2,500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Up to $7,500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Up to $15,000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b="1" dirty="0">
                          <a:solidFill>
                            <a:srgbClr val="15B6FF"/>
                          </a:solidFill>
                          <a:latin typeface="Plus Jakarta Sans" pitchFamily="34" charset="0"/>
                          <a:ea typeface="Plus Jakarta Sans" pitchFamily="34" charset="-122"/>
                          <a:cs typeface="Plus Jakarta Sans" pitchFamily="34" charset="-120"/>
                        </a:rPr>
                        <a:t>Up to $30,000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175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Annual promotion fund</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$3,000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$7,500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b="1" dirty="0">
                          <a:solidFill>
                            <a:srgbClr val="15B6FF"/>
                          </a:solidFill>
                          <a:latin typeface="Plus Jakarta Sans" pitchFamily="34" charset="0"/>
                          <a:ea typeface="Plus Jakarta Sans" pitchFamily="34" charset="-122"/>
                          <a:cs typeface="Plus Jakarta Sans" pitchFamily="34" charset="-120"/>
                        </a:rPr>
                        <a:t>$15,000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175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Indicative sandbox value</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Up to $2,500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Up to $5,000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Up to $10,000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Up to $25,000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b="1" dirty="0">
                          <a:solidFill>
                            <a:srgbClr val="15B6FF"/>
                          </a:solidFill>
                          <a:latin typeface="Plus Jakarta Sans" pitchFamily="34" charset="0"/>
                          <a:ea typeface="Plus Jakarta Sans" pitchFamily="34" charset="-122"/>
                          <a:cs typeface="Plus Jakarta Sans" pitchFamily="34" charset="-120"/>
                        </a:rPr>
                        <a:t>Up to $50,000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175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Partner Success Manager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Shared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Shared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Named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Named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b="1" dirty="0">
                          <a:solidFill>
                            <a:srgbClr val="15B6FF"/>
                          </a:solidFill>
                          <a:latin typeface="Plus Jakarta Sans" pitchFamily="34" charset="0"/>
                          <a:ea typeface="Plus Jakarta Sans" pitchFamily="34" charset="-122"/>
                          <a:cs typeface="Plus Jakarta Sans" pitchFamily="34" charset="-120"/>
                        </a:rPr>
                        <a:t>Strategic</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175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Priority support</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Limited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b="1" dirty="0">
                          <a:solidFill>
                            <a:srgbClr val="15B6FF"/>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175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Architecture advisory hrs / yr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40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b="1" dirty="0">
                          <a:solidFill>
                            <a:srgbClr val="15B6FF"/>
                          </a:solidFill>
                          <a:latin typeface="Plus Jakarta Sans" pitchFamily="34" charset="0"/>
                          <a:ea typeface="Plus Jakarta Sans" pitchFamily="34" charset="-122"/>
                          <a:cs typeface="Plus Jakarta Sans" pitchFamily="34" charset="-120"/>
                        </a:rPr>
                        <a:t>100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175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Executive roadmap session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Annual</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Semi-annual</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b="1" dirty="0">
                          <a:solidFill>
                            <a:srgbClr val="15B6FF"/>
                          </a:solidFill>
                          <a:latin typeface="Plus Jakarta Sans" pitchFamily="34" charset="0"/>
                          <a:ea typeface="Plus Jakarta Sans" pitchFamily="34" charset="-122"/>
                          <a:cs typeface="Plus Jakarta Sans" pitchFamily="34" charset="-120"/>
                        </a:rPr>
                        <a:t>Quarterly</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175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Annual ARR Bookings</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$0–$99,999</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$100K–$299,999</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$300K–$749,999</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$750K–$1.49M</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b="1" dirty="0">
                          <a:solidFill>
                            <a:srgbClr val="15B6FF"/>
                          </a:solidFill>
                          <a:latin typeface="Plus Jakarta Sans" pitchFamily="34" charset="0"/>
                          <a:ea typeface="Plus Jakarta Sans" pitchFamily="34" charset="-122"/>
                          <a:cs typeface="Plus Jakarta Sans" pitchFamily="34" charset="-120"/>
                        </a:rPr>
                        <a:t>$1.5M+</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175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Certified sales / pre-sales / delivery</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 / 0 / 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2 / 1 / 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4 / 2 / 2</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6 / 3 / 4</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b="1" dirty="0">
                          <a:solidFill>
                            <a:srgbClr val="15B6FF"/>
                          </a:solidFill>
                          <a:latin typeface="Plus Jakarta Sans" pitchFamily="34" charset="0"/>
                          <a:ea typeface="Plus Jakarta Sans" pitchFamily="34" charset="-122"/>
                          <a:cs typeface="Plus Jakarta Sans" pitchFamily="34" charset="-120"/>
                        </a:rPr>
                        <a:t>10+ / 5+ / 8+</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bl>
          </a:graphicData>
        </a:graphic>
      </p:graphicFrame>
      <p:sp>
        <p:nvSpPr>
          <p:cNvPr id="9" name="anim-9-5"/>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10" name="anim-9-6"/>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Invest Together</a:t>
            </a:r>
            <a:endParaRPr lang="en-US" sz="1100" dirty="0"/>
          </a:p>
        </p:txBody>
      </p:sp>
      <p:sp>
        <p:nvSpPr>
          <p:cNvPr id="11" name="anim-9-7"/>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The higher you climb, the more DignifyX invests in your success.</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36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36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36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08</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07 · COMMISSION &amp; INCENTIVE MODEL</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How you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earn</a:t>
            </a:r>
            <a:endParaRPr lang="en-US" sz="2000" dirty="0"/>
          </a:p>
        </p:txBody>
      </p:sp>
      <p:sp>
        <p:nvSpPr>
          <p:cNvPr id="8" name="anim-2-4"/>
          <p:cNvSpPr/>
          <p:nvPr/>
        </p:nvSpPr>
        <p:spPr>
          <a:xfrm>
            <a:off x="508000" y="1308100"/>
            <a:ext cx="5461000" cy="4203700"/>
          </a:xfrm>
          <a:prstGeom prst="roundRect">
            <a:avLst>
              <a:gd name="adj" fmla="val 3625"/>
            </a:avLst>
          </a:prstGeom>
          <a:solidFill>
            <a:srgbClr val="FFFFFF">
              <a:alpha val="5000"/>
            </a:srgbClr>
          </a:solidFill>
          <a:ln w="9525">
            <a:solidFill>
              <a:srgbClr val="FFFFFF">
                <a:alpha val="12000"/>
              </a:srgbClr>
            </a:solidFill>
            <a:prstDash val="solid"/>
          </a:ln>
        </p:spPr>
      </p:sp>
      <p:sp>
        <p:nvSpPr>
          <p:cNvPr id="9" name="anim-2-5"/>
          <p:cNvSpPr txBox="1"/>
          <p:nvPr/>
        </p:nvSpPr>
        <p:spPr>
          <a:xfrm>
            <a:off x="711200" y="1460500"/>
            <a:ext cx="381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COMMISSION RATES</a:t>
            </a:r>
            <a:endParaRPr lang="en-US" sz="800" dirty="0"/>
          </a:p>
        </p:txBody>
      </p:sp>
      <p:graphicFrame>
        <p:nvGraphicFramePr>
          <p:cNvPr id="9" name="anim-2-6"/>
          <p:cNvGraphicFramePr>
            <a:graphicFrameLocks noGrp="1"/>
          </p:cNvGraphicFramePr>
          <p:nvPr>
            <p:extLst>
              <p:ext uri="{D42A27DB-BD31-4B8C-83A1-F6EECF244321}">
                <p14:modId xmlns:p14="http://schemas.microsoft.com/office/powerpoint/2010/main" val="1579011935"/>
              </p:ext>
            </p:extLst>
          </p:nvPr>
        </p:nvGraphicFramePr>
        <p:xfrm>
          <a:off x="711200" y="1689100"/>
          <a:ext cx="5054600" cy="914400"/>
        </p:xfrm>
        <a:graphic>
          <a:graphicData uri="http://schemas.openxmlformats.org/drawingml/2006/table">
            <a:tbl>
              <a:tblPr/>
              <a:tblGrid>
                <a:gridCol w="1397000"/>
                <a:gridCol w="1079500"/>
                <a:gridCol w="1079500"/>
                <a:gridCol w="1498600"/>
              </a:tblGrid>
              <a:tr h="3048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Level</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Sourced</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Driven</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Post-expiry renewal</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3048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Registered</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20%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048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Silver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25%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12.5%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7.5%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048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Gold</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30%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048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Platinum</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35%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17.5%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12.5%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048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40%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20%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15%</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11" name="anim-3-7"/>
          <p:cNvSpPr txBox="1"/>
          <p:nvPr/>
        </p:nvSpPr>
        <p:spPr>
          <a:xfrm>
            <a:off x="711200" y="3657600"/>
            <a:ext cx="381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REFERRAL &amp; INFLUENCER FEES</a:t>
            </a:r>
            <a:endParaRPr lang="en-US" sz="800" dirty="0"/>
          </a:p>
        </p:txBody>
      </p:sp>
      <p:sp>
        <p:nvSpPr>
          <p:cNvPr id="12" name="anim-3-8"/>
          <p:cNvSpPr txBox="1"/>
          <p:nvPr/>
        </p:nvSpPr>
        <p:spPr>
          <a:xfrm>
            <a:off x="711200" y="3886200"/>
            <a:ext cx="5054600" cy="1524000"/>
          </a:xfrm>
          <a:prstGeom prst="rect">
            <a:avLst/>
          </a:prstGeom>
          <a:noFill/>
          <a:ln/>
        </p:spPr>
        <p:txBody>
          <a:bodyPr wrap="square" lIns="0" tIns="0" rIns="0" bIns="0" rtlCol="0" anchor="t"/>
          <a:lstStyle/>
          <a:p>
            <a:pPr algn="l" indent="0" marL="0">
              <a:lnSpc>
                <a:spcPct val="125000"/>
              </a:lnSpc>
              <a:spcAft>
                <a:spcPts val="800"/>
              </a:spcAft>
              <a:buNone/>
            </a:pPr>
            <a:r>
              <a:rPr lang="en-US" sz="950" b="1" dirty="0">
                <a:solidFill>
                  <a:srgbClr val="15B6FF"/>
                </a:solidFill>
                <a:latin typeface="Plus Jakarta Sans" pitchFamily="34" charset="0"/>
                <a:ea typeface="Plus Jakarta Sans" pitchFamily="34" charset="-122"/>
                <a:cs typeface="Plus Jakarta Sans" pitchFamily="34" charset="-120"/>
              </a:rPr>
              <a:t>Up to 8% </a:t>
            </a:r>
            <a:pPr algn="l" indent="0" marL="0">
              <a:lnSpc>
                <a:spcPct val="125000"/>
              </a:lnSpc>
              <a:spcAft>
                <a:spcPts val="800"/>
              </a:spcAft>
              <a:buNone/>
            </a:pPr>
            <a:r>
              <a:rPr lang="en-US" sz="950" dirty="0">
                <a:solidFill>
                  <a:srgbClr val="C3C8D1"/>
                </a:solidFill>
                <a:latin typeface="Plus Jakarta Sans" pitchFamily="34" charset="0"/>
                <a:ea typeface="Plus Jakarta Sans" pitchFamily="34" charset="-122"/>
                <a:cs typeface="Plus Jakarta Sans" pitchFamily="34" charset="-120"/>
              </a:rPr>
              <a:t>of first-year ARR for a qualified referral that closes (pre-approved, per signed terms).</a:t>
            </a:r>
            <a:endParaRPr lang="en-US" sz="950" dirty="0"/>
          </a:p>
          <a:p>
            <a:pPr algn="l" indent="0" marL="0">
              <a:lnSpc>
                <a:spcPct val="125000"/>
              </a:lnSpc>
              <a:spcAft>
                <a:spcPts val="800"/>
              </a:spcAft>
              <a:buNone/>
            </a:pPr>
            <a:r>
              <a:rPr lang="en-US" sz="950" b="1" dirty="0">
                <a:solidFill>
                  <a:srgbClr val="15B6FF"/>
                </a:solidFill>
                <a:latin typeface="Plus Jakarta Sans" pitchFamily="34" charset="0"/>
                <a:ea typeface="Plus Jakarta Sans" pitchFamily="34" charset="-122"/>
                <a:cs typeface="Plus Jakarta Sans" pitchFamily="34" charset="-120"/>
              </a:rPr>
              <a:t>Up to 10% </a:t>
            </a:r>
            <a:pPr algn="l" indent="0" marL="0">
              <a:lnSpc>
                <a:spcPct val="125000"/>
              </a:lnSpc>
              <a:spcAft>
                <a:spcPts val="800"/>
              </a:spcAft>
              <a:buNone/>
            </a:pPr>
            <a:r>
              <a:rPr lang="en-US" sz="950" dirty="0">
                <a:solidFill>
                  <a:srgbClr val="C3C8D1"/>
                </a:solidFill>
                <a:latin typeface="Plus Jakarta Sans" pitchFamily="34" charset="0"/>
                <a:ea typeface="Plus Jakarta Sans" pitchFamily="34" charset="-122"/>
                <a:cs typeface="Plus Jakarta Sans" pitchFamily="34" charset="-120"/>
              </a:rPr>
              <a:t>for strategic referrals above $500,000 ARR (pre-approved, risk-reviewed).</a:t>
            </a:r>
            <a:endParaRPr lang="en-US" sz="950" dirty="0"/>
          </a:p>
          <a:p>
            <a:pPr algn="l" indent="0" marL="0">
              <a:lnSpc>
                <a:spcPct val="125000"/>
              </a:lnSpc>
              <a:spcAft>
                <a:spcPts val="800"/>
              </a:spcAft>
              <a:buNone/>
            </a:pPr>
            <a:r>
              <a:rPr lang="en-US" sz="950" b="1" dirty="0">
                <a:solidFill>
                  <a:srgbClr val="FFFFFF"/>
                </a:solidFill>
                <a:latin typeface="Plus Jakarta Sans" pitchFamily="34" charset="0"/>
                <a:ea typeface="Plus Jakarta Sans" pitchFamily="34" charset="-122"/>
                <a:cs typeface="Plus Jakarta Sans" pitchFamily="34" charset="-120"/>
              </a:rPr>
              <a:t>Renewal / expansion: </a:t>
            </a:r>
            <a:pPr algn="l" indent="0" marL="0">
              <a:lnSpc>
                <a:spcPct val="125000"/>
              </a:lnSpc>
              <a:spcAft>
                <a:spcPts val="800"/>
              </a:spcAft>
              <a:buNone/>
            </a:pPr>
            <a:r>
              <a:rPr lang="en-US" sz="950" dirty="0">
                <a:solidFill>
                  <a:srgbClr val="C3C8D1"/>
                </a:solidFill>
                <a:latin typeface="Plus Jakarta Sans" pitchFamily="34" charset="0"/>
                <a:ea typeface="Plus Jakarta Sans" pitchFamily="34" charset="-122"/>
                <a:cs typeface="Plus Jakarta Sans" pitchFamily="34" charset="-120"/>
              </a:rPr>
              <a:t>not eligible unless upgraded, assigned and approved before close.</a:t>
            </a:r>
            <a:endParaRPr lang="en-US" sz="950" dirty="0"/>
          </a:p>
        </p:txBody>
      </p:sp>
      <p:sp>
        <p:nvSpPr>
          <p:cNvPr id="13" name="anim-4-9"/>
          <p:cNvSpPr/>
          <p:nvPr/>
        </p:nvSpPr>
        <p:spPr>
          <a:xfrm>
            <a:off x="6121400" y="1308100"/>
            <a:ext cx="2705100" cy="1092200"/>
          </a:xfrm>
          <a:prstGeom prst="roundRect">
            <a:avLst>
              <a:gd name="adj" fmla="val 13953"/>
            </a:avLst>
          </a:prstGeom>
          <a:solidFill>
            <a:srgbClr val="FFFFFF">
              <a:alpha val="5000"/>
            </a:srgbClr>
          </a:solidFill>
          <a:ln w="9525">
            <a:solidFill>
              <a:srgbClr val="FFFFFF">
                <a:alpha val="12000"/>
              </a:srgbClr>
            </a:solidFill>
            <a:prstDash val="solid"/>
          </a:ln>
        </p:spPr>
      </p:sp>
      <p:sp>
        <p:nvSpPr>
          <p:cNvPr id="14" name="anim-4-10"/>
          <p:cNvSpPr txBox="1"/>
          <p:nvPr/>
        </p:nvSpPr>
        <p:spPr>
          <a:xfrm>
            <a:off x="6299200" y="1447800"/>
            <a:ext cx="2349500" cy="406400"/>
          </a:xfrm>
          <a:prstGeom prst="rect">
            <a:avLst/>
          </a:prstGeom>
          <a:noFill/>
          <a:ln/>
        </p:spPr>
        <p:txBody>
          <a:bodyPr wrap="square" lIns="0" tIns="0" rIns="0" bIns="0" rtlCol="0" anchor="t"/>
          <a:lstStyle/>
          <a:p>
            <a:pPr algn="l" indent="0" marL="0">
              <a:lnSpc>
                <a:spcPct val="112000"/>
              </a:lnSpc>
              <a:buNone/>
            </a:pPr>
            <a:r>
              <a:rPr lang="en-US" sz="2600" b="1" dirty="0">
                <a:solidFill>
                  <a:srgbClr val="FFFFFF"/>
                </a:solidFill>
                <a:latin typeface="Plus Jakarta Sans" pitchFamily="34" charset="0"/>
                <a:ea typeface="Plus Jakarta Sans" pitchFamily="34" charset="-122"/>
                <a:cs typeface="Plus Jakarta Sans" pitchFamily="34" charset="-120"/>
              </a:rPr>
              <a:t>$30,000</a:t>
            </a:r>
            <a:endParaRPr lang="en-US" sz="2600" dirty="0"/>
          </a:p>
        </p:txBody>
      </p:sp>
      <p:sp>
        <p:nvSpPr>
          <p:cNvPr id="15" name="anim-4-11"/>
          <p:cNvSpPr txBox="1"/>
          <p:nvPr/>
        </p:nvSpPr>
        <p:spPr>
          <a:xfrm>
            <a:off x="6299200" y="1892300"/>
            <a:ext cx="2349500" cy="177800"/>
          </a:xfrm>
          <a:prstGeom prst="rect">
            <a:avLst/>
          </a:prstGeom>
          <a:noFill/>
          <a:ln/>
        </p:spPr>
        <p:txBody>
          <a:bodyPr wrap="square" lIns="0" tIns="0" rIns="0" bIns="0" rtlCol="0" anchor="t"/>
          <a:lstStyle/>
          <a:p>
            <a:pPr algn="l" indent="0" marL="0">
              <a:lnSpc>
                <a:spcPct val="112000"/>
              </a:lnSpc>
              <a:buNone/>
            </a:pPr>
            <a:r>
              <a:rPr lang="en-US" sz="950" dirty="0">
                <a:solidFill>
                  <a:srgbClr val="15B6FF"/>
                </a:solidFill>
                <a:latin typeface="Plus Jakarta Sans SemiBold" pitchFamily="34" charset="0"/>
                <a:ea typeface="Plus Jakarta Sans SemiBold" pitchFamily="34" charset="-122"/>
                <a:cs typeface="Plus Jakarta Sans SemiBold" pitchFamily="34" charset="-120"/>
              </a:rPr>
              <a:t>Gold partner-sourced</a:t>
            </a:r>
            <a:endParaRPr lang="en-US" sz="950" dirty="0"/>
          </a:p>
        </p:txBody>
      </p:sp>
      <p:sp>
        <p:nvSpPr>
          <p:cNvPr id="16" name="anim-4-12"/>
          <p:cNvSpPr txBox="1"/>
          <p:nvPr/>
        </p:nvSpPr>
        <p:spPr>
          <a:xfrm>
            <a:off x="6299200" y="2095500"/>
            <a:ext cx="2349500" cy="2540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$100,000 × 30%</a:t>
            </a:r>
            <a:endParaRPr lang="en-US" sz="850" dirty="0"/>
          </a:p>
        </p:txBody>
      </p:sp>
      <p:sp>
        <p:nvSpPr>
          <p:cNvPr id="17" name="anim-5-13"/>
          <p:cNvSpPr/>
          <p:nvPr/>
        </p:nvSpPr>
        <p:spPr>
          <a:xfrm>
            <a:off x="8978900" y="1308100"/>
            <a:ext cx="2705100" cy="1092200"/>
          </a:xfrm>
          <a:prstGeom prst="roundRect">
            <a:avLst>
              <a:gd name="adj" fmla="val 13953"/>
            </a:avLst>
          </a:prstGeom>
          <a:solidFill>
            <a:srgbClr val="FFFFFF">
              <a:alpha val="5000"/>
            </a:srgbClr>
          </a:solidFill>
          <a:ln w="9525">
            <a:solidFill>
              <a:srgbClr val="FFFFFF">
                <a:alpha val="12000"/>
              </a:srgbClr>
            </a:solidFill>
            <a:prstDash val="solid"/>
          </a:ln>
        </p:spPr>
      </p:sp>
      <p:sp>
        <p:nvSpPr>
          <p:cNvPr id="18" name="anim-5-14"/>
          <p:cNvSpPr txBox="1"/>
          <p:nvPr/>
        </p:nvSpPr>
        <p:spPr>
          <a:xfrm>
            <a:off x="9156700" y="1447800"/>
            <a:ext cx="2349500" cy="406400"/>
          </a:xfrm>
          <a:prstGeom prst="rect">
            <a:avLst/>
          </a:prstGeom>
          <a:noFill/>
          <a:ln/>
        </p:spPr>
        <p:txBody>
          <a:bodyPr wrap="square" lIns="0" tIns="0" rIns="0" bIns="0" rtlCol="0" anchor="t"/>
          <a:lstStyle/>
          <a:p>
            <a:pPr algn="l" indent="0" marL="0">
              <a:lnSpc>
                <a:spcPct val="112000"/>
              </a:lnSpc>
              <a:buNone/>
            </a:pPr>
            <a:r>
              <a:rPr lang="en-US" sz="2600" b="1" dirty="0">
                <a:solidFill>
                  <a:srgbClr val="FFFFFF"/>
                </a:solidFill>
                <a:latin typeface="Plus Jakarta Sans" pitchFamily="34" charset="0"/>
                <a:ea typeface="Plus Jakarta Sans" pitchFamily="34" charset="-122"/>
                <a:cs typeface="Plus Jakarta Sans" pitchFamily="34" charset="-120"/>
              </a:rPr>
              <a:t>$12,500</a:t>
            </a:r>
            <a:endParaRPr lang="en-US" sz="2600" dirty="0"/>
          </a:p>
        </p:txBody>
      </p:sp>
      <p:sp>
        <p:nvSpPr>
          <p:cNvPr id="19" name="anim-5-15"/>
          <p:cNvSpPr txBox="1"/>
          <p:nvPr/>
        </p:nvSpPr>
        <p:spPr>
          <a:xfrm>
            <a:off x="9156700" y="1892300"/>
            <a:ext cx="2349500" cy="177800"/>
          </a:xfrm>
          <a:prstGeom prst="rect">
            <a:avLst/>
          </a:prstGeom>
          <a:noFill/>
          <a:ln/>
        </p:spPr>
        <p:txBody>
          <a:bodyPr wrap="square" lIns="0" tIns="0" rIns="0" bIns="0" rtlCol="0" anchor="t"/>
          <a:lstStyle/>
          <a:p>
            <a:pPr algn="l" indent="0" marL="0">
              <a:lnSpc>
                <a:spcPct val="112000"/>
              </a:lnSpc>
              <a:buNone/>
            </a:pPr>
            <a:r>
              <a:rPr lang="en-US" sz="950" dirty="0">
                <a:solidFill>
                  <a:srgbClr val="15B6FF"/>
                </a:solidFill>
                <a:latin typeface="Plus Jakarta Sans SemiBold" pitchFamily="34" charset="0"/>
                <a:ea typeface="Plus Jakarta Sans SemiBold" pitchFamily="34" charset="-122"/>
                <a:cs typeface="Plus Jakarta Sans SemiBold" pitchFamily="34" charset="-120"/>
              </a:rPr>
              <a:t>Silver partner-driven</a:t>
            </a:r>
            <a:endParaRPr lang="en-US" sz="950" dirty="0"/>
          </a:p>
        </p:txBody>
      </p:sp>
      <p:sp>
        <p:nvSpPr>
          <p:cNvPr id="20" name="anim-5-16"/>
          <p:cNvSpPr txBox="1"/>
          <p:nvPr/>
        </p:nvSpPr>
        <p:spPr>
          <a:xfrm>
            <a:off x="9156700" y="2095500"/>
            <a:ext cx="2349500" cy="2540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$100,000 × 12.5%</a:t>
            </a:r>
            <a:endParaRPr lang="en-US" sz="850" dirty="0"/>
          </a:p>
        </p:txBody>
      </p:sp>
      <p:sp>
        <p:nvSpPr>
          <p:cNvPr id="21" name="anim-6-17"/>
          <p:cNvSpPr/>
          <p:nvPr/>
        </p:nvSpPr>
        <p:spPr>
          <a:xfrm>
            <a:off x="6121400" y="2552700"/>
            <a:ext cx="2705100" cy="1092200"/>
          </a:xfrm>
          <a:prstGeom prst="roundRect">
            <a:avLst>
              <a:gd name="adj" fmla="val 13953"/>
            </a:avLst>
          </a:prstGeom>
          <a:solidFill>
            <a:srgbClr val="FFFFFF">
              <a:alpha val="5000"/>
            </a:srgbClr>
          </a:solidFill>
          <a:ln w="9525">
            <a:solidFill>
              <a:srgbClr val="FFFFFF">
                <a:alpha val="12000"/>
              </a:srgbClr>
            </a:solidFill>
            <a:prstDash val="solid"/>
          </a:ln>
        </p:spPr>
      </p:sp>
      <p:sp>
        <p:nvSpPr>
          <p:cNvPr id="22" name="anim-6-18"/>
          <p:cNvSpPr txBox="1"/>
          <p:nvPr/>
        </p:nvSpPr>
        <p:spPr>
          <a:xfrm>
            <a:off x="6299200" y="2692400"/>
            <a:ext cx="2349500" cy="406400"/>
          </a:xfrm>
          <a:prstGeom prst="rect">
            <a:avLst/>
          </a:prstGeom>
          <a:noFill/>
          <a:ln/>
        </p:spPr>
        <p:txBody>
          <a:bodyPr wrap="square" lIns="0" tIns="0" rIns="0" bIns="0" rtlCol="0" anchor="t"/>
          <a:lstStyle/>
          <a:p>
            <a:pPr algn="l" indent="0" marL="0">
              <a:lnSpc>
                <a:spcPct val="112000"/>
              </a:lnSpc>
              <a:buNone/>
            </a:pPr>
            <a:r>
              <a:rPr lang="en-US" sz="2600" b="1" dirty="0">
                <a:solidFill>
                  <a:srgbClr val="FFFFFF"/>
                </a:solidFill>
                <a:latin typeface="Plus Jakarta Sans" pitchFamily="34" charset="0"/>
                <a:ea typeface="Plus Jakarta Sans" pitchFamily="34" charset="-122"/>
                <a:cs typeface="Plus Jakarta Sans" pitchFamily="34" charset="-120"/>
              </a:rPr>
              <a:t>$24,000</a:t>
            </a:r>
            <a:endParaRPr lang="en-US" sz="2600" dirty="0"/>
          </a:p>
        </p:txBody>
      </p:sp>
      <p:sp>
        <p:nvSpPr>
          <p:cNvPr id="23" name="anim-6-19"/>
          <p:cNvSpPr txBox="1"/>
          <p:nvPr/>
        </p:nvSpPr>
        <p:spPr>
          <a:xfrm>
            <a:off x="6299200" y="3136900"/>
            <a:ext cx="2349500" cy="177800"/>
          </a:xfrm>
          <a:prstGeom prst="rect">
            <a:avLst/>
          </a:prstGeom>
          <a:noFill/>
          <a:ln/>
        </p:spPr>
        <p:txBody>
          <a:bodyPr wrap="square" lIns="0" tIns="0" rIns="0" bIns="0" rtlCol="0" anchor="t"/>
          <a:lstStyle/>
          <a:p>
            <a:pPr algn="l" indent="0" marL="0">
              <a:lnSpc>
                <a:spcPct val="112000"/>
              </a:lnSpc>
              <a:buNone/>
            </a:pPr>
            <a:r>
              <a:rPr lang="en-US" sz="950" dirty="0">
                <a:solidFill>
                  <a:srgbClr val="15B6FF"/>
                </a:solidFill>
                <a:latin typeface="Plus Jakarta Sans SemiBold" pitchFamily="34" charset="0"/>
                <a:ea typeface="Plus Jakarta Sans SemiBold" pitchFamily="34" charset="-122"/>
                <a:cs typeface="Plus Jakarta Sans SemiBold" pitchFamily="34" charset="-120"/>
              </a:rPr>
              <a:t>Discounted Gold sourced</a:t>
            </a:r>
            <a:endParaRPr lang="en-US" sz="950" dirty="0"/>
          </a:p>
        </p:txBody>
      </p:sp>
      <p:sp>
        <p:nvSpPr>
          <p:cNvPr id="24" name="anim-6-20"/>
          <p:cNvSpPr txBox="1"/>
          <p:nvPr/>
        </p:nvSpPr>
        <p:spPr>
          <a:xfrm>
            <a:off x="6299200" y="3340100"/>
            <a:ext cx="2349500" cy="2540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$80,000 net × 30%</a:t>
            </a:r>
            <a:endParaRPr lang="en-US" sz="850" dirty="0"/>
          </a:p>
        </p:txBody>
      </p:sp>
      <p:sp>
        <p:nvSpPr>
          <p:cNvPr id="25" name="anim-7-21"/>
          <p:cNvSpPr/>
          <p:nvPr/>
        </p:nvSpPr>
        <p:spPr>
          <a:xfrm>
            <a:off x="8978900" y="2552700"/>
            <a:ext cx="2705100" cy="1092200"/>
          </a:xfrm>
          <a:prstGeom prst="roundRect">
            <a:avLst>
              <a:gd name="adj" fmla="val 13953"/>
            </a:avLst>
          </a:prstGeom>
          <a:solidFill>
            <a:srgbClr val="FFFFFF">
              <a:alpha val="5000"/>
            </a:srgbClr>
          </a:solidFill>
          <a:ln w="9525">
            <a:solidFill>
              <a:srgbClr val="FFFFFF">
                <a:alpha val="12000"/>
              </a:srgbClr>
            </a:solidFill>
            <a:prstDash val="solid"/>
          </a:ln>
        </p:spPr>
      </p:sp>
      <p:sp>
        <p:nvSpPr>
          <p:cNvPr id="26" name="anim-7-22"/>
          <p:cNvSpPr txBox="1"/>
          <p:nvPr/>
        </p:nvSpPr>
        <p:spPr>
          <a:xfrm>
            <a:off x="9156700" y="2692400"/>
            <a:ext cx="2349500" cy="406400"/>
          </a:xfrm>
          <a:prstGeom prst="rect">
            <a:avLst/>
          </a:prstGeom>
          <a:noFill/>
          <a:ln/>
        </p:spPr>
        <p:txBody>
          <a:bodyPr wrap="square" lIns="0" tIns="0" rIns="0" bIns="0" rtlCol="0" anchor="t"/>
          <a:lstStyle/>
          <a:p>
            <a:pPr algn="l" indent="0" marL="0">
              <a:lnSpc>
                <a:spcPct val="112000"/>
              </a:lnSpc>
              <a:buNone/>
            </a:pPr>
            <a:r>
              <a:rPr lang="en-US" sz="2600" b="1" dirty="0">
                <a:solidFill>
                  <a:srgbClr val="FFFFFF"/>
                </a:solidFill>
                <a:latin typeface="Plus Jakarta Sans" pitchFamily="34" charset="0"/>
                <a:ea typeface="Plus Jakarta Sans" pitchFamily="34" charset="-122"/>
                <a:cs typeface="Plus Jakarta Sans" pitchFamily="34" charset="-120"/>
              </a:rPr>
              <a:t>$8,000</a:t>
            </a:r>
            <a:endParaRPr lang="en-US" sz="2600" dirty="0"/>
          </a:p>
        </p:txBody>
      </p:sp>
      <p:sp>
        <p:nvSpPr>
          <p:cNvPr id="27" name="anim-7-23"/>
          <p:cNvSpPr txBox="1"/>
          <p:nvPr/>
        </p:nvSpPr>
        <p:spPr>
          <a:xfrm>
            <a:off x="9156700" y="3136900"/>
            <a:ext cx="2349500" cy="177800"/>
          </a:xfrm>
          <a:prstGeom prst="rect">
            <a:avLst/>
          </a:prstGeom>
          <a:noFill/>
          <a:ln/>
        </p:spPr>
        <p:txBody>
          <a:bodyPr wrap="square" lIns="0" tIns="0" rIns="0" bIns="0" rtlCol="0" anchor="t"/>
          <a:lstStyle/>
          <a:p>
            <a:pPr algn="l" indent="0" marL="0">
              <a:lnSpc>
                <a:spcPct val="112000"/>
              </a:lnSpc>
              <a:buNone/>
            </a:pPr>
            <a:r>
              <a:rPr lang="en-US" sz="950" dirty="0">
                <a:solidFill>
                  <a:srgbClr val="15B6FF"/>
                </a:solidFill>
                <a:latin typeface="Plus Jakarta Sans SemiBold" pitchFamily="34" charset="0"/>
                <a:ea typeface="Plus Jakarta Sans SemiBold" pitchFamily="34" charset="-122"/>
                <a:cs typeface="Plus Jakarta Sans SemiBold" pitchFamily="34" charset="-120"/>
              </a:rPr>
              <a:t>Protected floor example</a:t>
            </a:r>
            <a:endParaRPr lang="en-US" sz="950" dirty="0"/>
          </a:p>
        </p:txBody>
      </p:sp>
      <p:sp>
        <p:nvSpPr>
          <p:cNvPr id="28" name="anim-7-24"/>
          <p:cNvSpPr txBox="1"/>
          <p:nvPr/>
        </p:nvSpPr>
        <p:spPr>
          <a:xfrm>
            <a:off x="9156700" y="3340100"/>
            <a:ext cx="2349500" cy="2540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$80,000 × 10% (subject to approval)</a:t>
            </a:r>
            <a:endParaRPr lang="en-US" sz="850" dirty="0"/>
          </a:p>
        </p:txBody>
      </p:sp>
      <p:sp>
        <p:nvSpPr>
          <p:cNvPr id="29" name="anim-8-25"/>
          <p:cNvSpPr/>
          <p:nvPr/>
        </p:nvSpPr>
        <p:spPr>
          <a:xfrm>
            <a:off x="6121400" y="3797300"/>
            <a:ext cx="5562600" cy="1714500"/>
          </a:xfrm>
          <a:prstGeom prst="roundRect">
            <a:avLst>
              <a:gd name="adj" fmla="val 8889"/>
            </a:avLst>
          </a:prstGeom>
          <a:solidFill>
            <a:srgbClr val="194EFF">
              <a:alpha val="30000"/>
            </a:srgbClr>
          </a:solidFill>
          <a:ln w="15875">
            <a:solidFill>
              <a:srgbClr val="194EFF"/>
            </a:solidFill>
            <a:prstDash val="solid"/>
          </a:ln>
        </p:spPr>
      </p:sp>
      <p:sp>
        <p:nvSpPr>
          <p:cNvPr id="30" name="anim-8-26"/>
          <p:cNvSpPr txBox="1"/>
          <p:nvPr/>
        </p:nvSpPr>
        <p:spPr>
          <a:xfrm>
            <a:off x="6350000" y="4000500"/>
            <a:ext cx="5080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First-win recognition</a:t>
            </a:r>
            <a:endParaRPr lang="en-US" sz="1400" dirty="0"/>
          </a:p>
        </p:txBody>
      </p:sp>
      <p:sp>
        <p:nvSpPr>
          <p:cNvPr id="31" name="anim-8-27"/>
          <p:cNvSpPr txBox="1"/>
          <p:nvPr/>
        </p:nvSpPr>
        <p:spPr>
          <a:xfrm>
            <a:off x="6350000" y="4343400"/>
            <a:ext cx="5080000" cy="889000"/>
          </a:xfrm>
          <a:prstGeom prst="rect">
            <a:avLst/>
          </a:prstGeom>
          <a:noFill/>
          <a:ln/>
        </p:spPr>
        <p:txBody>
          <a:bodyPr wrap="square" lIns="0" tIns="0" rIns="0" bIns="0" rtlCol="0" anchor="t"/>
          <a:lstStyle/>
          <a:p>
            <a:pPr algn="l" indent="0" marL="0">
              <a:lnSpc>
                <a:spcPct val="125000"/>
              </a:lnSpc>
              <a:buNone/>
            </a:pPr>
            <a:r>
              <a:rPr lang="en-US" sz="1050" dirty="0">
                <a:solidFill>
                  <a:srgbClr val="FFFFFF"/>
                </a:solidFill>
                <a:latin typeface="Plus Jakarta Sans" pitchFamily="34" charset="0"/>
                <a:ea typeface="Plus Jakarta Sans" pitchFamily="34" charset="-122"/>
                <a:cs typeface="Plus Jakarta Sans" pitchFamily="34" charset="-120"/>
              </a:rPr>
              <a:t>A one-time fund (suggested up to $2,000) may be available after your first approved partner-sourced closed-won opportunity.</a:t>
            </a:r>
            <a:endParaRPr lang="en-US" sz="1050" dirty="0"/>
          </a:p>
        </p:txBody>
      </p:sp>
      <p:sp>
        <p:nvSpPr>
          <p:cNvPr id="32" name="anim-9-28"/>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33" name="anim-9-29"/>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When You're Paid</a:t>
            </a:r>
            <a:endParaRPr lang="en-US" sz="1100" dirty="0"/>
          </a:p>
        </p:txBody>
      </p:sp>
      <p:sp>
        <p:nvSpPr>
          <p:cNvPr id="34" name="anim-9-30"/>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On eligible recurring software and subscription revenue, after cleared customer payment and a valid partner invoice.</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36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54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54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54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72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72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72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72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90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9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90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108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108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108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08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12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26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126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144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144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144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09</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08 · FY2026 THREE-YEAR CONTRACT TREATMENT</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Three years of credit on every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standard</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deal</a:t>
            </a:r>
            <a:endParaRPr lang="en-US" sz="2000" dirty="0"/>
          </a:p>
        </p:txBody>
      </p:sp>
      <p:sp>
        <p:nvSpPr>
          <p:cNvPr id="8" name="anim-2-4"/>
          <p:cNvSpPr/>
          <p:nvPr/>
        </p:nvSpPr>
        <p:spPr>
          <a:xfrm>
            <a:off x="508000" y="1308100"/>
            <a:ext cx="2679700" cy="1778000"/>
          </a:xfrm>
          <a:prstGeom prst="roundRect">
            <a:avLst>
              <a:gd name="adj" fmla="val 8571"/>
            </a:avLst>
          </a:prstGeom>
          <a:solidFill>
            <a:srgbClr val="194EFF"/>
          </a:solidFill>
          <a:ln w="9525">
            <a:solidFill>
              <a:srgbClr val="15B6FF">
                <a:alpha val="40000"/>
              </a:srgbClr>
            </a:solidFill>
            <a:prstDash val="solid"/>
          </a:ln>
        </p:spPr>
      </p:sp>
      <p:sp>
        <p:nvSpPr>
          <p:cNvPr id="9" name="anim-2-5"/>
          <p:cNvSpPr txBox="1"/>
          <p:nvPr/>
        </p:nvSpPr>
        <p:spPr>
          <a:xfrm>
            <a:off x="711200" y="1447800"/>
            <a:ext cx="2273300" cy="635000"/>
          </a:xfrm>
          <a:prstGeom prst="rect">
            <a:avLst/>
          </a:prstGeom>
          <a:noFill/>
          <a:ln/>
        </p:spPr>
        <p:txBody>
          <a:bodyPr wrap="square" lIns="0" tIns="0" rIns="0" bIns="0" rtlCol="0" anchor="t"/>
          <a:lstStyle/>
          <a:p>
            <a:pPr algn="l" indent="0" marL="0">
              <a:lnSpc>
                <a:spcPct val="112000"/>
              </a:lnSpc>
              <a:buNone/>
            </a:pPr>
            <a:r>
              <a:rPr lang="en-US" sz="4200" b="1" dirty="0">
                <a:solidFill>
                  <a:srgbClr val="FFFFFF"/>
                </a:solidFill>
                <a:latin typeface="Plus Jakarta Sans" pitchFamily="34" charset="0"/>
                <a:ea typeface="Plus Jakarta Sans" pitchFamily="34" charset="-122"/>
                <a:cs typeface="Plus Jakarta Sans" pitchFamily="34" charset="-120"/>
              </a:rPr>
              <a:t>Y1</a:t>
            </a:r>
            <a:endParaRPr lang="en-US" sz="4200" dirty="0"/>
          </a:p>
        </p:txBody>
      </p:sp>
      <p:sp>
        <p:nvSpPr>
          <p:cNvPr id="10" name="anim-2-6"/>
          <p:cNvSpPr txBox="1"/>
          <p:nvPr/>
        </p:nvSpPr>
        <p:spPr>
          <a:xfrm>
            <a:off x="711200" y="2184400"/>
            <a:ext cx="2273300" cy="215900"/>
          </a:xfrm>
          <a:prstGeom prst="rect">
            <a:avLst/>
          </a:prstGeom>
          <a:noFill/>
          <a:ln/>
        </p:spPr>
        <p:txBody>
          <a:bodyPr wrap="square" lIns="0" tIns="0" rIns="0" bIns="0" rtlCol="0" anchor="t"/>
          <a:lstStyle/>
          <a:p>
            <a:pPr algn="l" indent="0" marL="0">
              <a:lnSpc>
                <a:spcPct val="112000"/>
              </a:lnSpc>
              <a:buNone/>
            </a:pPr>
            <a:r>
              <a:rPr lang="en-US" sz="1100" dirty="0">
                <a:solidFill>
                  <a:srgbClr val="FFFFFF"/>
                </a:solidFill>
                <a:latin typeface="Plus Jakarta Sans SemiBold" pitchFamily="34" charset="0"/>
                <a:ea typeface="Plus Jakarta Sans SemiBold" pitchFamily="34" charset="-122"/>
                <a:cs typeface="Plus Jakarta Sans SemiBold" pitchFamily="34" charset="-120"/>
              </a:rPr>
              <a:t>Year 1</a:t>
            </a:r>
            <a:endParaRPr lang="en-US" sz="1100" dirty="0"/>
          </a:p>
        </p:txBody>
      </p:sp>
      <p:sp>
        <p:nvSpPr>
          <p:cNvPr id="11" name="anim-2-7"/>
          <p:cNvSpPr txBox="1"/>
          <p:nvPr/>
        </p:nvSpPr>
        <p:spPr>
          <a:xfrm>
            <a:off x="711200" y="2463800"/>
            <a:ext cx="2273300" cy="203200"/>
          </a:xfrm>
          <a:prstGeom prst="rect">
            <a:avLst/>
          </a:prstGeom>
          <a:noFill/>
          <a:ln/>
        </p:spPr>
        <p:txBody>
          <a:bodyPr wrap="square" lIns="0" tIns="0" rIns="0" bIns="0" rtlCol="0" anchor="t"/>
          <a:lstStyle/>
          <a:p>
            <a:pPr algn="l" indent="0" marL="0">
              <a:lnSpc>
                <a:spcPct val="112000"/>
              </a:lnSpc>
              <a:buNone/>
            </a:pPr>
            <a:r>
              <a:rPr lang="en-US" sz="1000" b="1" dirty="0">
                <a:solidFill>
                  <a:srgbClr val="FFFFFF"/>
                </a:solidFill>
                <a:latin typeface="Plus Jakarta Sans" pitchFamily="34" charset="0"/>
                <a:ea typeface="Plus Jakarta Sans" pitchFamily="34" charset="-122"/>
                <a:cs typeface="Plus Jakarta Sans" pitchFamily="34" charset="-120"/>
              </a:rPr>
              <a:t>New ARR Booking</a:t>
            </a:r>
            <a:endParaRPr lang="en-US" sz="1000" dirty="0"/>
          </a:p>
        </p:txBody>
      </p:sp>
      <p:sp>
        <p:nvSpPr>
          <p:cNvPr id="12" name="anim-2-8"/>
          <p:cNvSpPr txBox="1"/>
          <p:nvPr/>
        </p:nvSpPr>
        <p:spPr>
          <a:xfrm>
            <a:off x="2730500" y="1473200"/>
            <a:ext cx="317500" cy="381000"/>
          </a:xfrm>
          <a:prstGeom prst="rect">
            <a:avLst/>
          </a:prstGeom>
          <a:noFill/>
          <a:ln/>
        </p:spPr>
        <p:txBody>
          <a:bodyPr wrap="square" lIns="0" tIns="0" rIns="0" bIns="0" rtlCol="0" anchor="t"/>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a:t>
            </a:r>
            <a:endParaRPr lang="en-US" sz="2000" dirty="0"/>
          </a:p>
        </p:txBody>
      </p:sp>
      <p:sp>
        <p:nvSpPr>
          <p:cNvPr id="13" name="anim-3-9"/>
          <p:cNvSpPr/>
          <p:nvPr/>
        </p:nvSpPr>
        <p:spPr>
          <a:xfrm>
            <a:off x="3340100" y="1308100"/>
            <a:ext cx="2679700" cy="1778000"/>
          </a:xfrm>
          <a:prstGeom prst="roundRect">
            <a:avLst>
              <a:gd name="adj" fmla="val 8571"/>
            </a:avLst>
          </a:prstGeom>
          <a:solidFill>
            <a:srgbClr val="194EFF">
              <a:alpha val="30000"/>
            </a:srgbClr>
          </a:solidFill>
          <a:ln w="15875">
            <a:solidFill>
              <a:srgbClr val="194EFF"/>
            </a:solidFill>
            <a:prstDash val="solid"/>
          </a:ln>
        </p:spPr>
      </p:sp>
      <p:sp>
        <p:nvSpPr>
          <p:cNvPr id="14" name="anim-3-10"/>
          <p:cNvSpPr txBox="1"/>
          <p:nvPr/>
        </p:nvSpPr>
        <p:spPr>
          <a:xfrm>
            <a:off x="3543300" y="1447800"/>
            <a:ext cx="2273300" cy="635000"/>
          </a:xfrm>
          <a:prstGeom prst="rect">
            <a:avLst/>
          </a:prstGeom>
          <a:noFill/>
          <a:ln/>
        </p:spPr>
        <p:txBody>
          <a:bodyPr wrap="square" lIns="0" tIns="0" rIns="0" bIns="0" rtlCol="0" anchor="t"/>
          <a:lstStyle/>
          <a:p>
            <a:pPr algn="l" indent="0" marL="0">
              <a:lnSpc>
                <a:spcPct val="112000"/>
              </a:lnSpc>
              <a:buNone/>
            </a:pPr>
            <a:r>
              <a:rPr lang="en-US" sz="4200" b="1" dirty="0">
                <a:solidFill>
                  <a:srgbClr val="FFFFFF"/>
                </a:solidFill>
                <a:latin typeface="Plus Jakarta Sans" pitchFamily="34" charset="0"/>
                <a:ea typeface="Plus Jakarta Sans" pitchFamily="34" charset="-122"/>
                <a:cs typeface="Plus Jakarta Sans" pitchFamily="34" charset="-120"/>
              </a:rPr>
              <a:t>Y2</a:t>
            </a:r>
            <a:endParaRPr lang="en-US" sz="4200" dirty="0"/>
          </a:p>
        </p:txBody>
      </p:sp>
      <p:sp>
        <p:nvSpPr>
          <p:cNvPr id="15" name="anim-3-11"/>
          <p:cNvSpPr txBox="1"/>
          <p:nvPr/>
        </p:nvSpPr>
        <p:spPr>
          <a:xfrm>
            <a:off x="3543300" y="2184400"/>
            <a:ext cx="2273300" cy="215900"/>
          </a:xfrm>
          <a:prstGeom prst="rect">
            <a:avLst/>
          </a:prstGeom>
          <a:noFill/>
          <a:ln/>
        </p:spPr>
        <p:txBody>
          <a:bodyPr wrap="square" lIns="0" tIns="0" rIns="0" bIns="0" rtlCol="0" anchor="t"/>
          <a:lstStyle/>
          <a:p>
            <a:pPr algn="l" indent="0" marL="0">
              <a:lnSpc>
                <a:spcPct val="112000"/>
              </a:lnSpc>
              <a:buNone/>
            </a:pPr>
            <a:r>
              <a:rPr lang="en-US" sz="1100" dirty="0">
                <a:solidFill>
                  <a:srgbClr val="FFFFFF"/>
                </a:solidFill>
                <a:latin typeface="Plus Jakarta Sans SemiBold" pitchFamily="34" charset="0"/>
                <a:ea typeface="Plus Jakarta Sans SemiBold" pitchFamily="34" charset="-122"/>
                <a:cs typeface="Plus Jakarta Sans SemiBold" pitchFamily="34" charset="-120"/>
              </a:rPr>
              <a:t>Year 2 anniversary</a:t>
            </a:r>
            <a:endParaRPr lang="en-US" sz="1100" dirty="0"/>
          </a:p>
        </p:txBody>
      </p:sp>
      <p:sp>
        <p:nvSpPr>
          <p:cNvPr id="16" name="anim-3-12"/>
          <p:cNvSpPr txBox="1"/>
          <p:nvPr/>
        </p:nvSpPr>
        <p:spPr>
          <a:xfrm>
            <a:off x="3543300" y="2463800"/>
            <a:ext cx="2273300" cy="203200"/>
          </a:xfrm>
          <a:prstGeom prst="rect">
            <a:avLst/>
          </a:prstGeom>
          <a:noFill/>
          <a:ln/>
        </p:spPr>
        <p:txBody>
          <a:bodyPr wrap="square" lIns="0" tIns="0" rIns="0" bIns="0" rtlCol="0" anchor="t"/>
          <a:lstStyle/>
          <a:p>
            <a:pPr algn="l" indent="0" marL="0">
              <a:lnSpc>
                <a:spcPct val="112000"/>
              </a:lnSpc>
              <a:buNone/>
            </a:pPr>
            <a:r>
              <a:rPr lang="en-US" sz="1000" b="1" dirty="0">
                <a:solidFill>
                  <a:srgbClr val="15B6FF"/>
                </a:solidFill>
                <a:latin typeface="Plus Jakarta Sans" pitchFamily="34" charset="0"/>
                <a:ea typeface="Plus Jakarta Sans" pitchFamily="34" charset="-122"/>
                <a:cs typeface="Plus Jakarta Sans" pitchFamily="34" charset="-120"/>
              </a:rPr>
              <a:t>New ARR Booking</a:t>
            </a:r>
            <a:endParaRPr lang="en-US" sz="1000" dirty="0"/>
          </a:p>
        </p:txBody>
      </p:sp>
      <p:sp>
        <p:nvSpPr>
          <p:cNvPr id="17" name="anim-3-13"/>
          <p:cNvSpPr txBox="1"/>
          <p:nvPr/>
        </p:nvSpPr>
        <p:spPr>
          <a:xfrm>
            <a:off x="5562600" y="1473200"/>
            <a:ext cx="317500" cy="381000"/>
          </a:xfrm>
          <a:prstGeom prst="rect">
            <a:avLst/>
          </a:prstGeom>
          <a:noFill/>
          <a:ln/>
        </p:spPr>
        <p:txBody>
          <a:bodyPr wrap="square" lIns="0" tIns="0" rIns="0" bIns="0" rtlCol="0" anchor="t"/>
          <a:lstStyle/>
          <a:p>
            <a:pPr algn="l" indent="0" marL="0">
              <a:lnSpc>
                <a:spcPct val="112000"/>
              </a:lnSpc>
              <a:buNone/>
            </a:pPr>
            <a:r>
              <a:rPr lang="en-US" sz="2000" b="1" dirty="0">
                <a:solidFill>
                  <a:srgbClr val="15B6FF"/>
                </a:solidFill>
                <a:latin typeface="Plus Jakarta Sans" pitchFamily="34" charset="0"/>
                <a:ea typeface="Plus Jakarta Sans" pitchFamily="34" charset="-122"/>
                <a:cs typeface="Plus Jakarta Sans" pitchFamily="34" charset="-120"/>
              </a:rPr>
              <a:t>→</a:t>
            </a:r>
            <a:endParaRPr lang="en-US" sz="2000" dirty="0"/>
          </a:p>
        </p:txBody>
      </p:sp>
      <p:sp>
        <p:nvSpPr>
          <p:cNvPr id="18" name="anim-4-14"/>
          <p:cNvSpPr/>
          <p:nvPr/>
        </p:nvSpPr>
        <p:spPr>
          <a:xfrm>
            <a:off x="6172200" y="1308100"/>
            <a:ext cx="2679700" cy="1778000"/>
          </a:xfrm>
          <a:prstGeom prst="roundRect">
            <a:avLst>
              <a:gd name="adj" fmla="val 8571"/>
            </a:avLst>
          </a:prstGeom>
          <a:solidFill>
            <a:srgbClr val="194EFF">
              <a:alpha val="30000"/>
            </a:srgbClr>
          </a:solidFill>
          <a:ln w="15875">
            <a:solidFill>
              <a:srgbClr val="194EFF"/>
            </a:solidFill>
            <a:prstDash val="solid"/>
          </a:ln>
        </p:spPr>
      </p:sp>
      <p:sp>
        <p:nvSpPr>
          <p:cNvPr id="19" name="anim-4-15"/>
          <p:cNvSpPr txBox="1"/>
          <p:nvPr/>
        </p:nvSpPr>
        <p:spPr>
          <a:xfrm>
            <a:off x="6375400" y="1447800"/>
            <a:ext cx="2273300" cy="635000"/>
          </a:xfrm>
          <a:prstGeom prst="rect">
            <a:avLst/>
          </a:prstGeom>
          <a:noFill/>
          <a:ln/>
        </p:spPr>
        <p:txBody>
          <a:bodyPr wrap="square" lIns="0" tIns="0" rIns="0" bIns="0" rtlCol="0" anchor="t"/>
          <a:lstStyle/>
          <a:p>
            <a:pPr algn="l" indent="0" marL="0">
              <a:lnSpc>
                <a:spcPct val="112000"/>
              </a:lnSpc>
              <a:buNone/>
            </a:pPr>
            <a:r>
              <a:rPr lang="en-US" sz="4200" b="1" dirty="0">
                <a:solidFill>
                  <a:srgbClr val="FFFFFF"/>
                </a:solidFill>
                <a:latin typeface="Plus Jakarta Sans" pitchFamily="34" charset="0"/>
                <a:ea typeface="Plus Jakarta Sans" pitchFamily="34" charset="-122"/>
                <a:cs typeface="Plus Jakarta Sans" pitchFamily="34" charset="-120"/>
              </a:rPr>
              <a:t>Y3</a:t>
            </a:r>
            <a:endParaRPr lang="en-US" sz="4200" dirty="0"/>
          </a:p>
        </p:txBody>
      </p:sp>
      <p:sp>
        <p:nvSpPr>
          <p:cNvPr id="20" name="anim-4-16"/>
          <p:cNvSpPr txBox="1"/>
          <p:nvPr/>
        </p:nvSpPr>
        <p:spPr>
          <a:xfrm>
            <a:off x="6375400" y="2184400"/>
            <a:ext cx="2273300" cy="215900"/>
          </a:xfrm>
          <a:prstGeom prst="rect">
            <a:avLst/>
          </a:prstGeom>
          <a:noFill/>
          <a:ln/>
        </p:spPr>
        <p:txBody>
          <a:bodyPr wrap="square" lIns="0" tIns="0" rIns="0" bIns="0" rtlCol="0" anchor="t"/>
          <a:lstStyle/>
          <a:p>
            <a:pPr algn="l" indent="0" marL="0">
              <a:lnSpc>
                <a:spcPct val="112000"/>
              </a:lnSpc>
              <a:buNone/>
            </a:pPr>
            <a:r>
              <a:rPr lang="en-US" sz="1100" dirty="0">
                <a:solidFill>
                  <a:srgbClr val="FFFFFF"/>
                </a:solidFill>
                <a:latin typeface="Plus Jakarta Sans SemiBold" pitchFamily="34" charset="0"/>
                <a:ea typeface="Plus Jakarta Sans SemiBold" pitchFamily="34" charset="-122"/>
                <a:cs typeface="Plus Jakarta Sans SemiBold" pitchFamily="34" charset="-120"/>
              </a:rPr>
              <a:t>Year 3 anniversary</a:t>
            </a:r>
            <a:endParaRPr lang="en-US" sz="1100" dirty="0"/>
          </a:p>
        </p:txBody>
      </p:sp>
      <p:sp>
        <p:nvSpPr>
          <p:cNvPr id="21" name="anim-4-17"/>
          <p:cNvSpPr txBox="1"/>
          <p:nvPr/>
        </p:nvSpPr>
        <p:spPr>
          <a:xfrm>
            <a:off x="6375400" y="2463800"/>
            <a:ext cx="2273300" cy="203200"/>
          </a:xfrm>
          <a:prstGeom prst="rect">
            <a:avLst/>
          </a:prstGeom>
          <a:noFill/>
          <a:ln/>
        </p:spPr>
        <p:txBody>
          <a:bodyPr wrap="square" lIns="0" tIns="0" rIns="0" bIns="0" rtlCol="0" anchor="t"/>
          <a:lstStyle/>
          <a:p>
            <a:pPr algn="l" indent="0" marL="0">
              <a:lnSpc>
                <a:spcPct val="112000"/>
              </a:lnSpc>
              <a:buNone/>
            </a:pPr>
            <a:r>
              <a:rPr lang="en-US" sz="1000" b="1" dirty="0">
                <a:solidFill>
                  <a:srgbClr val="15B6FF"/>
                </a:solidFill>
                <a:latin typeface="Plus Jakarta Sans" pitchFamily="34" charset="0"/>
                <a:ea typeface="Plus Jakarta Sans" pitchFamily="34" charset="-122"/>
                <a:cs typeface="Plus Jakarta Sans" pitchFamily="34" charset="-120"/>
              </a:rPr>
              <a:t>New ARR Booking</a:t>
            </a:r>
            <a:endParaRPr lang="en-US" sz="1000" dirty="0"/>
          </a:p>
        </p:txBody>
      </p:sp>
      <p:sp>
        <p:nvSpPr>
          <p:cNvPr id="22" name="anim-4-18"/>
          <p:cNvSpPr txBox="1"/>
          <p:nvPr/>
        </p:nvSpPr>
        <p:spPr>
          <a:xfrm>
            <a:off x="8394700" y="1473200"/>
            <a:ext cx="317500" cy="381000"/>
          </a:xfrm>
          <a:prstGeom prst="rect">
            <a:avLst/>
          </a:prstGeom>
          <a:noFill/>
          <a:ln/>
        </p:spPr>
        <p:txBody>
          <a:bodyPr wrap="square" lIns="0" tIns="0" rIns="0" bIns="0" rtlCol="0" anchor="t"/>
          <a:lstStyle/>
          <a:p>
            <a:pPr algn="l" indent="0" marL="0">
              <a:lnSpc>
                <a:spcPct val="112000"/>
              </a:lnSpc>
              <a:buNone/>
            </a:pPr>
            <a:r>
              <a:rPr lang="en-US" sz="2000" b="1" dirty="0">
                <a:solidFill>
                  <a:srgbClr val="15B6FF"/>
                </a:solidFill>
                <a:latin typeface="Plus Jakarta Sans" pitchFamily="34" charset="0"/>
                <a:ea typeface="Plus Jakarta Sans" pitchFamily="34" charset="-122"/>
                <a:cs typeface="Plus Jakarta Sans" pitchFamily="34" charset="-120"/>
              </a:rPr>
              <a:t>→</a:t>
            </a:r>
            <a:endParaRPr lang="en-US" sz="2000" dirty="0"/>
          </a:p>
        </p:txBody>
      </p:sp>
      <p:sp>
        <p:nvSpPr>
          <p:cNvPr id="23" name="anim-5-19"/>
          <p:cNvSpPr/>
          <p:nvPr/>
        </p:nvSpPr>
        <p:spPr>
          <a:xfrm>
            <a:off x="9004300" y="1308100"/>
            <a:ext cx="2679700" cy="1778000"/>
          </a:xfrm>
          <a:prstGeom prst="roundRect">
            <a:avLst>
              <a:gd name="adj" fmla="val 8571"/>
            </a:avLst>
          </a:prstGeom>
          <a:solidFill>
            <a:srgbClr val="FFFFFF">
              <a:alpha val="5000"/>
            </a:srgbClr>
          </a:solidFill>
          <a:ln w="9525">
            <a:solidFill>
              <a:srgbClr val="FFFFFF">
                <a:alpha val="12000"/>
              </a:srgbClr>
            </a:solidFill>
            <a:prstDash val="solid"/>
          </a:ln>
        </p:spPr>
      </p:sp>
      <p:sp>
        <p:nvSpPr>
          <p:cNvPr id="24" name="anim-5-20"/>
          <p:cNvSpPr txBox="1"/>
          <p:nvPr/>
        </p:nvSpPr>
        <p:spPr>
          <a:xfrm>
            <a:off x="9207500" y="1447800"/>
            <a:ext cx="2273300" cy="635000"/>
          </a:xfrm>
          <a:prstGeom prst="rect">
            <a:avLst/>
          </a:prstGeom>
          <a:noFill/>
          <a:ln/>
        </p:spPr>
        <p:txBody>
          <a:bodyPr wrap="square" lIns="0" tIns="0" rIns="0" bIns="0" rtlCol="0" anchor="t"/>
          <a:lstStyle/>
          <a:p>
            <a:pPr algn="l" indent="0" marL="0">
              <a:lnSpc>
                <a:spcPct val="112000"/>
              </a:lnSpc>
              <a:buNone/>
            </a:pPr>
            <a:r>
              <a:rPr lang="en-US" sz="4200" b="1" dirty="0">
                <a:solidFill>
                  <a:srgbClr val="FFFFFF"/>
                </a:solidFill>
                <a:latin typeface="Plus Jakarta Sans" pitchFamily="34" charset="0"/>
                <a:ea typeface="Plus Jakarta Sans" pitchFamily="34" charset="-122"/>
                <a:cs typeface="Plus Jakarta Sans" pitchFamily="34" charset="-120"/>
              </a:rPr>
              <a:t>Y4+</a:t>
            </a:r>
            <a:endParaRPr lang="en-US" sz="4200" dirty="0"/>
          </a:p>
        </p:txBody>
      </p:sp>
      <p:sp>
        <p:nvSpPr>
          <p:cNvPr id="25" name="anim-5-21"/>
          <p:cNvSpPr txBox="1"/>
          <p:nvPr/>
        </p:nvSpPr>
        <p:spPr>
          <a:xfrm>
            <a:off x="9207500" y="2184400"/>
            <a:ext cx="2273300" cy="215900"/>
          </a:xfrm>
          <a:prstGeom prst="rect">
            <a:avLst/>
          </a:prstGeom>
          <a:noFill/>
          <a:ln/>
        </p:spPr>
        <p:txBody>
          <a:bodyPr wrap="square" lIns="0" tIns="0" rIns="0" bIns="0" rtlCol="0" anchor="t"/>
          <a:lstStyle/>
          <a:p>
            <a:pPr algn="l" indent="0" marL="0">
              <a:lnSpc>
                <a:spcPct val="112000"/>
              </a:lnSpc>
              <a:buNone/>
            </a:pPr>
            <a:r>
              <a:rPr lang="en-US" sz="1100" dirty="0">
                <a:solidFill>
                  <a:srgbClr val="FFFFFF"/>
                </a:solidFill>
                <a:latin typeface="Plus Jakarta Sans SemiBold" pitchFamily="34" charset="0"/>
                <a:ea typeface="Plus Jakarta Sans SemiBold" pitchFamily="34" charset="-122"/>
                <a:cs typeface="Plus Jakarta Sans SemiBold" pitchFamily="34" charset="-120"/>
              </a:rPr>
              <a:t>After Year 3 expiry / new term</a:t>
            </a:r>
            <a:endParaRPr lang="en-US" sz="1100" dirty="0"/>
          </a:p>
        </p:txBody>
      </p:sp>
      <p:sp>
        <p:nvSpPr>
          <p:cNvPr id="26" name="anim-5-22"/>
          <p:cNvSpPr txBox="1"/>
          <p:nvPr/>
        </p:nvSpPr>
        <p:spPr>
          <a:xfrm>
            <a:off x="9207500" y="2463800"/>
            <a:ext cx="2273300" cy="203200"/>
          </a:xfrm>
          <a:prstGeom prst="rect">
            <a:avLst/>
          </a:prstGeom>
          <a:noFill/>
          <a:ln/>
        </p:spPr>
        <p:txBody>
          <a:bodyPr wrap="square" lIns="0" tIns="0" rIns="0" bIns="0" rtlCol="0" anchor="t"/>
          <a:lstStyle/>
          <a:p>
            <a:pPr algn="l" indent="0" marL="0">
              <a:lnSpc>
                <a:spcPct val="112000"/>
              </a:lnSpc>
              <a:buNone/>
            </a:pPr>
            <a:r>
              <a:rPr lang="en-US" sz="1000" b="1" dirty="0">
                <a:solidFill>
                  <a:srgbClr val="C3C8D1"/>
                </a:solidFill>
                <a:latin typeface="Plus Jakarta Sans" pitchFamily="34" charset="0"/>
                <a:ea typeface="Plus Jakarta Sans" pitchFamily="34" charset="-122"/>
                <a:cs typeface="Plus Jakarta Sans" pitchFamily="34" charset="-120"/>
              </a:rPr>
              <a:t>Renewal Volume</a:t>
            </a:r>
            <a:endParaRPr lang="en-US" sz="1000" dirty="0"/>
          </a:p>
        </p:txBody>
      </p:sp>
      <p:sp>
        <p:nvSpPr>
          <p:cNvPr id="27" name="anim-6-23"/>
          <p:cNvSpPr/>
          <p:nvPr/>
        </p:nvSpPr>
        <p:spPr>
          <a:xfrm>
            <a:off x="508000" y="3238500"/>
            <a:ext cx="5461000" cy="2273300"/>
          </a:xfrm>
          <a:prstGeom prst="roundRect">
            <a:avLst>
              <a:gd name="adj" fmla="val 6704"/>
            </a:avLst>
          </a:prstGeom>
          <a:solidFill>
            <a:srgbClr val="FFFFFF">
              <a:alpha val="5000"/>
            </a:srgbClr>
          </a:solidFill>
          <a:ln w="9525">
            <a:solidFill>
              <a:srgbClr val="FFFFFF">
                <a:alpha val="12000"/>
              </a:srgbClr>
            </a:solidFill>
            <a:prstDash val="solid"/>
          </a:ln>
        </p:spPr>
      </p:sp>
      <p:sp>
        <p:nvSpPr>
          <p:cNvPr id="28" name="anim-6-24"/>
          <p:cNvSpPr txBox="1"/>
          <p:nvPr/>
        </p:nvSpPr>
        <p:spPr>
          <a:xfrm>
            <a:off x="711200" y="3416300"/>
            <a:ext cx="5080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During the term: expansion</a:t>
            </a:r>
            <a:endParaRPr lang="en-US" sz="1400" dirty="0"/>
          </a:p>
        </p:txBody>
      </p:sp>
      <p:sp>
        <p:nvSpPr>
          <p:cNvPr id="29" name="anim-6-25"/>
          <p:cNvSpPr txBox="1"/>
          <p:nvPr/>
        </p:nvSpPr>
        <p:spPr>
          <a:xfrm>
            <a:off x="711200" y="3733800"/>
            <a:ext cx="5054600" cy="635000"/>
          </a:xfrm>
          <a:prstGeom prst="rect">
            <a:avLst/>
          </a:prstGeom>
          <a:noFill/>
          <a:ln/>
        </p:spPr>
        <p:txBody>
          <a:bodyPr wrap="square" lIns="0" tIns="0" rIns="0" bIns="0" rtlCol="0" anchor="t"/>
          <a:lstStyle/>
          <a:p>
            <a:pPr algn="l" indent="0" marL="0">
              <a:lnSpc>
                <a:spcPct val="125000"/>
              </a:lnSpc>
              <a:buNone/>
            </a:pPr>
            <a:r>
              <a:rPr lang="en-US" sz="1000" dirty="0">
                <a:solidFill>
                  <a:srgbClr val="C3C8D1"/>
                </a:solidFill>
                <a:latin typeface="Plus Jakarta Sans" pitchFamily="34" charset="0"/>
                <a:ea typeface="Plus Jakarta Sans" pitchFamily="34" charset="-122"/>
                <a:cs typeface="Plus Jakarta Sans" pitchFamily="34" charset="-120"/>
              </a:rPr>
              <a:t>Extra modules, agencies, countries or use cases added during the term are Expansion ARR Bookings, not Renewal Volume.</a:t>
            </a:r>
            <a:endParaRPr lang="en-US" sz="1000" dirty="0"/>
          </a:p>
        </p:txBody>
      </p:sp>
      <p:sp>
        <p:nvSpPr>
          <p:cNvPr id="30" name="anim-6-26"/>
          <p:cNvSpPr txBox="1"/>
          <p:nvPr/>
        </p:nvSpPr>
        <p:spPr>
          <a:xfrm>
            <a:off x="711200" y="4521200"/>
            <a:ext cx="5054600" cy="889000"/>
          </a:xfrm>
          <a:prstGeom prst="rect">
            <a:avLst/>
          </a:prstGeom>
          <a:noFill/>
          <a:ln/>
        </p:spPr>
        <p:txBody>
          <a:bodyPr wrap="square" lIns="0" tIns="0" rIns="0" bIns="0" rtlCol="0" anchor="t"/>
          <a:lstStyle/>
          <a:p>
            <a:pPr algn="l" indent="0" marL="0">
              <a:lnSpc>
                <a:spcPct val="125000"/>
              </a:lnSpc>
              <a:buNone/>
            </a:pPr>
            <a:r>
              <a:rPr lang="en-US" sz="800" dirty="0">
                <a:solidFill>
                  <a:srgbClr val="8C93A3"/>
                </a:solidFill>
                <a:latin typeface="Plus Jakarta Sans" pitchFamily="34" charset="0"/>
                <a:ea typeface="Plus Jakarta Sans" pitchFamily="34" charset="-122"/>
                <a:cs typeface="Plus Jakarta Sans" pitchFamily="34" charset="-120"/>
              </a:rPr>
              <a:t>Year-2 and Year-3 credit is subject to cleared payment, valid invoice, continued assignment, an approved opportunity record, tax and withholding, and the signed agreement. If the customer prepays the full term, DignifyX defines the approved payment schedule.</a:t>
            </a:r>
            <a:endParaRPr lang="en-US" sz="800" dirty="0"/>
          </a:p>
        </p:txBody>
      </p:sp>
      <p:sp>
        <p:nvSpPr>
          <p:cNvPr id="31" name="anim-7-27"/>
          <p:cNvSpPr txBox="1"/>
          <p:nvPr/>
        </p:nvSpPr>
        <p:spPr>
          <a:xfrm>
            <a:off x="6121400" y="3302000"/>
            <a:ext cx="5562600" cy="254000"/>
          </a:xfrm>
          <a:prstGeom prst="rect">
            <a:avLst/>
          </a:prstGeom>
          <a:noFill/>
          <a:ln/>
        </p:spPr>
        <p:txBody>
          <a:bodyPr wrap="square" lIns="0" tIns="0" rIns="0" bIns="0" rtlCol="0" anchor="t"/>
          <a:lstStyle/>
          <a:p>
            <a:pPr algn="l" indent="0" marL="0">
              <a:lnSpc>
                <a:spcPct val="112000"/>
              </a:lnSpc>
              <a:buNone/>
            </a:pPr>
            <a:r>
              <a:rPr lang="en-US" sz="1300" b="1" dirty="0">
                <a:solidFill>
                  <a:srgbClr val="FFFFFF"/>
                </a:solidFill>
                <a:latin typeface="Plus Jakarta Sans" pitchFamily="34" charset="0"/>
                <a:ea typeface="Plus Jakarta Sans" pitchFamily="34" charset="-122"/>
                <a:cs typeface="Plus Jakarta Sans" pitchFamily="34" charset="-120"/>
              </a:rPr>
              <a:t>Renewal Volume Credit </a:t>
            </a:r>
            <a:pPr algn="l" indent="0" marL="0">
              <a:lnSpc>
                <a:spcPct val="112000"/>
              </a:lnSpc>
              <a:buNone/>
            </a:pPr>
            <a:r>
              <a:rPr lang="en-US" sz="1300" b="1" dirty="0">
                <a:solidFill>
                  <a:srgbClr val="15B6FF"/>
                </a:solidFill>
                <a:latin typeface="Plus Jakarta Sans" pitchFamily="34" charset="0"/>
                <a:ea typeface="Plus Jakarta Sans" pitchFamily="34" charset="-122"/>
                <a:cs typeface="Plus Jakarta Sans" pitchFamily="34" charset="-120"/>
              </a:rPr>
              <a:t>= renewed ARR × ratio</a:t>
            </a:r>
            <a:endParaRPr lang="en-US" sz="1300" dirty="0"/>
          </a:p>
        </p:txBody>
      </p:sp>
      <p:sp>
        <p:nvSpPr>
          <p:cNvPr id="32" name="anim-8-28"/>
          <p:cNvSpPr/>
          <p:nvPr/>
        </p:nvSpPr>
        <p:spPr>
          <a:xfrm>
            <a:off x="6121400" y="3683000"/>
            <a:ext cx="1752600" cy="1828800"/>
          </a:xfrm>
          <a:prstGeom prst="roundRect">
            <a:avLst>
              <a:gd name="adj" fmla="val 8696"/>
            </a:avLst>
          </a:prstGeom>
          <a:solidFill>
            <a:srgbClr val="194EFF">
              <a:alpha val="30000"/>
            </a:srgbClr>
          </a:solidFill>
          <a:ln w="15875">
            <a:solidFill>
              <a:srgbClr val="194EFF"/>
            </a:solidFill>
            <a:prstDash val="solid"/>
          </a:ln>
        </p:spPr>
      </p:sp>
      <p:sp>
        <p:nvSpPr>
          <p:cNvPr id="33" name="anim-8-29"/>
          <p:cNvSpPr txBox="1"/>
          <p:nvPr/>
        </p:nvSpPr>
        <p:spPr>
          <a:xfrm>
            <a:off x="6299200" y="3873500"/>
            <a:ext cx="1397000" cy="635000"/>
          </a:xfrm>
          <a:prstGeom prst="rect">
            <a:avLst/>
          </a:prstGeom>
          <a:noFill/>
          <a:ln/>
        </p:spPr>
        <p:txBody>
          <a:bodyPr wrap="square" lIns="0" tIns="0" rIns="0" bIns="0" rtlCol="0" anchor="t"/>
          <a:lstStyle/>
          <a:p>
            <a:pPr algn="l" indent="0" marL="0">
              <a:lnSpc>
                <a:spcPct val="112000"/>
              </a:lnSpc>
              <a:buNone/>
            </a:pPr>
            <a:r>
              <a:rPr lang="en-US" sz="4000" b="1" dirty="0">
                <a:solidFill>
                  <a:srgbClr val="15B6FF"/>
                </a:solidFill>
                <a:latin typeface="Plus Jakarta Sans" pitchFamily="34" charset="0"/>
                <a:ea typeface="Plus Jakarta Sans" pitchFamily="34" charset="-122"/>
                <a:cs typeface="Plus Jakarta Sans" pitchFamily="34" charset="-120"/>
              </a:rPr>
              <a:t>1.0</a:t>
            </a:r>
            <a:endParaRPr lang="en-US" sz="4000" dirty="0"/>
          </a:p>
        </p:txBody>
      </p:sp>
      <p:sp>
        <p:nvSpPr>
          <p:cNvPr id="34" name="anim-8-30"/>
          <p:cNvSpPr txBox="1"/>
          <p:nvPr/>
        </p:nvSpPr>
        <p:spPr>
          <a:xfrm>
            <a:off x="6299200" y="4635500"/>
            <a:ext cx="1397000" cy="4445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90%+ gross retention</a:t>
            </a:r>
            <a:endParaRPr lang="en-US" sz="950" dirty="0"/>
          </a:p>
        </p:txBody>
      </p:sp>
      <p:sp>
        <p:nvSpPr>
          <p:cNvPr id="35" name="anim-8-31"/>
          <p:cNvSpPr/>
          <p:nvPr/>
        </p:nvSpPr>
        <p:spPr>
          <a:xfrm>
            <a:off x="8026400" y="3683000"/>
            <a:ext cx="1752600" cy="1828800"/>
          </a:xfrm>
          <a:prstGeom prst="roundRect">
            <a:avLst>
              <a:gd name="adj" fmla="val 8696"/>
            </a:avLst>
          </a:prstGeom>
          <a:solidFill>
            <a:srgbClr val="FFFFFF">
              <a:alpha val="5000"/>
            </a:srgbClr>
          </a:solidFill>
          <a:ln w="9525">
            <a:solidFill>
              <a:srgbClr val="FFFFFF">
                <a:alpha val="12000"/>
              </a:srgbClr>
            </a:solidFill>
            <a:prstDash val="solid"/>
          </a:ln>
        </p:spPr>
      </p:sp>
      <p:sp>
        <p:nvSpPr>
          <p:cNvPr id="36" name="anim-8-32"/>
          <p:cNvSpPr txBox="1"/>
          <p:nvPr/>
        </p:nvSpPr>
        <p:spPr>
          <a:xfrm>
            <a:off x="8204200" y="3873500"/>
            <a:ext cx="1397000" cy="635000"/>
          </a:xfrm>
          <a:prstGeom prst="rect">
            <a:avLst/>
          </a:prstGeom>
          <a:noFill/>
          <a:ln/>
        </p:spPr>
        <p:txBody>
          <a:bodyPr wrap="square" lIns="0" tIns="0" rIns="0" bIns="0" rtlCol="0" anchor="t"/>
          <a:lstStyle/>
          <a:p>
            <a:pPr algn="l" indent="0" marL="0">
              <a:lnSpc>
                <a:spcPct val="112000"/>
              </a:lnSpc>
              <a:buNone/>
            </a:pPr>
            <a:r>
              <a:rPr lang="en-US" sz="4000" b="1" dirty="0">
                <a:solidFill>
                  <a:srgbClr val="FFFFFF"/>
                </a:solidFill>
                <a:latin typeface="Plus Jakarta Sans" pitchFamily="34" charset="0"/>
                <a:ea typeface="Plus Jakarta Sans" pitchFamily="34" charset="-122"/>
                <a:cs typeface="Plus Jakarta Sans" pitchFamily="34" charset="-120"/>
              </a:rPr>
              <a:t>0.5</a:t>
            </a:r>
            <a:endParaRPr lang="en-US" sz="4000" dirty="0"/>
          </a:p>
        </p:txBody>
      </p:sp>
      <p:sp>
        <p:nvSpPr>
          <p:cNvPr id="37" name="anim-8-33"/>
          <p:cNvSpPr txBox="1"/>
          <p:nvPr/>
        </p:nvSpPr>
        <p:spPr>
          <a:xfrm>
            <a:off x="8204200" y="4635500"/>
            <a:ext cx="1397000" cy="4445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80–89.99% retention</a:t>
            </a:r>
            <a:endParaRPr lang="en-US" sz="950" dirty="0"/>
          </a:p>
        </p:txBody>
      </p:sp>
      <p:sp>
        <p:nvSpPr>
          <p:cNvPr id="38" name="anim-8-34"/>
          <p:cNvSpPr/>
          <p:nvPr/>
        </p:nvSpPr>
        <p:spPr>
          <a:xfrm>
            <a:off x="9931400" y="3683000"/>
            <a:ext cx="1752600" cy="1828800"/>
          </a:xfrm>
          <a:prstGeom prst="roundRect">
            <a:avLst>
              <a:gd name="adj" fmla="val 8696"/>
            </a:avLst>
          </a:prstGeom>
          <a:solidFill>
            <a:srgbClr val="FFFFFF">
              <a:alpha val="5000"/>
            </a:srgbClr>
          </a:solidFill>
          <a:ln w="9525">
            <a:solidFill>
              <a:srgbClr val="FFFFFF">
                <a:alpha val="12000"/>
              </a:srgbClr>
            </a:solidFill>
            <a:prstDash val="solid"/>
          </a:ln>
        </p:spPr>
      </p:sp>
      <p:sp>
        <p:nvSpPr>
          <p:cNvPr id="39" name="anim-8-35"/>
          <p:cNvSpPr txBox="1"/>
          <p:nvPr/>
        </p:nvSpPr>
        <p:spPr>
          <a:xfrm>
            <a:off x="10109200" y="3873500"/>
            <a:ext cx="1397000" cy="635000"/>
          </a:xfrm>
          <a:prstGeom prst="rect">
            <a:avLst/>
          </a:prstGeom>
          <a:noFill/>
          <a:ln/>
        </p:spPr>
        <p:txBody>
          <a:bodyPr wrap="square" lIns="0" tIns="0" rIns="0" bIns="0" rtlCol="0" anchor="t"/>
          <a:lstStyle/>
          <a:p>
            <a:pPr algn="l" indent="0" marL="0">
              <a:lnSpc>
                <a:spcPct val="112000"/>
              </a:lnSpc>
              <a:buNone/>
            </a:pPr>
            <a:r>
              <a:rPr lang="en-US" sz="4000" b="1" dirty="0">
                <a:solidFill>
                  <a:srgbClr val="FFFFFF"/>
                </a:solidFill>
                <a:latin typeface="Plus Jakarta Sans" pitchFamily="34" charset="0"/>
                <a:ea typeface="Plus Jakarta Sans" pitchFamily="34" charset="-122"/>
                <a:cs typeface="Plus Jakarta Sans" pitchFamily="34" charset="-120"/>
              </a:rPr>
              <a:t>0.0</a:t>
            </a:r>
            <a:endParaRPr lang="en-US" sz="4000" dirty="0"/>
          </a:p>
        </p:txBody>
      </p:sp>
      <p:sp>
        <p:nvSpPr>
          <p:cNvPr id="40" name="anim-8-36"/>
          <p:cNvSpPr txBox="1"/>
          <p:nvPr/>
        </p:nvSpPr>
        <p:spPr>
          <a:xfrm>
            <a:off x="10109200" y="4635500"/>
            <a:ext cx="1397000" cy="4445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Below 80% retention</a:t>
            </a:r>
            <a:endParaRPr lang="en-US" sz="950" dirty="0"/>
          </a:p>
        </p:txBody>
      </p:sp>
      <p:sp>
        <p:nvSpPr>
          <p:cNvPr id="41" name="anim-9-37"/>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42" name="anim-9-38"/>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Subject to Terms</a:t>
            </a:r>
            <a:endParaRPr lang="en-US" sz="1100" dirty="0"/>
          </a:p>
        </p:txBody>
      </p:sp>
      <p:sp>
        <p:nvSpPr>
          <p:cNvPr id="43" name="anim-9-39"/>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Year 1, 2 and 3 values of standard three-year contracts are all New ARR Bookings, credited at your new-business rate.</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54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54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54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72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72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72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90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90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90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108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126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126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126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126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126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126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126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126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126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144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144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144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10</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09 · DISCOUNTING &amp; VALUE ACCELERATION</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Price integrity that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protects</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your margin</a:t>
            </a:r>
            <a:endParaRPr lang="en-US" sz="2000" dirty="0"/>
          </a:p>
        </p:txBody>
      </p:sp>
      <p:sp>
        <p:nvSpPr>
          <p:cNvPr id="8" name="anim-2-4"/>
          <p:cNvSpPr/>
          <p:nvPr/>
        </p:nvSpPr>
        <p:spPr>
          <a:xfrm>
            <a:off x="508000" y="1308100"/>
            <a:ext cx="6731000" cy="2743200"/>
          </a:xfrm>
          <a:prstGeom prst="roundRect">
            <a:avLst>
              <a:gd name="adj" fmla="val 5556"/>
            </a:avLst>
          </a:prstGeom>
          <a:solidFill>
            <a:srgbClr val="FFFFFF">
              <a:alpha val="5000"/>
            </a:srgbClr>
          </a:solidFill>
          <a:ln w="9525">
            <a:solidFill>
              <a:srgbClr val="FFFFFF">
                <a:alpha val="12000"/>
              </a:srgbClr>
            </a:solidFill>
            <a:prstDash val="solid"/>
          </a:ln>
        </p:spPr>
      </p:sp>
      <p:sp>
        <p:nvSpPr>
          <p:cNvPr id="9" name="anim-2-5"/>
          <p:cNvSpPr txBox="1"/>
          <p:nvPr/>
        </p:nvSpPr>
        <p:spPr>
          <a:xfrm>
            <a:off x="711200" y="1460500"/>
            <a:ext cx="635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HOW A DISCOUNT AFFECTS COMMISSION: $100,000 GOLD SOURCED</a:t>
            </a:r>
            <a:endParaRPr lang="en-US" sz="800" dirty="0"/>
          </a:p>
        </p:txBody>
      </p:sp>
      <p:graphicFrame>
        <p:nvGraphicFramePr>
          <p:cNvPr id="11" name="anim-2-6"/>
          <p:cNvGraphicFramePr>
            <a:graphicFrameLocks noGrp="1"/>
          </p:cNvGraphicFramePr>
          <p:nvPr>
            <p:extLst>
              <p:ext uri="{D42A27DB-BD31-4B8C-83A1-F6EECF244321}">
                <p14:modId xmlns:p14="http://schemas.microsoft.com/office/powerpoint/2010/main" val="1579011935"/>
              </p:ext>
            </p:extLst>
          </p:nvPr>
        </p:nvGraphicFramePr>
        <p:xfrm>
          <a:off x="711200" y="1701800"/>
          <a:ext cx="6324600" cy="914400"/>
        </p:xfrm>
        <a:graphic>
          <a:graphicData uri="http://schemas.openxmlformats.org/drawingml/2006/table">
            <a:tbl>
              <a:tblPr/>
              <a:tblGrid>
                <a:gridCol w="825500"/>
                <a:gridCol w="1079500"/>
                <a:gridCol w="1778000"/>
                <a:gridCol w="2641600"/>
              </a:tblGrid>
              <a:tr h="3683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Discount</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Net ARR</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Commission</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Treatment</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3683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0%</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$100,000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$30,000 (30%)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On full eligible ARR</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683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10%</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$90,000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$27,000 (30% of net)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Discount shared via lower net base</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683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30%</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$70,000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$21,000 (30% of net)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Recalculated; not wiped to zero</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683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50%</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$50,000</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$5,000 (10% floor)</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00" dirty="0">
                          <a:solidFill>
                            <a:srgbClr val="C3C8D1"/>
                          </a:solidFill>
                          <a:latin typeface="Plus Jakarta Sans" pitchFamily="34" charset="0"/>
                          <a:ea typeface="Plus Jakarta Sans" pitchFamily="34" charset="-122"/>
                          <a:cs typeface="Plus Jakarta Sans" pitchFamily="34" charset="-120"/>
                        </a:rPr>
                        <a:t>Strategic exception; stepped to floor</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bl>
          </a:graphicData>
        </a:graphic>
      </p:graphicFrame>
      <p:sp>
        <p:nvSpPr>
          <p:cNvPr id="11" name="anim-2-7"/>
          <p:cNvSpPr txBox="1"/>
          <p:nvPr/>
        </p:nvSpPr>
        <p:spPr>
          <a:xfrm>
            <a:off x="711200" y="3632200"/>
            <a:ext cx="6324600" cy="3556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All customer discounts need DignifyX approval before being shared. Commission is calculated on net eligible ARR.</a:t>
            </a:r>
            <a:endParaRPr lang="en-US" sz="900" dirty="0"/>
          </a:p>
        </p:txBody>
      </p:sp>
      <p:sp>
        <p:nvSpPr>
          <p:cNvPr id="12" name="anim-3-8"/>
          <p:cNvSpPr/>
          <p:nvPr/>
        </p:nvSpPr>
        <p:spPr>
          <a:xfrm>
            <a:off x="508000" y="4203700"/>
            <a:ext cx="6731000" cy="1308100"/>
          </a:xfrm>
          <a:prstGeom prst="roundRect">
            <a:avLst>
              <a:gd name="adj" fmla="val 11650"/>
            </a:avLst>
          </a:prstGeom>
          <a:solidFill>
            <a:srgbClr val="194EFF">
              <a:alpha val="30000"/>
            </a:srgbClr>
          </a:solidFill>
          <a:ln w="15875">
            <a:solidFill>
              <a:srgbClr val="194EFF"/>
            </a:solidFill>
            <a:prstDash val="solid"/>
          </a:ln>
        </p:spPr>
      </p:sp>
      <p:sp>
        <p:nvSpPr>
          <p:cNvPr id="13" name="anim-3-9"/>
          <p:cNvSpPr txBox="1"/>
          <p:nvPr/>
        </p:nvSpPr>
        <p:spPr>
          <a:xfrm>
            <a:off x="711200" y="4381500"/>
            <a:ext cx="6350000" cy="254000"/>
          </a:xfrm>
          <a:prstGeom prst="rect">
            <a:avLst/>
          </a:prstGeom>
          <a:noFill/>
          <a:ln/>
        </p:spPr>
        <p:txBody>
          <a:bodyPr wrap="square" lIns="0" tIns="0" rIns="0" bIns="0" rtlCol="0" anchor="t"/>
          <a:lstStyle/>
          <a:p>
            <a:pPr algn="l" indent="0" marL="0">
              <a:lnSpc>
                <a:spcPct val="112000"/>
              </a:lnSpc>
              <a:buNone/>
            </a:pPr>
            <a:r>
              <a:rPr lang="en-US" sz="1400" b="1" dirty="0">
                <a:solidFill>
                  <a:srgbClr val="15B6FF"/>
                </a:solidFill>
                <a:latin typeface="Plus Jakarta Sans" pitchFamily="34" charset="0"/>
                <a:ea typeface="Plus Jakarta Sans" pitchFamily="34" charset="-122"/>
                <a:cs typeface="Plus Jakarta Sans" pitchFamily="34" charset="-120"/>
              </a:rPr>
              <a:t>Value Acceleration Credits</a:t>
            </a:r>
            <a:endParaRPr lang="en-US" sz="1400" dirty="0"/>
          </a:p>
        </p:txBody>
      </p:sp>
      <p:sp>
        <p:nvSpPr>
          <p:cNvPr id="14" name="anim-3-10"/>
          <p:cNvSpPr txBox="1"/>
          <p:nvPr/>
        </p:nvSpPr>
        <p:spPr>
          <a:xfrm>
            <a:off x="711200" y="4711700"/>
            <a:ext cx="6324600" cy="635000"/>
          </a:xfrm>
          <a:prstGeom prst="rect">
            <a:avLst/>
          </a:prstGeom>
          <a:noFill/>
          <a:ln/>
        </p:spPr>
        <p:txBody>
          <a:bodyPr wrap="square" lIns="0" tIns="0" rIns="0" bIns="0" rtlCol="0" anchor="t"/>
          <a:lstStyle/>
          <a:p>
            <a:pPr algn="l" indent="0" marL="0">
              <a:lnSpc>
                <a:spcPct val="125000"/>
              </a:lnSpc>
              <a:buNone/>
            </a:pPr>
            <a:r>
              <a:rPr lang="en-US" sz="1000" dirty="0">
                <a:solidFill>
                  <a:srgbClr val="FFFFFF"/>
                </a:solidFill>
                <a:latin typeface="Plus Jakarta Sans" pitchFamily="34" charset="0"/>
                <a:ea typeface="Plus Jakarta Sans" pitchFamily="34" charset="-122"/>
                <a:cs typeface="Plus Jakarta Sans" pitchFamily="34" charset="-120"/>
              </a:rPr>
              <a:t>An approved non-discount mechanism to accelerate implementation, adoption or outcomes, helping you win without eroding price.</a:t>
            </a:r>
            <a:endParaRPr lang="en-US" sz="1000" dirty="0"/>
          </a:p>
        </p:txBody>
      </p:sp>
      <p:sp>
        <p:nvSpPr>
          <p:cNvPr id="15" name="anim-4-11"/>
          <p:cNvSpPr/>
          <p:nvPr/>
        </p:nvSpPr>
        <p:spPr>
          <a:xfrm>
            <a:off x="7391400" y="1308100"/>
            <a:ext cx="2070100" cy="2025650"/>
          </a:xfrm>
          <a:prstGeom prst="roundRect">
            <a:avLst>
              <a:gd name="adj" fmla="val 7524"/>
            </a:avLst>
          </a:prstGeom>
          <a:solidFill>
            <a:srgbClr val="FFFFFF">
              <a:alpha val="5000"/>
            </a:srgbClr>
          </a:solidFill>
          <a:ln w="9525">
            <a:solidFill>
              <a:srgbClr val="FFFFFF">
                <a:alpha val="12000"/>
              </a:srgbClr>
            </a:solidFill>
            <a:prstDash val="solid"/>
          </a:ln>
        </p:spPr>
      </p:sp>
      <p:sp>
        <p:nvSpPr>
          <p:cNvPr id="16" name="anim-4-12"/>
          <p:cNvSpPr txBox="1"/>
          <p:nvPr/>
        </p:nvSpPr>
        <p:spPr>
          <a:xfrm>
            <a:off x="7569200" y="1460500"/>
            <a:ext cx="171450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PROTECTED MINIMUMS</a:t>
            </a:r>
            <a:endParaRPr lang="en-US" sz="700" dirty="0"/>
          </a:p>
        </p:txBody>
      </p:sp>
      <p:sp>
        <p:nvSpPr>
          <p:cNvPr id="17" name="anim-4-13"/>
          <p:cNvSpPr txBox="1"/>
          <p:nvPr/>
        </p:nvSpPr>
        <p:spPr>
          <a:xfrm>
            <a:off x="7569200" y="1752600"/>
            <a:ext cx="1714500" cy="698500"/>
          </a:xfrm>
          <a:prstGeom prst="rect">
            <a:avLst/>
          </a:prstGeom>
          <a:noFill/>
          <a:ln/>
        </p:spPr>
        <p:txBody>
          <a:bodyPr wrap="square" lIns="0" tIns="0" rIns="0" bIns="0" rtlCol="0" anchor="b"/>
          <a:lstStyle/>
          <a:p>
            <a:pPr algn="l" indent="0" marL="0">
              <a:lnSpc>
                <a:spcPct val="112000"/>
              </a:lnSpc>
              <a:buNone/>
            </a:pPr>
            <a:r>
              <a:rPr lang="en-US" sz="4200" b="1" dirty="0">
                <a:solidFill>
                  <a:srgbClr val="FFFFFF"/>
                </a:solidFill>
                <a:latin typeface="Plus Jakarta Sans" pitchFamily="34" charset="0"/>
                <a:ea typeface="Plus Jakarta Sans" pitchFamily="34" charset="-122"/>
                <a:cs typeface="Plus Jakarta Sans" pitchFamily="34" charset="-120"/>
              </a:rPr>
              <a:t>10</a:t>
            </a:r>
            <a:pPr algn="l" indent="0" marL="0">
              <a:lnSpc>
                <a:spcPct val="112000"/>
              </a:lnSpc>
              <a:buNone/>
            </a:pPr>
            <a:r>
              <a:rPr lang="en-US" sz="2000" b="1" dirty="0">
                <a:solidFill>
                  <a:srgbClr val="15B6FF"/>
                </a:solidFill>
                <a:latin typeface="Plus Jakarta Sans" pitchFamily="34" charset="0"/>
                <a:ea typeface="Plus Jakarta Sans" pitchFamily="34" charset="-122"/>
                <a:cs typeface="Plus Jakarta Sans" pitchFamily="34" charset="-120"/>
              </a:rPr>
              <a:t>%</a:t>
            </a:r>
            <a:endParaRPr lang="en-US" sz="4200" dirty="0"/>
          </a:p>
        </p:txBody>
      </p:sp>
      <p:sp>
        <p:nvSpPr>
          <p:cNvPr id="18" name="anim-4-14"/>
          <p:cNvSpPr txBox="1"/>
          <p:nvPr/>
        </p:nvSpPr>
        <p:spPr>
          <a:xfrm>
            <a:off x="7569200" y="2578100"/>
            <a:ext cx="1714500" cy="5080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Partner-sourced sales partner</a:t>
            </a:r>
            <a:endParaRPr lang="en-US" sz="950" dirty="0"/>
          </a:p>
        </p:txBody>
      </p:sp>
      <p:sp>
        <p:nvSpPr>
          <p:cNvPr id="19" name="anim-5-15"/>
          <p:cNvSpPr/>
          <p:nvPr/>
        </p:nvSpPr>
        <p:spPr>
          <a:xfrm>
            <a:off x="9613900" y="1308100"/>
            <a:ext cx="2070100" cy="2025650"/>
          </a:xfrm>
          <a:prstGeom prst="roundRect">
            <a:avLst>
              <a:gd name="adj" fmla="val 7524"/>
            </a:avLst>
          </a:prstGeom>
          <a:solidFill>
            <a:srgbClr val="FFFFFF">
              <a:alpha val="5000"/>
            </a:srgbClr>
          </a:solidFill>
          <a:ln w="9525">
            <a:solidFill>
              <a:srgbClr val="FFFFFF">
                <a:alpha val="12000"/>
              </a:srgbClr>
            </a:solidFill>
            <a:prstDash val="solid"/>
          </a:ln>
        </p:spPr>
      </p:sp>
      <p:sp>
        <p:nvSpPr>
          <p:cNvPr id="20" name="anim-5-16"/>
          <p:cNvSpPr txBox="1"/>
          <p:nvPr/>
        </p:nvSpPr>
        <p:spPr>
          <a:xfrm>
            <a:off x="9791700" y="1752600"/>
            <a:ext cx="1714500" cy="698500"/>
          </a:xfrm>
          <a:prstGeom prst="rect">
            <a:avLst/>
          </a:prstGeom>
          <a:noFill/>
          <a:ln/>
        </p:spPr>
        <p:txBody>
          <a:bodyPr wrap="square" lIns="0" tIns="0" rIns="0" bIns="0" rtlCol="0" anchor="b"/>
          <a:lstStyle/>
          <a:p>
            <a:pPr algn="l" indent="0" marL="0">
              <a:lnSpc>
                <a:spcPct val="112000"/>
              </a:lnSpc>
              <a:buNone/>
            </a:pPr>
            <a:r>
              <a:rPr lang="en-US" sz="4200" b="1" dirty="0">
                <a:solidFill>
                  <a:srgbClr val="FFFFFF"/>
                </a:solidFill>
                <a:latin typeface="Plus Jakarta Sans" pitchFamily="34" charset="0"/>
                <a:ea typeface="Plus Jakarta Sans" pitchFamily="34" charset="-122"/>
                <a:cs typeface="Plus Jakarta Sans" pitchFamily="34" charset="-120"/>
              </a:rPr>
              <a:t>7.5</a:t>
            </a:r>
            <a:pPr algn="l" indent="0" marL="0">
              <a:lnSpc>
                <a:spcPct val="112000"/>
              </a:lnSpc>
              <a:buNone/>
            </a:pPr>
            <a:r>
              <a:rPr lang="en-US" sz="2000" b="1" dirty="0">
                <a:solidFill>
                  <a:srgbClr val="15B6FF"/>
                </a:solidFill>
                <a:latin typeface="Plus Jakarta Sans" pitchFamily="34" charset="0"/>
                <a:ea typeface="Plus Jakarta Sans" pitchFamily="34" charset="-122"/>
                <a:cs typeface="Plus Jakarta Sans" pitchFamily="34" charset="-120"/>
              </a:rPr>
              <a:t>%</a:t>
            </a:r>
            <a:endParaRPr lang="en-US" sz="4200" dirty="0"/>
          </a:p>
        </p:txBody>
      </p:sp>
      <p:sp>
        <p:nvSpPr>
          <p:cNvPr id="21" name="anim-5-17"/>
          <p:cNvSpPr txBox="1"/>
          <p:nvPr/>
        </p:nvSpPr>
        <p:spPr>
          <a:xfrm>
            <a:off x="9791700" y="2578100"/>
            <a:ext cx="1714500" cy="5080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Partner-driven sales partner</a:t>
            </a:r>
            <a:endParaRPr lang="en-US" sz="950" dirty="0"/>
          </a:p>
        </p:txBody>
      </p:sp>
      <p:sp>
        <p:nvSpPr>
          <p:cNvPr id="22" name="anim-6-18"/>
          <p:cNvSpPr/>
          <p:nvPr/>
        </p:nvSpPr>
        <p:spPr>
          <a:xfrm>
            <a:off x="7391400" y="3486150"/>
            <a:ext cx="2070100" cy="2025650"/>
          </a:xfrm>
          <a:prstGeom prst="roundRect">
            <a:avLst>
              <a:gd name="adj" fmla="val 7524"/>
            </a:avLst>
          </a:prstGeom>
          <a:solidFill>
            <a:srgbClr val="FFFFFF">
              <a:alpha val="5000"/>
            </a:srgbClr>
          </a:solidFill>
          <a:ln w="9525">
            <a:solidFill>
              <a:srgbClr val="FFFFFF">
                <a:alpha val="12000"/>
              </a:srgbClr>
            </a:solidFill>
            <a:prstDash val="solid"/>
          </a:ln>
        </p:spPr>
      </p:sp>
      <p:sp>
        <p:nvSpPr>
          <p:cNvPr id="23" name="anim-6-19"/>
          <p:cNvSpPr txBox="1"/>
          <p:nvPr/>
        </p:nvSpPr>
        <p:spPr>
          <a:xfrm>
            <a:off x="7569200" y="3930650"/>
            <a:ext cx="1714500" cy="698500"/>
          </a:xfrm>
          <a:prstGeom prst="rect">
            <a:avLst/>
          </a:prstGeom>
          <a:noFill/>
          <a:ln/>
        </p:spPr>
        <p:txBody>
          <a:bodyPr wrap="square" lIns="0" tIns="0" rIns="0" bIns="0" rtlCol="0" anchor="b"/>
          <a:lstStyle/>
          <a:p>
            <a:pPr algn="l" indent="0" marL="0">
              <a:lnSpc>
                <a:spcPct val="112000"/>
              </a:lnSpc>
              <a:buNone/>
            </a:pPr>
            <a:r>
              <a:rPr lang="en-US" sz="4200" b="1" dirty="0">
                <a:solidFill>
                  <a:srgbClr val="FFFFFF"/>
                </a:solidFill>
                <a:latin typeface="Plus Jakarta Sans" pitchFamily="34" charset="0"/>
                <a:ea typeface="Plus Jakarta Sans" pitchFamily="34" charset="-122"/>
                <a:cs typeface="Plus Jakarta Sans" pitchFamily="34" charset="-120"/>
              </a:rPr>
              <a:t>5</a:t>
            </a:r>
            <a:pPr algn="l" indent="0" marL="0">
              <a:lnSpc>
                <a:spcPct val="112000"/>
              </a:lnSpc>
              <a:buNone/>
            </a:pPr>
            <a:r>
              <a:rPr lang="en-US" sz="2000" b="1" dirty="0">
                <a:solidFill>
                  <a:srgbClr val="15B6FF"/>
                </a:solidFill>
                <a:latin typeface="Plus Jakarta Sans" pitchFamily="34" charset="0"/>
                <a:ea typeface="Plus Jakarta Sans" pitchFamily="34" charset="-122"/>
                <a:cs typeface="Plus Jakarta Sans" pitchFamily="34" charset="-120"/>
              </a:rPr>
              <a:t>%</a:t>
            </a:r>
            <a:endParaRPr lang="en-US" sz="4200" dirty="0"/>
          </a:p>
        </p:txBody>
      </p:sp>
      <p:sp>
        <p:nvSpPr>
          <p:cNvPr id="24" name="anim-6-20"/>
          <p:cNvSpPr txBox="1"/>
          <p:nvPr/>
        </p:nvSpPr>
        <p:spPr>
          <a:xfrm>
            <a:off x="7569200" y="4756150"/>
            <a:ext cx="1714500" cy="5080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Partner-assisted / service partner</a:t>
            </a:r>
            <a:endParaRPr lang="en-US" sz="950" dirty="0"/>
          </a:p>
        </p:txBody>
      </p:sp>
      <p:sp>
        <p:nvSpPr>
          <p:cNvPr id="25" name="anim-7-21"/>
          <p:cNvSpPr/>
          <p:nvPr/>
        </p:nvSpPr>
        <p:spPr>
          <a:xfrm>
            <a:off x="9613900" y="3486150"/>
            <a:ext cx="2070100" cy="2025650"/>
          </a:xfrm>
          <a:prstGeom prst="roundRect">
            <a:avLst>
              <a:gd name="adj" fmla="val 7524"/>
            </a:avLst>
          </a:prstGeom>
          <a:solidFill>
            <a:srgbClr val="FFFFFF">
              <a:alpha val="5000"/>
            </a:srgbClr>
          </a:solidFill>
          <a:ln w="9525">
            <a:solidFill>
              <a:srgbClr val="FFFFFF">
                <a:alpha val="12000"/>
              </a:srgbClr>
            </a:solidFill>
            <a:prstDash val="solid"/>
          </a:ln>
        </p:spPr>
      </p:sp>
      <p:sp>
        <p:nvSpPr>
          <p:cNvPr id="26" name="anim-7-22"/>
          <p:cNvSpPr txBox="1"/>
          <p:nvPr/>
        </p:nvSpPr>
        <p:spPr>
          <a:xfrm>
            <a:off x="9791700" y="3930650"/>
            <a:ext cx="1714500" cy="698500"/>
          </a:xfrm>
          <a:prstGeom prst="rect">
            <a:avLst/>
          </a:prstGeom>
          <a:noFill/>
          <a:ln/>
        </p:spPr>
        <p:txBody>
          <a:bodyPr wrap="square" lIns="0" tIns="0" rIns="0" bIns="0" rtlCol="0" anchor="b"/>
          <a:lstStyle/>
          <a:p>
            <a:pPr algn="l" indent="0" marL="0">
              <a:lnSpc>
                <a:spcPct val="112000"/>
              </a:lnSpc>
              <a:buNone/>
            </a:pPr>
            <a:r>
              <a:rPr lang="en-US" sz="4200" b="1" dirty="0">
                <a:solidFill>
                  <a:srgbClr val="FFFFFF"/>
                </a:solidFill>
                <a:latin typeface="Plus Jakarta Sans" pitchFamily="34" charset="0"/>
                <a:ea typeface="Plus Jakarta Sans" pitchFamily="34" charset="-122"/>
                <a:cs typeface="Plus Jakarta Sans" pitchFamily="34" charset="-120"/>
              </a:rPr>
              <a:t>3</a:t>
            </a:r>
            <a:pPr algn="l" indent="0" marL="0">
              <a:lnSpc>
                <a:spcPct val="112000"/>
              </a:lnSpc>
              <a:buNone/>
            </a:pPr>
            <a:r>
              <a:rPr lang="en-US" sz="2000" b="1" dirty="0">
                <a:solidFill>
                  <a:srgbClr val="15B6FF"/>
                </a:solidFill>
                <a:latin typeface="Plus Jakarta Sans" pitchFamily="34" charset="0"/>
                <a:ea typeface="Plus Jakarta Sans" pitchFamily="34" charset="-122"/>
                <a:cs typeface="Plus Jakarta Sans" pitchFamily="34" charset="-120"/>
              </a:rPr>
              <a:t>%</a:t>
            </a:r>
            <a:endParaRPr lang="en-US" sz="4200" dirty="0"/>
          </a:p>
        </p:txBody>
      </p:sp>
      <p:sp>
        <p:nvSpPr>
          <p:cNvPr id="27" name="anim-7-23"/>
          <p:cNvSpPr txBox="1"/>
          <p:nvPr/>
        </p:nvSpPr>
        <p:spPr>
          <a:xfrm>
            <a:off x="9791700" y="4756150"/>
            <a:ext cx="1714500" cy="5080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Referral partner</a:t>
            </a:r>
            <a:endParaRPr lang="en-US" sz="950" dirty="0"/>
          </a:p>
        </p:txBody>
      </p:sp>
      <p:sp>
        <p:nvSpPr>
          <p:cNvPr id="28" name="anim-9-24"/>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29" name="anim-9-25"/>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Floors, Not Zero</a:t>
            </a:r>
            <a:endParaRPr lang="en-US" sz="1100" dirty="0"/>
          </a:p>
        </p:txBody>
      </p:sp>
      <p:sp>
        <p:nvSpPr>
          <p:cNvPr id="30" name="anim-9-26"/>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Discounts lower the commission base, never below the protected floor for your role.</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54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54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72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72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72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9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90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108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108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108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26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12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26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11</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10–11 · SERVICE PARTNERS, ALLIANCES &amp; TECHNOLOGY</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Implementation track and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strategic</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motions</a:t>
            </a:r>
            <a:endParaRPr lang="en-US" sz="2000" dirty="0"/>
          </a:p>
        </p:txBody>
      </p:sp>
      <p:sp>
        <p:nvSpPr>
          <p:cNvPr id="8" name="anim-2-4"/>
          <p:cNvSpPr/>
          <p:nvPr/>
        </p:nvSpPr>
        <p:spPr>
          <a:xfrm>
            <a:off x="508000" y="1308100"/>
            <a:ext cx="6350000" cy="4203700"/>
          </a:xfrm>
          <a:prstGeom prst="roundRect">
            <a:avLst>
              <a:gd name="adj" fmla="val 3625"/>
            </a:avLst>
          </a:prstGeom>
          <a:solidFill>
            <a:srgbClr val="FFFFFF">
              <a:alpha val="5000"/>
            </a:srgbClr>
          </a:solidFill>
          <a:ln w="9525">
            <a:solidFill>
              <a:srgbClr val="FFFFFF">
                <a:alpha val="12000"/>
              </a:srgbClr>
            </a:solidFill>
            <a:prstDash val="solid"/>
          </a:ln>
        </p:spPr>
      </p:sp>
      <p:sp>
        <p:nvSpPr>
          <p:cNvPr id="9" name="anim-2-5"/>
          <p:cNvSpPr txBox="1"/>
          <p:nvPr/>
        </p:nvSpPr>
        <p:spPr>
          <a:xfrm>
            <a:off x="711200" y="1460500"/>
            <a:ext cx="5715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INFLUENCE FEES FOR DELIVERY PARTNERS</a:t>
            </a:r>
            <a:endParaRPr lang="en-US" sz="800" dirty="0"/>
          </a:p>
        </p:txBody>
      </p:sp>
      <p:graphicFrame>
        <p:nvGraphicFramePr>
          <p:cNvPr id="12" name="anim-2-6"/>
          <p:cNvGraphicFramePr>
            <a:graphicFrameLocks noGrp="1"/>
          </p:cNvGraphicFramePr>
          <p:nvPr>
            <p:extLst>
              <p:ext uri="{D42A27DB-BD31-4B8C-83A1-F6EECF244321}">
                <p14:modId xmlns:p14="http://schemas.microsoft.com/office/powerpoint/2010/main" val="1579011935"/>
              </p:ext>
            </p:extLst>
          </p:nvPr>
        </p:nvGraphicFramePr>
        <p:xfrm>
          <a:off x="711200" y="1701800"/>
          <a:ext cx="5943600" cy="914400"/>
        </p:xfrm>
        <a:graphic>
          <a:graphicData uri="http://schemas.openxmlformats.org/drawingml/2006/table">
            <a:tbl>
              <a:tblPr/>
              <a:tblGrid>
                <a:gridCol w="2794000"/>
                <a:gridCol w="3149600"/>
              </a:tblGrid>
              <a:tr h="5461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Scenario</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Recommended treatment</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5461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Supports technical validation but does not lead the sale</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Up to 5% approved influence fee / success rebate when contribution is documented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5461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Materially influences the executive decision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Up to 10% approved influence fee / success rebate when evidence confirms contribution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5461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Acts as approved prime contractor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Case-by-case DignifyX approval</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5461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Subcontractor only, after the deal is won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No influence fee unless separately approved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bl>
          </a:graphicData>
        </a:graphic>
      </p:graphicFrame>
      <p:sp>
        <p:nvSpPr>
          <p:cNvPr id="11" name="anim-2-7"/>
          <p:cNvSpPr txBox="1"/>
          <p:nvPr/>
        </p:nvSpPr>
        <p:spPr>
          <a:xfrm>
            <a:off x="711200" y="4610100"/>
            <a:ext cx="5943600" cy="762000"/>
          </a:xfrm>
          <a:prstGeom prst="rect">
            <a:avLst/>
          </a:prstGeom>
          <a:noFill/>
          <a:ln/>
        </p:spPr>
        <p:txBody>
          <a:bodyPr wrap="square" lIns="0" tIns="0" rIns="0" bIns="0" rtlCol="0" anchor="t"/>
          <a:lstStyle/>
          <a:p>
            <a:pPr algn="l" indent="0" marL="0">
              <a:lnSpc>
                <a:spcPct val="125000"/>
              </a:lnSpc>
              <a:buNone/>
            </a:pPr>
            <a:r>
              <a:rPr lang="en-US" sz="850" dirty="0">
                <a:solidFill>
                  <a:srgbClr val="C3C8D1"/>
                </a:solidFill>
                <a:latin typeface="Plus Jakarta Sans" pitchFamily="34" charset="0"/>
                <a:ea typeface="Plus Jakarta Sans" pitchFamily="34" charset="-122"/>
                <a:cs typeface="Plus Jakarta Sans" pitchFamily="34" charset="-120"/>
              </a:rPr>
              <a:t>Implementation and service partners earn Year-2 / Year-3 and post-expiry renewal commission only if assigned by DignifyX, accountable for customer success and support, and approved in the opportunity record or commercial schedule.</a:t>
            </a:r>
            <a:endParaRPr lang="en-US" sz="850" dirty="0"/>
          </a:p>
        </p:txBody>
      </p:sp>
      <p:sp>
        <p:nvSpPr>
          <p:cNvPr id="12" name="anim-3-8"/>
          <p:cNvSpPr/>
          <p:nvPr/>
        </p:nvSpPr>
        <p:spPr>
          <a:xfrm>
            <a:off x="7010400" y="1308100"/>
            <a:ext cx="46736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13" name="anim-3-9"/>
          <p:cNvSpPr txBox="1"/>
          <p:nvPr/>
        </p:nvSpPr>
        <p:spPr>
          <a:xfrm>
            <a:off x="7162800" y="1435100"/>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01</a:t>
            </a:r>
            <a:endParaRPr lang="en-US" sz="1700" dirty="0"/>
          </a:p>
        </p:txBody>
      </p:sp>
      <p:sp>
        <p:nvSpPr>
          <p:cNvPr id="14" name="anim-3-10"/>
          <p:cNvSpPr txBox="1"/>
          <p:nvPr/>
        </p:nvSpPr>
        <p:spPr>
          <a:xfrm>
            <a:off x="7620000" y="1435100"/>
            <a:ext cx="3873500" cy="215900"/>
          </a:xfrm>
          <a:prstGeom prst="rect">
            <a:avLst/>
          </a:prstGeom>
          <a:noFill/>
          <a:ln/>
        </p:spPr>
        <p:txBody>
          <a:bodyPr wrap="square" lIns="0" tIns="0" rIns="0" bIns="0" rtlCol="0" anchor="t"/>
          <a:lstStyle/>
          <a:p>
            <a:pPr algn="l" indent="0" marL="0">
              <a:lnSpc>
                <a:spcPct val="112000"/>
              </a:lnSpc>
              <a:buNone/>
            </a:pPr>
            <a:r>
              <a:rPr lang="en-US" sz="1150" b="1" dirty="0">
                <a:solidFill>
                  <a:srgbClr val="FFFFFF"/>
                </a:solidFill>
                <a:latin typeface="Plus Jakarta Sans" pitchFamily="34" charset="0"/>
                <a:ea typeface="Plus Jakarta Sans" pitchFamily="34" charset="-122"/>
                <a:cs typeface="Plus Jakarta Sans" pitchFamily="34" charset="-120"/>
              </a:rPr>
              <a:t>Cloud marketplace</a:t>
            </a:r>
            <a:endParaRPr lang="en-US" sz="1150" dirty="0"/>
          </a:p>
        </p:txBody>
      </p:sp>
      <p:sp>
        <p:nvSpPr>
          <p:cNvPr id="15" name="anim-3-11"/>
          <p:cNvSpPr txBox="1"/>
          <p:nvPr/>
        </p:nvSpPr>
        <p:spPr>
          <a:xfrm>
            <a:off x="7620000" y="1676400"/>
            <a:ext cx="3873500" cy="5334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Private offer or marketplace motion may follow hyperscaler-specific rules, fees, listing requirements and procurement routes.</a:t>
            </a:r>
            <a:endParaRPr lang="en-US" sz="850" dirty="0"/>
          </a:p>
        </p:txBody>
      </p:sp>
      <p:sp>
        <p:nvSpPr>
          <p:cNvPr id="16" name="anim-4-12"/>
          <p:cNvSpPr/>
          <p:nvPr/>
        </p:nvSpPr>
        <p:spPr>
          <a:xfrm>
            <a:off x="7010400" y="2397125"/>
            <a:ext cx="46736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17" name="anim-4-13"/>
          <p:cNvSpPr txBox="1"/>
          <p:nvPr/>
        </p:nvSpPr>
        <p:spPr>
          <a:xfrm>
            <a:off x="7162800" y="2524125"/>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02</a:t>
            </a:r>
            <a:endParaRPr lang="en-US" sz="1700" dirty="0"/>
          </a:p>
        </p:txBody>
      </p:sp>
      <p:sp>
        <p:nvSpPr>
          <p:cNvPr id="18" name="anim-4-14"/>
          <p:cNvSpPr txBox="1"/>
          <p:nvPr/>
        </p:nvSpPr>
        <p:spPr>
          <a:xfrm>
            <a:off x="7620000" y="2524125"/>
            <a:ext cx="3873500" cy="215900"/>
          </a:xfrm>
          <a:prstGeom prst="rect">
            <a:avLst/>
          </a:prstGeom>
          <a:noFill/>
          <a:ln/>
        </p:spPr>
        <p:txBody>
          <a:bodyPr wrap="square" lIns="0" tIns="0" rIns="0" bIns="0" rtlCol="0" anchor="t"/>
          <a:lstStyle/>
          <a:p>
            <a:pPr algn="l" indent="0" marL="0">
              <a:lnSpc>
                <a:spcPct val="112000"/>
              </a:lnSpc>
              <a:buNone/>
            </a:pPr>
            <a:r>
              <a:rPr lang="en-US" sz="1150" b="1" dirty="0">
                <a:solidFill>
                  <a:srgbClr val="FFFFFF"/>
                </a:solidFill>
                <a:latin typeface="Plus Jakarta Sans" pitchFamily="34" charset="0"/>
                <a:ea typeface="Plus Jakarta Sans" pitchFamily="34" charset="-122"/>
                <a:cs typeface="Plus Jakarta Sans" pitchFamily="34" charset="-120"/>
              </a:rPr>
              <a:t>Technology integration</a:t>
            </a:r>
            <a:endParaRPr lang="en-US" sz="1150" dirty="0"/>
          </a:p>
        </p:txBody>
      </p:sp>
      <p:sp>
        <p:nvSpPr>
          <p:cNvPr id="19" name="anim-4-15"/>
          <p:cNvSpPr txBox="1"/>
          <p:nvPr/>
        </p:nvSpPr>
        <p:spPr>
          <a:xfrm>
            <a:off x="7620000" y="2765425"/>
            <a:ext cx="3873500" cy="5334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Technical validation, integration scope, security and data-handling review, support model and approved messaging.</a:t>
            </a:r>
            <a:endParaRPr lang="en-US" sz="850" dirty="0"/>
          </a:p>
        </p:txBody>
      </p:sp>
      <p:sp>
        <p:nvSpPr>
          <p:cNvPr id="20" name="anim-5-16"/>
          <p:cNvSpPr/>
          <p:nvPr/>
        </p:nvSpPr>
        <p:spPr>
          <a:xfrm>
            <a:off x="7010400" y="3486150"/>
            <a:ext cx="4673600" cy="936625"/>
          </a:xfrm>
          <a:prstGeom prst="roundRect">
            <a:avLst>
              <a:gd name="adj" fmla="val 16271"/>
            </a:avLst>
          </a:prstGeom>
          <a:solidFill>
            <a:srgbClr val="194EFF">
              <a:alpha val="30000"/>
            </a:srgbClr>
          </a:solidFill>
          <a:ln w="15875">
            <a:solidFill>
              <a:srgbClr val="194EFF"/>
            </a:solidFill>
            <a:prstDash val="solid"/>
          </a:ln>
        </p:spPr>
      </p:sp>
      <p:sp>
        <p:nvSpPr>
          <p:cNvPr id="21" name="anim-5-17"/>
          <p:cNvSpPr txBox="1"/>
          <p:nvPr/>
        </p:nvSpPr>
        <p:spPr>
          <a:xfrm>
            <a:off x="7162800" y="3613150"/>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03</a:t>
            </a:r>
            <a:endParaRPr lang="en-US" sz="1700" dirty="0"/>
          </a:p>
        </p:txBody>
      </p:sp>
      <p:sp>
        <p:nvSpPr>
          <p:cNvPr id="22" name="anim-5-18"/>
          <p:cNvSpPr txBox="1"/>
          <p:nvPr/>
        </p:nvSpPr>
        <p:spPr>
          <a:xfrm>
            <a:off x="7620000" y="3613150"/>
            <a:ext cx="3873500" cy="215900"/>
          </a:xfrm>
          <a:prstGeom prst="rect">
            <a:avLst/>
          </a:prstGeom>
          <a:noFill/>
          <a:ln/>
        </p:spPr>
        <p:txBody>
          <a:bodyPr wrap="square" lIns="0" tIns="0" rIns="0" bIns="0" rtlCol="0" anchor="t"/>
          <a:lstStyle/>
          <a:p>
            <a:pPr algn="l" indent="0" marL="0">
              <a:lnSpc>
                <a:spcPct val="112000"/>
              </a:lnSpc>
              <a:buNone/>
            </a:pPr>
            <a:r>
              <a:rPr lang="en-US" sz="1150" b="1" dirty="0">
                <a:solidFill>
                  <a:srgbClr val="FFFFFF"/>
                </a:solidFill>
                <a:latin typeface="Plus Jakarta Sans" pitchFamily="34" charset="0"/>
                <a:ea typeface="Plus Jakarta Sans" pitchFamily="34" charset="-122"/>
                <a:cs typeface="Plus Jakarta Sans" pitchFamily="34" charset="-120"/>
              </a:rPr>
              <a:t>Strategic alliance</a:t>
            </a:r>
            <a:endParaRPr lang="en-US" sz="1150" dirty="0"/>
          </a:p>
        </p:txBody>
      </p:sp>
      <p:sp>
        <p:nvSpPr>
          <p:cNvPr id="23" name="anim-5-19"/>
          <p:cNvSpPr txBox="1"/>
          <p:nvPr/>
        </p:nvSpPr>
        <p:spPr>
          <a:xfrm>
            <a:off x="7620000" y="3854450"/>
            <a:ext cx="3873500" cy="5334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Executive sponsorship, joint business plan, target accounts, country coverage, co-marketing plan and governance cadence.</a:t>
            </a:r>
            <a:endParaRPr lang="en-US" sz="850" dirty="0"/>
          </a:p>
        </p:txBody>
      </p:sp>
      <p:sp>
        <p:nvSpPr>
          <p:cNvPr id="24" name="anim-6-20"/>
          <p:cNvSpPr/>
          <p:nvPr/>
        </p:nvSpPr>
        <p:spPr>
          <a:xfrm>
            <a:off x="7010400" y="4575175"/>
            <a:ext cx="46736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25" name="anim-6-21"/>
          <p:cNvSpPr txBox="1"/>
          <p:nvPr/>
        </p:nvSpPr>
        <p:spPr>
          <a:xfrm>
            <a:off x="7162800" y="4702175"/>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04</a:t>
            </a:r>
            <a:endParaRPr lang="en-US" sz="1700" dirty="0"/>
          </a:p>
        </p:txBody>
      </p:sp>
      <p:sp>
        <p:nvSpPr>
          <p:cNvPr id="26" name="anim-6-22"/>
          <p:cNvSpPr txBox="1"/>
          <p:nvPr/>
        </p:nvSpPr>
        <p:spPr>
          <a:xfrm>
            <a:off x="7620000" y="4702175"/>
            <a:ext cx="3873500" cy="215900"/>
          </a:xfrm>
          <a:prstGeom prst="rect">
            <a:avLst/>
          </a:prstGeom>
          <a:noFill/>
          <a:ln/>
        </p:spPr>
        <p:txBody>
          <a:bodyPr wrap="square" lIns="0" tIns="0" rIns="0" bIns="0" rtlCol="0" anchor="t"/>
          <a:lstStyle/>
          <a:p>
            <a:pPr algn="l" indent="0" marL="0">
              <a:lnSpc>
                <a:spcPct val="112000"/>
              </a:lnSpc>
              <a:buNone/>
            </a:pPr>
            <a:r>
              <a:rPr lang="en-US" sz="1150" b="1" dirty="0">
                <a:solidFill>
                  <a:srgbClr val="FFFFFF"/>
                </a:solidFill>
                <a:latin typeface="Plus Jakarta Sans" pitchFamily="34" charset="0"/>
                <a:ea typeface="Plus Jakarta Sans" pitchFamily="34" charset="-122"/>
                <a:cs typeface="Plus Jakarta Sans" pitchFamily="34" charset="-120"/>
              </a:rPr>
              <a:t>Managed service</a:t>
            </a:r>
            <a:endParaRPr lang="en-US" sz="1150" dirty="0"/>
          </a:p>
        </p:txBody>
      </p:sp>
      <p:sp>
        <p:nvSpPr>
          <p:cNvPr id="27" name="anim-6-23"/>
          <p:cNvSpPr txBox="1"/>
          <p:nvPr/>
        </p:nvSpPr>
        <p:spPr>
          <a:xfrm>
            <a:off x="7620000" y="4943475"/>
            <a:ext cx="3873500" cy="533400"/>
          </a:xfrm>
          <a:prstGeom prst="rect">
            <a:avLst/>
          </a:prstGeom>
          <a:noFill/>
          <a:ln/>
        </p:spPr>
        <p:txBody>
          <a:bodyPr wrap="square" lIns="0" tIns="0" rIns="0" bIns="0" rtlCol="0" anchor="t"/>
          <a:lstStyle/>
          <a:p>
            <a:pPr algn="l" indent="0" marL="0">
              <a:lnSpc>
                <a:spcPct val="112000"/>
              </a:lnSpc>
              <a:buNone/>
            </a:pPr>
            <a:r>
              <a:rPr lang="en-US" sz="850" dirty="0">
                <a:solidFill>
                  <a:srgbClr val="C3C8D1"/>
                </a:solidFill>
                <a:latin typeface="Plus Jakarta Sans" pitchFamily="34" charset="0"/>
                <a:ea typeface="Plus Jakarta Sans" pitchFamily="34" charset="-122"/>
                <a:cs typeface="Plus Jakarta Sans" pitchFamily="34" charset="-120"/>
              </a:rPr>
              <a:t>Scope, customer responsibilities, support model, operational controls, compliance obligations and approval.</a:t>
            </a:r>
            <a:endParaRPr lang="en-US" sz="850" dirty="0"/>
          </a:p>
        </p:txBody>
      </p:sp>
      <p:sp>
        <p:nvSpPr>
          <p:cNvPr id="28" name="anim-9-24"/>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29" name="anim-9-25"/>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Go Further Together</a:t>
            </a:r>
            <a:endParaRPr lang="en-US" sz="1100" dirty="0"/>
          </a:p>
        </p:txBody>
      </p:sp>
      <p:sp>
        <p:nvSpPr>
          <p:cNvPr id="30" name="anim-9-26"/>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Delivery partners are rewarded when they shape the buying decision; alliances grow through shared plans.</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54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72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72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72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9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90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08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108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08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12</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12 · COUNTRY ELIGIBILITY &amp; CROSS-BORDER</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Sell across borders,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the right way</a:t>
            </a:r>
            <a:endParaRPr lang="en-US" sz="2000" dirty="0"/>
          </a:p>
        </p:txBody>
      </p:sp>
      <p:sp>
        <p:nvSpPr>
          <p:cNvPr id="8" name="anim-2-4"/>
          <p:cNvSpPr/>
          <p:nvPr/>
        </p:nvSpPr>
        <p:spPr>
          <a:xfrm>
            <a:off x="508000" y="1308100"/>
            <a:ext cx="5511800" cy="1905000"/>
          </a:xfrm>
          <a:prstGeom prst="roundRect">
            <a:avLst>
              <a:gd name="adj" fmla="val 8000"/>
            </a:avLst>
          </a:prstGeom>
          <a:solidFill>
            <a:srgbClr val="194EFF">
              <a:alpha val="30000"/>
            </a:srgbClr>
          </a:solidFill>
          <a:ln w="15875">
            <a:solidFill>
              <a:srgbClr val="194EFF"/>
            </a:solidFill>
            <a:prstDash val="solid"/>
          </a:ln>
        </p:spPr>
      </p:sp>
      <p:sp>
        <p:nvSpPr>
          <p:cNvPr id="9" name="anim-2-5"/>
          <p:cNvSpPr txBox="1"/>
          <p:nvPr/>
        </p:nvSpPr>
        <p:spPr>
          <a:xfrm>
            <a:off x="736600" y="1498600"/>
            <a:ext cx="5080000" cy="2794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Licensed in each country of sale</a:t>
            </a:r>
            <a:endParaRPr lang="en-US" sz="1400" dirty="0"/>
          </a:p>
        </p:txBody>
      </p:sp>
      <p:sp>
        <p:nvSpPr>
          <p:cNvPr id="10" name="anim-2-6"/>
          <p:cNvSpPr txBox="1"/>
          <p:nvPr/>
        </p:nvSpPr>
        <p:spPr>
          <a:xfrm>
            <a:off x="736600" y="1854200"/>
            <a:ext cx="5080000" cy="1206500"/>
          </a:xfrm>
          <a:prstGeom prst="rect">
            <a:avLst/>
          </a:prstGeom>
          <a:noFill/>
          <a:ln/>
        </p:spPr>
        <p:txBody>
          <a:bodyPr wrap="square" lIns="0" tIns="0" rIns="0" bIns="0" rtlCol="0" anchor="t"/>
          <a:lstStyle/>
          <a:p>
            <a:pPr algn="l" indent="0" marL="0">
              <a:lnSpc>
                <a:spcPct val="125000"/>
              </a:lnSpc>
              <a:buNone/>
            </a:pPr>
            <a:r>
              <a:rPr lang="en-US" sz="1050" dirty="0">
                <a:solidFill>
                  <a:srgbClr val="FFFFFF"/>
                </a:solidFill>
                <a:latin typeface="Plus Jakarta Sans" pitchFamily="34" charset="0"/>
                <a:ea typeface="Plus Jakarta Sans" pitchFamily="34" charset="-122"/>
                <a:cs typeface="Plus Jakarta Sans" pitchFamily="34" charset="-120"/>
              </a:rPr>
              <a:t>Eligible for full role-based commission per country, under a per-country agreement or a master agreement with approved country annexes.</a:t>
            </a:r>
            <a:endParaRPr lang="en-US" sz="1050" dirty="0"/>
          </a:p>
        </p:txBody>
      </p:sp>
      <p:sp>
        <p:nvSpPr>
          <p:cNvPr id="11" name="anim-3-7"/>
          <p:cNvSpPr/>
          <p:nvPr/>
        </p:nvSpPr>
        <p:spPr>
          <a:xfrm>
            <a:off x="6172200" y="1308100"/>
            <a:ext cx="5511800" cy="1905000"/>
          </a:xfrm>
          <a:prstGeom prst="roundRect">
            <a:avLst>
              <a:gd name="adj" fmla="val 8000"/>
            </a:avLst>
          </a:prstGeom>
          <a:solidFill>
            <a:srgbClr val="FFFFFF">
              <a:alpha val="5000"/>
            </a:srgbClr>
          </a:solidFill>
          <a:ln w="9525">
            <a:solidFill>
              <a:srgbClr val="FFFFFF">
                <a:alpha val="12000"/>
              </a:srgbClr>
            </a:solidFill>
            <a:prstDash val="solid"/>
          </a:ln>
        </p:spPr>
      </p:sp>
      <p:sp>
        <p:nvSpPr>
          <p:cNvPr id="12" name="anim-3-8"/>
          <p:cNvSpPr txBox="1"/>
          <p:nvPr/>
        </p:nvSpPr>
        <p:spPr>
          <a:xfrm>
            <a:off x="6400800" y="1498600"/>
            <a:ext cx="5080000" cy="279400"/>
          </a:xfrm>
          <a:prstGeom prst="rect">
            <a:avLst/>
          </a:prstGeom>
          <a:noFill/>
          <a:ln/>
        </p:spPr>
        <p:txBody>
          <a:bodyPr wrap="square" lIns="0" tIns="0" rIns="0" bIns="0" rtlCol="0" anchor="t"/>
          <a:lstStyle/>
          <a:p>
            <a:pPr algn="l" indent="0" marL="0">
              <a:lnSpc>
                <a:spcPct val="112000"/>
              </a:lnSpc>
              <a:buNone/>
            </a:pPr>
            <a:r>
              <a:rPr lang="en-US" sz="1400" b="1" dirty="0">
                <a:solidFill>
                  <a:srgbClr val="FFFFFF"/>
                </a:solidFill>
                <a:latin typeface="Plus Jakarta Sans" pitchFamily="34" charset="0"/>
                <a:ea typeface="Plus Jakarta Sans" pitchFamily="34" charset="-122"/>
                <a:cs typeface="Plus Jakarta Sans" pitchFamily="34" charset="-120"/>
              </a:rPr>
              <a:t>Licensed at home only</a:t>
            </a:r>
            <a:endParaRPr lang="en-US" sz="1400" dirty="0"/>
          </a:p>
        </p:txBody>
      </p:sp>
      <p:sp>
        <p:nvSpPr>
          <p:cNvPr id="13" name="anim-3-9"/>
          <p:cNvSpPr txBox="1"/>
          <p:nvPr/>
        </p:nvSpPr>
        <p:spPr>
          <a:xfrm>
            <a:off x="6400800" y="1854200"/>
            <a:ext cx="5080000" cy="1206500"/>
          </a:xfrm>
          <a:prstGeom prst="rect">
            <a:avLst/>
          </a:prstGeom>
          <a:noFill/>
          <a:ln/>
        </p:spPr>
        <p:txBody>
          <a:bodyPr wrap="square" lIns="0" tIns="0" rIns="0" bIns="0" rtlCol="0" anchor="t"/>
          <a:lstStyle/>
          <a:p>
            <a:pPr algn="l" indent="0" marL="0">
              <a:lnSpc>
                <a:spcPct val="125000"/>
              </a:lnSpc>
              <a:buNone/>
            </a:pPr>
            <a:r>
              <a:rPr lang="en-US" sz="1050" dirty="0">
                <a:solidFill>
                  <a:srgbClr val="C3C8D1"/>
                </a:solidFill>
                <a:latin typeface="Plus Jakarta Sans" pitchFamily="34" charset="0"/>
                <a:ea typeface="Plus Jakarta Sans" pitchFamily="34" charset="-122"/>
                <a:cs typeface="Plus Jakarta Sans" pitchFamily="34" charset="-120"/>
              </a:rPr>
              <a:t>Cannot contract, invoice or be paid as selling partner where not locally eligible. May be credited as referral / origination; a locally eligible partner or DignifyX entity becomes partner-of-record.</a:t>
            </a:r>
            <a:endParaRPr lang="en-US" sz="1050" dirty="0"/>
          </a:p>
        </p:txBody>
      </p:sp>
      <p:sp>
        <p:nvSpPr>
          <p:cNvPr id="14" name="anim-4-10"/>
          <p:cNvSpPr txBox="1"/>
          <p:nvPr/>
        </p:nvSpPr>
        <p:spPr>
          <a:xfrm>
            <a:off x="508000" y="3352800"/>
            <a:ext cx="5715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THREE WAYS TO SELL ACROSS BORDERS</a:t>
            </a:r>
            <a:endParaRPr lang="en-US" sz="800" dirty="0"/>
          </a:p>
        </p:txBody>
      </p:sp>
      <p:sp>
        <p:nvSpPr>
          <p:cNvPr id="15" name="anim-5-11"/>
          <p:cNvSpPr/>
          <p:nvPr/>
        </p:nvSpPr>
        <p:spPr>
          <a:xfrm>
            <a:off x="508000" y="3594100"/>
            <a:ext cx="3623733" cy="1917700"/>
          </a:xfrm>
          <a:prstGeom prst="roundRect">
            <a:avLst>
              <a:gd name="adj" fmla="val 7947"/>
            </a:avLst>
          </a:prstGeom>
          <a:solidFill>
            <a:srgbClr val="FFFFFF">
              <a:alpha val="5000"/>
            </a:srgbClr>
          </a:solidFill>
          <a:ln w="9525">
            <a:solidFill>
              <a:srgbClr val="FFFFFF">
                <a:alpha val="12000"/>
              </a:srgbClr>
            </a:solidFill>
            <a:prstDash val="solid"/>
          </a:ln>
        </p:spPr>
      </p:sp>
      <p:sp>
        <p:nvSpPr>
          <p:cNvPr id="16" name="anim-5-12"/>
          <p:cNvSpPr txBox="1"/>
          <p:nvPr/>
        </p:nvSpPr>
        <p:spPr>
          <a:xfrm>
            <a:off x="685800" y="3721100"/>
            <a:ext cx="5715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5B6FF"/>
                </a:solidFill>
                <a:latin typeface="Plus Jakarta Sans" pitchFamily="34" charset="0"/>
                <a:ea typeface="Plus Jakarta Sans" pitchFamily="34" charset="-122"/>
                <a:cs typeface="Plus Jakarta Sans" pitchFamily="34" charset="-120"/>
              </a:rPr>
              <a:t>A</a:t>
            </a:r>
            <a:endParaRPr lang="en-US" sz="2800" dirty="0"/>
          </a:p>
        </p:txBody>
      </p:sp>
      <p:sp>
        <p:nvSpPr>
          <p:cNvPr id="17" name="anim-5-13"/>
          <p:cNvSpPr txBox="1"/>
          <p:nvPr/>
        </p:nvSpPr>
        <p:spPr>
          <a:xfrm>
            <a:off x="1206500" y="3810000"/>
            <a:ext cx="2734733" cy="254000"/>
          </a:xfrm>
          <a:prstGeom prst="rect">
            <a:avLst/>
          </a:prstGeom>
          <a:noFill/>
          <a:ln/>
        </p:spPr>
        <p:txBody>
          <a:bodyPr wrap="square" lIns="0" tIns="0" rIns="0" bIns="0" rtlCol="0" anchor="t"/>
          <a:lstStyle/>
          <a:p>
            <a:pPr algn="l" indent="0" marL="0">
              <a:lnSpc>
                <a:spcPct val="112000"/>
              </a:lnSpc>
              <a:buNone/>
            </a:pPr>
            <a:r>
              <a:rPr lang="en-US" sz="1200" b="1" dirty="0">
                <a:solidFill>
                  <a:srgbClr val="FFFFFF"/>
                </a:solidFill>
                <a:latin typeface="Plus Jakarta Sans" pitchFamily="34" charset="0"/>
                <a:ea typeface="Plus Jakarta Sans" pitchFamily="34" charset="-122"/>
                <a:cs typeface="Plus Jakarta Sans" pitchFamily="34" charset="-120"/>
              </a:rPr>
              <a:t>Origination / Referral</a:t>
            </a:r>
            <a:endParaRPr lang="en-US" sz="1200" dirty="0"/>
          </a:p>
        </p:txBody>
      </p:sp>
      <p:sp>
        <p:nvSpPr>
          <p:cNvPr id="18" name="anim-5-14"/>
          <p:cNvSpPr txBox="1"/>
          <p:nvPr/>
        </p:nvSpPr>
        <p:spPr>
          <a:xfrm>
            <a:off x="685800" y="4292600"/>
            <a:ext cx="3268133" cy="1143000"/>
          </a:xfrm>
          <a:prstGeom prst="rect">
            <a:avLst/>
          </a:prstGeom>
          <a:noFill/>
          <a:ln/>
        </p:spPr>
        <p:txBody>
          <a:bodyPr wrap="square" lIns="0" tIns="0" rIns="0" bIns="0" rtlCol="0" anchor="t"/>
          <a:lstStyle/>
          <a:p>
            <a:pPr algn="l" indent="0" marL="0">
              <a:lnSpc>
                <a:spcPct val="125000"/>
              </a:lnSpc>
              <a:buNone/>
            </a:pPr>
            <a:r>
              <a:rPr lang="en-US" sz="950" dirty="0">
                <a:solidFill>
                  <a:srgbClr val="C3C8D1"/>
                </a:solidFill>
                <a:latin typeface="Plus Jakarta Sans" pitchFamily="34" charset="0"/>
                <a:ea typeface="Plus Jakarta Sans" pitchFamily="34" charset="-122"/>
                <a:cs typeface="Plus Jakarta Sans" pitchFamily="34" charset="-120"/>
              </a:rPr>
              <a:t>DignifyX may approve a referral / origination fee; the local DignifyX entity or an approved local partner is partner-of-record.</a:t>
            </a:r>
            <a:endParaRPr lang="en-US" sz="950" dirty="0"/>
          </a:p>
        </p:txBody>
      </p:sp>
      <p:sp>
        <p:nvSpPr>
          <p:cNvPr id="19" name="anim-6-15"/>
          <p:cNvSpPr/>
          <p:nvPr/>
        </p:nvSpPr>
        <p:spPr>
          <a:xfrm>
            <a:off x="4284133" y="3594100"/>
            <a:ext cx="3623733" cy="1917700"/>
          </a:xfrm>
          <a:prstGeom prst="roundRect">
            <a:avLst>
              <a:gd name="adj" fmla="val 7947"/>
            </a:avLst>
          </a:prstGeom>
          <a:solidFill>
            <a:srgbClr val="FFFFFF">
              <a:alpha val="5000"/>
            </a:srgbClr>
          </a:solidFill>
          <a:ln w="9525">
            <a:solidFill>
              <a:srgbClr val="FFFFFF">
                <a:alpha val="12000"/>
              </a:srgbClr>
            </a:solidFill>
            <a:prstDash val="solid"/>
          </a:ln>
        </p:spPr>
      </p:sp>
      <p:sp>
        <p:nvSpPr>
          <p:cNvPr id="20" name="anim-6-16"/>
          <p:cNvSpPr txBox="1"/>
          <p:nvPr/>
        </p:nvSpPr>
        <p:spPr>
          <a:xfrm>
            <a:off x="4461933" y="3721100"/>
            <a:ext cx="571500" cy="444500"/>
          </a:xfrm>
          <a:prstGeom prst="rect">
            <a:avLst/>
          </a:prstGeom>
          <a:noFill/>
          <a:ln/>
        </p:spPr>
        <p:txBody>
          <a:bodyPr wrap="square" lIns="0" tIns="0" rIns="0" bIns="0" rtlCol="0" anchor="t"/>
          <a:lstStyle/>
          <a:p>
            <a:pPr algn="l" indent="0" marL="0">
              <a:lnSpc>
                <a:spcPct val="112000"/>
              </a:lnSpc>
              <a:buNone/>
            </a:pPr>
            <a:r>
              <a:rPr lang="en-US" sz="2800" b="1" dirty="0">
                <a:solidFill>
                  <a:srgbClr val="15B6FF"/>
                </a:solidFill>
                <a:latin typeface="Plus Jakarta Sans" pitchFamily="34" charset="0"/>
                <a:ea typeface="Plus Jakarta Sans" pitchFamily="34" charset="-122"/>
                <a:cs typeface="Plus Jakarta Sans" pitchFamily="34" charset="-120"/>
              </a:rPr>
              <a:t>B</a:t>
            </a:r>
            <a:endParaRPr lang="en-US" sz="2800" dirty="0"/>
          </a:p>
        </p:txBody>
      </p:sp>
      <p:sp>
        <p:nvSpPr>
          <p:cNvPr id="21" name="anim-6-17"/>
          <p:cNvSpPr txBox="1"/>
          <p:nvPr/>
        </p:nvSpPr>
        <p:spPr>
          <a:xfrm>
            <a:off x="4982633" y="3810000"/>
            <a:ext cx="2734733" cy="254000"/>
          </a:xfrm>
          <a:prstGeom prst="rect">
            <a:avLst/>
          </a:prstGeom>
          <a:noFill/>
          <a:ln/>
        </p:spPr>
        <p:txBody>
          <a:bodyPr wrap="square" lIns="0" tIns="0" rIns="0" bIns="0" rtlCol="0" anchor="t"/>
          <a:lstStyle/>
          <a:p>
            <a:pPr algn="l" indent="0" marL="0">
              <a:lnSpc>
                <a:spcPct val="112000"/>
              </a:lnSpc>
              <a:buNone/>
            </a:pPr>
            <a:r>
              <a:rPr lang="en-US" sz="1200" b="1" dirty="0">
                <a:solidFill>
                  <a:srgbClr val="FFFFFF"/>
                </a:solidFill>
                <a:latin typeface="Plus Jakarta Sans" pitchFamily="34" charset="0"/>
                <a:ea typeface="Plus Jakarta Sans" pitchFamily="34" charset="-122"/>
                <a:cs typeface="Plus Jakarta Sans" pitchFamily="34" charset="-120"/>
              </a:rPr>
              <a:t>Local Registration</a:t>
            </a:r>
            <a:endParaRPr lang="en-US" sz="1200" dirty="0"/>
          </a:p>
        </p:txBody>
      </p:sp>
      <p:sp>
        <p:nvSpPr>
          <p:cNvPr id="22" name="anim-6-18"/>
          <p:cNvSpPr txBox="1"/>
          <p:nvPr/>
        </p:nvSpPr>
        <p:spPr>
          <a:xfrm>
            <a:off x="4461933" y="4292600"/>
            <a:ext cx="3268133" cy="1143000"/>
          </a:xfrm>
          <a:prstGeom prst="rect">
            <a:avLst/>
          </a:prstGeom>
          <a:noFill/>
          <a:ln/>
        </p:spPr>
        <p:txBody>
          <a:bodyPr wrap="square" lIns="0" tIns="0" rIns="0" bIns="0" rtlCol="0" anchor="t"/>
          <a:lstStyle/>
          <a:p>
            <a:pPr algn="l" indent="0" marL="0">
              <a:lnSpc>
                <a:spcPct val="125000"/>
              </a:lnSpc>
              <a:buNone/>
            </a:pPr>
            <a:r>
              <a:rPr lang="en-US" sz="950" dirty="0">
                <a:solidFill>
                  <a:srgbClr val="C3C8D1"/>
                </a:solidFill>
                <a:latin typeface="Plus Jakarta Sans" pitchFamily="34" charset="0"/>
                <a:ea typeface="Plus Jakarta Sans" pitchFamily="34" charset="-122"/>
                <a:cs typeface="Plus Jakarta Sans" pitchFamily="34" charset="-120"/>
              </a:rPr>
              <a:t>Establish or activate a local entity or registration; once approved, eligible for full local commission from the approval date.</a:t>
            </a:r>
            <a:endParaRPr lang="en-US" sz="950" dirty="0"/>
          </a:p>
        </p:txBody>
      </p:sp>
      <p:sp>
        <p:nvSpPr>
          <p:cNvPr id="23" name="anim-7-19"/>
          <p:cNvSpPr/>
          <p:nvPr/>
        </p:nvSpPr>
        <p:spPr>
          <a:xfrm>
            <a:off x="8060267" y="3594100"/>
            <a:ext cx="3623733" cy="1917700"/>
          </a:xfrm>
          <a:prstGeom prst="roundRect">
            <a:avLst>
              <a:gd name="adj" fmla="val 7947"/>
            </a:avLst>
          </a:prstGeom>
          <a:solidFill>
            <a:srgbClr val="194EFF"/>
          </a:solidFill>
          <a:ln w="9525">
            <a:solidFill>
              <a:srgbClr val="15B6FF">
                <a:alpha val="40000"/>
              </a:srgbClr>
            </a:solidFill>
            <a:prstDash val="solid"/>
          </a:ln>
        </p:spPr>
      </p:sp>
      <p:sp>
        <p:nvSpPr>
          <p:cNvPr id="24" name="anim-7-20"/>
          <p:cNvSpPr txBox="1"/>
          <p:nvPr/>
        </p:nvSpPr>
        <p:spPr>
          <a:xfrm>
            <a:off x="8238067" y="3721100"/>
            <a:ext cx="571500" cy="444500"/>
          </a:xfrm>
          <a:prstGeom prst="rect">
            <a:avLst/>
          </a:prstGeom>
          <a:noFill/>
          <a:ln/>
        </p:spPr>
        <p:txBody>
          <a:bodyPr wrap="square" lIns="0" tIns="0" rIns="0" bIns="0" rtlCol="0" anchor="t"/>
          <a:lstStyle/>
          <a:p>
            <a:pPr algn="l" indent="0" marL="0">
              <a:lnSpc>
                <a:spcPct val="112000"/>
              </a:lnSpc>
              <a:buNone/>
            </a:pPr>
            <a:r>
              <a:rPr lang="en-US" sz="2800" b="1" dirty="0">
                <a:solidFill>
                  <a:srgbClr val="FFFFFF"/>
                </a:solidFill>
                <a:latin typeface="Plus Jakarta Sans" pitchFamily="34" charset="0"/>
                <a:ea typeface="Plus Jakarta Sans" pitchFamily="34" charset="-122"/>
                <a:cs typeface="Plus Jakarta Sans" pitchFamily="34" charset="-120"/>
              </a:rPr>
              <a:t>C</a:t>
            </a:r>
            <a:endParaRPr lang="en-US" sz="2800" dirty="0"/>
          </a:p>
        </p:txBody>
      </p:sp>
      <p:sp>
        <p:nvSpPr>
          <p:cNvPr id="25" name="anim-7-21"/>
          <p:cNvSpPr txBox="1"/>
          <p:nvPr/>
        </p:nvSpPr>
        <p:spPr>
          <a:xfrm>
            <a:off x="8758767" y="3810000"/>
            <a:ext cx="2734733" cy="254000"/>
          </a:xfrm>
          <a:prstGeom prst="rect">
            <a:avLst/>
          </a:prstGeom>
          <a:noFill/>
          <a:ln/>
        </p:spPr>
        <p:txBody>
          <a:bodyPr wrap="square" lIns="0" tIns="0" rIns="0" bIns="0" rtlCol="0" anchor="t"/>
          <a:lstStyle/>
          <a:p>
            <a:pPr algn="l" indent="0" marL="0">
              <a:lnSpc>
                <a:spcPct val="112000"/>
              </a:lnSpc>
              <a:buNone/>
            </a:pPr>
            <a:r>
              <a:rPr lang="en-US" sz="1200" b="1" dirty="0">
                <a:solidFill>
                  <a:srgbClr val="FFFFFF"/>
                </a:solidFill>
                <a:latin typeface="Plus Jakarta Sans" pitchFamily="34" charset="0"/>
                <a:ea typeface="Plus Jakarta Sans" pitchFamily="34" charset="-122"/>
                <a:cs typeface="Plus Jakarta Sans" pitchFamily="34" charset="-120"/>
              </a:rPr>
              <a:t>Master + Country Annexes</a:t>
            </a:r>
            <a:endParaRPr lang="en-US" sz="1200" dirty="0"/>
          </a:p>
        </p:txBody>
      </p:sp>
      <p:sp>
        <p:nvSpPr>
          <p:cNvPr id="26" name="anim-7-22"/>
          <p:cNvSpPr txBox="1"/>
          <p:nvPr/>
        </p:nvSpPr>
        <p:spPr>
          <a:xfrm>
            <a:off x="8238067" y="4292600"/>
            <a:ext cx="3268133" cy="1143000"/>
          </a:xfrm>
          <a:prstGeom prst="rect">
            <a:avLst/>
          </a:prstGeom>
          <a:noFill/>
          <a:ln/>
        </p:spPr>
        <p:txBody>
          <a:bodyPr wrap="square" lIns="0" tIns="0" rIns="0" bIns="0" rtlCol="0" anchor="t"/>
          <a:lstStyle/>
          <a:p>
            <a:pPr algn="l" indent="0" marL="0">
              <a:lnSpc>
                <a:spcPct val="125000"/>
              </a:lnSpc>
              <a:buNone/>
            </a:pPr>
            <a:r>
              <a:rPr lang="en-US" sz="950" dirty="0">
                <a:solidFill>
                  <a:srgbClr val="FFFFFF"/>
                </a:solidFill>
                <a:latin typeface="Plus Jakarta Sans" pitchFamily="34" charset="0"/>
                <a:ea typeface="Plus Jakarta Sans" pitchFamily="34" charset="-122"/>
                <a:cs typeface="Plus Jakarta Sans" pitchFamily="34" charset="-120"/>
              </a:rPr>
              <a:t>For approved multi-country partners; each annex defines contracting, tax, commission eligibility, data residency, delivery and support.</a:t>
            </a:r>
            <a:endParaRPr lang="en-US" sz="950" dirty="0"/>
          </a:p>
        </p:txBody>
      </p:sp>
      <p:sp>
        <p:nvSpPr>
          <p:cNvPr id="27" name="anim-9-23"/>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28" name="anim-9-24"/>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Partner-of-Record</a:t>
            </a:r>
            <a:endParaRPr lang="en-US" sz="1100" dirty="0"/>
          </a:p>
        </p:txBody>
      </p:sp>
      <p:sp>
        <p:nvSpPr>
          <p:cNvPr id="29" name="anim-9-25"/>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Commission follows the entity legally eligible in the country, not where it found the opportunity.</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36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54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72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72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72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72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90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90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90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90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108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108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108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108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126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26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12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13</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13 · DEAL REGISTRATION &amp; SALES COLLABORATION</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Register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early</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Stay protected.</a:t>
            </a:r>
            <a:endParaRPr lang="en-US" sz="2000" dirty="0"/>
          </a:p>
        </p:txBody>
      </p:sp>
      <p:sp>
        <p:nvSpPr>
          <p:cNvPr id="8" name="anim-2-4"/>
          <p:cNvSpPr/>
          <p:nvPr/>
        </p:nvSpPr>
        <p:spPr>
          <a:xfrm>
            <a:off x="508000" y="1308100"/>
            <a:ext cx="8001000" cy="2730500"/>
          </a:xfrm>
          <a:prstGeom prst="roundRect">
            <a:avLst>
              <a:gd name="adj" fmla="val 5581"/>
            </a:avLst>
          </a:prstGeom>
          <a:solidFill>
            <a:srgbClr val="FFFFFF">
              <a:alpha val="5000"/>
            </a:srgbClr>
          </a:solidFill>
          <a:ln w="9525">
            <a:solidFill>
              <a:srgbClr val="FFFFFF">
                <a:alpha val="12000"/>
              </a:srgbClr>
            </a:solidFill>
            <a:prstDash val="solid"/>
          </a:ln>
        </p:spPr>
      </p:sp>
      <p:graphicFrame>
        <p:nvGraphicFramePr>
          <p:cNvPr id="14" name="anim-2-5"/>
          <p:cNvGraphicFramePr>
            <a:graphicFrameLocks noGrp="1"/>
          </p:cNvGraphicFramePr>
          <p:nvPr>
            <p:extLst>
              <p:ext uri="{D42A27DB-BD31-4B8C-83A1-F6EECF244321}">
                <p14:modId xmlns:p14="http://schemas.microsoft.com/office/powerpoint/2010/main" val="1579011935"/>
              </p:ext>
            </p:extLst>
          </p:nvPr>
        </p:nvGraphicFramePr>
        <p:xfrm>
          <a:off x="711200" y="1460500"/>
          <a:ext cx="7594600" cy="914400"/>
        </p:xfrm>
        <a:graphic>
          <a:graphicData uri="http://schemas.openxmlformats.org/drawingml/2006/table">
            <a:tbl>
              <a:tblPr/>
              <a:tblGrid>
                <a:gridCol w="1397000"/>
                <a:gridCol w="2794000"/>
                <a:gridCol w="3403600"/>
              </a:tblGrid>
              <a:tr h="4826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Role</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Definition</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Evidence required</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482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Partner-Sourced</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Partner originated and actively drives the opportunity</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Introduction, discovery, opportunity plan, decision process, active until close</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82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Partner-Driven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DignifyX generated the lead; partner leads the sales motion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Opportunity plan, customer meetings, proposal / demo / pilot, active execution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482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Partner-Assisted</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Material contribution without owning the full cycle</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Workshop, domain advisory, executive intro, reference, architecture input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82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Referral</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Introduces a qualified prospect and hands off</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Confirmed introduction and qualified meeting</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bl>
          </a:graphicData>
        </a:graphic>
      </p:graphicFrame>
      <p:sp>
        <p:nvSpPr>
          <p:cNvPr id="10" name="anim-3-6"/>
          <p:cNvSpPr/>
          <p:nvPr/>
        </p:nvSpPr>
        <p:spPr>
          <a:xfrm>
            <a:off x="508000" y="4191000"/>
            <a:ext cx="8001000" cy="1320800"/>
          </a:xfrm>
          <a:prstGeom prst="roundRect">
            <a:avLst>
              <a:gd name="adj" fmla="val 11538"/>
            </a:avLst>
          </a:prstGeom>
          <a:solidFill>
            <a:srgbClr val="194EFF">
              <a:alpha val="30000"/>
            </a:srgbClr>
          </a:solidFill>
          <a:ln w="15875">
            <a:solidFill>
              <a:srgbClr val="194EFF"/>
            </a:solidFill>
            <a:prstDash val="solid"/>
          </a:ln>
        </p:spPr>
      </p:sp>
      <p:sp>
        <p:nvSpPr>
          <p:cNvPr id="11" name="anim-3-7"/>
          <p:cNvSpPr txBox="1"/>
          <p:nvPr/>
        </p:nvSpPr>
        <p:spPr>
          <a:xfrm>
            <a:off x="711200" y="4343400"/>
            <a:ext cx="3810000" cy="228600"/>
          </a:xfrm>
          <a:prstGeom prst="rect">
            <a:avLst/>
          </a:prstGeom>
          <a:noFill/>
          <a:ln/>
        </p:spPr>
        <p:txBody>
          <a:bodyPr wrap="square" lIns="0" tIns="0" rIns="0" bIns="0" rtlCol="0" anchor="t"/>
          <a:lstStyle/>
          <a:p>
            <a:pPr algn="l" indent="0" marL="0">
              <a:lnSpc>
                <a:spcPct val="112000"/>
              </a:lnSpc>
              <a:buNone/>
            </a:pPr>
            <a:r>
              <a:rPr lang="en-US" sz="1200" b="1" dirty="0">
                <a:solidFill>
                  <a:srgbClr val="15B6FF"/>
                </a:solidFill>
                <a:latin typeface="Plus Jakarta Sans" pitchFamily="34" charset="0"/>
                <a:ea typeface="Plus Jakarta Sans" pitchFamily="34" charset="-122"/>
                <a:cs typeface="Plus Jakarta Sans" pitchFamily="34" charset="-120"/>
              </a:rPr>
              <a:t>Registration fields</a:t>
            </a:r>
            <a:endParaRPr lang="en-US" sz="1200" dirty="0"/>
          </a:p>
        </p:txBody>
      </p:sp>
      <p:sp>
        <p:nvSpPr>
          <p:cNvPr id="12" name="anim-3-8"/>
          <p:cNvSpPr txBox="1"/>
          <p:nvPr/>
        </p:nvSpPr>
        <p:spPr>
          <a:xfrm>
            <a:off x="711200" y="4622800"/>
            <a:ext cx="7594600" cy="762000"/>
          </a:xfrm>
          <a:prstGeom prst="rect">
            <a:avLst/>
          </a:prstGeom>
          <a:noFill/>
          <a:ln/>
        </p:spPr>
        <p:txBody>
          <a:bodyPr wrap="square" lIns="0" tIns="0" rIns="0" bIns="0" rtlCol="0" anchor="t"/>
          <a:lstStyle/>
          <a:p>
            <a:pPr algn="l" indent="0" marL="0">
              <a:lnSpc>
                <a:spcPct val="125000"/>
              </a:lnSpc>
              <a:buNone/>
            </a:pPr>
            <a:r>
              <a:rPr lang="en-US" sz="950" dirty="0">
                <a:solidFill>
                  <a:srgbClr val="FFFFFF"/>
                </a:solidFill>
                <a:latin typeface="Plus Jakarta Sans" pitchFamily="34" charset="0"/>
                <a:ea typeface="Plus Jakarta Sans" pitchFamily="34" charset="-122"/>
                <a:cs typeface="Plus Jakarta Sans" pitchFamily="34" charset="-120"/>
              </a:rPr>
              <a:t>Customer legal name · Business unit · Use case · Customer pain / initiative · Estimated ARR · Stakeholders · Decision timeline · Partner contribution · Next step (confirmed meeting, workshop, RFP, proposal or executive discussion).</a:t>
            </a:r>
            <a:endParaRPr lang="en-US" sz="950" dirty="0"/>
          </a:p>
        </p:txBody>
      </p:sp>
      <p:sp>
        <p:nvSpPr>
          <p:cNvPr id="13" name="anim-4-9"/>
          <p:cNvSpPr/>
          <p:nvPr/>
        </p:nvSpPr>
        <p:spPr>
          <a:xfrm>
            <a:off x="8661400" y="1308100"/>
            <a:ext cx="3022600" cy="1301750"/>
          </a:xfrm>
          <a:prstGeom prst="roundRect">
            <a:avLst>
              <a:gd name="adj" fmla="val 11707"/>
            </a:avLst>
          </a:prstGeom>
          <a:solidFill>
            <a:srgbClr val="194EFF">
              <a:alpha val="30000"/>
            </a:srgbClr>
          </a:solidFill>
          <a:ln w="15875">
            <a:solidFill>
              <a:srgbClr val="194EFF"/>
            </a:solidFill>
            <a:prstDash val="solid"/>
          </a:ln>
        </p:spPr>
      </p:sp>
      <p:sp>
        <p:nvSpPr>
          <p:cNvPr id="14" name="anim-4-10"/>
          <p:cNvSpPr txBox="1"/>
          <p:nvPr/>
        </p:nvSpPr>
        <p:spPr>
          <a:xfrm>
            <a:off x="8864600" y="1460500"/>
            <a:ext cx="2667000" cy="5715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90</a:t>
            </a:r>
            <a:pPr algn="l" indent="0" marL="0">
              <a:lnSpc>
                <a:spcPct val="112000"/>
              </a:lnSpc>
              <a:buNone/>
            </a:pPr>
            <a:r>
              <a:rPr lang="en-US" sz="1500" b="1" dirty="0">
                <a:solidFill>
                  <a:srgbClr val="15B6FF"/>
                </a:solidFill>
                <a:latin typeface="Plus Jakarta Sans" pitchFamily="34" charset="0"/>
                <a:ea typeface="Plus Jakarta Sans" pitchFamily="34" charset="-122"/>
                <a:cs typeface="Plus Jakarta Sans" pitchFamily="34" charset="-120"/>
              </a:rPr>
              <a:t> days</a:t>
            </a:r>
            <a:endParaRPr lang="en-US" sz="3400" dirty="0"/>
          </a:p>
        </p:txBody>
      </p:sp>
      <p:sp>
        <p:nvSpPr>
          <p:cNvPr id="15" name="anim-4-11"/>
          <p:cNvSpPr txBox="1"/>
          <p:nvPr/>
        </p:nvSpPr>
        <p:spPr>
          <a:xfrm>
            <a:off x="8864600" y="2133600"/>
            <a:ext cx="2667000" cy="3810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Accepted registered lead</a:t>
            </a:r>
            <a:endParaRPr lang="en-US" sz="950" dirty="0"/>
          </a:p>
        </p:txBody>
      </p:sp>
      <p:sp>
        <p:nvSpPr>
          <p:cNvPr id="16" name="anim-5-12"/>
          <p:cNvSpPr/>
          <p:nvPr/>
        </p:nvSpPr>
        <p:spPr>
          <a:xfrm>
            <a:off x="8661400" y="2762250"/>
            <a:ext cx="3022600" cy="1301750"/>
          </a:xfrm>
          <a:prstGeom prst="roundRect">
            <a:avLst>
              <a:gd name="adj" fmla="val 11707"/>
            </a:avLst>
          </a:prstGeom>
          <a:solidFill>
            <a:srgbClr val="FFFFFF">
              <a:alpha val="5000"/>
            </a:srgbClr>
          </a:solidFill>
          <a:ln w="9525">
            <a:solidFill>
              <a:srgbClr val="FFFFFF">
                <a:alpha val="12000"/>
              </a:srgbClr>
            </a:solidFill>
            <a:prstDash val="solid"/>
          </a:ln>
        </p:spPr>
      </p:sp>
      <p:sp>
        <p:nvSpPr>
          <p:cNvPr id="17" name="anim-5-13"/>
          <p:cNvSpPr txBox="1"/>
          <p:nvPr/>
        </p:nvSpPr>
        <p:spPr>
          <a:xfrm>
            <a:off x="8864600" y="2914650"/>
            <a:ext cx="2667000" cy="5715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+180</a:t>
            </a:r>
            <a:pPr algn="l" indent="0" marL="0">
              <a:lnSpc>
                <a:spcPct val="112000"/>
              </a:lnSpc>
              <a:buNone/>
            </a:pPr>
            <a:r>
              <a:rPr lang="en-US" sz="1500" b="1" dirty="0">
                <a:solidFill>
                  <a:srgbClr val="15B6FF"/>
                </a:solidFill>
                <a:latin typeface="Plus Jakarta Sans" pitchFamily="34" charset="0"/>
                <a:ea typeface="Plus Jakarta Sans" pitchFamily="34" charset="-122"/>
                <a:cs typeface="Plus Jakarta Sans" pitchFamily="34" charset="-120"/>
              </a:rPr>
              <a:t> days</a:t>
            </a:r>
            <a:endParaRPr lang="en-US" sz="3400" dirty="0"/>
          </a:p>
        </p:txBody>
      </p:sp>
      <p:sp>
        <p:nvSpPr>
          <p:cNvPr id="18" name="anim-5-14"/>
          <p:cNvSpPr txBox="1"/>
          <p:nvPr/>
        </p:nvSpPr>
        <p:spPr>
          <a:xfrm>
            <a:off x="8864600" y="3587750"/>
            <a:ext cx="2667000" cy="3810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Converted opportunity with approved action plan</a:t>
            </a:r>
            <a:endParaRPr lang="en-US" sz="950" dirty="0"/>
          </a:p>
        </p:txBody>
      </p:sp>
      <p:sp>
        <p:nvSpPr>
          <p:cNvPr id="19" name="anim-6-15"/>
          <p:cNvSpPr/>
          <p:nvPr/>
        </p:nvSpPr>
        <p:spPr>
          <a:xfrm>
            <a:off x="8661400" y="4216400"/>
            <a:ext cx="3022600" cy="1301750"/>
          </a:xfrm>
          <a:prstGeom prst="roundRect">
            <a:avLst>
              <a:gd name="adj" fmla="val 11707"/>
            </a:avLst>
          </a:prstGeom>
          <a:solidFill>
            <a:srgbClr val="FFFFFF">
              <a:alpha val="5000"/>
            </a:srgbClr>
          </a:solidFill>
          <a:ln w="9525">
            <a:solidFill>
              <a:srgbClr val="FFFFFF">
                <a:alpha val="12000"/>
              </a:srgbClr>
            </a:solidFill>
            <a:prstDash val="solid"/>
          </a:ln>
        </p:spPr>
      </p:sp>
      <p:sp>
        <p:nvSpPr>
          <p:cNvPr id="20" name="anim-6-16"/>
          <p:cNvSpPr txBox="1"/>
          <p:nvPr/>
        </p:nvSpPr>
        <p:spPr>
          <a:xfrm>
            <a:off x="8864600" y="4368800"/>
            <a:ext cx="2667000" cy="571500"/>
          </a:xfrm>
          <a:prstGeom prst="rect">
            <a:avLst/>
          </a:prstGeom>
          <a:noFill/>
          <a:ln/>
        </p:spPr>
        <p:txBody>
          <a:bodyPr wrap="square" lIns="0" tIns="0" rIns="0" bIns="0" rtlCol="0" anchor="b"/>
          <a:lstStyle/>
          <a:p>
            <a:pPr algn="l" indent="0" marL="0">
              <a:lnSpc>
                <a:spcPct val="112000"/>
              </a:lnSpc>
              <a:buNone/>
            </a:pPr>
            <a:r>
              <a:rPr lang="en-US" sz="3400" b="1" dirty="0">
                <a:solidFill>
                  <a:srgbClr val="FFFFFF"/>
                </a:solidFill>
                <a:latin typeface="Plus Jakarta Sans" pitchFamily="34" charset="0"/>
                <a:ea typeface="Plus Jakarta Sans" pitchFamily="34" charset="-122"/>
                <a:cs typeface="Plus Jakarta Sans" pitchFamily="34" charset="-120"/>
              </a:rPr>
              <a:t>Until</a:t>
            </a:r>
            <a:pPr algn="l" indent="0" marL="0">
              <a:lnSpc>
                <a:spcPct val="112000"/>
              </a:lnSpc>
              <a:buNone/>
            </a:pPr>
            <a:r>
              <a:rPr lang="en-US" sz="1500" b="1" dirty="0">
                <a:solidFill>
                  <a:srgbClr val="15B6FF"/>
                </a:solidFill>
                <a:latin typeface="Plus Jakarta Sans" pitchFamily="34" charset="0"/>
                <a:ea typeface="Plus Jakarta Sans" pitchFamily="34" charset="-122"/>
                <a:cs typeface="Plus Jakarta Sans" pitchFamily="34" charset="-120"/>
              </a:rPr>
              <a:t> decision</a:t>
            </a:r>
            <a:endParaRPr lang="en-US" sz="3400" dirty="0"/>
          </a:p>
        </p:txBody>
      </p:sp>
      <p:sp>
        <p:nvSpPr>
          <p:cNvPr id="21" name="anim-6-17"/>
          <p:cNvSpPr txBox="1"/>
          <p:nvPr/>
        </p:nvSpPr>
        <p:spPr>
          <a:xfrm>
            <a:off x="8864600" y="5041900"/>
            <a:ext cx="2667000" cy="381000"/>
          </a:xfrm>
          <a:prstGeom prst="rect">
            <a:avLst/>
          </a:prstGeom>
          <a:noFill/>
          <a:ln/>
        </p:spPr>
        <p:txBody>
          <a:bodyPr wrap="square" lIns="0" tIns="0" rIns="0" bIns="0" rtlCol="0" anchor="t"/>
          <a:lstStyle/>
          <a:p>
            <a:pPr algn="l" indent="0" marL="0">
              <a:lnSpc>
                <a:spcPct val="112000"/>
              </a:lnSpc>
              <a:buNone/>
            </a:pPr>
            <a:r>
              <a:rPr lang="en-US" sz="950" dirty="0">
                <a:solidFill>
                  <a:srgbClr val="C3C8D1"/>
                </a:solidFill>
                <a:latin typeface="Plus Jakarta Sans" pitchFamily="34" charset="0"/>
                <a:ea typeface="Plus Jakarta Sans" pitchFamily="34" charset="-122"/>
                <a:cs typeface="Plus Jakarta Sans" pitchFamily="34" charset="-120"/>
              </a:rPr>
              <a:t>Active RFP / tender, subject to tender rules</a:t>
            </a:r>
            <a:endParaRPr lang="en-US" sz="950" dirty="0"/>
          </a:p>
        </p:txBody>
      </p:sp>
      <p:sp>
        <p:nvSpPr>
          <p:cNvPr id="22" name="anim-9-18"/>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23" name="anim-9-19"/>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Approved Messaging</a:t>
            </a:r>
            <a:endParaRPr lang="en-US" sz="1100" dirty="0"/>
          </a:p>
        </p:txBody>
      </p:sp>
      <p:sp>
        <p:nvSpPr>
          <p:cNvPr id="24" name="anim-9-20"/>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00" dirty="0">
                <a:solidFill>
                  <a:srgbClr val="FFFFFF"/>
                </a:solidFill>
                <a:latin typeface="Plus Jakarta Sans Medium" pitchFamily="34" charset="0"/>
                <a:ea typeface="Plus Jakarta Sans Medium" pitchFamily="34" charset="-122"/>
                <a:cs typeface="Plus Jakarta Sans Medium" pitchFamily="34" charset="-120"/>
              </a:rPr>
              <a:t>Use DignifyX-approved messaging, pricing and materials. No unapproved commitments on roadmap, data residency, SLA or discounts.</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36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36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54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54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54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72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72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72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90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90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90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108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108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108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14</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14–15 · RFP, TENDER, RENEWAL &amp; ASSIGNMENT RULES</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Compete fairly. Keep customers.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Keep earning.</a:t>
            </a:r>
            <a:endParaRPr lang="en-US" sz="2000" dirty="0"/>
          </a:p>
        </p:txBody>
      </p:sp>
      <p:sp>
        <p:nvSpPr>
          <p:cNvPr id="8" name="anim-2-4"/>
          <p:cNvSpPr/>
          <p:nvPr/>
        </p:nvSpPr>
        <p:spPr>
          <a:xfrm>
            <a:off x="508000" y="1308100"/>
            <a:ext cx="5511800" cy="4203700"/>
          </a:xfrm>
          <a:prstGeom prst="roundRect">
            <a:avLst>
              <a:gd name="adj" fmla="val 3625"/>
            </a:avLst>
          </a:prstGeom>
          <a:solidFill>
            <a:srgbClr val="FFFFFF">
              <a:alpha val="5000"/>
            </a:srgbClr>
          </a:solidFill>
          <a:ln w="9525">
            <a:solidFill>
              <a:srgbClr val="FFFFFF">
                <a:alpha val="12000"/>
              </a:srgbClr>
            </a:solidFill>
            <a:prstDash val="solid"/>
          </a:ln>
        </p:spPr>
      </p:sp>
      <p:sp>
        <p:nvSpPr>
          <p:cNvPr id="9" name="anim-2-5"/>
          <p:cNvSpPr txBox="1"/>
          <p:nvPr/>
        </p:nvSpPr>
        <p:spPr>
          <a:xfrm>
            <a:off x="711200" y="1460500"/>
            <a:ext cx="508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RFP AND TENDER</a:t>
            </a:r>
            <a:endParaRPr lang="en-US" sz="800" dirty="0"/>
          </a:p>
        </p:txBody>
      </p:sp>
      <p:graphicFrame>
        <p:nvGraphicFramePr>
          <p:cNvPr id="15" name="anim-2-6"/>
          <p:cNvGraphicFramePr>
            <a:graphicFrameLocks noGrp="1"/>
          </p:cNvGraphicFramePr>
          <p:nvPr>
            <p:extLst>
              <p:ext uri="{D42A27DB-BD31-4B8C-83A1-F6EECF244321}">
                <p14:modId xmlns:p14="http://schemas.microsoft.com/office/powerpoint/2010/main" val="1579011935"/>
              </p:ext>
            </p:extLst>
          </p:nvPr>
        </p:nvGraphicFramePr>
        <p:xfrm>
          <a:off x="711200" y="1701800"/>
          <a:ext cx="5105400" cy="914400"/>
        </p:xfrm>
        <a:graphic>
          <a:graphicData uri="http://schemas.openxmlformats.org/drawingml/2006/table">
            <a:tbl>
              <a:tblPr/>
              <a:tblGrid>
                <a:gridCol w="1714500"/>
                <a:gridCol w="3390900"/>
              </a:tblGrid>
              <a:tr h="6096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Situation</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Rule</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Registered before RFP</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Keeps priority for role, credit and commission where permitted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Multiple partners, open tender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Same approved base price, discount envelope and messaging</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Winning partner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Only the winner earns, unless a referral / influence role was approved in writing pre-bid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Open tender, no registration</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DignifyX may approve a fixed participation fee or driven rate; no automatic commission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Discount cap</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No partner may exceed it; exceptions need DignifyX approval</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11" name="anim-3-7"/>
          <p:cNvSpPr/>
          <p:nvPr/>
        </p:nvSpPr>
        <p:spPr>
          <a:xfrm>
            <a:off x="6172200" y="1308100"/>
            <a:ext cx="5511800" cy="4203700"/>
          </a:xfrm>
          <a:prstGeom prst="roundRect">
            <a:avLst>
              <a:gd name="adj" fmla="val 3625"/>
            </a:avLst>
          </a:prstGeom>
          <a:solidFill>
            <a:srgbClr val="FFFFFF">
              <a:alpha val="5000"/>
            </a:srgbClr>
          </a:solidFill>
          <a:ln w="9525">
            <a:solidFill>
              <a:srgbClr val="FFFFFF">
                <a:alpha val="12000"/>
              </a:srgbClr>
            </a:solidFill>
            <a:prstDash val="solid"/>
          </a:ln>
        </p:spPr>
      </p:sp>
      <p:sp>
        <p:nvSpPr>
          <p:cNvPr id="12" name="anim-3-8"/>
          <p:cNvSpPr txBox="1"/>
          <p:nvPr/>
        </p:nvSpPr>
        <p:spPr>
          <a:xfrm>
            <a:off x="6375400" y="1460500"/>
            <a:ext cx="508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RENEWAL AND ASSIGNMENT</a:t>
            </a:r>
            <a:endParaRPr lang="en-US" sz="800" dirty="0"/>
          </a:p>
        </p:txBody>
      </p:sp>
      <p:graphicFrame>
        <p:nvGraphicFramePr>
          <p:cNvPr id="29" name="anim-3-9"/>
          <p:cNvGraphicFramePr>
            <a:graphicFrameLocks noGrp="1"/>
          </p:cNvGraphicFramePr>
          <p:nvPr>
            <p:extLst>
              <p:ext uri="{D42A27DB-BD31-4B8C-83A1-F6EECF244321}">
                <p14:modId xmlns:p14="http://schemas.microsoft.com/office/powerpoint/2010/main" val="1579011935"/>
              </p:ext>
            </p:extLst>
          </p:nvPr>
        </p:nvGraphicFramePr>
        <p:xfrm>
          <a:off x="6375400" y="1701800"/>
          <a:ext cx="5105400" cy="914400"/>
        </p:xfrm>
        <a:graphic>
          <a:graphicData uri="http://schemas.openxmlformats.org/drawingml/2006/table">
            <a:tbl>
              <a:tblPr/>
              <a:tblGrid>
                <a:gridCol w="1714500"/>
                <a:gridCol w="3390900"/>
              </a:tblGrid>
              <a:tr h="6096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Area</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Rule</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Renewal eligibility</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Remain assigned, support customer success, no unresolved partner-caused escalation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Post-expiry renewal</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Based on level at the renewal event; Y2 / Y3 follow New ARR treatment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Customer reassignment</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A written customer request may override; prior partner loses future credit</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New assigned partner</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Eligible only if assigned ≥180 days before renewal, unless approved</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609600">
                <a:tc>
                  <a:txBody>
                    <a:bodyPr/>
                    <a:lstStyle/>
                    <a:p>
                      <a:pPr algn="l" indent="0" marL="0">
                        <a:buNone/>
                      </a:pPr>
                      <a:r>
                        <a:rPr lang="en-US" sz="900" dirty="0">
                          <a:solidFill>
                            <a:srgbClr val="FFFFFF"/>
                          </a:solidFill>
                          <a:latin typeface="Plus Jakarta Sans SemiBold" pitchFamily="34" charset="0"/>
                          <a:ea typeface="Plus Jakarta Sans SemiBold" pitchFamily="34" charset="-122"/>
                          <a:cs typeface="Plus Jakarta Sans SemiBold" pitchFamily="34" charset="-120"/>
                        </a:rPr>
                        <a:t>Missed renewal</a:t>
                      </a:r>
                      <a:endParaRPr lang="en-US" sz="9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900" dirty="0">
                          <a:solidFill>
                            <a:srgbClr val="C3C8D1"/>
                          </a:solidFill>
                          <a:latin typeface="Plus Jakarta Sans" pitchFamily="34" charset="0"/>
                          <a:ea typeface="Plus Jakarta Sans" pitchFamily="34" charset="-122"/>
                          <a:cs typeface="Plus Jakarta Sans" pitchFamily="34" charset="-120"/>
                        </a:rPr>
                        <a:t>DignifyX may engage directly, reassign and deny renewal commission</a:t>
                      </a:r>
                      <a:endParaRPr lang="en-US" sz="90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14" name="anim-9-10"/>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15" name="anim-9-11"/>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One Position</a:t>
            </a:r>
            <a:endParaRPr lang="en-US" sz="1100" dirty="0"/>
          </a:p>
        </p:txBody>
      </p:sp>
      <p:sp>
        <p:nvSpPr>
          <p:cNvPr id="16" name="anim-9-12"/>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One opportunity, one approved DignifyX price, message and commercial position.</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36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par>
                                <p:cTn id="32" presetID="10" presetClass="entr" presetSubtype="0" fill="hold" grpId="0" nodeType="withEffect">
                                  <p:stCondLst>
                                    <p:cond delay="54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54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4" grpId="0" animBg="1"/>
      <p:bldP spid="15"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15</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16 · CO-MARKETING &amp; PROMOTION FUNDS</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Market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together</a:t>
            </a:r>
            <a:endParaRPr lang="en-US" sz="2000" dirty="0"/>
          </a:p>
        </p:txBody>
      </p:sp>
      <p:sp>
        <p:nvSpPr>
          <p:cNvPr id="8" name="anim-2-4"/>
          <p:cNvSpPr/>
          <p:nvPr/>
        </p:nvSpPr>
        <p:spPr>
          <a:xfrm>
            <a:off x="508000" y="1308100"/>
            <a:ext cx="4191000" cy="4203700"/>
          </a:xfrm>
          <a:prstGeom prst="roundRect">
            <a:avLst>
              <a:gd name="adj" fmla="val 3636"/>
            </a:avLst>
          </a:prstGeom>
          <a:solidFill>
            <a:srgbClr val="FFFFFF">
              <a:alpha val="5000"/>
            </a:srgbClr>
          </a:solidFill>
          <a:ln w="9525">
            <a:solidFill>
              <a:srgbClr val="FFFFFF">
                <a:alpha val="12000"/>
              </a:srgbClr>
            </a:solidFill>
            <a:prstDash val="solid"/>
          </a:ln>
        </p:spPr>
      </p:sp>
      <p:sp>
        <p:nvSpPr>
          <p:cNvPr id="9" name="anim-2-5"/>
          <p:cNvSpPr txBox="1"/>
          <p:nvPr/>
        </p:nvSpPr>
        <p:spPr>
          <a:xfrm>
            <a:off x="711200" y="1460500"/>
            <a:ext cx="381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ANNUAL FUNDS BY LEVEL</a:t>
            </a:r>
            <a:endParaRPr lang="en-US" sz="800" dirty="0"/>
          </a:p>
        </p:txBody>
      </p:sp>
      <p:graphicFrame>
        <p:nvGraphicFramePr>
          <p:cNvPr id="16" name="anim-2-6"/>
          <p:cNvGraphicFramePr>
            <a:graphicFrameLocks noGrp="1"/>
          </p:cNvGraphicFramePr>
          <p:nvPr>
            <p:extLst>
              <p:ext uri="{D42A27DB-BD31-4B8C-83A1-F6EECF244321}">
                <p14:modId xmlns:p14="http://schemas.microsoft.com/office/powerpoint/2010/main" val="1579011935"/>
              </p:ext>
            </p:extLst>
          </p:nvPr>
        </p:nvGraphicFramePr>
        <p:xfrm>
          <a:off x="711200" y="1701800"/>
          <a:ext cx="3784600" cy="914400"/>
        </p:xfrm>
        <a:graphic>
          <a:graphicData uri="http://schemas.openxmlformats.org/drawingml/2006/table">
            <a:tbl>
              <a:tblPr/>
              <a:tblGrid>
                <a:gridCol w="1270000"/>
                <a:gridCol w="1371600"/>
                <a:gridCol w="1143000"/>
              </a:tblGrid>
              <a:tr h="3937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Level</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Co-marketing</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Promotion</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3937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Registered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Not eligible</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937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Silver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Up to $2,500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$1,000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937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Gold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Up to $7,500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$3,000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937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Platinum</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Up to $15,000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$7,500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937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Up to $30,000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$15,000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11" name="anim-2-7"/>
          <p:cNvSpPr txBox="1"/>
          <p:nvPr/>
        </p:nvSpPr>
        <p:spPr>
          <a:xfrm>
            <a:off x="711200" y="4318000"/>
            <a:ext cx="3784600" cy="1079500"/>
          </a:xfrm>
          <a:prstGeom prst="rect">
            <a:avLst/>
          </a:prstGeom>
          <a:noFill/>
          <a:ln/>
        </p:spPr>
        <p:txBody>
          <a:bodyPr wrap="square" lIns="0" tIns="0" rIns="0" bIns="0" rtlCol="0" anchor="t"/>
          <a:lstStyle/>
          <a:p>
            <a:pPr algn="l" indent="0" marL="0">
              <a:lnSpc>
                <a:spcPct val="125000"/>
              </a:lnSpc>
              <a:buNone/>
            </a:pPr>
            <a:r>
              <a:rPr lang="en-US" sz="850" dirty="0">
                <a:solidFill>
                  <a:srgbClr val="C3C8D1"/>
                </a:solidFill>
                <a:latin typeface="Plus Jakarta Sans" pitchFamily="34" charset="0"/>
                <a:ea typeface="Plus Jakarta Sans" pitchFamily="34" charset="-122"/>
                <a:cs typeface="Plus Jakarta Sans" pitchFamily="34" charset="-120"/>
              </a:rPr>
              <a:t>Only approved direct campaign expenses qualify; no advance reimbursement without a written exception. Reimbursement follows an approved plan, proof of spend and pipeline review.</a:t>
            </a:r>
            <a:endParaRPr lang="en-US" sz="850" dirty="0"/>
          </a:p>
        </p:txBody>
      </p:sp>
      <p:sp>
        <p:nvSpPr>
          <p:cNvPr id="12" name="anim-3-8"/>
          <p:cNvSpPr/>
          <p:nvPr/>
        </p:nvSpPr>
        <p:spPr>
          <a:xfrm>
            <a:off x="4851400" y="1308100"/>
            <a:ext cx="1593850" cy="1689100"/>
          </a:xfrm>
          <a:prstGeom prst="roundRect">
            <a:avLst>
              <a:gd name="adj" fmla="val 9562"/>
            </a:avLst>
          </a:prstGeom>
          <a:solidFill>
            <a:srgbClr val="FFFFFF">
              <a:alpha val="5000"/>
            </a:srgbClr>
          </a:solidFill>
          <a:ln w="9525">
            <a:solidFill>
              <a:srgbClr val="FFFFFF">
                <a:alpha val="12000"/>
              </a:srgbClr>
            </a:solidFill>
            <a:prstDash val="solid"/>
          </a:ln>
        </p:spPr>
      </p:sp>
      <p:sp>
        <p:nvSpPr>
          <p:cNvPr id="13" name="anim-3-9"/>
          <p:cNvSpPr txBox="1"/>
          <p:nvPr/>
        </p:nvSpPr>
        <p:spPr>
          <a:xfrm>
            <a:off x="5003800" y="1435100"/>
            <a:ext cx="128905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00" dirty="0"/>
          </a:p>
        </p:txBody>
      </p:sp>
      <p:sp>
        <p:nvSpPr>
          <p:cNvPr id="14" name="anim-3-10"/>
          <p:cNvSpPr txBox="1"/>
          <p:nvPr/>
        </p:nvSpPr>
        <p:spPr>
          <a:xfrm>
            <a:off x="5003800" y="1574800"/>
            <a:ext cx="1289050" cy="584200"/>
          </a:xfrm>
          <a:prstGeom prst="rect">
            <a:avLst/>
          </a:prstGeom>
          <a:noFill/>
          <a:ln/>
        </p:spPr>
        <p:txBody>
          <a:bodyPr wrap="square" lIns="0" tIns="0" rIns="0" bIns="0" rtlCol="0" anchor="b"/>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50</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a:t>
            </a:r>
            <a:endParaRPr lang="en-US" sz="3600" dirty="0"/>
          </a:p>
        </p:txBody>
      </p:sp>
      <p:sp>
        <p:nvSpPr>
          <p:cNvPr id="15" name="anim-3-11"/>
          <p:cNvSpPr txBox="1"/>
          <p:nvPr/>
        </p:nvSpPr>
        <p:spPr>
          <a:xfrm>
            <a:off x="5003800" y="2260600"/>
            <a:ext cx="1289050" cy="6350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Approved lead-gen campaign</a:t>
            </a:r>
            <a:endParaRPr lang="en-US" sz="900" dirty="0"/>
          </a:p>
        </p:txBody>
      </p:sp>
      <p:sp>
        <p:nvSpPr>
          <p:cNvPr id="16" name="anim-4-12"/>
          <p:cNvSpPr/>
          <p:nvPr/>
        </p:nvSpPr>
        <p:spPr>
          <a:xfrm>
            <a:off x="6597650" y="1308100"/>
            <a:ext cx="1593850" cy="1689100"/>
          </a:xfrm>
          <a:prstGeom prst="roundRect">
            <a:avLst>
              <a:gd name="adj" fmla="val 9562"/>
            </a:avLst>
          </a:prstGeom>
          <a:solidFill>
            <a:srgbClr val="FFFFFF">
              <a:alpha val="5000"/>
            </a:srgbClr>
          </a:solidFill>
          <a:ln w="9525">
            <a:solidFill>
              <a:srgbClr val="FFFFFF">
                <a:alpha val="12000"/>
              </a:srgbClr>
            </a:solidFill>
            <a:prstDash val="solid"/>
          </a:ln>
        </p:spPr>
      </p:sp>
      <p:sp>
        <p:nvSpPr>
          <p:cNvPr id="17" name="anim-4-13"/>
          <p:cNvSpPr txBox="1"/>
          <p:nvPr/>
        </p:nvSpPr>
        <p:spPr>
          <a:xfrm>
            <a:off x="6750050" y="1435100"/>
            <a:ext cx="128905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00" dirty="0"/>
          </a:p>
        </p:txBody>
      </p:sp>
      <p:sp>
        <p:nvSpPr>
          <p:cNvPr id="18" name="anim-4-14"/>
          <p:cNvSpPr txBox="1"/>
          <p:nvPr/>
        </p:nvSpPr>
        <p:spPr>
          <a:xfrm>
            <a:off x="6750050" y="1574800"/>
            <a:ext cx="1289050" cy="584200"/>
          </a:xfrm>
          <a:prstGeom prst="rect">
            <a:avLst/>
          </a:prstGeom>
          <a:noFill/>
          <a:ln/>
        </p:spPr>
        <p:txBody>
          <a:bodyPr wrap="square" lIns="0" tIns="0" rIns="0" bIns="0" rtlCol="0" anchor="b"/>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50</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a:t>
            </a:r>
            <a:endParaRPr lang="en-US" sz="3600" dirty="0"/>
          </a:p>
        </p:txBody>
      </p:sp>
      <p:sp>
        <p:nvSpPr>
          <p:cNvPr id="19" name="anim-4-15"/>
          <p:cNvSpPr txBox="1"/>
          <p:nvPr/>
        </p:nvSpPr>
        <p:spPr>
          <a:xfrm>
            <a:off x="6750050" y="2260600"/>
            <a:ext cx="1289050" cy="6350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Strategic executive event</a:t>
            </a:r>
            <a:endParaRPr lang="en-US" sz="900" dirty="0"/>
          </a:p>
        </p:txBody>
      </p:sp>
      <p:sp>
        <p:nvSpPr>
          <p:cNvPr id="20" name="anim-5-16"/>
          <p:cNvSpPr/>
          <p:nvPr/>
        </p:nvSpPr>
        <p:spPr>
          <a:xfrm>
            <a:off x="8343900" y="1308100"/>
            <a:ext cx="1593850" cy="1689100"/>
          </a:xfrm>
          <a:prstGeom prst="roundRect">
            <a:avLst>
              <a:gd name="adj" fmla="val 9562"/>
            </a:avLst>
          </a:prstGeom>
          <a:solidFill>
            <a:srgbClr val="FFFFFF">
              <a:alpha val="5000"/>
            </a:srgbClr>
          </a:solidFill>
          <a:ln w="9525">
            <a:solidFill>
              <a:srgbClr val="FFFFFF">
                <a:alpha val="12000"/>
              </a:srgbClr>
            </a:solidFill>
            <a:prstDash val="solid"/>
          </a:ln>
        </p:spPr>
      </p:sp>
      <p:sp>
        <p:nvSpPr>
          <p:cNvPr id="21" name="anim-5-17"/>
          <p:cNvSpPr txBox="1"/>
          <p:nvPr/>
        </p:nvSpPr>
        <p:spPr>
          <a:xfrm>
            <a:off x="8496300" y="1435100"/>
            <a:ext cx="128905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00" dirty="0"/>
          </a:p>
        </p:txBody>
      </p:sp>
      <p:sp>
        <p:nvSpPr>
          <p:cNvPr id="22" name="anim-5-18"/>
          <p:cNvSpPr txBox="1"/>
          <p:nvPr/>
        </p:nvSpPr>
        <p:spPr>
          <a:xfrm>
            <a:off x="8496300" y="1574800"/>
            <a:ext cx="1289050" cy="584200"/>
          </a:xfrm>
          <a:prstGeom prst="rect">
            <a:avLst/>
          </a:prstGeom>
          <a:noFill/>
          <a:ln/>
        </p:spPr>
        <p:txBody>
          <a:bodyPr wrap="square" lIns="0" tIns="0" rIns="0" bIns="0" rtlCol="0" anchor="b"/>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25</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a:t>
            </a:r>
            <a:endParaRPr lang="en-US" sz="3600" dirty="0"/>
          </a:p>
        </p:txBody>
      </p:sp>
      <p:sp>
        <p:nvSpPr>
          <p:cNvPr id="23" name="anim-5-19"/>
          <p:cNvSpPr txBox="1"/>
          <p:nvPr/>
        </p:nvSpPr>
        <p:spPr>
          <a:xfrm>
            <a:off x="8496300" y="2260600"/>
            <a:ext cx="1289050" cy="6350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Partner-owned campaign</a:t>
            </a:r>
            <a:endParaRPr lang="en-US" sz="900" dirty="0"/>
          </a:p>
        </p:txBody>
      </p:sp>
      <p:sp>
        <p:nvSpPr>
          <p:cNvPr id="24" name="anim-6-20"/>
          <p:cNvSpPr/>
          <p:nvPr/>
        </p:nvSpPr>
        <p:spPr>
          <a:xfrm>
            <a:off x="10090150" y="1308100"/>
            <a:ext cx="1593850" cy="1689100"/>
          </a:xfrm>
          <a:prstGeom prst="roundRect">
            <a:avLst>
              <a:gd name="adj" fmla="val 9562"/>
            </a:avLst>
          </a:prstGeom>
          <a:solidFill>
            <a:srgbClr val="194EFF">
              <a:alpha val="30000"/>
            </a:srgbClr>
          </a:solidFill>
          <a:ln w="15875">
            <a:solidFill>
              <a:srgbClr val="194EFF"/>
            </a:solidFill>
            <a:prstDash val="solid"/>
          </a:ln>
        </p:spPr>
      </p:sp>
      <p:sp>
        <p:nvSpPr>
          <p:cNvPr id="25" name="anim-6-21"/>
          <p:cNvSpPr txBox="1"/>
          <p:nvPr/>
        </p:nvSpPr>
        <p:spPr>
          <a:xfrm>
            <a:off x="10242550" y="1435100"/>
            <a:ext cx="1289050" cy="139700"/>
          </a:xfrm>
          <a:prstGeom prst="rect">
            <a:avLst/>
          </a:prstGeom>
          <a:noFill/>
          <a:ln/>
        </p:spPr>
        <p:txBody>
          <a:bodyPr wrap="square" lIns="0" tIns="0" rIns="0" bIns="0" rtlCol="0" anchor="t"/>
          <a:lstStyle/>
          <a:p>
            <a:pPr algn="l" indent="0" marL="0">
              <a:lnSpc>
                <a:spcPct val="112000"/>
              </a:lnSpc>
              <a:buNone/>
            </a:pPr>
            <a:r>
              <a:rPr lang="en-US" sz="700" spc="200" kern="0" dirty="0">
                <a:solidFill>
                  <a:srgbClr val="15B6FF"/>
                </a:solidFill>
                <a:latin typeface="Plus Jakarta Sans SemiBold" pitchFamily="34" charset="0"/>
                <a:ea typeface="Plus Jakarta Sans SemiBold" pitchFamily="34" charset="-122"/>
                <a:cs typeface="Plus Jakarta Sans SemiBold" pitchFamily="34" charset="-120"/>
              </a:rPr>
              <a:t>UP TO</a:t>
            </a:r>
            <a:endParaRPr lang="en-US" sz="700" dirty="0"/>
          </a:p>
        </p:txBody>
      </p:sp>
      <p:sp>
        <p:nvSpPr>
          <p:cNvPr id="26" name="anim-6-22"/>
          <p:cNvSpPr txBox="1"/>
          <p:nvPr/>
        </p:nvSpPr>
        <p:spPr>
          <a:xfrm>
            <a:off x="10242550" y="1574800"/>
            <a:ext cx="1289050" cy="584200"/>
          </a:xfrm>
          <a:prstGeom prst="rect">
            <a:avLst/>
          </a:prstGeom>
          <a:noFill/>
          <a:ln/>
        </p:spPr>
        <p:txBody>
          <a:bodyPr wrap="square" lIns="0" tIns="0" rIns="0" bIns="0" rtlCol="0" anchor="b"/>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75</a:t>
            </a:r>
            <a:pPr algn="l" indent="0" marL="0">
              <a:lnSpc>
                <a:spcPct val="112000"/>
              </a:lnSpc>
              <a:buNone/>
            </a:pPr>
            <a:r>
              <a:rPr lang="en-US" sz="1800" b="1" dirty="0">
                <a:solidFill>
                  <a:srgbClr val="15B6FF"/>
                </a:solidFill>
                <a:latin typeface="Plus Jakarta Sans" pitchFamily="34" charset="0"/>
                <a:ea typeface="Plus Jakarta Sans" pitchFamily="34" charset="-122"/>
                <a:cs typeface="Plus Jakarta Sans" pitchFamily="34" charset="-120"/>
              </a:rPr>
              <a:t>%</a:t>
            </a:r>
            <a:endParaRPr lang="en-US" sz="3600" dirty="0"/>
          </a:p>
        </p:txBody>
      </p:sp>
      <p:sp>
        <p:nvSpPr>
          <p:cNvPr id="27" name="anim-6-23"/>
          <p:cNvSpPr txBox="1"/>
          <p:nvPr/>
        </p:nvSpPr>
        <p:spPr>
          <a:xfrm>
            <a:off x="10242550" y="2260600"/>
            <a:ext cx="1289050" cy="635000"/>
          </a:xfrm>
          <a:prstGeom prst="rect">
            <a:avLst/>
          </a:prstGeom>
          <a:noFill/>
          <a:ln/>
        </p:spPr>
        <p:txBody>
          <a:bodyPr wrap="square" lIns="0" tIns="0" rIns="0" bIns="0" rtlCol="0" anchor="t"/>
          <a:lstStyle/>
          <a:p>
            <a:pPr algn="l" indent="0" marL="0">
              <a:lnSpc>
                <a:spcPct val="112000"/>
              </a:lnSpc>
              <a:buNone/>
            </a:pPr>
            <a:r>
              <a:rPr lang="en-US" sz="900" dirty="0">
                <a:solidFill>
                  <a:srgbClr val="C3C8D1"/>
                </a:solidFill>
                <a:latin typeface="Plus Jakarta Sans" pitchFamily="34" charset="0"/>
                <a:ea typeface="Plus Jakarta Sans" pitchFamily="34" charset="-122"/>
                <a:cs typeface="Plus Jakarta Sans" pitchFamily="34" charset="-120"/>
              </a:rPr>
              <a:t>DignifyX-priority campaign (exec approval)</a:t>
            </a:r>
            <a:endParaRPr lang="en-US" sz="900" dirty="0"/>
          </a:p>
        </p:txBody>
      </p:sp>
      <p:sp>
        <p:nvSpPr>
          <p:cNvPr id="28" name="anim-7-24"/>
          <p:cNvSpPr/>
          <p:nvPr/>
        </p:nvSpPr>
        <p:spPr>
          <a:xfrm>
            <a:off x="4851400" y="3149600"/>
            <a:ext cx="6832600" cy="2362200"/>
          </a:xfrm>
          <a:prstGeom prst="roundRect">
            <a:avLst>
              <a:gd name="adj" fmla="val 6452"/>
            </a:avLst>
          </a:prstGeom>
          <a:solidFill>
            <a:srgbClr val="FFFFFF">
              <a:alpha val="5000"/>
            </a:srgbClr>
          </a:solidFill>
          <a:ln w="9525">
            <a:solidFill>
              <a:srgbClr val="FFFFFF">
                <a:alpha val="12000"/>
              </a:srgbClr>
            </a:solidFill>
            <a:prstDash val="solid"/>
          </a:ln>
        </p:spPr>
      </p:sp>
      <p:sp>
        <p:nvSpPr>
          <p:cNvPr id="29" name="anim-7-25"/>
          <p:cNvSpPr txBox="1"/>
          <p:nvPr/>
        </p:nvSpPr>
        <p:spPr>
          <a:xfrm>
            <a:off x="5054600" y="3302000"/>
            <a:ext cx="381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ELIGIBLE CAMPAIGNS</a:t>
            </a:r>
            <a:endParaRPr lang="en-US" sz="800" dirty="0"/>
          </a:p>
        </p:txBody>
      </p:sp>
      <p:sp>
        <p:nvSpPr>
          <p:cNvPr id="30" name="anim-7-26"/>
          <p:cNvSpPr/>
          <p:nvPr/>
        </p:nvSpPr>
        <p:spPr>
          <a:xfrm>
            <a:off x="5054600" y="3594100"/>
            <a:ext cx="183515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31" name="anim-7-27"/>
          <p:cNvSpPr txBox="1"/>
          <p:nvPr/>
        </p:nvSpPr>
        <p:spPr>
          <a:xfrm>
            <a:off x="5054600" y="3594100"/>
            <a:ext cx="183515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Agency leader roundtables</a:t>
            </a:r>
            <a:endParaRPr lang="en-US" sz="850" dirty="0"/>
          </a:p>
        </p:txBody>
      </p:sp>
      <p:sp>
        <p:nvSpPr>
          <p:cNvPr id="32" name="anim-7-28"/>
          <p:cNvSpPr/>
          <p:nvPr/>
        </p:nvSpPr>
        <p:spPr>
          <a:xfrm>
            <a:off x="6965950" y="3594100"/>
            <a:ext cx="209423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33" name="anim-7-29"/>
          <p:cNvSpPr txBox="1"/>
          <p:nvPr/>
        </p:nvSpPr>
        <p:spPr>
          <a:xfrm>
            <a:off x="6965950" y="3594100"/>
            <a:ext cx="209423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MDRT / COT readiness webinars</a:t>
            </a:r>
            <a:endParaRPr lang="en-US" sz="850" dirty="0"/>
          </a:p>
        </p:txBody>
      </p:sp>
      <p:sp>
        <p:nvSpPr>
          <p:cNvPr id="34" name="anim-7-30"/>
          <p:cNvSpPr/>
          <p:nvPr/>
        </p:nvSpPr>
        <p:spPr>
          <a:xfrm>
            <a:off x="5054600" y="3975100"/>
            <a:ext cx="235331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35" name="anim-7-31"/>
          <p:cNvSpPr txBox="1"/>
          <p:nvPr/>
        </p:nvSpPr>
        <p:spPr>
          <a:xfrm>
            <a:off x="5054600" y="3975100"/>
            <a:ext cx="235331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AI-governance in insurance events</a:t>
            </a:r>
            <a:endParaRPr lang="en-US" sz="850" dirty="0"/>
          </a:p>
        </p:txBody>
      </p:sp>
      <p:sp>
        <p:nvSpPr>
          <p:cNvPr id="36" name="anim-7-32"/>
          <p:cNvSpPr/>
          <p:nvPr/>
        </p:nvSpPr>
        <p:spPr>
          <a:xfrm>
            <a:off x="7484110" y="3975100"/>
            <a:ext cx="177038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37" name="anim-7-33"/>
          <p:cNvSpPr txBox="1"/>
          <p:nvPr/>
        </p:nvSpPr>
        <p:spPr>
          <a:xfrm>
            <a:off x="7484110" y="3975100"/>
            <a:ext cx="177038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Joint thought leadership</a:t>
            </a:r>
            <a:endParaRPr lang="en-US" sz="850" dirty="0"/>
          </a:p>
        </p:txBody>
      </p:sp>
      <p:sp>
        <p:nvSpPr>
          <p:cNvPr id="38" name="anim-7-34"/>
          <p:cNvSpPr/>
          <p:nvPr/>
        </p:nvSpPr>
        <p:spPr>
          <a:xfrm>
            <a:off x="5054600" y="4356100"/>
            <a:ext cx="254762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39" name="anim-7-35"/>
          <p:cNvSpPr txBox="1"/>
          <p:nvPr/>
        </p:nvSpPr>
        <p:spPr>
          <a:xfrm>
            <a:off x="5054600" y="4356100"/>
            <a:ext cx="254762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Insurance &amp; distribution conferences</a:t>
            </a:r>
            <a:endParaRPr lang="en-US" sz="850" dirty="0"/>
          </a:p>
        </p:txBody>
      </p:sp>
      <p:sp>
        <p:nvSpPr>
          <p:cNvPr id="40" name="anim-7-36"/>
          <p:cNvSpPr/>
          <p:nvPr/>
        </p:nvSpPr>
        <p:spPr>
          <a:xfrm>
            <a:off x="7678420" y="4356100"/>
            <a:ext cx="118745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41" name="anim-7-37"/>
          <p:cNvSpPr txBox="1"/>
          <p:nvPr/>
        </p:nvSpPr>
        <p:spPr>
          <a:xfrm>
            <a:off x="7678420" y="4356100"/>
            <a:ext cx="118745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C-level dinners</a:t>
            </a:r>
            <a:endParaRPr lang="en-US" sz="850" dirty="0"/>
          </a:p>
        </p:txBody>
      </p:sp>
      <p:sp>
        <p:nvSpPr>
          <p:cNvPr id="42" name="anim-7-38"/>
          <p:cNvSpPr/>
          <p:nvPr/>
        </p:nvSpPr>
        <p:spPr>
          <a:xfrm>
            <a:off x="8942070" y="4356100"/>
            <a:ext cx="170561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43" name="anim-7-39"/>
          <p:cNvSpPr txBox="1"/>
          <p:nvPr/>
        </p:nvSpPr>
        <p:spPr>
          <a:xfrm>
            <a:off x="8942070" y="4356100"/>
            <a:ext cx="170561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Account-based campaigns</a:t>
            </a:r>
            <a:endParaRPr lang="en-US" sz="850" dirty="0"/>
          </a:p>
        </p:txBody>
      </p:sp>
      <p:sp>
        <p:nvSpPr>
          <p:cNvPr id="44" name="anim-7-40"/>
          <p:cNvSpPr/>
          <p:nvPr/>
        </p:nvSpPr>
        <p:spPr>
          <a:xfrm>
            <a:off x="5054600" y="4737100"/>
            <a:ext cx="131699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45" name="anim-7-41"/>
          <p:cNvSpPr txBox="1"/>
          <p:nvPr/>
        </p:nvSpPr>
        <p:spPr>
          <a:xfrm>
            <a:off x="5054600" y="4737100"/>
            <a:ext cx="131699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Cloud marketplace</a:t>
            </a:r>
            <a:endParaRPr lang="en-US" sz="850" dirty="0"/>
          </a:p>
        </p:txBody>
      </p:sp>
      <p:sp>
        <p:nvSpPr>
          <p:cNvPr id="46" name="anim-7-42"/>
          <p:cNvSpPr/>
          <p:nvPr/>
        </p:nvSpPr>
        <p:spPr>
          <a:xfrm>
            <a:off x="6447790" y="4737100"/>
            <a:ext cx="2094230" cy="279400"/>
          </a:xfrm>
          <a:prstGeom prst="roundRect">
            <a:avLst>
              <a:gd name="adj" fmla="val 50000"/>
            </a:avLst>
          </a:prstGeom>
          <a:solidFill>
            <a:srgbClr val="FFFFFF">
              <a:alpha val="8000"/>
            </a:srgbClr>
          </a:solidFill>
          <a:ln w="9525">
            <a:solidFill>
              <a:srgbClr val="FFFFFF">
                <a:alpha val="20000"/>
              </a:srgbClr>
            </a:solidFill>
            <a:prstDash val="solid"/>
          </a:ln>
        </p:spPr>
      </p:sp>
      <p:sp>
        <p:nvSpPr>
          <p:cNvPr id="47" name="anim-7-43"/>
          <p:cNvSpPr txBox="1"/>
          <p:nvPr/>
        </p:nvSpPr>
        <p:spPr>
          <a:xfrm>
            <a:off x="6447790" y="4737100"/>
            <a:ext cx="2094230" cy="279400"/>
          </a:xfrm>
          <a:prstGeom prst="rect">
            <a:avLst/>
          </a:prstGeom>
          <a:noFill/>
          <a:ln/>
        </p:spPr>
        <p:txBody>
          <a:bodyPr wrap="square" lIns="0" tIns="0" rIns="0" bIns="0" rtlCol="0" anchor="ctr"/>
          <a:lstStyle/>
          <a:p>
            <a:pPr algn="ctr" indent="0" marL="0">
              <a:lnSpc>
                <a:spcPct val="112000"/>
              </a:lnSpc>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Insurer innovation programmes</a:t>
            </a:r>
            <a:endParaRPr lang="en-US" sz="850" dirty="0"/>
          </a:p>
        </p:txBody>
      </p:sp>
      <p:sp>
        <p:nvSpPr>
          <p:cNvPr id="48" name="anim-9-44"/>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49" name="anim-9-45"/>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Co-Invest</a:t>
            </a:r>
            <a:endParaRPr lang="en-US" sz="1100" dirty="0"/>
          </a:p>
        </p:txBody>
      </p:sp>
      <p:sp>
        <p:nvSpPr>
          <p:cNvPr id="50" name="anim-9-46"/>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Funds are tied to target accounts, approved messaging, qualified leads and pipeline impact.</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54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72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72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72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9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90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08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108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08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108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108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108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108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108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108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108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108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108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108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108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108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108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108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108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108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108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126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par>
                                <p:cTn id="137" presetID="10" presetClass="entr" presetSubtype="0" fill="hold" grpId="0" nodeType="withEffect">
                                  <p:stCondLst>
                                    <p:cond delay="126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500"/>
                                        <p:tgtEl>
                                          <p:spTgt spid="49"/>
                                        </p:tgtEl>
                                      </p:cBhvr>
                                    </p:animEffect>
                                  </p:childTnLst>
                                </p:cTn>
                              </p:par>
                              <p:par>
                                <p:cTn id="140" presetID="10" presetClass="entr" presetSubtype="0" fill="hold" grpId="0" nodeType="withEffect">
                                  <p:stCondLst>
                                    <p:cond delay="126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16</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17 · ENABLEMENT &amp; CERTIFICATION</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Get certified.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Get ahead.</a:t>
            </a:r>
            <a:endParaRPr lang="en-US" sz="2000" dirty="0"/>
          </a:p>
        </p:txBody>
      </p:sp>
      <p:sp>
        <p:nvSpPr>
          <p:cNvPr id="8" name="anim-2-4"/>
          <p:cNvSpPr/>
          <p:nvPr/>
        </p:nvSpPr>
        <p:spPr>
          <a:xfrm>
            <a:off x="508000" y="1308100"/>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9" name="anim-2-5"/>
          <p:cNvSpPr txBox="1"/>
          <p:nvPr/>
        </p:nvSpPr>
        <p:spPr>
          <a:xfrm>
            <a:off x="660400" y="1447800"/>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01</a:t>
            </a:r>
            <a:endParaRPr lang="en-US" sz="1700" dirty="0"/>
          </a:p>
        </p:txBody>
      </p:sp>
      <p:sp>
        <p:nvSpPr>
          <p:cNvPr id="10" name="anim-2-6"/>
          <p:cNvSpPr txBox="1"/>
          <p:nvPr/>
        </p:nvSpPr>
        <p:spPr>
          <a:xfrm>
            <a:off x="1117600" y="1460500"/>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DignifyX Sales Foundation</a:t>
            </a:r>
            <a:endParaRPr lang="en-US" sz="1100" dirty="0"/>
          </a:p>
        </p:txBody>
      </p:sp>
      <p:sp>
        <p:nvSpPr>
          <p:cNvPr id="11" name="anim-2-7"/>
          <p:cNvSpPr txBox="1"/>
          <p:nvPr/>
        </p:nvSpPr>
        <p:spPr>
          <a:xfrm>
            <a:off x="1117600" y="1892300"/>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Partner sales, BD and account managers</a:t>
            </a:r>
            <a:endParaRPr lang="en-US" sz="800" dirty="0"/>
          </a:p>
        </p:txBody>
      </p:sp>
      <p:sp>
        <p:nvSpPr>
          <p:cNvPr id="12" name="anim-2-8"/>
          <p:cNvSpPr/>
          <p:nvPr/>
        </p:nvSpPr>
        <p:spPr>
          <a:xfrm>
            <a:off x="4267200" y="1308100"/>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13" name="anim-2-9"/>
          <p:cNvSpPr txBox="1"/>
          <p:nvPr/>
        </p:nvSpPr>
        <p:spPr>
          <a:xfrm>
            <a:off x="4419600" y="1447800"/>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02</a:t>
            </a:r>
            <a:endParaRPr lang="en-US" sz="1700" dirty="0"/>
          </a:p>
        </p:txBody>
      </p:sp>
      <p:sp>
        <p:nvSpPr>
          <p:cNvPr id="14" name="anim-2-10"/>
          <p:cNvSpPr txBox="1"/>
          <p:nvPr/>
        </p:nvSpPr>
        <p:spPr>
          <a:xfrm>
            <a:off x="4876800" y="1460500"/>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Agency Coaching Sales Specialist</a:t>
            </a:r>
            <a:endParaRPr lang="en-US" sz="1100" dirty="0"/>
          </a:p>
        </p:txBody>
      </p:sp>
      <p:sp>
        <p:nvSpPr>
          <p:cNvPr id="15" name="anim-2-11"/>
          <p:cNvSpPr txBox="1"/>
          <p:nvPr/>
        </p:nvSpPr>
        <p:spPr>
          <a:xfrm>
            <a:off x="4876800" y="1892300"/>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Sellers to insurers, agencies and distribution leaders</a:t>
            </a:r>
            <a:endParaRPr lang="en-US" sz="800" dirty="0"/>
          </a:p>
        </p:txBody>
      </p:sp>
      <p:sp>
        <p:nvSpPr>
          <p:cNvPr id="16" name="anim-3-12"/>
          <p:cNvSpPr/>
          <p:nvPr/>
        </p:nvSpPr>
        <p:spPr>
          <a:xfrm>
            <a:off x="508000" y="2397125"/>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17" name="anim-3-13"/>
          <p:cNvSpPr txBox="1"/>
          <p:nvPr/>
        </p:nvSpPr>
        <p:spPr>
          <a:xfrm>
            <a:off x="660400" y="2536825"/>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03</a:t>
            </a:r>
            <a:endParaRPr lang="en-US" sz="1700" dirty="0"/>
          </a:p>
        </p:txBody>
      </p:sp>
      <p:sp>
        <p:nvSpPr>
          <p:cNvPr id="18" name="anim-3-14"/>
          <p:cNvSpPr txBox="1"/>
          <p:nvPr/>
        </p:nvSpPr>
        <p:spPr>
          <a:xfrm>
            <a:off x="1117600" y="2549525"/>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Enterprise AI Sales Specialist</a:t>
            </a:r>
            <a:endParaRPr lang="en-US" sz="1100" dirty="0"/>
          </a:p>
        </p:txBody>
      </p:sp>
      <p:sp>
        <p:nvSpPr>
          <p:cNvPr id="19" name="anim-3-15"/>
          <p:cNvSpPr txBox="1"/>
          <p:nvPr/>
        </p:nvSpPr>
        <p:spPr>
          <a:xfrm>
            <a:off x="1117600" y="2981325"/>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Enterprise AI, L&amp;D and digital-transformation sellers</a:t>
            </a:r>
            <a:endParaRPr lang="en-US" sz="800" dirty="0"/>
          </a:p>
        </p:txBody>
      </p:sp>
      <p:sp>
        <p:nvSpPr>
          <p:cNvPr id="20" name="anim-3-16"/>
          <p:cNvSpPr/>
          <p:nvPr/>
        </p:nvSpPr>
        <p:spPr>
          <a:xfrm>
            <a:off x="4267200" y="2397125"/>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21" name="anim-3-17"/>
          <p:cNvSpPr txBox="1"/>
          <p:nvPr/>
        </p:nvSpPr>
        <p:spPr>
          <a:xfrm>
            <a:off x="4419600" y="2536825"/>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04</a:t>
            </a:r>
            <a:endParaRPr lang="en-US" sz="1700" dirty="0"/>
          </a:p>
        </p:txBody>
      </p:sp>
      <p:sp>
        <p:nvSpPr>
          <p:cNvPr id="22" name="anim-3-18"/>
          <p:cNvSpPr txBox="1"/>
          <p:nvPr/>
        </p:nvSpPr>
        <p:spPr>
          <a:xfrm>
            <a:off x="4876800" y="2549525"/>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Agency Coaching Pre-Sales Specialist</a:t>
            </a:r>
            <a:endParaRPr lang="en-US" sz="1100" dirty="0"/>
          </a:p>
        </p:txBody>
      </p:sp>
      <p:sp>
        <p:nvSpPr>
          <p:cNvPr id="23" name="anim-3-19"/>
          <p:cNvSpPr txBox="1"/>
          <p:nvPr/>
        </p:nvSpPr>
        <p:spPr>
          <a:xfrm>
            <a:off x="4876800" y="2981325"/>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Distribution, training and agency-development consultants</a:t>
            </a:r>
            <a:endParaRPr lang="en-US" sz="800" dirty="0"/>
          </a:p>
        </p:txBody>
      </p:sp>
      <p:sp>
        <p:nvSpPr>
          <p:cNvPr id="24" name="anim-4-20"/>
          <p:cNvSpPr/>
          <p:nvPr/>
        </p:nvSpPr>
        <p:spPr>
          <a:xfrm>
            <a:off x="508000" y="3486150"/>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25" name="anim-4-21"/>
          <p:cNvSpPr txBox="1"/>
          <p:nvPr/>
        </p:nvSpPr>
        <p:spPr>
          <a:xfrm>
            <a:off x="660400" y="3625850"/>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05</a:t>
            </a:r>
            <a:endParaRPr lang="en-US" sz="1700" dirty="0"/>
          </a:p>
        </p:txBody>
      </p:sp>
      <p:sp>
        <p:nvSpPr>
          <p:cNvPr id="26" name="anim-4-22"/>
          <p:cNvSpPr txBox="1"/>
          <p:nvPr/>
        </p:nvSpPr>
        <p:spPr>
          <a:xfrm>
            <a:off x="1117600" y="3638550"/>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Enterprise AI Pre-Sales Specialist</a:t>
            </a:r>
            <a:endParaRPr lang="en-US" sz="1100" dirty="0"/>
          </a:p>
        </p:txBody>
      </p:sp>
      <p:sp>
        <p:nvSpPr>
          <p:cNvPr id="27" name="anim-4-23"/>
          <p:cNvSpPr txBox="1"/>
          <p:nvPr/>
        </p:nvSpPr>
        <p:spPr>
          <a:xfrm>
            <a:off x="1117600" y="4070350"/>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AI consultants, enterprise architects, data consultants</a:t>
            </a:r>
            <a:endParaRPr lang="en-US" sz="800" dirty="0"/>
          </a:p>
        </p:txBody>
      </p:sp>
      <p:sp>
        <p:nvSpPr>
          <p:cNvPr id="28" name="anim-4-24"/>
          <p:cNvSpPr/>
          <p:nvPr/>
        </p:nvSpPr>
        <p:spPr>
          <a:xfrm>
            <a:off x="4267200" y="3486150"/>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29" name="anim-4-25"/>
          <p:cNvSpPr txBox="1"/>
          <p:nvPr/>
        </p:nvSpPr>
        <p:spPr>
          <a:xfrm>
            <a:off x="4419600" y="3625850"/>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06</a:t>
            </a:r>
            <a:endParaRPr lang="en-US" sz="1700" dirty="0"/>
          </a:p>
        </p:txBody>
      </p:sp>
      <p:sp>
        <p:nvSpPr>
          <p:cNvPr id="30" name="anim-4-26"/>
          <p:cNvSpPr txBox="1"/>
          <p:nvPr/>
        </p:nvSpPr>
        <p:spPr>
          <a:xfrm>
            <a:off x="4876800" y="3638550"/>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Implementation Foundation</a:t>
            </a:r>
            <a:endParaRPr lang="en-US" sz="1100" dirty="0"/>
          </a:p>
        </p:txBody>
      </p:sp>
      <p:sp>
        <p:nvSpPr>
          <p:cNvPr id="31" name="anim-4-27"/>
          <p:cNvSpPr txBox="1"/>
          <p:nvPr/>
        </p:nvSpPr>
        <p:spPr>
          <a:xfrm>
            <a:off x="4876800" y="4070350"/>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Delivery consultants and solution architects</a:t>
            </a:r>
            <a:endParaRPr lang="en-US" sz="800" dirty="0"/>
          </a:p>
        </p:txBody>
      </p:sp>
      <p:sp>
        <p:nvSpPr>
          <p:cNvPr id="32" name="anim-5-28"/>
          <p:cNvSpPr/>
          <p:nvPr/>
        </p:nvSpPr>
        <p:spPr>
          <a:xfrm>
            <a:off x="508000" y="4575175"/>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33" name="anim-5-29"/>
          <p:cNvSpPr txBox="1"/>
          <p:nvPr/>
        </p:nvSpPr>
        <p:spPr>
          <a:xfrm>
            <a:off x="660400" y="4714875"/>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07</a:t>
            </a:r>
            <a:endParaRPr lang="en-US" sz="1700" dirty="0"/>
          </a:p>
        </p:txBody>
      </p:sp>
      <p:sp>
        <p:nvSpPr>
          <p:cNvPr id="34" name="anim-5-30"/>
          <p:cNvSpPr txBox="1"/>
          <p:nvPr/>
        </p:nvSpPr>
        <p:spPr>
          <a:xfrm>
            <a:off x="1117600" y="4727575"/>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Support Foundation</a:t>
            </a:r>
            <a:endParaRPr lang="en-US" sz="1100" dirty="0"/>
          </a:p>
        </p:txBody>
      </p:sp>
      <p:sp>
        <p:nvSpPr>
          <p:cNvPr id="35" name="anim-5-31"/>
          <p:cNvSpPr txBox="1"/>
          <p:nvPr/>
        </p:nvSpPr>
        <p:spPr>
          <a:xfrm>
            <a:off x="1117600" y="5159375"/>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Managed services and customer-success managers</a:t>
            </a:r>
            <a:endParaRPr lang="en-US" sz="800" dirty="0"/>
          </a:p>
        </p:txBody>
      </p:sp>
      <p:sp>
        <p:nvSpPr>
          <p:cNvPr id="36" name="anim-5-32"/>
          <p:cNvSpPr/>
          <p:nvPr/>
        </p:nvSpPr>
        <p:spPr>
          <a:xfrm>
            <a:off x="4267200" y="4575175"/>
            <a:ext cx="3606800" cy="936625"/>
          </a:xfrm>
          <a:prstGeom prst="roundRect">
            <a:avLst>
              <a:gd name="adj" fmla="val 16271"/>
            </a:avLst>
          </a:prstGeom>
          <a:solidFill>
            <a:srgbClr val="FFFFFF">
              <a:alpha val="5000"/>
            </a:srgbClr>
          </a:solidFill>
          <a:ln w="9525">
            <a:solidFill>
              <a:srgbClr val="FFFFFF">
                <a:alpha val="12000"/>
              </a:srgbClr>
            </a:solidFill>
            <a:prstDash val="solid"/>
          </a:ln>
        </p:spPr>
      </p:sp>
      <p:sp>
        <p:nvSpPr>
          <p:cNvPr id="37" name="anim-5-33"/>
          <p:cNvSpPr txBox="1"/>
          <p:nvPr/>
        </p:nvSpPr>
        <p:spPr>
          <a:xfrm>
            <a:off x="4419600" y="4714875"/>
            <a:ext cx="762000" cy="317500"/>
          </a:xfrm>
          <a:prstGeom prst="rect">
            <a:avLst/>
          </a:prstGeom>
          <a:noFill/>
          <a:ln/>
        </p:spPr>
        <p:txBody>
          <a:bodyPr wrap="square" lIns="0" tIns="0" rIns="0" bIns="0" rtlCol="0" anchor="t"/>
          <a:lstStyle/>
          <a:p>
            <a:pPr algn="l" indent="0" marL="0">
              <a:lnSpc>
                <a:spcPct val="112000"/>
              </a:lnSpc>
              <a:buNone/>
            </a:pPr>
            <a:r>
              <a:rPr lang="en-US" sz="1700" dirty="0">
                <a:solidFill>
                  <a:srgbClr val="15B6FF"/>
                </a:solidFill>
                <a:latin typeface="Plus Jakarta Sans Light" pitchFamily="34" charset="0"/>
                <a:ea typeface="Plus Jakarta Sans Light" pitchFamily="34" charset="-122"/>
                <a:cs typeface="Plus Jakarta Sans Light" pitchFamily="34" charset="-120"/>
              </a:rPr>
              <a:t>08</a:t>
            </a:r>
            <a:endParaRPr lang="en-US" sz="1700" dirty="0"/>
          </a:p>
        </p:txBody>
      </p:sp>
      <p:sp>
        <p:nvSpPr>
          <p:cNvPr id="38" name="anim-5-34"/>
          <p:cNvSpPr txBox="1"/>
          <p:nvPr/>
        </p:nvSpPr>
        <p:spPr>
          <a:xfrm>
            <a:off x="4876800" y="4727575"/>
            <a:ext cx="2844800" cy="4064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Compliance &amp; Responsible AI Basics</a:t>
            </a:r>
            <a:endParaRPr lang="en-US" sz="1100" dirty="0"/>
          </a:p>
        </p:txBody>
      </p:sp>
      <p:sp>
        <p:nvSpPr>
          <p:cNvPr id="39" name="anim-5-35"/>
          <p:cNvSpPr txBox="1"/>
          <p:nvPr/>
        </p:nvSpPr>
        <p:spPr>
          <a:xfrm>
            <a:off x="4876800" y="5159375"/>
            <a:ext cx="2844800" cy="317500"/>
          </a:xfrm>
          <a:prstGeom prst="rect">
            <a:avLst/>
          </a:prstGeom>
          <a:noFill/>
          <a:ln/>
        </p:spPr>
        <p:txBody>
          <a:bodyPr wrap="square" lIns="0" tIns="0" rIns="0" bIns="0" rtlCol="0" anchor="t"/>
          <a:lstStyle/>
          <a:p>
            <a:pPr algn="l" indent="0" marL="0">
              <a:lnSpc>
                <a:spcPct val="112000"/>
              </a:lnSpc>
              <a:buNone/>
            </a:pPr>
            <a:r>
              <a:rPr lang="en-US" sz="800" dirty="0">
                <a:solidFill>
                  <a:srgbClr val="C3C8D1"/>
                </a:solidFill>
                <a:latin typeface="Plus Jakarta Sans" pitchFamily="34" charset="0"/>
                <a:ea typeface="Plus Jakarta Sans" pitchFamily="34" charset="-122"/>
                <a:cs typeface="Plus Jakarta Sans" pitchFamily="34" charset="-120"/>
              </a:rPr>
              <a:t>All customer-facing partner resources</a:t>
            </a:r>
            <a:endParaRPr lang="en-US" sz="800" dirty="0"/>
          </a:p>
        </p:txBody>
      </p:sp>
      <p:sp>
        <p:nvSpPr>
          <p:cNvPr id="40" name="anim-6-36"/>
          <p:cNvSpPr/>
          <p:nvPr/>
        </p:nvSpPr>
        <p:spPr>
          <a:xfrm>
            <a:off x="8026400" y="1308100"/>
            <a:ext cx="3657600" cy="4203700"/>
          </a:xfrm>
          <a:prstGeom prst="roundRect">
            <a:avLst>
              <a:gd name="adj" fmla="val 4167"/>
            </a:avLst>
          </a:prstGeom>
          <a:solidFill>
            <a:srgbClr val="194EFF">
              <a:alpha val="30000"/>
            </a:srgbClr>
          </a:solidFill>
          <a:ln w="15875">
            <a:solidFill>
              <a:srgbClr val="194EFF"/>
            </a:solidFill>
            <a:prstDash val="solid"/>
          </a:ln>
        </p:spPr>
      </p:sp>
      <p:sp>
        <p:nvSpPr>
          <p:cNvPr id="41" name="anim-6-37"/>
          <p:cNvSpPr txBox="1"/>
          <p:nvPr/>
        </p:nvSpPr>
        <p:spPr>
          <a:xfrm>
            <a:off x="8229600" y="1460500"/>
            <a:ext cx="3302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CERTIFIED HEADCOUNT BY LEVEL</a:t>
            </a:r>
            <a:endParaRPr lang="en-US" sz="800" dirty="0"/>
          </a:p>
        </p:txBody>
      </p:sp>
      <p:graphicFrame>
        <p:nvGraphicFramePr>
          <p:cNvPr id="17" name="anim-6-38"/>
          <p:cNvGraphicFramePr>
            <a:graphicFrameLocks noGrp="1"/>
          </p:cNvGraphicFramePr>
          <p:nvPr>
            <p:extLst>
              <p:ext uri="{D42A27DB-BD31-4B8C-83A1-F6EECF244321}">
                <p14:modId xmlns:p14="http://schemas.microsoft.com/office/powerpoint/2010/main" val="1579011935"/>
              </p:ext>
            </p:extLst>
          </p:nvPr>
        </p:nvGraphicFramePr>
        <p:xfrm>
          <a:off x="8229600" y="1701800"/>
          <a:ext cx="3251200" cy="914400"/>
        </p:xfrm>
        <a:graphic>
          <a:graphicData uri="http://schemas.openxmlformats.org/drawingml/2006/table">
            <a:tbl>
              <a:tblPr/>
              <a:tblGrid>
                <a:gridCol w="1117600"/>
                <a:gridCol w="711200"/>
                <a:gridCol w="711200"/>
                <a:gridCol w="711200"/>
              </a:tblGrid>
              <a:tr h="4445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Level</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Sales</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Pre-sales</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Delivery</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4445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Registered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1</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445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Silver</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2</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1</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4445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Gold</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4</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2</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2</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445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Platinum</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6</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3</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4</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444500">
                <a:tc>
                  <a:txBody>
                    <a:bodyPr/>
                    <a:lstStyle/>
                    <a:p>
                      <a:pPr algn="l" indent="0" marL="0">
                        <a:buNone/>
                      </a:pPr>
                      <a:r>
                        <a:rPr lang="en-US" sz="95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9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10+</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5+</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950" dirty="0">
                          <a:solidFill>
                            <a:srgbClr val="C3C8D1"/>
                          </a:solidFill>
                          <a:latin typeface="Plus Jakarta Sans" pitchFamily="34" charset="0"/>
                          <a:ea typeface="Plus Jakarta Sans" pitchFamily="34" charset="-122"/>
                          <a:cs typeface="Plus Jakarta Sans" pitchFamily="34" charset="-120"/>
                        </a:rPr>
                        <a:t>8+</a:t>
                      </a:r>
                      <a:endParaRPr lang="en-US" sz="9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43" name="anim-9-39"/>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44" name="anim-9-40"/>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Licence to Sell</a:t>
            </a:r>
            <a:endParaRPr lang="en-US" sz="1100" dirty="0"/>
          </a:p>
        </p:txBody>
      </p:sp>
      <p:sp>
        <p:nvSpPr>
          <p:cNvPr id="45" name="anim-9-41"/>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50" dirty="0">
                <a:solidFill>
                  <a:srgbClr val="FFFFFF"/>
                </a:solidFill>
                <a:latin typeface="Plus Jakarta Sans Medium" pitchFamily="34" charset="0"/>
                <a:ea typeface="Plus Jakarta Sans Medium" pitchFamily="34" charset="-122"/>
                <a:cs typeface="Plus Jakarta Sans Medium" pitchFamily="34" charset="-120"/>
              </a:rPr>
              <a:t>Certification is your licence to sell and deliver, and it powers your level progression.</a:t>
            </a:r>
            <a:endParaRPr lang="en-US" sz="10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18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1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36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36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36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36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36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36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54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54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54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54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54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54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54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54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72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72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72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72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72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72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72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72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90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90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900"/>
                                  </p:stCondLst>
                                  <p:childTnLst>
                                    <p:set>
                                      <p:cBhvr>
                                        <p:cTn id="117" dur="1" fill="hold">
                                          <p:stCondLst>
                                            <p:cond delay="0"/>
                                          </p:stCondLst>
                                        </p:cTn>
                                        <p:tgtEl>
                                          <p:spTgt spid="17"/>
                                        </p:tgtEl>
                                        <p:attrNameLst>
                                          <p:attrName>style.visibility</p:attrName>
                                        </p:attrNameLst>
                                      </p:cBhvr>
                                      <p:to>
                                        <p:strVal val="visible"/>
                                      </p:to>
                                    </p:set>
                                    <p:animEffect transition="in" filter="fade">
                                      <p:cBhvr>
                                        <p:cTn id="118" dur="500"/>
                                        <p:tgtEl>
                                          <p:spTgt spid="17"/>
                                        </p:tgtEl>
                                      </p:cBhvr>
                                    </p:animEffect>
                                  </p:childTnLst>
                                </p:cTn>
                              </p:par>
                              <p:par>
                                <p:cTn id="119" presetID="10" presetClass="entr" presetSubtype="0" fill="hold" grpId="0" nodeType="withEffect">
                                  <p:stCondLst>
                                    <p:cond delay="108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108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108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3" grpId="0" animBg="1"/>
      <p:bldP spid="44" grpId="0" animBg="1"/>
      <p:bldP spid="4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17</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18 · DEMO, SANDBOX &amp; SUPPORT</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Tools to win: sandbox and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technical</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support</a:t>
            </a:r>
            <a:endParaRPr lang="en-US" sz="2000" dirty="0"/>
          </a:p>
        </p:txBody>
      </p:sp>
      <p:sp>
        <p:nvSpPr>
          <p:cNvPr id="8" name="anim-2-4"/>
          <p:cNvSpPr/>
          <p:nvPr/>
        </p:nvSpPr>
        <p:spPr>
          <a:xfrm>
            <a:off x="508000" y="1308100"/>
            <a:ext cx="4445000" cy="4203700"/>
          </a:xfrm>
          <a:prstGeom prst="roundRect">
            <a:avLst>
              <a:gd name="adj" fmla="val 3625"/>
            </a:avLst>
          </a:prstGeom>
          <a:solidFill>
            <a:srgbClr val="FFFFFF">
              <a:alpha val="5000"/>
            </a:srgbClr>
          </a:solidFill>
          <a:ln w="9525">
            <a:solidFill>
              <a:srgbClr val="FFFFFF">
                <a:alpha val="12000"/>
              </a:srgbClr>
            </a:solidFill>
            <a:prstDash val="solid"/>
          </a:ln>
        </p:spPr>
      </p:sp>
      <p:sp>
        <p:nvSpPr>
          <p:cNvPr id="9" name="anim-2-5"/>
          <p:cNvSpPr txBox="1"/>
          <p:nvPr/>
        </p:nvSpPr>
        <p:spPr>
          <a:xfrm>
            <a:off x="711200" y="1460500"/>
            <a:ext cx="381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DEMO AND SANDBOX ACCESS</a:t>
            </a:r>
            <a:endParaRPr lang="en-US" sz="800" dirty="0"/>
          </a:p>
        </p:txBody>
      </p:sp>
      <p:graphicFrame>
        <p:nvGraphicFramePr>
          <p:cNvPr id="18" name="anim-2-6"/>
          <p:cNvGraphicFramePr>
            <a:graphicFrameLocks noGrp="1"/>
          </p:cNvGraphicFramePr>
          <p:nvPr>
            <p:extLst>
              <p:ext uri="{D42A27DB-BD31-4B8C-83A1-F6EECF244321}">
                <p14:modId xmlns:p14="http://schemas.microsoft.com/office/powerpoint/2010/main" val="1579011935"/>
              </p:ext>
            </p:extLst>
          </p:nvPr>
        </p:nvGraphicFramePr>
        <p:xfrm>
          <a:off x="711200" y="1701800"/>
          <a:ext cx="4038600" cy="914400"/>
        </p:xfrm>
        <a:graphic>
          <a:graphicData uri="http://schemas.openxmlformats.org/drawingml/2006/table">
            <a:tbl>
              <a:tblPr/>
              <a:tblGrid>
                <a:gridCol w="952500"/>
                <a:gridCol w="1943100"/>
                <a:gridCol w="1143000"/>
              </a:tblGrid>
              <a:tr h="6096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Level</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Access</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Value</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609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Registered</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Limited demo environment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Up to $2,500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609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Silver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Partner demo tenant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Up to $5,000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609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Gold</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Demo + pilot toolkit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Up to $10,000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609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Platinum</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Advanced demo + integration sandbox</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Up to $25,000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609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Strategic lab / multi-country demo</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Up to $50,000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11" name="anim-3-7"/>
          <p:cNvSpPr/>
          <p:nvPr/>
        </p:nvSpPr>
        <p:spPr>
          <a:xfrm>
            <a:off x="5105400" y="1308100"/>
            <a:ext cx="6578600" cy="4203700"/>
          </a:xfrm>
          <a:prstGeom prst="roundRect">
            <a:avLst>
              <a:gd name="adj" fmla="val 3625"/>
            </a:avLst>
          </a:prstGeom>
          <a:solidFill>
            <a:srgbClr val="FFFFFF">
              <a:alpha val="5000"/>
            </a:srgbClr>
          </a:solidFill>
          <a:ln w="9525">
            <a:solidFill>
              <a:srgbClr val="FFFFFF">
                <a:alpha val="12000"/>
              </a:srgbClr>
            </a:solidFill>
            <a:prstDash val="solid"/>
          </a:ln>
        </p:spPr>
      </p:sp>
      <p:sp>
        <p:nvSpPr>
          <p:cNvPr id="12" name="anim-3-8"/>
          <p:cNvSpPr txBox="1"/>
          <p:nvPr/>
        </p:nvSpPr>
        <p:spPr>
          <a:xfrm>
            <a:off x="5308600" y="1460500"/>
            <a:ext cx="5715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SUPPORT BENEFITS</a:t>
            </a:r>
            <a:endParaRPr lang="en-US" sz="800" dirty="0"/>
          </a:p>
        </p:txBody>
      </p:sp>
      <p:graphicFrame>
        <p:nvGraphicFramePr>
          <p:cNvPr id="35" name="anim-3-9"/>
          <p:cNvGraphicFramePr>
            <a:graphicFrameLocks noGrp="1"/>
          </p:cNvGraphicFramePr>
          <p:nvPr>
            <p:extLst>
              <p:ext uri="{D42A27DB-BD31-4B8C-83A1-F6EECF244321}">
                <p14:modId xmlns:p14="http://schemas.microsoft.com/office/powerpoint/2010/main" val="1579011935"/>
              </p:ext>
            </p:extLst>
          </p:nvPr>
        </p:nvGraphicFramePr>
        <p:xfrm>
          <a:off x="5308600" y="1701800"/>
          <a:ext cx="6172200" cy="914400"/>
        </p:xfrm>
        <a:graphic>
          <a:graphicData uri="http://schemas.openxmlformats.org/drawingml/2006/table">
            <a:tbl>
              <a:tblPr/>
              <a:tblGrid>
                <a:gridCol w="2108200"/>
                <a:gridCol w="698500"/>
                <a:gridCol w="762000"/>
                <a:gridCol w="762000"/>
                <a:gridCol w="889000"/>
                <a:gridCol w="952500"/>
              </a:tblGrid>
              <a:tr h="4572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Support benefit</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Reg.</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Silver</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Gold</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Plat.</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ctr"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Elite</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94EFF"/>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Portal, knowledge base &amp; email</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Priority support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Limited</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Partner Success Manager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Shared</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Shared</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Named</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Named</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Strategic</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Product consultation cases / yr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10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25</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50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100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Fair use</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Architecture advisory hrs / yr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5</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15</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40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100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R&amp;D expert consultations / yr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0</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1</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2</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4</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8</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4572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Executive roadmap session</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Annual</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dirty="0">
                          <a:solidFill>
                            <a:srgbClr val="C3C8D1"/>
                          </a:solidFill>
                          <a:latin typeface="Plus Jakarta Sans" pitchFamily="34" charset="0"/>
                          <a:ea typeface="Plus Jakarta Sans" pitchFamily="34" charset="-122"/>
                          <a:cs typeface="Plus Jakarta Sans" pitchFamily="34" charset="-120"/>
                        </a:rPr>
                        <a:t>Semi-ann.</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ctr" indent="0" marL="0">
                        <a:buNone/>
                      </a:pPr>
                      <a:r>
                        <a:rPr lang="en-US" sz="850" b="1" dirty="0">
                          <a:solidFill>
                            <a:srgbClr val="15B6FF"/>
                          </a:solidFill>
                          <a:latin typeface="Plus Jakarta Sans" pitchFamily="34" charset="0"/>
                          <a:ea typeface="Plus Jakarta Sans" pitchFamily="34" charset="-122"/>
                          <a:cs typeface="Plus Jakarta Sans" pitchFamily="34" charset="-120"/>
                        </a:rPr>
                        <a:t>Quarterly</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14" name="anim-9-10"/>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15" name="anim-9-11"/>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Launch Support</a:t>
            </a:r>
            <a:endParaRPr lang="en-US" sz="1100" dirty="0"/>
          </a:p>
        </p:txBody>
      </p:sp>
      <p:sp>
        <p:nvSpPr>
          <p:cNvPr id="16" name="anim-9-12"/>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00" dirty="0">
                <a:solidFill>
                  <a:srgbClr val="FFFFFF"/>
                </a:solidFill>
                <a:latin typeface="Plus Jakarta Sans Medium" pitchFamily="34" charset="0"/>
                <a:ea typeface="Plus Jakarta Sans Medium" pitchFamily="34" charset="-122"/>
                <a:cs typeface="Plus Jakarta Sans Medium" pitchFamily="34" charset="-120"/>
              </a:rPr>
              <a:t>Your first 3 qualified opportunities get discovery coaching, demo prep, scoping, pilot planning and proposal review.</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36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par>
                                <p:cTn id="32" presetID="10" presetClass="entr" presetSubtype="0" fill="hold" grpId="0" nodeType="withEffect">
                                  <p:stCondLst>
                                    <p:cond delay="54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54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4" grpId="0" animBg="1"/>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18</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19–20 · ACTIVATION PACKAGES &amp; CUSTOMER SUCCESS</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Accelerate your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launch</a:t>
            </a:r>
            <a:endParaRPr lang="en-US" sz="2000" dirty="0"/>
          </a:p>
        </p:txBody>
      </p:sp>
      <p:sp>
        <p:nvSpPr>
          <p:cNvPr id="8" name="anim-2-4"/>
          <p:cNvSpPr/>
          <p:nvPr/>
        </p:nvSpPr>
        <p:spPr>
          <a:xfrm>
            <a:off x="508000" y="1308100"/>
            <a:ext cx="2679700" cy="2603500"/>
          </a:xfrm>
          <a:prstGeom prst="roundRect">
            <a:avLst>
              <a:gd name="adj" fmla="val 5854"/>
            </a:avLst>
          </a:prstGeom>
          <a:solidFill>
            <a:srgbClr val="FFFFFF">
              <a:alpha val="5000"/>
            </a:srgbClr>
          </a:solidFill>
          <a:ln w="9525">
            <a:solidFill>
              <a:srgbClr val="FFFFFF">
                <a:alpha val="12000"/>
              </a:srgbClr>
            </a:solidFill>
            <a:prstDash val="solid"/>
          </a:ln>
        </p:spPr>
      </p:sp>
      <p:sp>
        <p:nvSpPr>
          <p:cNvPr id="9" name="anim-2-5"/>
          <p:cNvSpPr txBox="1"/>
          <p:nvPr/>
        </p:nvSpPr>
        <p:spPr>
          <a:xfrm>
            <a:off x="685800" y="1460500"/>
            <a:ext cx="23241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1–2</a:t>
            </a:r>
            <a:endParaRPr lang="en-US" sz="750" dirty="0"/>
          </a:p>
        </p:txBody>
      </p:sp>
      <p:sp>
        <p:nvSpPr>
          <p:cNvPr id="10" name="anim-2-6"/>
          <p:cNvSpPr txBox="1"/>
          <p:nvPr/>
        </p:nvSpPr>
        <p:spPr>
          <a:xfrm>
            <a:off x="685800" y="1625600"/>
            <a:ext cx="2324100" cy="279400"/>
          </a:xfrm>
          <a:prstGeom prst="rect">
            <a:avLst/>
          </a:prstGeom>
          <a:noFill/>
          <a:ln/>
        </p:spPr>
        <p:txBody>
          <a:bodyPr wrap="square" lIns="0" tIns="0" rIns="0" bIns="0" rtlCol="0" anchor="t"/>
          <a:lstStyle/>
          <a:p>
            <a:pPr algn="l" indent="0" marL="0">
              <a:lnSpc>
                <a:spcPct val="112000"/>
              </a:lnSpc>
              <a:buNone/>
            </a:pPr>
            <a:r>
              <a:rPr lang="en-US" sz="1500" b="1" dirty="0">
                <a:solidFill>
                  <a:srgbClr val="FFFFFF"/>
                </a:solidFill>
                <a:latin typeface="Plus Jakarta Sans" pitchFamily="34" charset="0"/>
                <a:ea typeface="Plus Jakarta Sans" pitchFamily="34" charset="-122"/>
                <a:cs typeface="Plus Jakarta Sans" pitchFamily="34" charset="-120"/>
              </a:rPr>
              <a:t>Foundation</a:t>
            </a:r>
            <a:endParaRPr lang="en-US" sz="1500" dirty="0"/>
          </a:p>
        </p:txBody>
      </p:sp>
      <p:sp>
        <p:nvSpPr>
          <p:cNvPr id="11" name="anim-2-7"/>
          <p:cNvSpPr txBox="1"/>
          <p:nvPr/>
        </p:nvSpPr>
        <p:spPr>
          <a:xfrm>
            <a:off x="685800" y="2032000"/>
            <a:ext cx="2324100" cy="571500"/>
          </a:xfrm>
          <a:prstGeom prst="rect">
            <a:avLst/>
          </a:prstGeom>
          <a:noFill/>
          <a:ln/>
        </p:spPr>
        <p:txBody>
          <a:bodyPr wrap="square" lIns="0" tIns="0" rIns="0" bIns="0" rtlCol="0" anchor="t"/>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$2,500</a:t>
            </a:r>
            <a:endParaRPr lang="en-US" sz="3600" dirty="0"/>
          </a:p>
        </p:txBody>
      </p:sp>
      <p:sp>
        <p:nvSpPr>
          <p:cNvPr id="12" name="anim-2-8"/>
          <p:cNvSpPr txBox="1"/>
          <p:nvPr/>
        </p:nvSpPr>
        <p:spPr>
          <a:xfrm>
            <a:off x="685800" y="2730500"/>
            <a:ext cx="2324100" cy="1016000"/>
          </a:xfrm>
          <a:prstGeom prst="rect">
            <a:avLst/>
          </a:prstGeom>
          <a:noFill/>
          <a:ln/>
        </p:spPr>
        <p:txBody>
          <a:bodyPr wrap="square" lIns="0" tIns="0" rIns="0" bIns="0" rtlCol="0" anchor="t"/>
          <a:lstStyle/>
          <a:p>
            <a:pPr algn="l" indent="0" marL="0">
              <a:lnSpc>
                <a:spcPct val="125000"/>
              </a:lnSpc>
              <a:buNone/>
            </a:pPr>
            <a:r>
              <a:rPr lang="en-US" sz="950" dirty="0">
                <a:solidFill>
                  <a:srgbClr val="C3C8D1"/>
                </a:solidFill>
                <a:latin typeface="Plus Jakarta Sans" pitchFamily="34" charset="0"/>
                <a:ea typeface="Plus Jakarta Sans" pitchFamily="34" charset="-122"/>
                <a:cs typeface="Plus Jakarta Sans" pitchFamily="34" charset="-120"/>
              </a:rPr>
              <a:t>Sales onboarding, basic demo, 2 certifications, portal.</a:t>
            </a:r>
            <a:endParaRPr lang="en-US" sz="950" dirty="0"/>
          </a:p>
        </p:txBody>
      </p:sp>
      <p:sp>
        <p:nvSpPr>
          <p:cNvPr id="13" name="anim-3-9"/>
          <p:cNvSpPr/>
          <p:nvPr/>
        </p:nvSpPr>
        <p:spPr>
          <a:xfrm>
            <a:off x="3340100" y="1308100"/>
            <a:ext cx="2679700" cy="2603500"/>
          </a:xfrm>
          <a:prstGeom prst="roundRect">
            <a:avLst>
              <a:gd name="adj" fmla="val 5854"/>
            </a:avLst>
          </a:prstGeom>
          <a:solidFill>
            <a:srgbClr val="FFFFFF">
              <a:alpha val="5000"/>
            </a:srgbClr>
          </a:solidFill>
          <a:ln w="9525">
            <a:solidFill>
              <a:srgbClr val="FFFFFF">
                <a:alpha val="12000"/>
              </a:srgbClr>
            </a:solidFill>
            <a:prstDash val="solid"/>
          </a:ln>
        </p:spPr>
      </p:sp>
      <p:sp>
        <p:nvSpPr>
          <p:cNvPr id="14" name="anim-3-10"/>
          <p:cNvSpPr txBox="1"/>
          <p:nvPr/>
        </p:nvSpPr>
        <p:spPr>
          <a:xfrm>
            <a:off x="3517900" y="1460500"/>
            <a:ext cx="23241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2–4</a:t>
            </a:r>
            <a:endParaRPr lang="en-US" sz="750" dirty="0"/>
          </a:p>
        </p:txBody>
      </p:sp>
      <p:sp>
        <p:nvSpPr>
          <p:cNvPr id="15" name="anim-3-11"/>
          <p:cNvSpPr txBox="1"/>
          <p:nvPr/>
        </p:nvSpPr>
        <p:spPr>
          <a:xfrm>
            <a:off x="3517900" y="1625600"/>
            <a:ext cx="2324100" cy="279400"/>
          </a:xfrm>
          <a:prstGeom prst="rect">
            <a:avLst/>
          </a:prstGeom>
          <a:noFill/>
          <a:ln/>
        </p:spPr>
        <p:txBody>
          <a:bodyPr wrap="square" lIns="0" tIns="0" rIns="0" bIns="0" rtlCol="0" anchor="t"/>
          <a:lstStyle/>
          <a:p>
            <a:pPr algn="l" indent="0" marL="0">
              <a:lnSpc>
                <a:spcPct val="112000"/>
              </a:lnSpc>
              <a:buNone/>
            </a:pPr>
            <a:r>
              <a:rPr lang="en-US" sz="1500" b="1" dirty="0">
                <a:solidFill>
                  <a:srgbClr val="FFFFFF"/>
                </a:solidFill>
                <a:latin typeface="Plus Jakarta Sans" pitchFamily="34" charset="0"/>
                <a:ea typeface="Plus Jakarta Sans" pitchFamily="34" charset="-122"/>
                <a:cs typeface="Plus Jakarta Sans" pitchFamily="34" charset="-120"/>
              </a:rPr>
              <a:t>Growth</a:t>
            </a:r>
            <a:endParaRPr lang="en-US" sz="1500" dirty="0"/>
          </a:p>
        </p:txBody>
      </p:sp>
      <p:sp>
        <p:nvSpPr>
          <p:cNvPr id="16" name="anim-3-12"/>
          <p:cNvSpPr txBox="1"/>
          <p:nvPr/>
        </p:nvSpPr>
        <p:spPr>
          <a:xfrm>
            <a:off x="3517900" y="2032000"/>
            <a:ext cx="2324100" cy="571500"/>
          </a:xfrm>
          <a:prstGeom prst="rect">
            <a:avLst/>
          </a:prstGeom>
          <a:noFill/>
          <a:ln/>
        </p:spPr>
        <p:txBody>
          <a:bodyPr wrap="square" lIns="0" tIns="0" rIns="0" bIns="0" rtlCol="0" anchor="t"/>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$5,000</a:t>
            </a:r>
            <a:endParaRPr lang="en-US" sz="3600" dirty="0"/>
          </a:p>
        </p:txBody>
      </p:sp>
      <p:sp>
        <p:nvSpPr>
          <p:cNvPr id="17" name="anim-3-13"/>
          <p:cNvSpPr txBox="1"/>
          <p:nvPr/>
        </p:nvSpPr>
        <p:spPr>
          <a:xfrm>
            <a:off x="3517900" y="2730500"/>
            <a:ext cx="2324100" cy="1016000"/>
          </a:xfrm>
          <a:prstGeom prst="rect">
            <a:avLst/>
          </a:prstGeom>
          <a:noFill/>
          <a:ln/>
        </p:spPr>
        <p:txBody>
          <a:bodyPr wrap="square" lIns="0" tIns="0" rIns="0" bIns="0" rtlCol="0" anchor="t"/>
          <a:lstStyle/>
          <a:p>
            <a:pPr algn="l" indent="0" marL="0">
              <a:lnSpc>
                <a:spcPct val="125000"/>
              </a:lnSpc>
              <a:buNone/>
            </a:pPr>
            <a:r>
              <a:rPr lang="en-US" sz="950" dirty="0">
                <a:solidFill>
                  <a:srgbClr val="C3C8D1"/>
                </a:solidFill>
                <a:latin typeface="Plus Jakarta Sans" pitchFamily="34" charset="0"/>
                <a:ea typeface="Plus Jakarta Sans" pitchFamily="34" charset="-122"/>
                <a:cs typeface="Plus Jakarta Sans" pitchFamily="34" charset="-120"/>
              </a:rPr>
              <a:t>Demo access, 5 certifications, 10 advisory hours, GTM workshop.</a:t>
            </a:r>
            <a:endParaRPr lang="en-US" sz="950" dirty="0"/>
          </a:p>
        </p:txBody>
      </p:sp>
      <p:sp>
        <p:nvSpPr>
          <p:cNvPr id="18" name="anim-4-14"/>
          <p:cNvSpPr/>
          <p:nvPr/>
        </p:nvSpPr>
        <p:spPr>
          <a:xfrm>
            <a:off x="6172200" y="1308100"/>
            <a:ext cx="2679700" cy="2603500"/>
          </a:xfrm>
          <a:prstGeom prst="roundRect">
            <a:avLst>
              <a:gd name="adj" fmla="val 5854"/>
            </a:avLst>
          </a:prstGeom>
          <a:solidFill>
            <a:srgbClr val="FFFFFF">
              <a:alpha val="5000"/>
            </a:srgbClr>
          </a:solidFill>
          <a:ln w="9525">
            <a:solidFill>
              <a:srgbClr val="FFFFFF">
                <a:alpha val="12000"/>
              </a:srgbClr>
            </a:solidFill>
            <a:prstDash val="solid"/>
          </a:ln>
        </p:spPr>
      </p:sp>
      <p:sp>
        <p:nvSpPr>
          <p:cNvPr id="19" name="anim-4-15"/>
          <p:cNvSpPr txBox="1"/>
          <p:nvPr/>
        </p:nvSpPr>
        <p:spPr>
          <a:xfrm>
            <a:off x="6350000" y="1460500"/>
            <a:ext cx="23241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15B6FF"/>
                </a:solidFill>
                <a:latin typeface="Plus Jakarta Sans SemiBold" pitchFamily="34" charset="0"/>
                <a:ea typeface="Plus Jakarta Sans SemiBold" pitchFamily="34" charset="-122"/>
                <a:cs typeface="Plus Jakarta Sans SemiBold" pitchFamily="34" charset="-120"/>
              </a:rPr>
              <a:t>LEVEL 3–5</a:t>
            </a:r>
            <a:endParaRPr lang="en-US" sz="750" dirty="0"/>
          </a:p>
        </p:txBody>
      </p:sp>
      <p:sp>
        <p:nvSpPr>
          <p:cNvPr id="20" name="anim-4-16"/>
          <p:cNvSpPr txBox="1"/>
          <p:nvPr/>
        </p:nvSpPr>
        <p:spPr>
          <a:xfrm>
            <a:off x="6350000" y="1625600"/>
            <a:ext cx="2324100" cy="279400"/>
          </a:xfrm>
          <a:prstGeom prst="rect">
            <a:avLst/>
          </a:prstGeom>
          <a:noFill/>
          <a:ln/>
        </p:spPr>
        <p:txBody>
          <a:bodyPr wrap="square" lIns="0" tIns="0" rIns="0" bIns="0" rtlCol="0" anchor="t"/>
          <a:lstStyle/>
          <a:p>
            <a:pPr algn="l" indent="0" marL="0">
              <a:lnSpc>
                <a:spcPct val="112000"/>
              </a:lnSpc>
              <a:buNone/>
            </a:pPr>
            <a:r>
              <a:rPr lang="en-US" sz="1500" b="1" dirty="0">
                <a:solidFill>
                  <a:srgbClr val="FFFFFF"/>
                </a:solidFill>
                <a:latin typeface="Plus Jakarta Sans" pitchFamily="34" charset="0"/>
                <a:ea typeface="Plus Jakarta Sans" pitchFamily="34" charset="-122"/>
                <a:cs typeface="Plus Jakarta Sans" pitchFamily="34" charset="-120"/>
              </a:rPr>
              <a:t>Practice Builder</a:t>
            </a:r>
            <a:endParaRPr lang="en-US" sz="1500" dirty="0"/>
          </a:p>
        </p:txBody>
      </p:sp>
      <p:sp>
        <p:nvSpPr>
          <p:cNvPr id="21" name="anim-4-17"/>
          <p:cNvSpPr txBox="1"/>
          <p:nvPr/>
        </p:nvSpPr>
        <p:spPr>
          <a:xfrm>
            <a:off x="6350000" y="2032000"/>
            <a:ext cx="2324100" cy="571500"/>
          </a:xfrm>
          <a:prstGeom prst="rect">
            <a:avLst/>
          </a:prstGeom>
          <a:noFill/>
          <a:ln/>
        </p:spPr>
        <p:txBody>
          <a:bodyPr wrap="square" lIns="0" tIns="0" rIns="0" bIns="0" rtlCol="0" anchor="t"/>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$10,000</a:t>
            </a:r>
            <a:endParaRPr lang="en-US" sz="3600" dirty="0"/>
          </a:p>
        </p:txBody>
      </p:sp>
      <p:sp>
        <p:nvSpPr>
          <p:cNvPr id="22" name="anim-4-18"/>
          <p:cNvSpPr txBox="1"/>
          <p:nvPr/>
        </p:nvSpPr>
        <p:spPr>
          <a:xfrm>
            <a:off x="6350000" y="2730500"/>
            <a:ext cx="2324100" cy="1016000"/>
          </a:xfrm>
          <a:prstGeom prst="rect">
            <a:avLst/>
          </a:prstGeom>
          <a:noFill/>
          <a:ln/>
        </p:spPr>
        <p:txBody>
          <a:bodyPr wrap="square" lIns="0" tIns="0" rIns="0" bIns="0" rtlCol="0" anchor="t"/>
          <a:lstStyle/>
          <a:p>
            <a:pPr algn="l" indent="0" marL="0">
              <a:lnSpc>
                <a:spcPct val="125000"/>
              </a:lnSpc>
              <a:buNone/>
            </a:pPr>
            <a:r>
              <a:rPr lang="en-US" sz="950" dirty="0">
                <a:solidFill>
                  <a:srgbClr val="C3C8D1"/>
                </a:solidFill>
                <a:latin typeface="Plus Jakarta Sans" pitchFamily="34" charset="0"/>
                <a:ea typeface="Plus Jakarta Sans" pitchFamily="34" charset="-122"/>
                <a:cs typeface="Plus Jakarta Sans" pitchFamily="34" charset="-120"/>
              </a:rPr>
              <a:t>Advanced sandbox, 10 certifications, 25 advisory hours, architecture workshop.</a:t>
            </a:r>
            <a:endParaRPr lang="en-US" sz="950" dirty="0"/>
          </a:p>
        </p:txBody>
      </p:sp>
      <p:sp>
        <p:nvSpPr>
          <p:cNvPr id="23" name="anim-5-19"/>
          <p:cNvSpPr/>
          <p:nvPr/>
        </p:nvSpPr>
        <p:spPr>
          <a:xfrm>
            <a:off x="9004300" y="1308100"/>
            <a:ext cx="2679700" cy="2603500"/>
          </a:xfrm>
          <a:prstGeom prst="roundRect">
            <a:avLst>
              <a:gd name="adj" fmla="val 5854"/>
            </a:avLst>
          </a:prstGeom>
          <a:solidFill>
            <a:srgbClr val="194EFF"/>
          </a:solidFill>
          <a:ln w="9525">
            <a:solidFill>
              <a:srgbClr val="15B6FF">
                <a:alpha val="40000"/>
              </a:srgbClr>
            </a:solidFill>
            <a:prstDash val="solid"/>
          </a:ln>
        </p:spPr>
      </p:sp>
      <p:sp>
        <p:nvSpPr>
          <p:cNvPr id="24" name="anim-5-20"/>
          <p:cNvSpPr txBox="1"/>
          <p:nvPr/>
        </p:nvSpPr>
        <p:spPr>
          <a:xfrm>
            <a:off x="9182100" y="1460500"/>
            <a:ext cx="2324100" cy="139700"/>
          </a:xfrm>
          <a:prstGeom prst="rect">
            <a:avLst/>
          </a:prstGeom>
          <a:noFill/>
          <a:ln/>
        </p:spPr>
        <p:txBody>
          <a:bodyPr wrap="square" lIns="0" tIns="0" rIns="0" bIns="0" rtlCol="0" anchor="t"/>
          <a:lstStyle/>
          <a:p>
            <a:pPr algn="l" indent="0" marL="0">
              <a:lnSpc>
                <a:spcPct val="112000"/>
              </a:lnSpc>
              <a:buNone/>
            </a:pPr>
            <a:r>
              <a:rPr lang="en-US" sz="750" spc="200" kern="0" dirty="0">
                <a:solidFill>
                  <a:srgbClr val="FFFFFF"/>
                </a:solidFill>
                <a:latin typeface="Plus Jakarta Sans SemiBold" pitchFamily="34" charset="0"/>
                <a:ea typeface="Plus Jakarta Sans SemiBold" pitchFamily="34" charset="-122"/>
                <a:cs typeface="Plus Jakarta Sans SemiBold" pitchFamily="34" charset="-120"/>
              </a:rPr>
              <a:t>LEVEL 4–5</a:t>
            </a:r>
            <a:endParaRPr lang="en-US" sz="750" dirty="0"/>
          </a:p>
        </p:txBody>
      </p:sp>
      <p:sp>
        <p:nvSpPr>
          <p:cNvPr id="25" name="anim-5-21"/>
          <p:cNvSpPr txBox="1"/>
          <p:nvPr/>
        </p:nvSpPr>
        <p:spPr>
          <a:xfrm>
            <a:off x="9182100" y="1625600"/>
            <a:ext cx="2324100" cy="279400"/>
          </a:xfrm>
          <a:prstGeom prst="rect">
            <a:avLst/>
          </a:prstGeom>
          <a:noFill/>
          <a:ln/>
        </p:spPr>
        <p:txBody>
          <a:bodyPr wrap="square" lIns="0" tIns="0" rIns="0" bIns="0" rtlCol="0" anchor="t"/>
          <a:lstStyle/>
          <a:p>
            <a:pPr algn="l" indent="0" marL="0">
              <a:lnSpc>
                <a:spcPct val="112000"/>
              </a:lnSpc>
              <a:buNone/>
            </a:pPr>
            <a:r>
              <a:rPr lang="en-US" sz="1500" b="1" dirty="0">
                <a:solidFill>
                  <a:srgbClr val="FFFFFF"/>
                </a:solidFill>
                <a:latin typeface="Plus Jakarta Sans" pitchFamily="34" charset="0"/>
                <a:ea typeface="Plus Jakarta Sans" pitchFamily="34" charset="-122"/>
                <a:cs typeface="Plus Jakarta Sans" pitchFamily="34" charset="-120"/>
              </a:rPr>
              <a:t>Strategic Alliance</a:t>
            </a:r>
            <a:endParaRPr lang="en-US" sz="1500" dirty="0"/>
          </a:p>
        </p:txBody>
      </p:sp>
      <p:sp>
        <p:nvSpPr>
          <p:cNvPr id="26" name="anim-5-22"/>
          <p:cNvSpPr txBox="1"/>
          <p:nvPr/>
        </p:nvSpPr>
        <p:spPr>
          <a:xfrm>
            <a:off x="9182100" y="2032000"/>
            <a:ext cx="2324100" cy="571500"/>
          </a:xfrm>
          <a:prstGeom prst="rect">
            <a:avLst/>
          </a:prstGeom>
          <a:noFill/>
          <a:ln/>
        </p:spPr>
        <p:txBody>
          <a:bodyPr wrap="square" lIns="0" tIns="0" rIns="0" bIns="0" rtlCol="0" anchor="t"/>
          <a:lstStyle/>
          <a:p>
            <a:pPr algn="l" indent="0" marL="0">
              <a:lnSpc>
                <a:spcPct val="112000"/>
              </a:lnSpc>
              <a:buNone/>
            </a:pPr>
            <a:r>
              <a:rPr lang="en-US" sz="3600" b="1" dirty="0">
                <a:solidFill>
                  <a:srgbClr val="FFFFFF"/>
                </a:solidFill>
                <a:latin typeface="Plus Jakarta Sans" pitchFamily="34" charset="0"/>
                <a:ea typeface="Plus Jakarta Sans" pitchFamily="34" charset="-122"/>
                <a:cs typeface="Plus Jakarta Sans" pitchFamily="34" charset="-120"/>
              </a:rPr>
              <a:t>$20,000</a:t>
            </a:r>
            <a:endParaRPr lang="en-US" sz="3600" dirty="0"/>
          </a:p>
        </p:txBody>
      </p:sp>
      <p:sp>
        <p:nvSpPr>
          <p:cNvPr id="27" name="anim-5-23"/>
          <p:cNvSpPr txBox="1"/>
          <p:nvPr/>
        </p:nvSpPr>
        <p:spPr>
          <a:xfrm>
            <a:off x="9182100" y="2730500"/>
            <a:ext cx="2324100" cy="1016000"/>
          </a:xfrm>
          <a:prstGeom prst="rect">
            <a:avLst/>
          </a:prstGeom>
          <a:noFill/>
          <a:ln/>
        </p:spPr>
        <p:txBody>
          <a:bodyPr wrap="square" lIns="0" tIns="0" rIns="0" bIns="0" rtlCol="0" anchor="t"/>
          <a:lstStyle/>
          <a:p>
            <a:pPr algn="l" indent="0" marL="0">
              <a:lnSpc>
                <a:spcPct val="125000"/>
              </a:lnSpc>
              <a:buNone/>
            </a:pPr>
            <a:r>
              <a:rPr lang="en-US" sz="950" dirty="0">
                <a:solidFill>
                  <a:srgbClr val="FFFFFF"/>
                </a:solidFill>
                <a:latin typeface="Plus Jakarta Sans" pitchFamily="34" charset="0"/>
                <a:ea typeface="Plus Jakarta Sans" pitchFamily="34" charset="-122"/>
                <a:cs typeface="Plus Jakarta Sans" pitchFamily="34" charset="-120"/>
              </a:rPr>
              <a:t>Executive enablement, joint account mapping, 50 advisory hours, roadmap session.</a:t>
            </a:r>
            <a:endParaRPr lang="en-US" sz="950" dirty="0"/>
          </a:p>
        </p:txBody>
      </p:sp>
      <p:sp>
        <p:nvSpPr>
          <p:cNvPr id="28" name="anim-6-24"/>
          <p:cNvSpPr/>
          <p:nvPr/>
        </p:nvSpPr>
        <p:spPr>
          <a:xfrm>
            <a:off x="508000" y="4064000"/>
            <a:ext cx="11176000" cy="1447800"/>
          </a:xfrm>
          <a:prstGeom prst="roundRect">
            <a:avLst>
              <a:gd name="adj" fmla="val 10526"/>
            </a:avLst>
          </a:prstGeom>
          <a:solidFill>
            <a:srgbClr val="FFFFFF">
              <a:alpha val="5000"/>
            </a:srgbClr>
          </a:solidFill>
          <a:ln w="9525">
            <a:solidFill>
              <a:srgbClr val="FFFFFF">
                <a:alpha val="12000"/>
              </a:srgbClr>
            </a:solidFill>
            <a:prstDash val="solid"/>
          </a:ln>
        </p:spPr>
      </p:sp>
      <p:sp>
        <p:nvSpPr>
          <p:cNvPr id="29" name="anim-6-25"/>
          <p:cNvSpPr txBox="1"/>
          <p:nvPr/>
        </p:nvSpPr>
        <p:spPr>
          <a:xfrm>
            <a:off x="711200" y="4203700"/>
            <a:ext cx="5715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SHARED CUSTOMER-SUCCESS COMMITMENT</a:t>
            </a:r>
            <a:endParaRPr lang="en-US" sz="800" dirty="0"/>
          </a:p>
        </p:txBody>
      </p:sp>
      <p:sp>
        <p:nvSpPr>
          <p:cNvPr id="30" name="anim-7-26"/>
          <p:cNvSpPr/>
          <p:nvPr/>
        </p:nvSpPr>
        <p:spPr>
          <a:xfrm>
            <a:off x="711200" y="4483100"/>
            <a:ext cx="1689100" cy="863600"/>
          </a:xfrm>
          <a:prstGeom prst="roundRect">
            <a:avLst>
              <a:gd name="adj" fmla="val 11765"/>
            </a:avLst>
          </a:prstGeom>
          <a:solidFill>
            <a:srgbClr val="FFFFFF">
              <a:alpha val="7000"/>
            </a:srgbClr>
          </a:solidFill>
          <a:ln w="9525">
            <a:solidFill>
              <a:srgbClr val="FFFFFF">
                <a:alpha val="18000"/>
              </a:srgbClr>
            </a:solidFill>
            <a:prstDash val="solid"/>
          </a:ln>
        </p:spPr>
      </p:sp>
      <p:sp>
        <p:nvSpPr>
          <p:cNvPr id="31" name="anim-7-27"/>
          <p:cNvSpPr txBox="1"/>
          <p:nvPr/>
        </p:nvSpPr>
        <p:spPr>
          <a:xfrm>
            <a:off x="838200" y="4572000"/>
            <a:ext cx="508000" cy="2540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01</a:t>
            </a:r>
            <a:endParaRPr lang="en-US" sz="1600" dirty="0"/>
          </a:p>
        </p:txBody>
      </p:sp>
      <p:sp>
        <p:nvSpPr>
          <p:cNvPr id="32" name="anim-7-28"/>
          <p:cNvSpPr txBox="1"/>
          <p:nvPr/>
        </p:nvSpPr>
        <p:spPr>
          <a:xfrm>
            <a:off x="838200" y="4889500"/>
            <a:ext cx="1435100" cy="3810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Discovery &amp; qualification</a:t>
            </a:r>
            <a:endParaRPr lang="en-US" sz="950" dirty="0"/>
          </a:p>
        </p:txBody>
      </p:sp>
      <p:sp>
        <p:nvSpPr>
          <p:cNvPr id="33" name="anim-7-29"/>
          <p:cNvSpPr txBox="1"/>
          <p:nvPr/>
        </p:nvSpPr>
        <p:spPr>
          <a:xfrm>
            <a:off x="2387600" y="4787900"/>
            <a:ext cx="152400" cy="228600"/>
          </a:xfrm>
          <a:prstGeom prst="rect">
            <a:avLst/>
          </a:prstGeom>
          <a:noFill/>
          <a:ln/>
        </p:spPr>
        <p:txBody>
          <a:bodyPr wrap="square" lIns="0" tIns="0" rIns="0" bIns="0" rtlCol="0" anchor="t"/>
          <a:lstStyle/>
          <a:p>
            <a:pPr algn="l" indent="0" marL="0">
              <a:lnSpc>
                <a:spcPct val="112000"/>
              </a:lnSpc>
              <a:buNone/>
            </a:pPr>
            <a:r>
              <a:rPr lang="en-US" sz="1000" b="1" dirty="0">
                <a:solidFill>
                  <a:srgbClr val="15B6FF"/>
                </a:solidFill>
                <a:latin typeface="Plus Jakarta Sans" pitchFamily="34" charset="0"/>
                <a:ea typeface="Plus Jakarta Sans" pitchFamily="34" charset="-122"/>
                <a:cs typeface="Plus Jakarta Sans" pitchFamily="34" charset="-120"/>
              </a:rPr>
              <a:t>→</a:t>
            </a:r>
            <a:endParaRPr lang="en-US" sz="1000" dirty="0"/>
          </a:p>
        </p:txBody>
      </p:sp>
      <p:sp>
        <p:nvSpPr>
          <p:cNvPr id="34" name="anim-7-30"/>
          <p:cNvSpPr/>
          <p:nvPr/>
        </p:nvSpPr>
        <p:spPr>
          <a:xfrm>
            <a:off x="2527300" y="4483100"/>
            <a:ext cx="1689100" cy="863600"/>
          </a:xfrm>
          <a:prstGeom prst="roundRect">
            <a:avLst>
              <a:gd name="adj" fmla="val 11765"/>
            </a:avLst>
          </a:prstGeom>
          <a:solidFill>
            <a:srgbClr val="FFFFFF">
              <a:alpha val="7000"/>
            </a:srgbClr>
          </a:solidFill>
          <a:ln w="9525">
            <a:solidFill>
              <a:srgbClr val="FFFFFF">
                <a:alpha val="18000"/>
              </a:srgbClr>
            </a:solidFill>
            <a:prstDash val="solid"/>
          </a:ln>
        </p:spPr>
      </p:sp>
      <p:sp>
        <p:nvSpPr>
          <p:cNvPr id="35" name="anim-7-31"/>
          <p:cNvSpPr txBox="1"/>
          <p:nvPr/>
        </p:nvSpPr>
        <p:spPr>
          <a:xfrm>
            <a:off x="2654300" y="4572000"/>
            <a:ext cx="508000" cy="2540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02</a:t>
            </a:r>
            <a:endParaRPr lang="en-US" sz="1600" dirty="0"/>
          </a:p>
        </p:txBody>
      </p:sp>
      <p:sp>
        <p:nvSpPr>
          <p:cNvPr id="36" name="anim-7-32"/>
          <p:cNvSpPr txBox="1"/>
          <p:nvPr/>
        </p:nvSpPr>
        <p:spPr>
          <a:xfrm>
            <a:off x="2654300" y="4889500"/>
            <a:ext cx="1435100" cy="3810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Proposal &amp; scoping</a:t>
            </a:r>
            <a:endParaRPr lang="en-US" sz="950" dirty="0"/>
          </a:p>
        </p:txBody>
      </p:sp>
      <p:sp>
        <p:nvSpPr>
          <p:cNvPr id="37" name="anim-7-33"/>
          <p:cNvSpPr txBox="1"/>
          <p:nvPr/>
        </p:nvSpPr>
        <p:spPr>
          <a:xfrm>
            <a:off x="4203700" y="4787900"/>
            <a:ext cx="152400" cy="228600"/>
          </a:xfrm>
          <a:prstGeom prst="rect">
            <a:avLst/>
          </a:prstGeom>
          <a:noFill/>
          <a:ln/>
        </p:spPr>
        <p:txBody>
          <a:bodyPr wrap="square" lIns="0" tIns="0" rIns="0" bIns="0" rtlCol="0" anchor="t"/>
          <a:lstStyle/>
          <a:p>
            <a:pPr algn="l" indent="0" marL="0">
              <a:lnSpc>
                <a:spcPct val="112000"/>
              </a:lnSpc>
              <a:buNone/>
            </a:pPr>
            <a:r>
              <a:rPr lang="en-US" sz="1000" b="1" dirty="0">
                <a:solidFill>
                  <a:srgbClr val="15B6FF"/>
                </a:solidFill>
                <a:latin typeface="Plus Jakarta Sans" pitchFamily="34" charset="0"/>
                <a:ea typeface="Plus Jakarta Sans" pitchFamily="34" charset="-122"/>
                <a:cs typeface="Plus Jakarta Sans" pitchFamily="34" charset="-120"/>
              </a:rPr>
              <a:t>→</a:t>
            </a:r>
            <a:endParaRPr lang="en-US" sz="1000" dirty="0"/>
          </a:p>
        </p:txBody>
      </p:sp>
      <p:sp>
        <p:nvSpPr>
          <p:cNvPr id="38" name="anim-7-34"/>
          <p:cNvSpPr/>
          <p:nvPr/>
        </p:nvSpPr>
        <p:spPr>
          <a:xfrm>
            <a:off x="4343400" y="4483100"/>
            <a:ext cx="1689100" cy="863600"/>
          </a:xfrm>
          <a:prstGeom prst="roundRect">
            <a:avLst>
              <a:gd name="adj" fmla="val 11765"/>
            </a:avLst>
          </a:prstGeom>
          <a:solidFill>
            <a:srgbClr val="FFFFFF">
              <a:alpha val="7000"/>
            </a:srgbClr>
          </a:solidFill>
          <a:ln w="9525">
            <a:solidFill>
              <a:srgbClr val="FFFFFF">
                <a:alpha val="18000"/>
              </a:srgbClr>
            </a:solidFill>
            <a:prstDash val="solid"/>
          </a:ln>
        </p:spPr>
      </p:sp>
      <p:sp>
        <p:nvSpPr>
          <p:cNvPr id="39" name="anim-7-35"/>
          <p:cNvSpPr txBox="1"/>
          <p:nvPr/>
        </p:nvSpPr>
        <p:spPr>
          <a:xfrm>
            <a:off x="4470400" y="4572000"/>
            <a:ext cx="508000" cy="2540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03</a:t>
            </a:r>
            <a:endParaRPr lang="en-US" sz="1600" dirty="0"/>
          </a:p>
        </p:txBody>
      </p:sp>
      <p:sp>
        <p:nvSpPr>
          <p:cNvPr id="40" name="anim-7-36"/>
          <p:cNvSpPr txBox="1"/>
          <p:nvPr/>
        </p:nvSpPr>
        <p:spPr>
          <a:xfrm>
            <a:off x="4470400" y="4889500"/>
            <a:ext cx="1435100" cy="3810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Implementation readiness</a:t>
            </a:r>
            <a:endParaRPr lang="en-US" sz="950" dirty="0"/>
          </a:p>
        </p:txBody>
      </p:sp>
      <p:sp>
        <p:nvSpPr>
          <p:cNvPr id="41" name="anim-7-37"/>
          <p:cNvSpPr txBox="1"/>
          <p:nvPr/>
        </p:nvSpPr>
        <p:spPr>
          <a:xfrm>
            <a:off x="6019800" y="4787900"/>
            <a:ext cx="152400" cy="228600"/>
          </a:xfrm>
          <a:prstGeom prst="rect">
            <a:avLst/>
          </a:prstGeom>
          <a:noFill/>
          <a:ln/>
        </p:spPr>
        <p:txBody>
          <a:bodyPr wrap="square" lIns="0" tIns="0" rIns="0" bIns="0" rtlCol="0" anchor="t"/>
          <a:lstStyle/>
          <a:p>
            <a:pPr algn="l" indent="0" marL="0">
              <a:lnSpc>
                <a:spcPct val="112000"/>
              </a:lnSpc>
              <a:buNone/>
            </a:pPr>
            <a:r>
              <a:rPr lang="en-US" sz="1000" b="1" dirty="0">
                <a:solidFill>
                  <a:srgbClr val="15B6FF"/>
                </a:solidFill>
                <a:latin typeface="Plus Jakarta Sans" pitchFamily="34" charset="0"/>
                <a:ea typeface="Plus Jakarta Sans" pitchFamily="34" charset="-122"/>
                <a:cs typeface="Plus Jakarta Sans" pitchFamily="34" charset="-120"/>
              </a:rPr>
              <a:t>→</a:t>
            </a:r>
            <a:endParaRPr lang="en-US" sz="1000" dirty="0"/>
          </a:p>
        </p:txBody>
      </p:sp>
      <p:sp>
        <p:nvSpPr>
          <p:cNvPr id="42" name="anim-7-38"/>
          <p:cNvSpPr/>
          <p:nvPr/>
        </p:nvSpPr>
        <p:spPr>
          <a:xfrm>
            <a:off x="6159500" y="4483100"/>
            <a:ext cx="1689100" cy="863600"/>
          </a:xfrm>
          <a:prstGeom prst="roundRect">
            <a:avLst>
              <a:gd name="adj" fmla="val 11765"/>
            </a:avLst>
          </a:prstGeom>
          <a:solidFill>
            <a:srgbClr val="FFFFFF">
              <a:alpha val="7000"/>
            </a:srgbClr>
          </a:solidFill>
          <a:ln w="9525">
            <a:solidFill>
              <a:srgbClr val="FFFFFF">
                <a:alpha val="18000"/>
              </a:srgbClr>
            </a:solidFill>
            <a:prstDash val="solid"/>
          </a:ln>
        </p:spPr>
      </p:sp>
      <p:sp>
        <p:nvSpPr>
          <p:cNvPr id="43" name="anim-7-39"/>
          <p:cNvSpPr txBox="1"/>
          <p:nvPr/>
        </p:nvSpPr>
        <p:spPr>
          <a:xfrm>
            <a:off x="6286500" y="4572000"/>
            <a:ext cx="508000" cy="2540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04</a:t>
            </a:r>
            <a:endParaRPr lang="en-US" sz="1600" dirty="0"/>
          </a:p>
        </p:txBody>
      </p:sp>
      <p:sp>
        <p:nvSpPr>
          <p:cNvPr id="44" name="anim-7-40"/>
          <p:cNvSpPr txBox="1"/>
          <p:nvPr/>
        </p:nvSpPr>
        <p:spPr>
          <a:xfrm>
            <a:off x="6286500" y="4889500"/>
            <a:ext cx="1435100" cy="3810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Customer success</a:t>
            </a:r>
            <a:endParaRPr lang="en-US" sz="950" dirty="0"/>
          </a:p>
        </p:txBody>
      </p:sp>
      <p:sp>
        <p:nvSpPr>
          <p:cNvPr id="45" name="anim-7-41"/>
          <p:cNvSpPr txBox="1"/>
          <p:nvPr/>
        </p:nvSpPr>
        <p:spPr>
          <a:xfrm>
            <a:off x="7835900" y="4787900"/>
            <a:ext cx="152400" cy="228600"/>
          </a:xfrm>
          <a:prstGeom prst="rect">
            <a:avLst/>
          </a:prstGeom>
          <a:noFill/>
          <a:ln/>
        </p:spPr>
        <p:txBody>
          <a:bodyPr wrap="square" lIns="0" tIns="0" rIns="0" bIns="0" rtlCol="0" anchor="t"/>
          <a:lstStyle/>
          <a:p>
            <a:pPr algn="l" indent="0" marL="0">
              <a:lnSpc>
                <a:spcPct val="112000"/>
              </a:lnSpc>
              <a:buNone/>
            </a:pPr>
            <a:r>
              <a:rPr lang="en-US" sz="1000" b="1" dirty="0">
                <a:solidFill>
                  <a:srgbClr val="15B6FF"/>
                </a:solidFill>
                <a:latin typeface="Plus Jakarta Sans" pitchFamily="34" charset="0"/>
                <a:ea typeface="Plus Jakarta Sans" pitchFamily="34" charset="-122"/>
                <a:cs typeface="Plus Jakarta Sans" pitchFamily="34" charset="-120"/>
              </a:rPr>
              <a:t>→</a:t>
            </a:r>
            <a:endParaRPr lang="en-US" sz="1000" dirty="0"/>
          </a:p>
        </p:txBody>
      </p:sp>
      <p:sp>
        <p:nvSpPr>
          <p:cNvPr id="46" name="anim-7-42"/>
          <p:cNvSpPr/>
          <p:nvPr/>
        </p:nvSpPr>
        <p:spPr>
          <a:xfrm>
            <a:off x="7975600" y="4483100"/>
            <a:ext cx="1689100" cy="863600"/>
          </a:xfrm>
          <a:prstGeom prst="roundRect">
            <a:avLst>
              <a:gd name="adj" fmla="val 11765"/>
            </a:avLst>
          </a:prstGeom>
          <a:solidFill>
            <a:srgbClr val="FFFFFF">
              <a:alpha val="7000"/>
            </a:srgbClr>
          </a:solidFill>
          <a:ln w="9525">
            <a:solidFill>
              <a:srgbClr val="FFFFFF">
                <a:alpha val="18000"/>
              </a:srgbClr>
            </a:solidFill>
            <a:prstDash val="solid"/>
          </a:ln>
        </p:spPr>
      </p:sp>
      <p:sp>
        <p:nvSpPr>
          <p:cNvPr id="47" name="anim-7-43"/>
          <p:cNvSpPr txBox="1"/>
          <p:nvPr/>
        </p:nvSpPr>
        <p:spPr>
          <a:xfrm>
            <a:off x="8102600" y="4572000"/>
            <a:ext cx="508000" cy="2540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05</a:t>
            </a:r>
            <a:endParaRPr lang="en-US" sz="1600" dirty="0"/>
          </a:p>
        </p:txBody>
      </p:sp>
      <p:sp>
        <p:nvSpPr>
          <p:cNvPr id="48" name="anim-7-44"/>
          <p:cNvSpPr txBox="1"/>
          <p:nvPr/>
        </p:nvSpPr>
        <p:spPr>
          <a:xfrm>
            <a:off x="8102600" y="4889500"/>
            <a:ext cx="1435100" cy="3810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Escalation handling</a:t>
            </a:r>
            <a:endParaRPr lang="en-US" sz="950" dirty="0"/>
          </a:p>
        </p:txBody>
      </p:sp>
      <p:sp>
        <p:nvSpPr>
          <p:cNvPr id="49" name="anim-7-45"/>
          <p:cNvSpPr txBox="1"/>
          <p:nvPr/>
        </p:nvSpPr>
        <p:spPr>
          <a:xfrm>
            <a:off x="9652000" y="4787900"/>
            <a:ext cx="152400" cy="228600"/>
          </a:xfrm>
          <a:prstGeom prst="rect">
            <a:avLst/>
          </a:prstGeom>
          <a:noFill/>
          <a:ln/>
        </p:spPr>
        <p:txBody>
          <a:bodyPr wrap="square" lIns="0" tIns="0" rIns="0" bIns="0" rtlCol="0" anchor="t"/>
          <a:lstStyle/>
          <a:p>
            <a:pPr algn="l" indent="0" marL="0">
              <a:lnSpc>
                <a:spcPct val="112000"/>
              </a:lnSpc>
              <a:buNone/>
            </a:pPr>
            <a:r>
              <a:rPr lang="en-US" sz="1000" b="1" dirty="0">
                <a:solidFill>
                  <a:srgbClr val="15B6FF"/>
                </a:solidFill>
                <a:latin typeface="Plus Jakarta Sans" pitchFamily="34" charset="0"/>
                <a:ea typeface="Plus Jakarta Sans" pitchFamily="34" charset="-122"/>
                <a:cs typeface="Plus Jakarta Sans" pitchFamily="34" charset="-120"/>
              </a:rPr>
              <a:t>→</a:t>
            </a:r>
            <a:endParaRPr lang="en-US" sz="1000" dirty="0"/>
          </a:p>
        </p:txBody>
      </p:sp>
      <p:sp>
        <p:nvSpPr>
          <p:cNvPr id="50" name="anim-7-46"/>
          <p:cNvSpPr/>
          <p:nvPr/>
        </p:nvSpPr>
        <p:spPr>
          <a:xfrm>
            <a:off x="9791700" y="4483100"/>
            <a:ext cx="1689100" cy="863600"/>
          </a:xfrm>
          <a:prstGeom prst="roundRect">
            <a:avLst>
              <a:gd name="adj" fmla="val 11765"/>
            </a:avLst>
          </a:prstGeom>
          <a:solidFill>
            <a:srgbClr val="194EFF"/>
          </a:solidFill>
          <a:ln/>
        </p:spPr>
      </p:sp>
      <p:sp>
        <p:nvSpPr>
          <p:cNvPr id="51" name="anim-7-47"/>
          <p:cNvSpPr txBox="1"/>
          <p:nvPr/>
        </p:nvSpPr>
        <p:spPr>
          <a:xfrm>
            <a:off x="9918700" y="4572000"/>
            <a:ext cx="508000" cy="254000"/>
          </a:xfrm>
          <a:prstGeom prst="rect">
            <a:avLst/>
          </a:prstGeom>
          <a:noFill/>
          <a:ln/>
        </p:spPr>
        <p:txBody>
          <a:bodyPr wrap="square" lIns="0" tIns="0" rIns="0" bIns="0" rtlCol="0" anchor="t"/>
          <a:lstStyle/>
          <a:p>
            <a:pPr algn="l" indent="0" marL="0">
              <a:lnSpc>
                <a:spcPct val="112000"/>
              </a:lnSpc>
              <a:buNone/>
            </a:pPr>
            <a:r>
              <a:rPr lang="en-US" sz="1600" dirty="0">
                <a:solidFill>
                  <a:srgbClr val="FFFFFF"/>
                </a:solidFill>
                <a:latin typeface="Plus Jakarta Sans Light" pitchFamily="34" charset="0"/>
                <a:ea typeface="Plus Jakarta Sans Light" pitchFamily="34" charset="-122"/>
                <a:cs typeface="Plus Jakarta Sans Light" pitchFamily="34" charset="-120"/>
              </a:rPr>
              <a:t>06</a:t>
            </a:r>
            <a:endParaRPr lang="en-US" sz="1600" dirty="0"/>
          </a:p>
        </p:txBody>
      </p:sp>
      <p:sp>
        <p:nvSpPr>
          <p:cNvPr id="52" name="anim-7-48"/>
          <p:cNvSpPr txBox="1"/>
          <p:nvPr/>
        </p:nvSpPr>
        <p:spPr>
          <a:xfrm>
            <a:off x="9918700" y="4889500"/>
            <a:ext cx="1435100" cy="3810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Ongoing governance</a:t>
            </a:r>
            <a:endParaRPr lang="en-US" sz="950" dirty="0"/>
          </a:p>
        </p:txBody>
      </p:sp>
      <p:sp>
        <p:nvSpPr>
          <p:cNvPr id="53" name="anim-9-49"/>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54" name="anim-9-50"/>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Commitment</a:t>
            </a:r>
            <a:endParaRPr lang="en-US" sz="1100" dirty="0"/>
          </a:p>
        </p:txBody>
      </p:sp>
      <p:sp>
        <p:nvSpPr>
          <p:cNvPr id="55" name="anim-9-51"/>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00" dirty="0">
                <a:solidFill>
                  <a:srgbClr val="FFFFFF"/>
                </a:solidFill>
                <a:latin typeface="Plus Jakarta Sans Medium" pitchFamily="34" charset="0"/>
                <a:ea typeface="Plus Jakarta Sans Medium" pitchFamily="34" charset="-122"/>
                <a:cs typeface="Plus Jakarta Sans Medium" pitchFamily="34" charset="-120"/>
              </a:rPr>
              <a:t>Level 4–5 partners keep a joint business plan, run ≥1 approved executive event or campaign, and show practice adoption.</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54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54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54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72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72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72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72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90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90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08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108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108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108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108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108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108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108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108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108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108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108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108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108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108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108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108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108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108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par>
                                <p:cTn id="137" presetID="10" presetClass="entr" presetSubtype="0" fill="hold" grpId="0" nodeType="withEffect">
                                  <p:stCondLst>
                                    <p:cond delay="108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500"/>
                                        <p:tgtEl>
                                          <p:spTgt spid="49"/>
                                        </p:tgtEl>
                                      </p:cBhvr>
                                    </p:animEffect>
                                  </p:childTnLst>
                                </p:cTn>
                              </p:par>
                              <p:par>
                                <p:cTn id="140" presetID="10" presetClass="entr" presetSubtype="0" fill="hold" grpId="0" nodeType="withEffect">
                                  <p:stCondLst>
                                    <p:cond delay="108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500"/>
                                        <p:tgtEl>
                                          <p:spTgt spid="50"/>
                                        </p:tgtEl>
                                      </p:cBhvr>
                                    </p:animEffect>
                                  </p:childTnLst>
                                </p:cTn>
                              </p:par>
                              <p:par>
                                <p:cTn id="143" presetID="10" presetClass="entr" presetSubtype="0" fill="hold" grpId="0" nodeType="withEffect">
                                  <p:stCondLst>
                                    <p:cond delay="108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500"/>
                                        <p:tgtEl>
                                          <p:spTgt spid="51"/>
                                        </p:tgtEl>
                                      </p:cBhvr>
                                    </p:animEffect>
                                  </p:childTnLst>
                                </p:cTn>
                              </p:par>
                              <p:par>
                                <p:cTn id="146" presetID="10" presetClass="entr" presetSubtype="0" fill="hold" grpId="0" nodeType="withEffect">
                                  <p:stCondLst>
                                    <p:cond delay="1080"/>
                                  </p:stCondLst>
                                  <p:childTnLst>
                                    <p:set>
                                      <p:cBhvr>
                                        <p:cTn id="147" dur="1" fill="hold">
                                          <p:stCondLst>
                                            <p:cond delay="0"/>
                                          </p:stCondLst>
                                        </p:cTn>
                                        <p:tgtEl>
                                          <p:spTgt spid="52"/>
                                        </p:tgtEl>
                                        <p:attrNameLst>
                                          <p:attrName>style.visibility</p:attrName>
                                        </p:attrNameLst>
                                      </p:cBhvr>
                                      <p:to>
                                        <p:strVal val="visible"/>
                                      </p:to>
                                    </p:set>
                                    <p:animEffect transition="in" filter="fade">
                                      <p:cBhvr>
                                        <p:cTn id="148" dur="500"/>
                                        <p:tgtEl>
                                          <p:spTgt spid="52"/>
                                        </p:tgtEl>
                                      </p:cBhvr>
                                    </p:animEffect>
                                  </p:childTnLst>
                                </p:cTn>
                              </p:par>
                              <p:par>
                                <p:cTn id="149" presetID="10" presetClass="entr" presetSubtype="0" fill="hold" grpId="0" nodeType="withEffect">
                                  <p:stCondLst>
                                    <p:cond delay="1260"/>
                                  </p:stCondLst>
                                  <p:childTnLst>
                                    <p:set>
                                      <p:cBhvr>
                                        <p:cTn id="150" dur="1" fill="hold">
                                          <p:stCondLst>
                                            <p:cond delay="0"/>
                                          </p:stCondLst>
                                        </p:cTn>
                                        <p:tgtEl>
                                          <p:spTgt spid="53"/>
                                        </p:tgtEl>
                                        <p:attrNameLst>
                                          <p:attrName>style.visibility</p:attrName>
                                        </p:attrNameLst>
                                      </p:cBhvr>
                                      <p:to>
                                        <p:strVal val="visible"/>
                                      </p:to>
                                    </p:set>
                                    <p:animEffect transition="in" filter="fade">
                                      <p:cBhvr>
                                        <p:cTn id="151" dur="500"/>
                                        <p:tgtEl>
                                          <p:spTgt spid="53"/>
                                        </p:tgtEl>
                                      </p:cBhvr>
                                    </p:animEffect>
                                  </p:childTnLst>
                                </p:cTn>
                              </p:par>
                              <p:par>
                                <p:cTn id="152" presetID="10" presetClass="entr" presetSubtype="0" fill="hold" grpId="0" nodeType="withEffect">
                                  <p:stCondLst>
                                    <p:cond delay="1260"/>
                                  </p:stCondLst>
                                  <p:childTnLst>
                                    <p:set>
                                      <p:cBhvr>
                                        <p:cTn id="153" dur="1" fill="hold">
                                          <p:stCondLst>
                                            <p:cond delay="0"/>
                                          </p:stCondLst>
                                        </p:cTn>
                                        <p:tgtEl>
                                          <p:spTgt spid="54"/>
                                        </p:tgtEl>
                                        <p:attrNameLst>
                                          <p:attrName>style.visibility</p:attrName>
                                        </p:attrNameLst>
                                      </p:cBhvr>
                                      <p:to>
                                        <p:strVal val="visible"/>
                                      </p:to>
                                    </p:set>
                                    <p:animEffect transition="in" filter="fade">
                                      <p:cBhvr>
                                        <p:cTn id="154" dur="500"/>
                                        <p:tgtEl>
                                          <p:spTgt spid="54"/>
                                        </p:tgtEl>
                                      </p:cBhvr>
                                    </p:animEffect>
                                  </p:childTnLst>
                                </p:cTn>
                              </p:par>
                              <p:par>
                                <p:cTn id="155" presetID="10" presetClass="entr" presetSubtype="0" fill="hold" grpId="0" nodeType="withEffect">
                                  <p:stCondLst>
                                    <p:cond delay="1260"/>
                                  </p:stCondLst>
                                  <p:childTnLst>
                                    <p:set>
                                      <p:cBhvr>
                                        <p:cTn id="156" dur="1" fill="hold">
                                          <p:stCondLst>
                                            <p:cond delay="0"/>
                                          </p:stCondLst>
                                        </p:cTn>
                                        <p:tgtEl>
                                          <p:spTgt spid="55"/>
                                        </p:tgtEl>
                                        <p:attrNameLst>
                                          <p:attrName>style.visibility</p:attrName>
                                        </p:attrNameLst>
                                      </p:cBhvr>
                                      <p:to>
                                        <p:strVal val="visible"/>
                                      </p:to>
                                    </p:set>
                                    <p:animEffect transition="in" filter="fade">
                                      <p:cBhvr>
                                        <p:cTn id="15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19</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21 · COMPLIANCE, RESPONSIBLE AI &amp; BRAND</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Trust is our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shared</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licence to operate</a:t>
            </a:r>
            <a:endParaRPr lang="en-US" sz="2000" dirty="0"/>
          </a:p>
        </p:txBody>
      </p:sp>
      <p:sp>
        <p:nvSpPr>
          <p:cNvPr id="8" name="anim-2-4"/>
          <p:cNvSpPr/>
          <p:nvPr/>
        </p:nvSpPr>
        <p:spPr>
          <a:xfrm>
            <a:off x="508000" y="1308100"/>
            <a:ext cx="5461000" cy="637117"/>
          </a:xfrm>
          <a:prstGeom prst="roundRect">
            <a:avLst>
              <a:gd name="adj" fmla="val 17940"/>
            </a:avLst>
          </a:prstGeom>
          <a:solidFill>
            <a:srgbClr val="FFFFFF">
              <a:alpha val="5000"/>
            </a:srgbClr>
          </a:solidFill>
          <a:ln w="9525">
            <a:solidFill>
              <a:srgbClr val="FFFFFF">
                <a:alpha val="12000"/>
              </a:srgbClr>
            </a:solidFill>
            <a:prstDash val="solid"/>
          </a:ln>
        </p:spPr>
      </p:sp>
      <p:sp>
        <p:nvSpPr>
          <p:cNvPr id="9" name="anim-2-5"/>
          <p:cNvSpPr txBox="1"/>
          <p:nvPr/>
        </p:nvSpPr>
        <p:spPr>
          <a:xfrm>
            <a:off x="660400" y="1447800"/>
            <a:ext cx="762000" cy="3175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01</a:t>
            </a:r>
            <a:endParaRPr lang="en-US" sz="1600" dirty="0"/>
          </a:p>
        </p:txBody>
      </p:sp>
      <p:sp>
        <p:nvSpPr>
          <p:cNvPr id="10" name="anim-2-6"/>
          <p:cNvSpPr txBox="1"/>
          <p:nvPr/>
        </p:nvSpPr>
        <p:spPr>
          <a:xfrm>
            <a:off x="1117600" y="1358900"/>
            <a:ext cx="4699000" cy="535517"/>
          </a:xfrm>
          <a:prstGeom prst="rect">
            <a:avLst/>
          </a:prstGeom>
          <a:noFill/>
          <a:ln/>
        </p:spPr>
        <p:txBody>
          <a:bodyPr wrap="square" lIns="0" tIns="0" rIns="0" bIns="0" rtlCol="0" anchor="ctr"/>
          <a:lstStyle/>
          <a:p>
            <a:pPr algn="l" indent="0" marL="0">
              <a:lnSpc>
                <a:spcPct val="120000"/>
              </a:lnSpc>
              <a:buNone/>
            </a:pPr>
            <a:r>
              <a:rPr lang="en-US" sz="850" dirty="0">
                <a:solidFill>
                  <a:srgbClr val="FFFFFF"/>
                </a:solidFill>
                <a:latin typeface="Plus Jakarta Sans" pitchFamily="34" charset="0"/>
                <a:ea typeface="Plus Jakarta Sans" pitchFamily="34" charset="-122"/>
                <a:cs typeface="Plus Jakarta Sans" pitchFamily="34" charset="-120"/>
              </a:rPr>
              <a:t>Comply with anti-bribery, anti-corruption, sanctions, export-control, data-protection, privacy, procurement, insurance-regulatory, cybersecurity and responsible-AI requirements.</a:t>
            </a:r>
            <a:endParaRPr lang="en-US" sz="850" dirty="0"/>
          </a:p>
        </p:txBody>
      </p:sp>
      <p:sp>
        <p:nvSpPr>
          <p:cNvPr id="11" name="anim-2-7"/>
          <p:cNvSpPr/>
          <p:nvPr/>
        </p:nvSpPr>
        <p:spPr>
          <a:xfrm>
            <a:off x="508000" y="2021417"/>
            <a:ext cx="5461000" cy="637117"/>
          </a:xfrm>
          <a:prstGeom prst="roundRect">
            <a:avLst>
              <a:gd name="adj" fmla="val 17940"/>
            </a:avLst>
          </a:prstGeom>
          <a:solidFill>
            <a:srgbClr val="FFFFFF">
              <a:alpha val="5000"/>
            </a:srgbClr>
          </a:solidFill>
          <a:ln w="9525">
            <a:solidFill>
              <a:srgbClr val="FFFFFF">
                <a:alpha val="12000"/>
              </a:srgbClr>
            </a:solidFill>
            <a:prstDash val="solid"/>
          </a:ln>
        </p:spPr>
      </p:sp>
      <p:sp>
        <p:nvSpPr>
          <p:cNvPr id="12" name="anim-2-8"/>
          <p:cNvSpPr txBox="1"/>
          <p:nvPr/>
        </p:nvSpPr>
        <p:spPr>
          <a:xfrm>
            <a:off x="660400" y="2161117"/>
            <a:ext cx="762000" cy="3175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02</a:t>
            </a:r>
            <a:endParaRPr lang="en-US" sz="1600" dirty="0"/>
          </a:p>
        </p:txBody>
      </p:sp>
      <p:sp>
        <p:nvSpPr>
          <p:cNvPr id="13" name="anim-2-9"/>
          <p:cNvSpPr txBox="1"/>
          <p:nvPr/>
        </p:nvSpPr>
        <p:spPr>
          <a:xfrm>
            <a:off x="1117600" y="2072217"/>
            <a:ext cx="4699000" cy="535517"/>
          </a:xfrm>
          <a:prstGeom prst="rect">
            <a:avLst/>
          </a:prstGeom>
          <a:noFill/>
          <a:ln/>
        </p:spPr>
        <p:txBody>
          <a:bodyPr wrap="square" lIns="0" tIns="0" rIns="0" bIns="0" rtlCol="0" anchor="ctr"/>
          <a:lstStyle/>
          <a:p>
            <a:pPr algn="l" indent="0" marL="0">
              <a:lnSpc>
                <a:spcPct val="120000"/>
              </a:lnSpc>
              <a:buNone/>
            </a:pPr>
            <a:r>
              <a:rPr lang="en-US" sz="850" dirty="0">
                <a:solidFill>
                  <a:srgbClr val="FFFFFF"/>
                </a:solidFill>
                <a:latin typeface="Plus Jakarta Sans" pitchFamily="34" charset="0"/>
                <a:ea typeface="Plus Jakarta Sans" pitchFamily="34" charset="-122"/>
                <a:cs typeface="Plus Jakarta Sans" pitchFamily="34" charset="-120"/>
              </a:rPr>
              <a:t>No claims on regulatory approval, endorsements, capability, roadmap, deployment, data residency, SLA or compliance status unless DignifyX-approved.</a:t>
            </a:r>
            <a:endParaRPr lang="en-US" sz="850" dirty="0"/>
          </a:p>
        </p:txBody>
      </p:sp>
      <p:sp>
        <p:nvSpPr>
          <p:cNvPr id="14" name="anim-3-10"/>
          <p:cNvSpPr/>
          <p:nvPr/>
        </p:nvSpPr>
        <p:spPr>
          <a:xfrm>
            <a:off x="508000" y="2734733"/>
            <a:ext cx="5461000" cy="637117"/>
          </a:xfrm>
          <a:prstGeom prst="roundRect">
            <a:avLst>
              <a:gd name="adj" fmla="val 17940"/>
            </a:avLst>
          </a:prstGeom>
          <a:solidFill>
            <a:srgbClr val="FFFFFF">
              <a:alpha val="5000"/>
            </a:srgbClr>
          </a:solidFill>
          <a:ln w="9525">
            <a:solidFill>
              <a:srgbClr val="FFFFFF">
                <a:alpha val="12000"/>
              </a:srgbClr>
            </a:solidFill>
            <a:prstDash val="solid"/>
          </a:ln>
        </p:spPr>
      </p:sp>
      <p:sp>
        <p:nvSpPr>
          <p:cNvPr id="15" name="anim-3-11"/>
          <p:cNvSpPr txBox="1"/>
          <p:nvPr/>
        </p:nvSpPr>
        <p:spPr>
          <a:xfrm>
            <a:off x="660400" y="2874433"/>
            <a:ext cx="762000" cy="3175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03</a:t>
            </a:r>
            <a:endParaRPr lang="en-US" sz="1600" dirty="0"/>
          </a:p>
        </p:txBody>
      </p:sp>
      <p:sp>
        <p:nvSpPr>
          <p:cNvPr id="16" name="anim-3-12"/>
          <p:cNvSpPr txBox="1"/>
          <p:nvPr/>
        </p:nvSpPr>
        <p:spPr>
          <a:xfrm>
            <a:off x="1117600" y="2785533"/>
            <a:ext cx="4699000" cy="535517"/>
          </a:xfrm>
          <a:prstGeom prst="rect">
            <a:avLst/>
          </a:prstGeom>
          <a:noFill/>
          <a:ln/>
        </p:spPr>
        <p:txBody>
          <a:bodyPr wrap="square" lIns="0" tIns="0" rIns="0" bIns="0" rtlCol="0" anchor="ctr"/>
          <a:lstStyle/>
          <a:p>
            <a:pPr algn="l" indent="0" marL="0">
              <a:lnSpc>
                <a:spcPct val="120000"/>
              </a:lnSpc>
              <a:buNone/>
            </a:pPr>
            <a:r>
              <a:rPr lang="en-US" sz="850" dirty="0">
                <a:solidFill>
                  <a:srgbClr val="FFFFFF"/>
                </a:solidFill>
                <a:latin typeface="Plus Jakarta Sans" pitchFamily="34" charset="0"/>
                <a:ea typeface="Plus Jakarta Sans" pitchFamily="34" charset="-122"/>
                <a:cs typeface="Plus Jakarta Sans" pitchFamily="34" charset="-120"/>
              </a:rPr>
              <a:t>No agent, leader or client data in demos, pilots, training, model tuning or marketing without written approval.</a:t>
            </a:r>
            <a:endParaRPr lang="en-US" sz="850" dirty="0"/>
          </a:p>
        </p:txBody>
      </p:sp>
      <p:sp>
        <p:nvSpPr>
          <p:cNvPr id="17" name="anim-3-13"/>
          <p:cNvSpPr/>
          <p:nvPr/>
        </p:nvSpPr>
        <p:spPr>
          <a:xfrm>
            <a:off x="508000" y="3448050"/>
            <a:ext cx="5461000" cy="637117"/>
          </a:xfrm>
          <a:prstGeom prst="roundRect">
            <a:avLst>
              <a:gd name="adj" fmla="val 17940"/>
            </a:avLst>
          </a:prstGeom>
          <a:solidFill>
            <a:srgbClr val="FFFFFF">
              <a:alpha val="5000"/>
            </a:srgbClr>
          </a:solidFill>
          <a:ln w="9525">
            <a:solidFill>
              <a:srgbClr val="FFFFFF">
                <a:alpha val="12000"/>
              </a:srgbClr>
            </a:solidFill>
            <a:prstDash val="solid"/>
          </a:ln>
        </p:spPr>
      </p:sp>
      <p:sp>
        <p:nvSpPr>
          <p:cNvPr id="18" name="anim-3-14"/>
          <p:cNvSpPr txBox="1"/>
          <p:nvPr/>
        </p:nvSpPr>
        <p:spPr>
          <a:xfrm>
            <a:off x="660400" y="3587750"/>
            <a:ext cx="762000" cy="3175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04</a:t>
            </a:r>
            <a:endParaRPr lang="en-US" sz="1600" dirty="0"/>
          </a:p>
        </p:txBody>
      </p:sp>
      <p:sp>
        <p:nvSpPr>
          <p:cNvPr id="19" name="anim-3-15"/>
          <p:cNvSpPr txBox="1"/>
          <p:nvPr/>
        </p:nvSpPr>
        <p:spPr>
          <a:xfrm>
            <a:off x="1117600" y="3498850"/>
            <a:ext cx="4699000" cy="535517"/>
          </a:xfrm>
          <a:prstGeom prst="rect">
            <a:avLst/>
          </a:prstGeom>
          <a:noFill/>
          <a:ln/>
        </p:spPr>
        <p:txBody>
          <a:bodyPr wrap="square" lIns="0" tIns="0" rIns="0" bIns="0" rtlCol="0" anchor="ctr"/>
          <a:lstStyle/>
          <a:p>
            <a:pPr algn="l" indent="0" marL="0">
              <a:lnSpc>
                <a:spcPct val="120000"/>
              </a:lnSpc>
              <a:buNone/>
            </a:pPr>
            <a:r>
              <a:rPr lang="en-US" sz="850" dirty="0">
                <a:solidFill>
                  <a:srgbClr val="FFFFFF"/>
                </a:solidFill>
                <a:latin typeface="Plus Jakarta Sans" pitchFamily="34" charset="0"/>
                <a:ea typeface="Plus Jakarta Sans" pitchFamily="34" charset="-122"/>
                <a:cs typeface="Plus Jakarta Sans" pitchFamily="34" charset="-120"/>
              </a:rPr>
              <a:t>No gifts, incentives or entertainment that breach procurement rules or create conflict-of-interest risk.</a:t>
            </a:r>
            <a:endParaRPr lang="en-US" sz="850" dirty="0"/>
          </a:p>
        </p:txBody>
      </p:sp>
      <p:sp>
        <p:nvSpPr>
          <p:cNvPr id="20" name="anim-4-16"/>
          <p:cNvSpPr/>
          <p:nvPr/>
        </p:nvSpPr>
        <p:spPr>
          <a:xfrm>
            <a:off x="508000" y="4161367"/>
            <a:ext cx="5461000" cy="637117"/>
          </a:xfrm>
          <a:prstGeom prst="roundRect">
            <a:avLst>
              <a:gd name="adj" fmla="val 17940"/>
            </a:avLst>
          </a:prstGeom>
          <a:solidFill>
            <a:srgbClr val="FFFFFF">
              <a:alpha val="5000"/>
            </a:srgbClr>
          </a:solidFill>
          <a:ln w="9525">
            <a:solidFill>
              <a:srgbClr val="FFFFFF">
                <a:alpha val="12000"/>
              </a:srgbClr>
            </a:solidFill>
            <a:prstDash val="solid"/>
          </a:ln>
        </p:spPr>
      </p:sp>
      <p:sp>
        <p:nvSpPr>
          <p:cNvPr id="21" name="anim-4-17"/>
          <p:cNvSpPr txBox="1"/>
          <p:nvPr/>
        </p:nvSpPr>
        <p:spPr>
          <a:xfrm>
            <a:off x="660400" y="4301067"/>
            <a:ext cx="762000" cy="3175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05</a:t>
            </a:r>
            <a:endParaRPr lang="en-US" sz="1600" dirty="0"/>
          </a:p>
        </p:txBody>
      </p:sp>
      <p:sp>
        <p:nvSpPr>
          <p:cNvPr id="22" name="anim-4-18"/>
          <p:cNvSpPr txBox="1"/>
          <p:nvPr/>
        </p:nvSpPr>
        <p:spPr>
          <a:xfrm>
            <a:off x="1117600" y="4212167"/>
            <a:ext cx="4699000" cy="535517"/>
          </a:xfrm>
          <a:prstGeom prst="rect">
            <a:avLst/>
          </a:prstGeom>
          <a:noFill/>
          <a:ln/>
        </p:spPr>
        <p:txBody>
          <a:bodyPr wrap="square" lIns="0" tIns="0" rIns="0" bIns="0" rtlCol="0" anchor="ctr"/>
          <a:lstStyle/>
          <a:p>
            <a:pPr algn="l" indent="0" marL="0">
              <a:lnSpc>
                <a:spcPct val="120000"/>
              </a:lnSpc>
              <a:buNone/>
            </a:pPr>
            <a:r>
              <a:rPr lang="en-US" sz="850" dirty="0">
                <a:solidFill>
                  <a:srgbClr val="FFFFFF"/>
                </a:solidFill>
                <a:latin typeface="Plus Jakarta Sans" pitchFamily="34" charset="0"/>
                <a:ea typeface="Plus Jakarta Sans" pitchFamily="34" charset="-122"/>
                <a:cs typeface="Plus Jakarta Sans" pitchFamily="34" charset="-120"/>
              </a:rPr>
              <a:t>No resale to restricted territories, sanctioned entities, prohibited industries or customers failing due diligence.</a:t>
            </a:r>
            <a:endParaRPr lang="en-US" sz="850" dirty="0"/>
          </a:p>
        </p:txBody>
      </p:sp>
      <p:sp>
        <p:nvSpPr>
          <p:cNvPr id="23" name="anim-4-19"/>
          <p:cNvSpPr/>
          <p:nvPr/>
        </p:nvSpPr>
        <p:spPr>
          <a:xfrm>
            <a:off x="508000" y="4874683"/>
            <a:ext cx="5461000" cy="637117"/>
          </a:xfrm>
          <a:prstGeom prst="roundRect">
            <a:avLst>
              <a:gd name="adj" fmla="val 17940"/>
            </a:avLst>
          </a:prstGeom>
          <a:solidFill>
            <a:srgbClr val="FFFFFF">
              <a:alpha val="5000"/>
            </a:srgbClr>
          </a:solidFill>
          <a:ln w="9525">
            <a:solidFill>
              <a:srgbClr val="FFFFFF">
                <a:alpha val="12000"/>
              </a:srgbClr>
            </a:solidFill>
            <a:prstDash val="solid"/>
          </a:ln>
        </p:spPr>
      </p:sp>
      <p:sp>
        <p:nvSpPr>
          <p:cNvPr id="24" name="anim-4-20"/>
          <p:cNvSpPr txBox="1"/>
          <p:nvPr/>
        </p:nvSpPr>
        <p:spPr>
          <a:xfrm>
            <a:off x="660400" y="5014383"/>
            <a:ext cx="762000" cy="317500"/>
          </a:xfrm>
          <a:prstGeom prst="rect">
            <a:avLst/>
          </a:prstGeom>
          <a:noFill/>
          <a:ln/>
        </p:spPr>
        <p:txBody>
          <a:bodyPr wrap="square" lIns="0" tIns="0" rIns="0" bIns="0" rtlCol="0" anchor="t"/>
          <a:lstStyle/>
          <a:p>
            <a:pPr algn="l" indent="0" marL="0">
              <a:lnSpc>
                <a:spcPct val="112000"/>
              </a:lnSpc>
              <a:buNone/>
            </a:pPr>
            <a:r>
              <a:rPr lang="en-US" sz="1600" dirty="0">
                <a:solidFill>
                  <a:srgbClr val="15B6FF"/>
                </a:solidFill>
                <a:latin typeface="Plus Jakarta Sans Light" pitchFamily="34" charset="0"/>
                <a:ea typeface="Plus Jakarta Sans Light" pitchFamily="34" charset="-122"/>
                <a:cs typeface="Plus Jakarta Sans Light" pitchFamily="34" charset="-120"/>
              </a:rPr>
              <a:t>06</a:t>
            </a:r>
            <a:endParaRPr lang="en-US" sz="1600" dirty="0"/>
          </a:p>
        </p:txBody>
      </p:sp>
      <p:sp>
        <p:nvSpPr>
          <p:cNvPr id="25" name="anim-4-21"/>
          <p:cNvSpPr txBox="1"/>
          <p:nvPr/>
        </p:nvSpPr>
        <p:spPr>
          <a:xfrm>
            <a:off x="1117600" y="4925483"/>
            <a:ext cx="4699000" cy="535517"/>
          </a:xfrm>
          <a:prstGeom prst="rect">
            <a:avLst/>
          </a:prstGeom>
          <a:noFill/>
          <a:ln/>
        </p:spPr>
        <p:txBody>
          <a:bodyPr wrap="square" lIns="0" tIns="0" rIns="0" bIns="0" rtlCol="0" anchor="ctr"/>
          <a:lstStyle/>
          <a:p>
            <a:pPr algn="l" indent="0" marL="0">
              <a:lnSpc>
                <a:spcPct val="120000"/>
              </a:lnSpc>
              <a:buNone/>
            </a:pPr>
            <a:r>
              <a:rPr lang="en-US" sz="850" dirty="0">
                <a:solidFill>
                  <a:srgbClr val="FFFFFF"/>
                </a:solidFill>
                <a:latin typeface="Plus Jakarta Sans" pitchFamily="34" charset="0"/>
                <a:ea typeface="Plus Jakarta Sans" pitchFamily="34" charset="-122"/>
                <a:cs typeface="Plus Jakarta Sans" pitchFamily="34" charset="-120"/>
              </a:rPr>
              <a:t>No DignifyX branding, customer logos, case studies, press releases or announcements without written approval.</a:t>
            </a:r>
            <a:endParaRPr lang="en-US" sz="850" dirty="0"/>
          </a:p>
        </p:txBody>
      </p:sp>
      <p:sp>
        <p:nvSpPr>
          <p:cNvPr id="26" name="anim-5-22"/>
          <p:cNvSpPr/>
          <p:nvPr/>
        </p:nvSpPr>
        <p:spPr>
          <a:xfrm>
            <a:off x="6121400" y="1308100"/>
            <a:ext cx="5562600" cy="4203700"/>
          </a:xfrm>
          <a:prstGeom prst="roundRect">
            <a:avLst>
              <a:gd name="adj" fmla="val 3625"/>
            </a:avLst>
          </a:prstGeom>
          <a:solidFill>
            <a:srgbClr val="FFFFFF">
              <a:alpha val="5000"/>
            </a:srgbClr>
          </a:solidFill>
          <a:ln w="9525">
            <a:solidFill>
              <a:srgbClr val="FFFFFF">
                <a:alpha val="12000"/>
              </a:srgbClr>
            </a:solidFill>
            <a:prstDash val="solid"/>
          </a:ln>
        </p:spPr>
      </p:sp>
      <p:sp>
        <p:nvSpPr>
          <p:cNvPr id="27" name="anim-5-23"/>
          <p:cNvSpPr txBox="1"/>
          <p:nvPr/>
        </p:nvSpPr>
        <p:spPr>
          <a:xfrm>
            <a:off x="6324600" y="1460500"/>
            <a:ext cx="5080000" cy="165100"/>
          </a:xfrm>
          <a:prstGeom prst="rect">
            <a:avLst/>
          </a:prstGeom>
          <a:noFill/>
          <a:ln/>
        </p:spPr>
        <p:txBody>
          <a:bodyPr wrap="square" lIns="0" tIns="0" rIns="0" bIns="0" rtlCol="0" anchor="t"/>
          <a:lstStyle/>
          <a:p>
            <a:pPr algn="l" indent="0" marL="0">
              <a:lnSpc>
                <a:spcPct val="112000"/>
              </a:lnSpc>
              <a:buNone/>
            </a:pPr>
            <a:r>
              <a:rPr lang="en-US" sz="800" spc="200" kern="0" dirty="0">
                <a:solidFill>
                  <a:srgbClr val="15B6FF"/>
                </a:solidFill>
                <a:latin typeface="Plus Jakarta Sans SemiBold" pitchFamily="34" charset="0"/>
                <a:ea typeface="Plus Jakarta Sans SemiBold" pitchFamily="34" charset="-122"/>
                <a:cs typeface="Plus Jakarta Sans SemiBold" pitchFamily="34" charset="-120"/>
              </a:rPr>
              <a:t>BRAND AND ANNOUNCEMENTS</a:t>
            </a:r>
            <a:endParaRPr lang="en-US" sz="800" dirty="0"/>
          </a:p>
        </p:txBody>
      </p:sp>
      <p:graphicFrame>
        <p:nvGraphicFramePr>
          <p:cNvPr id="20" name="anim-5-24"/>
          <p:cNvGraphicFramePr>
            <a:graphicFrameLocks noGrp="1"/>
          </p:cNvGraphicFramePr>
          <p:nvPr>
            <p:extLst>
              <p:ext uri="{D42A27DB-BD31-4B8C-83A1-F6EECF244321}">
                <p14:modId xmlns:p14="http://schemas.microsoft.com/office/powerpoint/2010/main" val="1579011935"/>
              </p:ext>
            </p:extLst>
          </p:nvPr>
        </p:nvGraphicFramePr>
        <p:xfrm>
          <a:off x="6324600" y="1701800"/>
          <a:ext cx="5156200" cy="914400"/>
        </p:xfrm>
        <a:graphic>
          <a:graphicData uri="http://schemas.openxmlformats.org/drawingml/2006/table">
            <a:tbl>
              <a:tblPr/>
              <a:tblGrid>
                <a:gridCol w="1714500"/>
                <a:gridCol w="3441700"/>
              </a:tblGrid>
              <a:tr h="5207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Activity</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Rule</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5207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DignifyX logo use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Only under approved brand guidelines, for approved purposes</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5207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Joint announcement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DignifyX review and written approval first</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5207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Customer logo / case study</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Customer approval and DignifyX approval</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5207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Press release</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Approved messaging, quote, timing, legal and brand review</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5207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Public demo / webinar</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Approved messaging and environment; no unapproved customer data</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5207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Social media post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No unapproved claims, names, pricing or commitments</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bl>
          </a:graphicData>
        </a:graphic>
      </p:graphicFrame>
      <p:sp>
        <p:nvSpPr>
          <p:cNvPr id="29" name="anim-9-25"/>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30" name="anim-9-26"/>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Public Sector</a:t>
            </a:r>
            <a:endParaRPr lang="en-US" sz="1100" dirty="0"/>
          </a:p>
        </p:txBody>
      </p:sp>
      <p:sp>
        <p:nvSpPr>
          <p:cNvPr id="31" name="anim-9-27"/>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00" dirty="0">
                <a:solidFill>
                  <a:srgbClr val="FFFFFF"/>
                </a:solidFill>
                <a:latin typeface="Plus Jakarta Sans Medium" pitchFamily="34" charset="0"/>
                <a:ea typeface="Plus Jakarta Sans Medium" pitchFamily="34" charset="-122"/>
                <a:cs typeface="Plus Jakarta Sans Medium" pitchFamily="34" charset="-120"/>
              </a:rPr>
              <a:t>Government and state-owned accounts: no success-based fee; approved fixed-fee, deliverable-based services only.</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36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36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36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36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54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54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54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54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54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54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72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72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72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childTnLst>
                                </p:cTn>
                              </p:par>
                              <p:par>
                                <p:cTn id="77" presetID="10" presetClass="entr" presetSubtype="0" fill="hold" grpId="0" nodeType="withEffect">
                                  <p:stCondLst>
                                    <p:cond delay="90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90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90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9" grpId="0" animBg="1"/>
      <p:bldP spid="30" grpId="0" animBg="1"/>
      <p:bldP spid="3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20</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22 · PERFORMANCE, QBRS &amp; GOVERNANCE</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Grow with a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balanced</a:t>
            </a:r>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 scorecard</a:t>
            </a:r>
            <a:endParaRPr lang="en-US" sz="2000" dirty="0"/>
          </a:p>
        </p:txBody>
      </p:sp>
      <p:sp>
        <p:nvSpPr>
          <p:cNvPr id="8" name="anim-2-4"/>
          <p:cNvSpPr/>
          <p:nvPr/>
        </p:nvSpPr>
        <p:spPr>
          <a:xfrm>
            <a:off x="508000" y="1308100"/>
            <a:ext cx="1465943" cy="876300"/>
          </a:xfrm>
          <a:prstGeom prst="roundRect">
            <a:avLst>
              <a:gd name="adj" fmla="val 13043"/>
            </a:avLst>
          </a:prstGeom>
          <a:solidFill>
            <a:srgbClr val="194EFF">
              <a:alpha val="30000"/>
            </a:srgbClr>
          </a:solidFill>
          <a:ln w="15875">
            <a:solidFill>
              <a:srgbClr val="194EFF"/>
            </a:solidFill>
            <a:prstDash val="solid"/>
          </a:ln>
        </p:spPr>
      </p:sp>
      <p:sp>
        <p:nvSpPr>
          <p:cNvPr id="9" name="anim-2-5"/>
          <p:cNvSpPr txBox="1"/>
          <p:nvPr/>
        </p:nvSpPr>
        <p:spPr>
          <a:xfrm>
            <a:off x="635000" y="1397000"/>
            <a:ext cx="762000" cy="317500"/>
          </a:xfrm>
          <a:prstGeom prst="rect">
            <a:avLst/>
          </a:prstGeom>
          <a:noFill/>
          <a:ln/>
        </p:spPr>
        <p:txBody>
          <a:bodyPr wrap="square" lIns="0" tIns="0" rIns="0" bIns="0" rtlCol="0" anchor="t"/>
          <a:lstStyle/>
          <a:p>
            <a:pPr algn="l" indent="0" marL="0">
              <a:lnSpc>
                <a:spcPct val="112000"/>
              </a:lnSpc>
              <a:buNone/>
            </a:pPr>
            <a:r>
              <a:rPr lang="en-US" sz="1500" dirty="0">
                <a:solidFill>
                  <a:srgbClr val="15B6FF"/>
                </a:solidFill>
                <a:latin typeface="Plus Jakarta Sans Light" pitchFamily="34" charset="0"/>
                <a:ea typeface="Plus Jakarta Sans Light" pitchFamily="34" charset="-122"/>
                <a:cs typeface="Plus Jakarta Sans Light" pitchFamily="34" charset="-120"/>
              </a:rPr>
              <a:t>01</a:t>
            </a:r>
            <a:endParaRPr lang="en-US" sz="1500" dirty="0"/>
          </a:p>
        </p:txBody>
      </p:sp>
      <p:sp>
        <p:nvSpPr>
          <p:cNvPr id="10" name="anim-2-6"/>
          <p:cNvSpPr txBox="1"/>
          <p:nvPr/>
        </p:nvSpPr>
        <p:spPr>
          <a:xfrm>
            <a:off x="635000" y="1676400"/>
            <a:ext cx="1237343" cy="4445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ARR Bookings</a:t>
            </a:r>
            <a:endParaRPr lang="en-US" sz="950" dirty="0"/>
          </a:p>
        </p:txBody>
      </p:sp>
      <p:sp>
        <p:nvSpPr>
          <p:cNvPr id="11" name="anim-2-7"/>
          <p:cNvSpPr/>
          <p:nvPr/>
        </p:nvSpPr>
        <p:spPr>
          <a:xfrm>
            <a:off x="2126343" y="1308100"/>
            <a:ext cx="1465943" cy="876300"/>
          </a:xfrm>
          <a:prstGeom prst="roundRect">
            <a:avLst>
              <a:gd name="adj" fmla="val 13043"/>
            </a:avLst>
          </a:prstGeom>
          <a:solidFill>
            <a:srgbClr val="FFFFFF">
              <a:alpha val="5000"/>
            </a:srgbClr>
          </a:solidFill>
          <a:ln w="9525">
            <a:solidFill>
              <a:srgbClr val="FFFFFF">
                <a:alpha val="12000"/>
              </a:srgbClr>
            </a:solidFill>
            <a:prstDash val="solid"/>
          </a:ln>
        </p:spPr>
      </p:sp>
      <p:sp>
        <p:nvSpPr>
          <p:cNvPr id="12" name="anim-2-8"/>
          <p:cNvSpPr txBox="1"/>
          <p:nvPr/>
        </p:nvSpPr>
        <p:spPr>
          <a:xfrm>
            <a:off x="2253343" y="1397000"/>
            <a:ext cx="762000" cy="317500"/>
          </a:xfrm>
          <a:prstGeom prst="rect">
            <a:avLst/>
          </a:prstGeom>
          <a:noFill/>
          <a:ln/>
        </p:spPr>
        <p:txBody>
          <a:bodyPr wrap="square" lIns="0" tIns="0" rIns="0" bIns="0" rtlCol="0" anchor="t"/>
          <a:lstStyle/>
          <a:p>
            <a:pPr algn="l" indent="0" marL="0">
              <a:lnSpc>
                <a:spcPct val="112000"/>
              </a:lnSpc>
              <a:buNone/>
            </a:pPr>
            <a:r>
              <a:rPr lang="en-US" sz="1500" dirty="0">
                <a:solidFill>
                  <a:srgbClr val="15B6FF"/>
                </a:solidFill>
                <a:latin typeface="Plus Jakarta Sans Light" pitchFamily="34" charset="0"/>
                <a:ea typeface="Plus Jakarta Sans Light" pitchFamily="34" charset="-122"/>
                <a:cs typeface="Plus Jakarta Sans Light" pitchFamily="34" charset="-120"/>
              </a:rPr>
              <a:t>02</a:t>
            </a:r>
            <a:endParaRPr lang="en-US" sz="1500" dirty="0"/>
          </a:p>
        </p:txBody>
      </p:sp>
      <p:sp>
        <p:nvSpPr>
          <p:cNvPr id="13" name="anim-2-9"/>
          <p:cNvSpPr txBox="1"/>
          <p:nvPr/>
        </p:nvSpPr>
        <p:spPr>
          <a:xfrm>
            <a:off x="2253343" y="1676400"/>
            <a:ext cx="1237343" cy="4445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Qualified pipeline</a:t>
            </a:r>
            <a:endParaRPr lang="en-US" sz="950" dirty="0"/>
          </a:p>
        </p:txBody>
      </p:sp>
      <p:sp>
        <p:nvSpPr>
          <p:cNvPr id="14" name="anim-2-10"/>
          <p:cNvSpPr/>
          <p:nvPr/>
        </p:nvSpPr>
        <p:spPr>
          <a:xfrm>
            <a:off x="3744686" y="1308100"/>
            <a:ext cx="1465943" cy="876300"/>
          </a:xfrm>
          <a:prstGeom prst="roundRect">
            <a:avLst>
              <a:gd name="adj" fmla="val 13043"/>
            </a:avLst>
          </a:prstGeom>
          <a:solidFill>
            <a:srgbClr val="FFFFFF">
              <a:alpha val="5000"/>
            </a:srgbClr>
          </a:solidFill>
          <a:ln w="9525">
            <a:solidFill>
              <a:srgbClr val="FFFFFF">
                <a:alpha val="12000"/>
              </a:srgbClr>
            </a:solidFill>
            <a:prstDash val="solid"/>
          </a:ln>
        </p:spPr>
      </p:sp>
      <p:sp>
        <p:nvSpPr>
          <p:cNvPr id="15" name="anim-2-11"/>
          <p:cNvSpPr txBox="1"/>
          <p:nvPr/>
        </p:nvSpPr>
        <p:spPr>
          <a:xfrm>
            <a:off x="3871686" y="1397000"/>
            <a:ext cx="762000" cy="317500"/>
          </a:xfrm>
          <a:prstGeom prst="rect">
            <a:avLst/>
          </a:prstGeom>
          <a:noFill/>
          <a:ln/>
        </p:spPr>
        <p:txBody>
          <a:bodyPr wrap="square" lIns="0" tIns="0" rIns="0" bIns="0" rtlCol="0" anchor="t"/>
          <a:lstStyle/>
          <a:p>
            <a:pPr algn="l" indent="0" marL="0">
              <a:lnSpc>
                <a:spcPct val="112000"/>
              </a:lnSpc>
              <a:buNone/>
            </a:pPr>
            <a:r>
              <a:rPr lang="en-US" sz="1500" dirty="0">
                <a:solidFill>
                  <a:srgbClr val="15B6FF"/>
                </a:solidFill>
                <a:latin typeface="Plus Jakarta Sans Light" pitchFamily="34" charset="0"/>
                <a:ea typeface="Plus Jakarta Sans Light" pitchFamily="34" charset="-122"/>
                <a:cs typeface="Plus Jakarta Sans Light" pitchFamily="34" charset="-120"/>
              </a:rPr>
              <a:t>03</a:t>
            </a:r>
            <a:endParaRPr lang="en-US" sz="1500" dirty="0"/>
          </a:p>
        </p:txBody>
      </p:sp>
      <p:sp>
        <p:nvSpPr>
          <p:cNvPr id="16" name="anim-2-12"/>
          <p:cNvSpPr txBox="1"/>
          <p:nvPr/>
        </p:nvSpPr>
        <p:spPr>
          <a:xfrm>
            <a:off x="3871686" y="1676400"/>
            <a:ext cx="1237343" cy="4445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Renewal / customer success</a:t>
            </a:r>
            <a:endParaRPr lang="en-US" sz="950" dirty="0"/>
          </a:p>
        </p:txBody>
      </p:sp>
      <p:sp>
        <p:nvSpPr>
          <p:cNvPr id="17" name="anim-2-13"/>
          <p:cNvSpPr/>
          <p:nvPr/>
        </p:nvSpPr>
        <p:spPr>
          <a:xfrm>
            <a:off x="5363029" y="1308100"/>
            <a:ext cx="1465943" cy="876300"/>
          </a:xfrm>
          <a:prstGeom prst="roundRect">
            <a:avLst>
              <a:gd name="adj" fmla="val 13043"/>
            </a:avLst>
          </a:prstGeom>
          <a:solidFill>
            <a:srgbClr val="FFFFFF">
              <a:alpha val="5000"/>
            </a:srgbClr>
          </a:solidFill>
          <a:ln w="9525">
            <a:solidFill>
              <a:srgbClr val="FFFFFF">
                <a:alpha val="12000"/>
              </a:srgbClr>
            </a:solidFill>
            <a:prstDash val="solid"/>
          </a:ln>
        </p:spPr>
      </p:sp>
      <p:sp>
        <p:nvSpPr>
          <p:cNvPr id="18" name="anim-2-14"/>
          <p:cNvSpPr txBox="1"/>
          <p:nvPr/>
        </p:nvSpPr>
        <p:spPr>
          <a:xfrm>
            <a:off x="5490029" y="1397000"/>
            <a:ext cx="762000" cy="317500"/>
          </a:xfrm>
          <a:prstGeom prst="rect">
            <a:avLst/>
          </a:prstGeom>
          <a:noFill/>
          <a:ln/>
        </p:spPr>
        <p:txBody>
          <a:bodyPr wrap="square" lIns="0" tIns="0" rIns="0" bIns="0" rtlCol="0" anchor="t"/>
          <a:lstStyle/>
          <a:p>
            <a:pPr algn="l" indent="0" marL="0">
              <a:lnSpc>
                <a:spcPct val="112000"/>
              </a:lnSpc>
              <a:buNone/>
            </a:pPr>
            <a:r>
              <a:rPr lang="en-US" sz="1500" dirty="0">
                <a:solidFill>
                  <a:srgbClr val="15B6FF"/>
                </a:solidFill>
                <a:latin typeface="Plus Jakarta Sans Light" pitchFamily="34" charset="0"/>
                <a:ea typeface="Plus Jakarta Sans Light" pitchFamily="34" charset="-122"/>
                <a:cs typeface="Plus Jakarta Sans Light" pitchFamily="34" charset="-120"/>
              </a:rPr>
              <a:t>04</a:t>
            </a:r>
            <a:endParaRPr lang="en-US" sz="1500" dirty="0"/>
          </a:p>
        </p:txBody>
      </p:sp>
      <p:sp>
        <p:nvSpPr>
          <p:cNvPr id="19" name="anim-2-15"/>
          <p:cNvSpPr txBox="1"/>
          <p:nvPr/>
        </p:nvSpPr>
        <p:spPr>
          <a:xfrm>
            <a:off x="5490029" y="1676400"/>
            <a:ext cx="1237343" cy="4445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Certification &amp; capability</a:t>
            </a:r>
            <a:endParaRPr lang="en-US" sz="950" dirty="0"/>
          </a:p>
        </p:txBody>
      </p:sp>
      <p:sp>
        <p:nvSpPr>
          <p:cNvPr id="20" name="anim-2-16"/>
          <p:cNvSpPr/>
          <p:nvPr/>
        </p:nvSpPr>
        <p:spPr>
          <a:xfrm>
            <a:off x="6981371" y="1308100"/>
            <a:ext cx="1465943" cy="876300"/>
          </a:xfrm>
          <a:prstGeom prst="roundRect">
            <a:avLst>
              <a:gd name="adj" fmla="val 13043"/>
            </a:avLst>
          </a:prstGeom>
          <a:solidFill>
            <a:srgbClr val="FFFFFF">
              <a:alpha val="5000"/>
            </a:srgbClr>
          </a:solidFill>
          <a:ln w="9525">
            <a:solidFill>
              <a:srgbClr val="FFFFFF">
                <a:alpha val="12000"/>
              </a:srgbClr>
            </a:solidFill>
            <a:prstDash val="solid"/>
          </a:ln>
        </p:spPr>
      </p:sp>
      <p:sp>
        <p:nvSpPr>
          <p:cNvPr id="21" name="anim-2-17"/>
          <p:cNvSpPr txBox="1"/>
          <p:nvPr/>
        </p:nvSpPr>
        <p:spPr>
          <a:xfrm>
            <a:off x="7108371" y="1397000"/>
            <a:ext cx="762000" cy="317500"/>
          </a:xfrm>
          <a:prstGeom prst="rect">
            <a:avLst/>
          </a:prstGeom>
          <a:noFill/>
          <a:ln/>
        </p:spPr>
        <p:txBody>
          <a:bodyPr wrap="square" lIns="0" tIns="0" rIns="0" bIns="0" rtlCol="0" anchor="t"/>
          <a:lstStyle/>
          <a:p>
            <a:pPr algn="l" indent="0" marL="0">
              <a:lnSpc>
                <a:spcPct val="112000"/>
              </a:lnSpc>
              <a:buNone/>
            </a:pPr>
            <a:r>
              <a:rPr lang="en-US" sz="1500" dirty="0">
                <a:solidFill>
                  <a:srgbClr val="15B6FF"/>
                </a:solidFill>
                <a:latin typeface="Plus Jakarta Sans Light" pitchFamily="34" charset="0"/>
                <a:ea typeface="Plus Jakarta Sans Light" pitchFamily="34" charset="-122"/>
                <a:cs typeface="Plus Jakarta Sans Light" pitchFamily="34" charset="-120"/>
              </a:rPr>
              <a:t>05</a:t>
            </a:r>
            <a:endParaRPr lang="en-US" sz="1500" dirty="0"/>
          </a:p>
        </p:txBody>
      </p:sp>
      <p:sp>
        <p:nvSpPr>
          <p:cNvPr id="22" name="anim-2-18"/>
          <p:cNvSpPr txBox="1"/>
          <p:nvPr/>
        </p:nvSpPr>
        <p:spPr>
          <a:xfrm>
            <a:off x="7108371" y="1676400"/>
            <a:ext cx="1237343" cy="4445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Strategic account access</a:t>
            </a:r>
            <a:endParaRPr lang="en-US" sz="950" dirty="0"/>
          </a:p>
        </p:txBody>
      </p:sp>
      <p:sp>
        <p:nvSpPr>
          <p:cNvPr id="23" name="anim-2-19"/>
          <p:cNvSpPr/>
          <p:nvPr/>
        </p:nvSpPr>
        <p:spPr>
          <a:xfrm>
            <a:off x="8599714" y="1308100"/>
            <a:ext cx="1465943" cy="876300"/>
          </a:xfrm>
          <a:prstGeom prst="roundRect">
            <a:avLst>
              <a:gd name="adj" fmla="val 13043"/>
            </a:avLst>
          </a:prstGeom>
          <a:solidFill>
            <a:srgbClr val="FFFFFF">
              <a:alpha val="5000"/>
            </a:srgbClr>
          </a:solidFill>
          <a:ln w="9525">
            <a:solidFill>
              <a:srgbClr val="FFFFFF">
                <a:alpha val="12000"/>
              </a:srgbClr>
            </a:solidFill>
            <a:prstDash val="solid"/>
          </a:ln>
        </p:spPr>
      </p:sp>
      <p:sp>
        <p:nvSpPr>
          <p:cNvPr id="24" name="anim-2-20"/>
          <p:cNvSpPr txBox="1"/>
          <p:nvPr/>
        </p:nvSpPr>
        <p:spPr>
          <a:xfrm>
            <a:off x="8726714" y="1397000"/>
            <a:ext cx="762000" cy="317500"/>
          </a:xfrm>
          <a:prstGeom prst="rect">
            <a:avLst/>
          </a:prstGeom>
          <a:noFill/>
          <a:ln/>
        </p:spPr>
        <p:txBody>
          <a:bodyPr wrap="square" lIns="0" tIns="0" rIns="0" bIns="0" rtlCol="0" anchor="t"/>
          <a:lstStyle/>
          <a:p>
            <a:pPr algn="l" indent="0" marL="0">
              <a:lnSpc>
                <a:spcPct val="112000"/>
              </a:lnSpc>
              <a:buNone/>
            </a:pPr>
            <a:r>
              <a:rPr lang="en-US" sz="1500" dirty="0">
                <a:solidFill>
                  <a:srgbClr val="15B6FF"/>
                </a:solidFill>
                <a:latin typeface="Plus Jakarta Sans Light" pitchFamily="34" charset="0"/>
                <a:ea typeface="Plus Jakarta Sans Light" pitchFamily="34" charset="-122"/>
                <a:cs typeface="Plus Jakarta Sans Light" pitchFamily="34" charset="-120"/>
              </a:rPr>
              <a:t>06</a:t>
            </a:r>
            <a:endParaRPr lang="en-US" sz="1500" dirty="0"/>
          </a:p>
        </p:txBody>
      </p:sp>
      <p:sp>
        <p:nvSpPr>
          <p:cNvPr id="25" name="anim-2-21"/>
          <p:cNvSpPr txBox="1"/>
          <p:nvPr/>
        </p:nvSpPr>
        <p:spPr>
          <a:xfrm>
            <a:off x="8726714" y="1676400"/>
            <a:ext cx="1237343" cy="4445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Delivery quality</a:t>
            </a:r>
            <a:endParaRPr lang="en-US" sz="950" dirty="0"/>
          </a:p>
        </p:txBody>
      </p:sp>
      <p:sp>
        <p:nvSpPr>
          <p:cNvPr id="26" name="anim-2-22"/>
          <p:cNvSpPr/>
          <p:nvPr/>
        </p:nvSpPr>
        <p:spPr>
          <a:xfrm>
            <a:off x="10218057" y="1308100"/>
            <a:ext cx="1465943" cy="876300"/>
          </a:xfrm>
          <a:prstGeom prst="roundRect">
            <a:avLst>
              <a:gd name="adj" fmla="val 13043"/>
            </a:avLst>
          </a:prstGeom>
          <a:solidFill>
            <a:srgbClr val="FFFFFF">
              <a:alpha val="5000"/>
            </a:srgbClr>
          </a:solidFill>
          <a:ln w="9525">
            <a:solidFill>
              <a:srgbClr val="FFFFFF">
                <a:alpha val="12000"/>
              </a:srgbClr>
            </a:solidFill>
            <a:prstDash val="solid"/>
          </a:ln>
        </p:spPr>
      </p:sp>
      <p:sp>
        <p:nvSpPr>
          <p:cNvPr id="27" name="anim-2-23"/>
          <p:cNvSpPr txBox="1"/>
          <p:nvPr/>
        </p:nvSpPr>
        <p:spPr>
          <a:xfrm>
            <a:off x="10345057" y="1397000"/>
            <a:ext cx="762000" cy="317500"/>
          </a:xfrm>
          <a:prstGeom prst="rect">
            <a:avLst/>
          </a:prstGeom>
          <a:noFill/>
          <a:ln/>
        </p:spPr>
        <p:txBody>
          <a:bodyPr wrap="square" lIns="0" tIns="0" rIns="0" bIns="0" rtlCol="0" anchor="t"/>
          <a:lstStyle/>
          <a:p>
            <a:pPr algn="l" indent="0" marL="0">
              <a:lnSpc>
                <a:spcPct val="112000"/>
              </a:lnSpc>
              <a:buNone/>
            </a:pPr>
            <a:r>
              <a:rPr lang="en-US" sz="1500" dirty="0">
                <a:solidFill>
                  <a:srgbClr val="15B6FF"/>
                </a:solidFill>
                <a:latin typeface="Plus Jakarta Sans Light" pitchFamily="34" charset="0"/>
                <a:ea typeface="Plus Jakarta Sans Light" pitchFamily="34" charset="-122"/>
                <a:cs typeface="Plus Jakarta Sans Light" pitchFamily="34" charset="-120"/>
              </a:rPr>
              <a:t>07</a:t>
            </a:r>
            <a:endParaRPr lang="en-US" sz="1500" dirty="0"/>
          </a:p>
        </p:txBody>
      </p:sp>
      <p:sp>
        <p:nvSpPr>
          <p:cNvPr id="28" name="anim-2-24"/>
          <p:cNvSpPr txBox="1"/>
          <p:nvPr/>
        </p:nvSpPr>
        <p:spPr>
          <a:xfrm>
            <a:off x="10345057" y="1676400"/>
            <a:ext cx="1237343" cy="444500"/>
          </a:xfrm>
          <a:prstGeom prst="rect">
            <a:avLst/>
          </a:prstGeom>
          <a:noFill/>
          <a:ln/>
        </p:spPr>
        <p:txBody>
          <a:bodyPr wrap="square" lIns="0" tIns="0" rIns="0" bIns="0" rtlCol="0" anchor="t"/>
          <a:lstStyle/>
          <a:p>
            <a:pPr algn="l" indent="0" marL="0">
              <a:lnSpc>
                <a:spcPct val="112000"/>
              </a:lnSpc>
              <a:buNone/>
            </a:pPr>
            <a:r>
              <a:rPr lang="en-US" sz="950" b="1" dirty="0">
                <a:solidFill>
                  <a:srgbClr val="FFFFFF"/>
                </a:solidFill>
                <a:latin typeface="Plus Jakarta Sans" pitchFamily="34" charset="0"/>
                <a:ea typeface="Plus Jakarta Sans" pitchFamily="34" charset="-122"/>
                <a:cs typeface="Plus Jakarta Sans" pitchFamily="34" charset="-120"/>
              </a:rPr>
              <a:t>Compliance &amp; governance</a:t>
            </a:r>
            <a:endParaRPr lang="en-US" sz="950" dirty="0"/>
          </a:p>
        </p:txBody>
      </p:sp>
      <p:sp>
        <p:nvSpPr>
          <p:cNvPr id="29" name="anim-3-25"/>
          <p:cNvSpPr/>
          <p:nvPr/>
        </p:nvSpPr>
        <p:spPr>
          <a:xfrm>
            <a:off x="508000" y="2336800"/>
            <a:ext cx="7239000" cy="3175000"/>
          </a:xfrm>
          <a:prstGeom prst="roundRect">
            <a:avLst>
              <a:gd name="adj" fmla="val 4800"/>
            </a:avLst>
          </a:prstGeom>
          <a:solidFill>
            <a:srgbClr val="FFFFFF">
              <a:alpha val="5000"/>
            </a:srgbClr>
          </a:solidFill>
          <a:ln w="9525">
            <a:solidFill>
              <a:srgbClr val="FFFFFF">
                <a:alpha val="12000"/>
              </a:srgbClr>
            </a:solidFill>
            <a:prstDash val="solid"/>
          </a:ln>
        </p:spPr>
      </p:sp>
      <p:graphicFrame>
        <p:nvGraphicFramePr>
          <p:cNvPr id="21" name="anim-3-26"/>
          <p:cNvGraphicFramePr>
            <a:graphicFrameLocks noGrp="1"/>
          </p:cNvGraphicFramePr>
          <p:nvPr>
            <p:extLst>
              <p:ext uri="{D42A27DB-BD31-4B8C-83A1-F6EECF244321}">
                <p14:modId xmlns:p14="http://schemas.microsoft.com/office/powerpoint/2010/main" val="1579011935"/>
              </p:ext>
            </p:extLst>
          </p:nvPr>
        </p:nvGraphicFramePr>
        <p:xfrm>
          <a:off x="711200" y="2489200"/>
          <a:ext cx="6832600" cy="914400"/>
        </p:xfrm>
        <a:graphic>
          <a:graphicData uri="http://schemas.openxmlformats.org/drawingml/2006/table">
            <a:tbl>
              <a:tblPr/>
              <a:tblGrid>
                <a:gridCol w="3556000"/>
                <a:gridCol w="3276600"/>
              </a:tblGrid>
              <a:tr h="355600">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Trigger</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c>
                  <a:txBody>
                    <a:bodyPr/>
                    <a:lstStyle/>
                    <a:p>
                      <a:pPr algn="l" indent="0" marL="0">
                        <a:buNone/>
                      </a:pPr>
                      <a:r>
                        <a:rPr lang="en-US" sz="800" dirty="0">
                          <a:solidFill>
                            <a:srgbClr val="FFFFFF"/>
                          </a:solidFill>
                          <a:latin typeface="Plus Jakarta Sans SemiBold" pitchFamily="34" charset="0"/>
                          <a:ea typeface="Plus Jakarta Sans SemiBold" pitchFamily="34" charset="-122"/>
                          <a:cs typeface="Plus Jakarta Sans SemiBold" pitchFamily="34" charset="-120"/>
                        </a:rPr>
                        <a:t>Possible action</a:t>
                      </a:r>
                      <a:endParaRPr lang="en-US" sz="80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E3570"/>
                    </a:solidFill>
                  </a:tcPr>
                </a:tc>
              </a:tr>
              <a:tr h="355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No qualified pipeline 2 consecutive quarters</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Downgrade, activation plan or benefit suspension</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55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No certified resources</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Loss of sales / delivery authorisation until certified</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55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Poor feedback / delivery escalation</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Reassignment, suspension or termination</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55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Forecast inaccuracy or account parking</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Lead-registration limits or downgrade</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55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Unauthorised discounting / misrepresentation</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Commission denial, suspension or termination</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r h="355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Compliance, security, procurement or data breach</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Immediate suspension or termination</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D2B3E"/>
                    </a:solidFill>
                  </a:tcPr>
                </a:tc>
              </a:tr>
              <a:tr h="355600">
                <a:tc>
                  <a:txBody>
                    <a:bodyPr/>
                    <a:lstStyle/>
                    <a:p>
                      <a:pPr algn="l" indent="0" marL="0">
                        <a:buNone/>
                      </a:pPr>
                      <a:r>
                        <a:rPr lang="en-US" sz="850" dirty="0">
                          <a:solidFill>
                            <a:srgbClr val="FFFFFF"/>
                          </a:solidFill>
                          <a:latin typeface="Plus Jakarta Sans SemiBold" pitchFamily="34" charset="0"/>
                          <a:ea typeface="Plus Jakarta Sans SemiBold" pitchFamily="34" charset="-122"/>
                          <a:cs typeface="Plus Jakarta Sans SemiBold" pitchFamily="34" charset="-120"/>
                        </a:rPr>
                        <a:t>Brand misuse / unauthorised announcement</a:t>
                      </a:r>
                      <a:endParaRPr lang="en-US" sz="850" dirty="0">
                        <a:latin typeface="Plus Jakarta Sans SemiBold" charset="0"/>
                        <a:ea typeface="Plus Jakarta Sans SemiBold" charset="0"/>
                        <a:cs typeface="Plus Jakarta Sans SemiBold"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c>
                  <a:txBody>
                    <a:bodyPr/>
                    <a:lstStyle/>
                    <a:p>
                      <a:pPr algn="l" indent="0" marL="0">
                        <a:buNone/>
                      </a:pPr>
                      <a:r>
                        <a:rPr lang="en-US" sz="850" dirty="0">
                          <a:solidFill>
                            <a:srgbClr val="C3C8D1"/>
                          </a:solidFill>
                          <a:latin typeface="Plus Jakarta Sans" pitchFamily="34" charset="0"/>
                          <a:ea typeface="Plus Jakarta Sans" pitchFamily="34" charset="-122"/>
                          <a:cs typeface="Plus Jakarta Sans" pitchFamily="34" charset="-120"/>
                        </a:rPr>
                        <a:t>Correction, suspension or termination</a:t>
                      </a:r>
                      <a:endParaRPr lang="en-US" sz="850" dirty="0">
                        <a:latin typeface="Plus Jakarta Sans" charset="0"/>
                        <a:ea typeface="Plus Jakarta Sans" charset="0"/>
                        <a:cs typeface="Plus Jakarta Sans" charset="0"/>
                      </a:endParaRPr>
                    </a:p>
                  </a:txBody>
                  <a:tcPr marL="101600" marR="101600" marT="38100" marB="38100" anchor="ctr">
                    <a:lnL w="0" cap="flat" cmpd="sng" algn="ctr">
                      <a:noFill/>
                    </a:lnL>
                    <a:lnR w="0" cap="flat" cmpd="sng" algn="ctr">
                      <a:noFill/>
                    </a:lnR>
                    <a:lnT w="9525" cap="flat" cmpd="sng" algn="ctr">
                      <a:solidFill>
                        <a:srgbClr val="2C3A4F"/>
                      </a:solidFill>
                      <a:prstDash val="solid"/>
                      <a:round/>
                      <a:headEnd type="none" w="med" len="med"/>
                      <a:tailEnd type="none" w="med" len="med"/>
                    </a:lnT>
                    <a:lnB w="9525" cap="flat" cmpd="sng" algn="ctr">
                      <a:solidFill>
                        <a:srgbClr val="2C3A4F"/>
                      </a:solidFill>
                      <a:prstDash val="solid"/>
                      <a:round/>
                      <a:headEnd type="none" w="med" len="med"/>
                      <a:tailEnd type="none" w="med" len="med"/>
                    </a:lnB>
                    <a:solidFill>
                      <a:srgbClr val="182638"/>
                    </a:solidFill>
                  </a:tcPr>
                </a:tc>
              </a:tr>
            </a:tbl>
          </a:graphicData>
        </a:graphic>
      </p:graphicFrame>
      <p:sp>
        <p:nvSpPr>
          <p:cNvPr id="31" name="anim-4-27"/>
          <p:cNvSpPr/>
          <p:nvPr/>
        </p:nvSpPr>
        <p:spPr>
          <a:xfrm>
            <a:off x="7899400" y="2336800"/>
            <a:ext cx="3784600" cy="3175000"/>
          </a:xfrm>
          <a:prstGeom prst="roundRect">
            <a:avLst>
              <a:gd name="adj" fmla="val 4800"/>
            </a:avLst>
          </a:prstGeom>
          <a:solidFill>
            <a:srgbClr val="194EFF">
              <a:alpha val="30000"/>
            </a:srgbClr>
          </a:solidFill>
          <a:ln w="15875">
            <a:solidFill>
              <a:srgbClr val="194EFF"/>
            </a:solidFill>
            <a:prstDash val="solid"/>
          </a:ln>
        </p:spPr>
      </p:sp>
      <p:sp>
        <p:nvSpPr>
          <p:cNvPr id="32" name="anim-4-28"/>
          <p:cNvSpPr txBox="1"/>
          <p:nvPr/>
        </p:nvSpPr>
        <p:spPr>
          <a:xfrm>
            <a:off x="8102600" y="2514600"/>
            <a:ext cx="3429000" cy="254000"/>
          </a:xfrm>
          <a:prstGeom prst="rect">
            <a:avLst/>
          </a:prstGeom>
          <a:noFill/>
          <a:ln/>
        </p:spPr>
        <p:txBody>
          <a:bodyPr wrap="square" lIns="0" tIns="0" rIns="0" bIns="0" rtlCol="0" anchor="t"/>
          <a:lstStyle/>
          <a:p>
            <a:pPr algn="l" indent="0" marL="0">
              <a:lnSpc>
                <a:spcPct val="112000"/>
              </a:lnSpc>
              <a:buNone/>
            </a:pPr>
            <a:r>
              <a:rPr lang="en-US" sz="1250" b="1" dirty="0">
                <a:solidFill>
                  <a:srgbClr val="15B6FF"/>
                </a:solidFill>
                <a:latin typeface="Plus Jakarta Sans" pitchFamily="34" charset="0"/>
                <a:ea typeface="Plus Jakarta Sans" pitchFamily="34" charset="-122"/>
                <a:cs typeface="Plus Jakarta Sans" pitchFamily="34" charset="-120"/>
              </a:rPr>
              <a:t>Joint business plans &amp; QBRs</a:t>
            </a:r>
            <a:endParaRPr lang="en-US" sz="1250" dirty="0"/>
          </a:p>
        </p:txBody>
      </p:sp>
      <p:sp>
        <p:nvSpPr>
          <p:cNvPr id="33" name="anim-4-29"/>
          <p:cNvSpPr txBox="1"/>
          <p:nvPr/>
        </p:nvSpPr>
        <p:spPr>
          <a:xfrm>
            <a:off x="8102600" y="2844800"/>
            <a:ext cx="3378200" cy="1270000"/>
          </a:xfrm>
          <a:prstGeom prst="rect">
            <a:avLst/>
          </a:prstGeom>
          <a:noFill/>
          <a:ln/>
        </p:spPr>
        <p:txBody>
          <a:bodyPr wrap="square" lIns="0" tIns="0" rIns="0" bIns="0" rtlCol="0" anchor="t"/>
          <a:lstStyle/>
          <a:p>
            <a:pPr algn="l" indent="0" marL="0">
              <a:lnSpc>
                <a:spcPct val="125000"/>
              </a:lnSpc>
              <a:buNone/>
            </a:pPr>
            <a:r>
              <a:rPr lang="en-US" sz="900" dirty="0">
                <a:solidFill>
                  <a:srgbClr val="FFFFFF"/>
                </a:solidFill>
                <a:latin typeface="Plus Jakarta Sans" pitchFamily="34" charset="0"/>
                <a:ea typeface="Plus Jakarta Sans" pitchFamily="34" charset="-122"/>
                <a:cs typeface="Plus Jakarta Sans" pitchFamily="34" charset="-120"/>
              </a:rPr>
              <a:t>Level 2–5 partners keep an annual joint business plan: target accounts, sectors, countries, enablement, pipeline goals, marketing, executive alignment, support model and quarterly milestones.</a:t>
            </a:r>
            <a:endParaRPr lang="en-US" sz="900" dirty="0"/>
          </a:p>
        </p:txBody>
      </p:sp>
      <p:sp>
        <p:nvSpPr>
          <p:cNvPr id="34" name="anim-4-30"/>
          <p:cNvSpPr txBox="1"/>
          <p:nvPr/>
        </p:nvSpPr>
        <p:spPr>
          <a:xfrm>
            <a:off x="8102600" y="4292600"/>
            <a:ext cx="3378200" cy="1016000"/>
          </a:xfrm>
          <a:prstGeom prst="rect">
            <a:avLst/>
          </a:prstGeom>
          <a:noFill/>
          <a:ln/>
        </p:spPr>
        <p:txBody>
          <a:bodyPr wrap="square" lIns="0" tIns="0" rIns="0" bIns="0" rtlCol="0" anchor="t"/>
          <a:lstStyle/>
          <a:p>
            <a:pPr algn="l" indent="0" marL="0">
              <a:lnSpc>
                <a:spcPct val="125000"/>
              </a:lnSpc>
              <a:buNone/>
            </a:pPr>
            <a:r>
              <a:rPr lang="en-US" sz="900" dirty="0">
                <a:solidFill>
                  <a:srgbClr val="C3C8D1"/>
                </a:solidFill>
                <a:latin typeface="Plus Jakarta Sans" pitchFamily="34" charset="0"/>
                <a:ea typeface="Plus Jakarta Sans" pitchFamily="34" charset="-122"/>
                <a:cs typeface="Plus Jakarta Sans" pitchFamily="34" charset="-120"/>
              </a:rPr>
              <a:t>QBRs review pipeline, wins, losses, blockers, enablement, marketing outcomes, delivery quality, renewal risks and next-quarter priorities.</a:t>
            </a:r>
            <a:endParaRPr lang="en-US" sz="900" dirty="0"/>
          </a:p>
        </p:txBody>
      </p:sp>
      <p:sp>
        <p:nvSpPr>
          <p:cNvPr id="35" name="anim-9-31"/>
          <p:cNvSpPr/>
          <p:nvPr/>
        </p:nvSpPr>
        <p:spPr>
          <a:xfrm>
            <a:off x="508000" y="5664200"/>
            <a:ext cx="11176000" cy="406400"/>
          </a:xfrm>
          <a:prstGeom prst="roundRect">
            <a:avLst>
              <a:gd name="adj" fmla="val 50000"/>
            </a:avLst>
          </a:prstGeom>
          <a:solidFill>
            <a:srgbClr val="FFFFFF">
              <a:alpha val="4000"/>
            </a:srgbClr>
          </a:solidFill>
          <a:ln w="9525">
            <a:solidFill>
              <a:srgbClr val="FFFFFF">
                <a:alpha val="22000"/>
              </a:srgbClr>
            </a:solidFill>
            <a:prstDash val="solid"/>
          </a:ln>
        </p:spPr>
      </p:sp>
      <p:sp>
        <p:nvSpPr>
          <p:cNvPr id="36" name="anim-9-32"/>
          <p:cNvSpPr txBox="1"/>
          <p:nvPr/>
        </p:nvSpPr>
        <p:spPr>
          <a:xfrm>
            <a:off x="762000" y="5664200"/>
            <a:ext cx="2095500" cy="406400"/>
          </a:xfrm>
          <a:prstGeom prst="rect">
            <a:avLst/>
          </a:prstGeom>
          <a:noFill/>
          <a:ln/>
        </p:spPr>
        <p:txBody>
          <a:bodyPr wrap="square" lIns="0" tIns="0" rIns="0" bIns="0" rtlCol="0" anchor="ctr"/>
          <a:lstStyle/>
          <a:p>
            <a:pPr algn="l" indent="0" marL="0">
              <a:lnSpc>
                <a:spcPct val="112000"/>
              </a:lnSpc>
              <a:buNone/>
            </a:pPr>
            <a:r>
              <a:rPr lang="en-US" sz="1100" b="1" dirty="0">
                <a:solidFill>
                  <a:srgbClr val="15B6FF"/>
                </a:solidFill>
                <a:latin typeface="Plus Jakarta Sans" pitchFamily="34" charset="0"/>
                <a:ea typeface="Plus Jakarta Sans" pitchFamily="34" charset="-122"/>
                <a:cs typeface="Plus Jakarta Sans" pitchFamily="34" charset="-120"/>
              </a:rPr>
              <a:t>Not Revenue Alone</a:t>
            </a:r>
            <a:endParaRPr lang="en-US" sz="1100" dirty="0"/>
          </a:p>
        </p:txBody>
      </p:sp>
      <p:sp>
        <p:nvSpPr>
          <p:cNvPr id="37" name="anim-9-33"/>
          <p:cNvSpPr txBox="1"/>
          <p:nvPr/>
        </p:nvSpPr>
        <p:spPr>
          <a:xfrm>
            <a:off x="2921000" y="5664200"/>
            <a:ext cx="8572500" cy="406400"/>
          </a:xfrm>
          <a:prstGeom prst="rect">
            <a:avLst/>
          </a:prstGeom>
          <a:noFill/>
          <a:ln/>
        </p:spPr>
        <p:txBody>
          <a:bodyPr wrap="square" lIns="0" tIns="0" rIns="0" bIns="0" rtlCol="0" anchor="ctr"/>
          <a:lstStyle/>
          <a:p>
            <a:pPr algn="l" indent="0" marL="0">
              <a:lnSpc>
                <a:spcPct val="112000"/>
              </a:lnSpc>
              <a:buNone/>
            </a:pPr>
            <a:r>
              <a:rPr lang="en-US" sz="1000" dirty="0">
                <a:solidFill>
                  <a:srgbClr val="FFFFFF"/>
                </a:solidFill>
                <a:latin typeface="Plus Jakarta Sans Medium" pitchFamily="34" charset="0"/>
                <a:ea typeface="Plus Jakarta Sans Medium" pitchFamily="34" charset="-122"/>
                <a:cs typeface="Plus Jakarta Sans Medium" pitchFamily="34" charset="-120"/>
              </a:rPr>
              <a:t>Formal exit and dispute processes cover unpaid commissions, active opportunities, assignments, data and demo access.</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1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18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1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18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18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18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18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18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18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18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18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18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18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18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18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8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36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36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par>
                                <p:cTn id="83" presetID="10" presetClass="entr" presetSubtype="0" fill="hold" grpId="0" nodeType="withEffect">
                                  <p:stCondLst>
                                    <p:cond delay="54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54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54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54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72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72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72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logo-white.png">    </p:cNvPr>
          <p:cNvPicPr>
            <a:picLocks noChangeAspect="1"/>
          </p:cNvPicPr>
          <p:nvPr/>
        </p:nvPicPr>
        <p:blipFill>
          <a:blip r:embed="rId2"/>
          <a:stretch>
            <a:fillRect/>
          </a:stretch>
        </p:blipFill>
        <p:spPr>
          <a:xfrm>
            <a:off x="10414000" y="355600"/>
            <a:ext cx="1270000" cy="304800"/>
          </a:xfrm>
          <a:prstGeom prst="rect">
            <a:avLst/>
          </a:prstGeom>
        </p:spPr>
      </p:pic>
      <p:sp>
        <p:nvSpPr>
          <p:cNvPr id="3" name="Text 0"/>
          <p:cNvSpPr txBox="1"/>
          <p:nvPr/>
        </p:nvSpPr>
        <p:spPr>
          <a:xfrm>
            <a:off x="254000" y="6134100"/>
            <a:ext cx="1270000" cy="571500"/>
          </a:xfrm>
          <a:prstGeom prst="rect">
            <a:avLst/>
          </a:prstGeom>
          <a:noFill/>
          <a:ln/>
        </p:spPr>
        <p:txBody>
          <a:bodyPr wrap="square" lIns="0" tIns="0" rIns="0" bIns="0" rtlCol="0" anchor="t"/>
          <a:lstStyle/>
          <a:p>
            <a:pPr algn="l" indent="0" marL="0">
              <a:lnSpc>
                <a:spcPct val="112000"/>
              </a:lnSpc>
              <a:buNone/>
            </a:pPr>
            <a:r>
              <a:rPr lang="en-US" sz="3550" b="1" dirty="0">
                <a:solidFill>
                  <a:srgbClr val="3F8FF2"/>
                </a:solidFill>
                <a:latin typeface="Plus Jakarta Sans" pitchFamily="34" charset="0"/>
                <a:ea typeface="Plus Jakarta Sans" pitchFamily="34" charset="-122"/>
                <a:cs typeface="Plus Jakarta Sans" pitchFamily="34" charset="-120"/>
              </a:rPr>
              <a:t>21</a:t>
            </a:r>
            <a:endParaRPr lang="en-US" sz="3550" dirty="0"/>
          </a:p>
        </p:txBody>
      </p:sp>
      <p:sp>
        <p:nvSpPr>
          <p:cNvPr id="4" name="Text 1"/>
          <p:cNvSpPr txBox="1"/>
          <p:nvPr/>
        </p:nvSpPr>
        <p:spPr>
          <a:xfrm>
            <a:off x="6604000" y="6477000"/>
            <a:ext cx="5080000" cy="152400"/>
          </a:xfrm>
          <a:prstGeom prst="rect">
            <a:avLst/>
          </a:prstGeom>
          <a:noFill/>
          <a:ln/>
        </p:spPr>
        <p:txBody>
          <a:bodyPr wrap="square" lIns="0" tIns="0" rIns="0" bIns="0" rtlCol="0" anchor="t"/>
          <a:lstStyle/>
          <a:p>
            <a:pPr algn="r" indent="0" marL="0">
              <a:lnSpc>
                <a:spcPct val="112000"/>
              </a:lnSpc>
              <a:buNone/>
            </a:pPr>
            <a:r>
              <a:rPr lang="en-US" sz="750" dirty="0">
                <a:solidFill>
                  <a:srgbClr val="8C93A3"/>
                </a:solidFill>
                <a:latin typeface="Plus Jakarta Sans" pitchFamily="34" charset="0"/>
                <a:ea typeface="Plus Jakarta Sans" pitchFamily="34" charset="-122"/>
                <a:cs typeface="Plus Jakarta Sans" pitchFamily="34" charset="-120"/>
              </a:rPr>
              <a:t>Partner-Confidential · NDA · Programme description only; not a contract</a:t>
            </a:r>
            <a:endParaRPr lang="en-US" sz="750" dirty="0"/>
          </a:p>
        </p:txBody>
      </p:sp>
      <p:sp>
        <p:nvSpPr>
          <p:cNvPr id="5" name="anim-1-1"/>
          <p:cNvSpPr/>
          <p:nvPr/>
        </p:nvSpPr>
        <p:spPr>
          <a:xfrm rot="2700000">
            <a:off x="546100" y="368300"/>
            <a:ext cx="63500" cy="63500"/>
          </a:xfrm>
          <a:prstGeom prst="rect">
            <a:avLst/>
          </a:prstGeom>
          <a:solidFill>
            <a:srgbClr val="15B6FF"/>
          </a:solidFill>
          <a:ln/>
        </p:spPr>
      </p:sp>
      <p:sp>
        <p:nvSpPr>
          <p:cNvPr id="6" name="anim-1-2"/>
          <p:cNvSpPr txBox="1"/>
          <p:nvPr/>
        </p:nvSpPr>
        <p:spPr>
          <a:xfrm>
            <a:off x="685800" y="304800"/>
            <a:ext cx="8890000" cy="190500"/>
          </a:xfrm>
          <a:prstGeom prst="rect">
            <a:avLst/>
          </a:prstGeom>
          <a:noFill/>
          <a:ln/>
        </p:spPr>
        <p:txBody>
          <a:bodyPr wrap="square" lIns="0" tIns="0" rIns="0" bIns="0" rtlCol="0" anchor="t"/>
          <a:lstStyle/>
          <a:p>
            <a:pPr algn="l" indent="0" marL="0">
              <a:lnSpc>
                <a:spcPct val="112000"/>
              </a:lnSpc>
              <a:buNone/>
            </a:pPr>
            <a:r>
              <a:rPr lang="en-US" sz="1000" spc="200" kern="0" dirty="0">
                <a:solidFill>
                  <a:srgbClr val="15B6FF"/>
                </a:solidFill>
                <a:latin typeface="Plus Jakarta Sans SemiBold" pitchFamily="34" charset="0"/>
                <a:ea typeface="Plus Jakarta Sans SemiBold" pitchFamily="34" charset="-122"/>
                <a:cs typeface="Plus Jakarta Sans SemiBold" pitchFamily="34" charset="-120"/>
              </a:rPr>
              <a:t>23 · HOW TO JOIN AND LAUNCH WITH DIGNIFYX</a:t>
            </a:r>
            <a:endParaRPr lang="en-US" sz="1000" dirty="0"/>
          </a:p>
        </p:txBody>
      </p:sp>
      <p:sp>
        <p:nvSpPr>
          <p:cNvPr id="7" name="anim-1-3"/>
          <p:cNvSpPr txBox="1"/>
          <p:nvPr/>
        </p:nvSpPr>
        <p:spPr>
          <a:xfrm>
            <a:off x="508000" y="558800"/>
            <a:ext cx="9652000" cy="406400"/>
          </a:xfrm>
          <a:prstGeom prst="rect">
            <a:avLst/>
          </a:prstGeom>
          <a:noFill/>
          <a:ln/>
        </p:spPr>
        <p:txBody>
          <a:bodyPr wrap="square" lIns="0" tIns="0" rIns="0" bIns="0" rtlCol="0" anchor="ctr"/>
          <a:lstStyle/>
          <a:p>
            <a:pPr algn="l" indent="0" marL="0">
              <a:lnSpc>
                <a:spcPct val="112000"/>
              </a:lnSpc>
              <a:buNone/>
            </a:pPr>
            <a:r>
              <a:rPr lang="en-US" sz="2000" b="1" dirty="0">
                <a:solidFill>
                  <a:srgbClr val="FFFFFF"/>
                </a:solidFill>
                <a:latin typeface="Plus Jakarta Sans" pitchFamily="34" charset="0"/>
                <a:ea typeface="Plus Jakarta Sans" pitchFamily="34" charset="-122"/>
                <a:cs typeface="Plus Jakarta Sans" pitchFamily="34" charset="-120"/>
              </a:rPr>
              <a:t>Your launch journey </a:t>
            </a:r>
            <a:pPr algn="l" indent="0" marL="0">
              <a:lnSpc>
                <a:spcPct val="112000"/>
              </a:lnSpc>
              <a:buNone/>
            </a:pPr>
            <a:r>
              <a:rPr lang="en-US" sz="2000" b="1" i="1" dirty="0">
                <a:solidFill>
                  <a:srgbClr val="15B6FF"/>
                </a:solidFill>
                <a:latin typeface="Plus Jakarta Sans Light" pitchFamily="34" charset="0"/>
                <a:ea typeface="Plus Jakarta Sans Light" pitchFamily="34" charset="-122"/>
                <a:cs typeface="Plus Jakarta Sans Light" pitchFamily="34" charset="-120"/>
              </a:rPr>
              <a:t>starts here</a:t>
            </a:r>
            <a:endParaRPr lang="en-US" sz="2000" dirty="0"/>
          </a:p>
        </p:txBody>
      </p:sp>
      <p:sp>
        <p:nvSpPr>
          <p:cNvPr id="8" name="anim-2-4"/>
          <p:cNvSpPr/>
          <p:nvPr/>
        </p:nvSpPr>
        <p:spPr>
          <a:xfrm>
            <a:off x="508000" y="1308100"/>
            <a:ext cx="1465943" cy="2413000"/>
          </a:xfrm>
          <a:prstGeom prst="roundRect">
            <a:avLst>
              <a:gd name="adj" fmla="val 8663"/>
            </a:avLst>
          </a:prstGeom>
          <a:solidFill>
            <a:srgbClr val="FFFFFF">
              <a:alpha val="5000"/>
            </a:srgbClr>
          </a:solidFill>
          <a:ln w="9525">
            <a:solidFill>
              <a:srgbClr val="FFFFFF">
                <a:alpha val="12000"/>
              </a:srgbClr>
            </a:solidFill>
            <a:prstDash val="solid"/>
          </a:ln>
        </p:spPr>
      </p:sp>
      <p:sp>
        <p:nvSpPr>
          <p:cNvPr id="9" name="anim-2-5"/>
          <p:cNvSpPr txBox="1"/>
          <p:nvPr/>
        </p:nvSpPr>
        <p:spPr>
          <a:xfrm>
            <a:off x="647700" y="1447800"/>
            <a:ext cx="762000" cy="317500"/>
          </a:xfrm>
          <a:prstGeom prst="rect">
            <a:avLst/>
          </a:prstGeom>
          <a:noFill/>
          <a:ln/>
        </p:spPr>
        <p:txBody>
          <a:bodyPr wrap="square" lIns="0" tIns="0" rIns="0" bIns="0" rtlCol="0" anchor="t"/>
          <a:lstStyle/>
          <a:p>
            <a:pPr algn="l" indent="0" marL="0">
              <a:lnSpc>
                <a:spcPct val="112000"/>
              </a:lnSpc>
              <a:buNone/>
            </a:pPr>
            <a:r>
              <a:rPr lang="en-US" sz="2200" dirty="0">
                <a:solidFill>
                  <a:srgbClr val="15B6FF"/>
                </a:solidFill>
                <a:latin typeface="Plus Jakarta Sans Light" pitchFamily="34" charset="0"/>
                <a:ea typeface="Plus Jakarta Sans Light" pitchFamily="34" charset="-122"/>
                <a:cs typeface="Plus Jakarta Sans Light" pitchFamily="34" charset="-120"/>
              </a:rPr>
              <a:t>01</a:t>
            </a:r>
            <a:endParaRPr lang="en-US" sz="2200" dirty="0"/>
          </a:p>
        </p:txBody>
      </p:sp>
      <p:sp>
        <p:nvSpPr>
          <p:cNvPr id="10" name="anim-2-6"/>
          <p:cNvSpPr txBox="1"/>
          <p:nvPr/>
        </p:nvSpPr>
        <p:spPr>
          <a:xfrm>
            <a:off x="647700" y="1905000"/>
            <a:ext cx="1211943" cy="5715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Interest &amp; application</a:t>
            </a:r>
            <a:endParaRPr lang="en-US" sz="1100" dirty="0"/>
          </a:p>
        </p:txBody>
      </p:sp>
      <p:sp>
        <p:nvSpPr>
          <p:cNvPr id="11" name="anim-2-7"/>
          <p:cNvSpPr txBox="1"/>
          <p:nvPr/>
        </p:nvSpPr>
        <p:spPr>
          <a:xfrm>
            <a:off x="647700" y="2984500"/>
            <a:ext cx="1211943" cy="508000"/>
          </a:xfrm>
          <a:prstGeom prst="rect">
            <a:avLst/>
          </a:prstGeom>
          <a:noFill/>
          <a:ln/>
        </p:spPr>
        <p:txBody>
          <a:bodyPr wrap="square" lIns="0" tIns="0" rIns="0" bIns="0" rtlCol="0" anchor="t"/>
          <a:lstStyle/>
          <a:p>
            <a:pPr algn="l" indent="0" marL="0">
              <a:lnSpc>
                <a:spcPct val="112000"/>
              </a:lnSpc>
              <a:buNone/>
            </a:pPr>
            <a:r>
              <a:rPr lang="en-US" sz="900" b="1" dirty="0">
                <a:solidFill>
                  <a:srgbClr val="15B6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00" dirty="0">
                <a:solidFill>
                  <a:srgbClr val="FFFFFF"/>
                </a:solidFill>
                <a:latin typeface="Plus Jakarta Sans" pitchFamily="34" charset="0"/>
                <a:ea typeface="Plus Jakarta Sans" pitchFamily="34" charset="-122"/>
                <a:cs typeface="Plus Jakarta Sans" pitchFamily="34" charset="-120"/>
              </a:rPr>
              <a:t>Initial qualification</a:t>
            </a:r>
            <a:endParaRPr lang="en-US" sz="900" dirty="0"/>
          </a:p>
        </p:txBody>
      </p:sp>
      <p:sp>
        <p:nvSpPr>
          <p:cNvPr id="12" name="anim-3-8"/>
          <p:cNvSpPr/>
          <p:nvPr/>
        </p:nvSpPr>
        <p:spPr>
          <a:xfrm>
            <a:off x="2126343" y="1308100"/>
            <a:ext cx="1465943" cy="2413000"/>
          </a:xfrm>
          <a:prstGeom prst="roundRect">
            <a:avLst>
              <a:gd name="adj" fmla="val 8663"/>
            </a:avLst>
          </a:prstGeom>
          <a:solidFill>
            <a:srgbClr val="FFFFFF">
              <a:alpha val="5000"/>
            </a:srgbClr>
          </a:solidFill>
          <a:ln w="9525">
            <a:solidFill>
              <a:srgbClr val="FFFFFF">
                <a:alpha val="12000"/>
              </a:srgbClr>
            </a:solidFill>
            <a:prstDash val="solid"/>
          </a:ln>
        </p:spPr>
      </p:sp>
      <p:sp>
        <p:nvSpPr>
          <p:cNvPr id="13" name="anim-3-9"/>
          <p:cNvSpPr txBox="1"/>
          <p:nvPr/>
        </p:nvSpPr>
        <p:spPr>
          <a:xfrm>
            <a:off x="2266043" y="1447800"/>
            <a:ext cx="762000" cy="317500"/>
          </a:xfrm>
          <a:prstGeom prst="rect">
            <a:avLst/>
          </a:prstGeom>
          <a:noFill/>
          <a:ln/>
        </p:spPr>
        <p:txBody>
          <a:bodyPr wrap="square" lIns="0" tIns="0" rIns="0" bIns="0" rtlCol="0" anchor="t"/>
          <a:lstStyle/>
          <a:p>
            <a:pPr algn="l" indent="0" marL="0">
              <a:lnSpc>
                <a:spcPct val="112000"/>
              </a:lnSpc>
              <a:buNone/>
            </a:pPr>
            <a:r>
              <a:rPr lang="en-US" sz="2200" dirty="0">
                <a:solidFill>
                  <a:srgbClr val="15B6FF"/>
                </a:solidFill>
                <a:latin typeface="Plus Jakarta Sans Light" pitchFamily="34" charset="0"/>
                <a:ea typeface="Plus Jakarta Sans Light" pitchFamily="34" charset="-122"/>
                <a:cs typeface="Plus Jakarta Sans Light" pitchFamily="34" charset="-120"/>
              </a:rPr>
              <a:t>02</a:t>
            </a:r>
            <a:endParaRPr lang="en-US" sz="2200" dirty="0"/>
          </a:p>
        </p:txBody>
      </p:sp>
      <p:sp>
        <p:nvSpPr>
          <p:cNvPr id="14" name="anim-3-10"/>
          <p:cNvSpPr txBox="1"/>
          <p:nvPr/>
        </p:nvSpPr>
        <p:spPr>
          <a:xfrm>
            <a:off x="2266043" y="1905000"/>
            <a:ext cx="1211943" cy="5715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Due diligence</a:t>
            </a:r>
            <a:endParaRPr lang="en-US" sz="1100" dirty="0"/>
          </a:p>
        </p:txBody>
      </p:sp>
      <p:sp>
        <p:nvSpPr>
          <p:cNvPr id="15" name="anim-3-11"/>
          <p:cNvSpPr txBox="1"/>
          <p:nvPr/>
        </p:nvSpPr>
        <p:spPr>
          <a:xfrm>
            <a:off x="2266043" y="2984500"/>
            <a:ext cx="1211943" cy="508000"/>
          </a:xfrm>
          <a:prstGeom prst="rect">
            <a:avLst/>
          </a:prstGeom>
          <a:noFill/>
          <a:ln/>
        </p:spPr>
        <p:txBody>
          <a:bodyPr wrap="square" lIns="0" tIns="0" rIns="0" bIns="0" rtlCol="0" anchor="t"/>
          <a:lstStyle/>
          <a:p>
            <a:pPr algn="l" indent="0" marL="0">
              <a:lnSpc>
                <a:spcPct val="112000"/>
              </a:lnSpc>
              <a:buNone/>
            </a:pPr>
            <a:r>
              <a:rPr lang="en-US" sz="900" b="1" dirty="0">
                <a:solidFill>
                  <a:srgbClr val="15B6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00" dirty="0">
                <a:solidFill>
                  <a:srgbClr val="FFFFFF"/>
                </a:solidFill>
                <a:latin typeface="Plus Jakarta Sans" pitchFamily="34" charset="0"/>
                <a:ea typeface="Plus Jakarta Sans" pitchFamily="34" charset="-122"/>
                <a:cs typeface="Plus Jakarta Sans" pitchFamily="34" charset="-120"/>
              </a:rPr>
              <a:t>Approved / conditional</a:t>
            </a:r>
            <a:endParaRPr lang="en-US" sz="900" dirty="0"/>
          </a:p>
        </p:txBody>
      </p:sp>
      <p:sp>
        <p:nvSpPr>
          <p:cNvPr id="16" name="anim-4-12"/>
          <p:cNvSpPr/>
          <p:nvPr/>
        </p:nvSpPr>
        <p:spPr>
          <a:xfrm>
            <a:off x="3744686" y="1308100"/>
            <a:ext cx="1465943" cy="2413000"/>
          </a:xfrm>
          <a:prstGeom prst="roundRect">
            <a:avLst>
              <a:gd name="adj" fmla="val 8663"/>
            </a:avLst>
          </a:prstGeom>
          <a:solidFill>
            <a:srgbClr val="FFFFFF">
              <a:alpha val="5000"/>
            </a:srgbClr>
          </a:solidFill>
          <a:ln w="9525">
            <a:solidFill>
              <a:srgbClr val="FFFFFF">
                <a:alpha val="12000"/>
              </a:srgbClr>
            </a:solidFill>
            <a:prstDash val="solid"/>
          </a:ln>
        </p:spPr>
      </p:sp>
      <p:sp>
        <p:nvSpPr>
          <p:cNvPr id="17" name="anim-4-13"/>
          <p:cNvSpPr txBox="1"/>
          <p:nvPr/>
        </p:nvSpPr>
        <p:spPr>
          <a:xfrm>
            <a:off x="3884386" y="1447800"/>
            <a:ext cx="762000" cy="317500"/>
          </a:xfrm>
          <a:prstGeom prst="rect">
            <a:avLst/>
          </a:prstGeom>
          <a:noFill/>
          <a:ln/>
        </p:spPr>
        <p:txBody>
          <a:bodyPr wrap="square" lIns="0" tIns="0" rIns="0" bIns="0" rtlCol="0" anchor="t"/>
          <a:lstStyle/>
          <a:p>
            <a:pPr algn="l" indent="0" marL="0">
              <a:lnSpc>
                <a:spcPct val="112000"/>
              </a:lnSpc>
              <a:buNone/>
            </a:pPr>
            <a:r>
              <a:rPr lang="en-US" sz="2200" dirty="0">
                <a:solidFill>
                  <a:srgbClr val="15B6FF"/>
                </a:solidFill>
                <a:latin typeface="Plus Jakarta Sans Light" pitchFamily="34" charset="0"/>
                <a:ea typeface="Plus Jakarta Sans Light" pitchFamily="34" charset="-122"/>
                <a:cs typeface="Plus Jakarta Sans Light" pitchFamily="34" charset="-120"/>
              </a:rPr>
              <a:t>03</a:t>
            </a:r>
            <a:endParaRPr lang="en-US" sz="2200" dirty="0"/>
          </a:p>
        </p:txBody>
      </p:sp>
      <p:sp>
        <p:nvSpPr>
          <p:cNvPr id="18" name="anim-4-14"/>
          <p:cNvSpPr txBox="1"/>
          <p:nvPr/>
        </p:nvSpPr>
        <p:spPr>
          <a:xfrm>
            <a:off x="3884386" y="1905000"/>
            <a:ext cx="1211943" cy="5715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Agreement</a:t>
            </a:r>
            <a:endParaRPr lang="en-US" sz="1100" dirty="0"/>
          </a:p>
        </p:txBody>
      </p:sp>
      <p:sp>
        <p:nvSpPr>
          <p:cNvPr id="19" name="anim-4-15"/>
          <p:cNvSpPr txBox="1"/>
          <p:nvPr/>
        </p:nvSpPr>
        <p:spPr>
          <a:xfrm>
            <a:off x="3884386" y="2984500"/>
            <a:ext cx="1211943" cy="508000"/>
          </a:xfrm>
          <a:prstGeom prst="rect">
            <a:avLst/>
          </a:prstGeom>
          <a:noFill/>
          <a:ln/>
        </p:spPr>
        <p:txBody>
          <a:bodyPr wrap="square" lIns="0" tIns="0" rIns="0" bIns="0" rtlCol="0" anchor="t"/>
          <a:lstStyle/>
          <a:p>
            <a:pPr algn="l" indent="0" marL="0">
              <a:lnSpc>
                <a:spcPct val="112000"/>
              </a:lnSpc>
              <a:buNone/>
            </a:pPr>
            <a:r>
              <a:rPr lang="en-US" sz="900" b="1" dirty="0">
                <a:solidFill>
                  <a:srgbClr val="15B6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00" dirty="0">
                <a:solidFill>
                  <a:srgbClr val="FFFFFF"/>
                </a:solidFill>
                <a:latin typeface="Plus Jakarta Sans" pitchFamily="34" charset="0"/>
                <a:ea typeface="Plus Jakarta Sans" pitchFamily="34" charset="-122"/>
                <a:cs typeface="Plus Jakarta Sans" pitchFamily="34" charset="-120"/>
              </a:rPr>
              <a:t>Active partner status</a:t>
            </a:r>
            <a:endParaRPr lang="en-US" sz="900" dirty="0"/>
          </a:p>
        </p:txBody>
      </p:sp>
      <p:sp>
        <p:nvSpPr>
          <p:cNvPr id="20" name="anim-5-16"/>
          <p:cNvSpPr/>
          <p:nvPr/>
        </p:nvSpPr>
        <p:spPr>
          <a:xfrm>
            <a:off x="5363029" y="1308100"/>
            <a:ext cx="1465943" cy="2413000"/>
          </a:xfrm>
          <a:prstGeom prst="roundRect">
            <a:avLst>
              <a:gd name="adj" fmla="val 8663"/>
            </a:avLst>
          </a:prstGeom>
          <a:solidFill>
            <a:srgbClr val="FFFFFF">
              <a:alpha val="5000"/>
            </a:srgbClr>
          </a:solidFill>
          <a:ln w="9525">
            <a:solidFill>
              <a:srgbClr val="FFFFFF">
                <a:alpha val="12000"/>
              </a:srgbClr>
            </a:solidFill>
            <a:prstDash val="solid"/>
          </a:ln>
        </p:spPr>
      </p:sp>
      <p:sp>
        <p:nvSpPr>
          <p:cNvPr id="21" name="anim-5-17"/>
          <p:cNvSpPr txBox="1"/>
          <p:nvPr/>
        </p:nvSpPr>
        <p:spPr>
          <a:xfrm>
            <a:off x="5502729" y="1447800"/>
            <a:ext cx="762000" cy="317500"/>
          </a:xfrm>
          <a:prstGeom prst="rect">
            <a:avLst/>
          </a:prstGeom>
          <a:noFill/>
          <a:ln/>
        </p:spPr>
        <p:txBody>
          <a:bodyPr wrap="square" lIns="0" tIns="0" rIns="0" bIns="0" rtlCol="0" anchor="t"/>
          <a:lstStyle/>
          <a:p>
            <a:pPr algn="l" indent="0" marL="0">
              <a:lnSpc>
                <a:spcPct val="112000"/>
              </a:lnSpc>
              <a:buNone/>
            </a:pPr>
            <a:r>
              <a:rPr lang="en-US" sz="2200" dirty="0">
                <a:solidFill>
                  <a:srgbClr val="15B6FF"/>
                </a:solidFill>
                <a:latin typeface="Plus Jakarta Sans Light" pitchFamily="34" charset="0"/>
                <a:ea typeface="Plus Jakarta Sans Light" pitchFamily="34" charset="-122"/>
                <a:cs typeface="Plus Jakarta Sans Light" pitchFamily="34" charset="-120"/>
              </a:rPr>
              <a:t>04</a:t>
            </a:r>
            <a:endParaRPr lang="en-US" sz="2200" dirty="0"/>
          </a:p>
        </p:txBody>
      </p:sp>
      <p:sp>
        <p:nvSpPr>
          <p:cNvPr id="22" name="anim-5-18"/>
          <p:cNvSpPr txBox="1"/>
          <p:nvPr/>
        </p:nvSpPr>
        <p:spPr>
          <a:xfrm>
            <a:off x="5502729" y="1905000"/>
            <a:ext cx="1211943" cy="5715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Enablement</a:t>
            </a:r>
            <a:endParaRPr lang="en-US" sz="1100" dirty="0"/>
          </a:p>
        </p:txBody>
      </p:sp>
      <p:sp>
        <p:nvSpPr>
          <p:cNvPr id="23" name="anim-5-19"/>
          <p:cNvSpPr txBox="1"/>
          <p:nvPr/>
        </p:nvSpPr>
        <p:spPr>
          <a:xfrm>
            <a:off x="5502729" y="2984500"/>
            <a:ext cx="1211943" cy="508000"/>
          </a:xfrm>
          <a:prstGeom prst="rect">
            <a:avLst/>
          </a:prstGeom>
          <a:noFill/>
          <a:ln/>
        </p:spPr>
        <p:txBody>
          <a:bodyPr wrap="square" lIns="0" tIns="0" rIns="0" bIns="0" rtlCol="0" anchor="t"/>
          <a:lstStyle/>
          <a:p>
            <a:pPr algn="l" indent="0" marL="0">
              <a:lnSpc>
                <a:spcPct val="112000"/>
              </a:lnSpc>
              <a:buNone/>
            </a:pPr>
            <a:r>
              <a:rPr lang="en-US" sz="900" b="1" dirty="0">
                <a:solidFill>
                  <a:srgbClr val="15B6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00" dirty="0">
                <a:solidFill>
                  <a:srgbClr val="FFFFFF"/>
                </a:solidFill>
                <a:latin typeface="Plus Jakarta Sans" pitchFamily="34" charset="0"/>
                <a:ea typeface="Plus Jakarta Sans" pitchFamily="34" charset="-122"/>
                <a:cs typeface="Plus Jakarta Sans" pitchFamily="34" charset="-120"/>
              </a:rPr>
              <a:t>Certified contacts</a:t>
            </a:r>
            <a:endParaRPr lang="en-US" sz="900" dirty="0"/>
          </a:p>
        </p:txBody>
      </p:sp>
      <p:sp>
        <p:nvSpPr>
          <p:cNvPr id="24" name="anim-6-20"/>
          <p:cNvSpPr/>
          <p:nvPr/>
        </p:nvSpPr>
        <p:spPr>
          <a:xfrm>
            <a:off x="6981371" y="1308100"/>
            <a:ext cx="1465943" cy="2413000"/>
          </a:xfrm>
          <a:prstGeom prst="roundRect">
            <a:avLst>
              <a:gd name="adj" fmla="val 8663"/>
            </a:avLst>
          </a:prstGeom>
          <a:solidFill>
            <a:srgbClr val="FFFFFF">
              <a:alpha val="5000"/>
            </a:srgbClr>
          </a:solidFill>
          <a:ln w="9525">
            <a:solidFill>
              <a:srgbClr val="FFFFFF">
                <a:alpha val="12000"/>
              </a:srgbClr>
            </a:solidFill>
            <a:prstDash val="solid"/>
          </a:ln>
        </p:spPr>
      </p:sp>
      <p:sp>
        <p:nvSpPr>
          <p:cNvPr id="25" name="anim-6-21"/>
          <p:cNvSpPr txBox="1"/>
          <p:nvPr/>
        </p:nvSpPr>
        <p:spPr>
          <a:xfrm>
            <a:off x="7121071" y="1447800"/>
            <a:ext cx="762000" cy="317500"/>
          </a:xfrm>
          <a:prstGeom prst="rect">
            <a:avLst/>
          </a:prstGeom>
          <a:noFill/>
          <a:ln/>
        </p:spPr>
        <p:txBody>
          <a:bodyPr wrap="square" lIns="0" tIns="0" rIns="0" bIns="0" rtlCol="0" anchor="t"/>
          <a:lstStyle/>
          <a:p>
            <a:pPr algn="l" indent="0" marL="0">
              <a:lnSpc>
                <a:spcPct val="112000"/>
              </a:lnSpc>
              <a:buNone/>
            </a:pPr>
            <a:r>
              <a:rPr lang="en-US" sz="2200" dirty="0">
                <a:solidFill>
                  <a:srgbClr val="15B6FF"/>
                </a:solidFill>
                <a:latin typeface="Plus Jakarta Sans Light" pitchFamily="34" charset="0"/>
                <a:ea typeface="Plus Jakarta Sans Light" pitchFamily="34" charset="-122"/>
                <a:cs typeface="Plus Jakarta Sans Light" pitchFamily="34" charset="-120"/>
              </a:rPr>
              <a:t>05</a:t>
            </a:r>
            <a:endParaRPr lang="en-US" sz="2200" dirty="0"/>
          </a:p>
        </p:txBody>
      </p:sp>
      <p:sp>
        <p:nvSpPr>
          <p:cNvPr id="26" name="anim-6-22"/>
          <p:cNvSpPr txBox="1"/>
          <p:nvPr/>
        </p:nvSpPr>
        <p:spPr>
          <a:xfrm>
            <a:off x="7121071" y="1905000"/>
            <a:ext cx="1211943" cy="5715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GTM planning</a:t>
            </a:r>
            <a:endParaRPr lang="en-US" sz="1100" dirty="0"/>
          </a:p>
        </p:txBody>
      </p:sp>
      <p:sp>
        <p:nvSpPr>
          <p:cNvPr id="27" name="anim-6-23"/>
          <p:cNvSpPr txBox="1"/>
          <p:nvPr/>
        </p:nvSpPr>
        <p:spPr>
          <a:xfrm>
            <a:off x="7121071" y="2984500"/>
            <a:ext cx="1211943" cy="508000"/>
          </a:xfrm>
          <a:prstGeom prst="rect">
            <a:avLst/>
          </a:prstGeom>
          <a:noFill/>
          <a:ln/>
        </p:spPr>
        <p:txBody>
          <a:bodyPr wrap="square" lIns="0" tIns="0" rIns="0" bIns="0" rtlCol="0" anchor="t"/>
          <a:lstStyle/>
          <a:p>
            <a:pPr algn="l" indent="0" marL="0">
              <a:lnSpc>
                <a:spcPct val="112000"/>
              </a:lnSpc>
              <a:buNone/>
            </a:pPr>
            <a:r>
              <a:rPr lang="en-US" sz="900" b="1" dirty="0">
                <a:solidFill>
                  <a:srgbClr val="15B6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00" dirty="0">
                <a:solidFill>
                  <a:srgbClr val="FFFFFF"/>
                </a:solidFill>
                <a:latin typeface="Plus Jakarta Sans" pitchFamily="34" charset="0"/>
                <a:ea typeface="Plus Jakarta Sans" pitchFamily="34" charset="-122"/>
                <a:cs typeface="Plus Jakarta Sans" pitchFamily="34" charset="-120"/>
              </a:rPr>
              <a:t>Joint action plan</a:t>
            </a:r>
            <a:endParaRPr lang="en-US" sz="900" dirty="0"/>
          </a:p>
        </p:txBody>
      </p:sp>
      <p:sp>
        <p:nvSpPr>
          <p:cNvPr id="28" name="anim-7-24"/>
          <p:cNvSpPr/>
          <p:nvPr/>
        </p:nvSpPr>
        <p:spPr>
          <a:xfrm>
            <a:off x="8599714" y="1308100"/>
            <a:ext cx="1465943" cy="2413000"/>
          </a:xfrm>
          <a:prstGeom prst="roundRect">
            <a:avLst>
              <a:gd name="adj" fmla="val 8663"/>
            </a:avLst>
          </a:prstGeom>
          <a:solidFill>
            <a:srgbClr val="FFFFFF">
              <a:alpha val="5000"/>
            </a:srgbClr>
          </a:solidFill>
          <a:ln w="9525">
            <a:solidFill>
              <a:srgbClr val="FFFFFF">
                <a:alpha val="12000"/>
              </a:srgbClr>
            </a:solidFill>
            <a:prstDash val="solid"/>
          </a:ln>
        </p:spPr>
      </p:sp>
      <p:sp>
        <p:nvSpPr>
          <p:cNvPr id="29" name="anim-7-25"/>
          <p:cNvSpPr txBox="1"/>
          <p:nvPr/>
        </p:nvSpPr>
        <p:spPr>
          <a:xfrm>
            <a:off x="8739414" y="1447800"/>
            <a:ext cx="762000" cy="317500"/>
          </a:xfrm>
          <a:prstGeom prst="rect">
            <a:avLst/>
          </a:prstGeom>
          <a:noFill/>
          <a:ln/>
        </p:spPr>
        <p:txBody>
          <a:bodyPr wrap="square" lIns="0" tIns="0" rIns="0" bIns="0" rtlCol="0" anchor="t"/>
          <a:lstStyle/>
          <a:p>
            <a:pPr algn="l" indent="0" marL="0">
              <a:lnSpc>
                <a:spcPct val="112000"/>
              </a:lnSpc>
              <a:buNone/>
            </a:pPr>
            <a:r>
              <a:rPr lang="en-US" sz="2200" dirty="0">
                <a:solidFill>
                  <a:srgbClr val="15B6FF"/>
                </a:solidFill>
                <a:latin typeface="Plus Jakarta Sans Light" pitchFamily="34" charset="0"/>
                <a:ea typeface="Plus Jakarta Sans Light" pitchFamily="34" charset="-122"/>
                <a:cs typeface="Plus Jakarta Sans Light" pitchFamily="34" charset="-120"/>
              </a:rPr>
              <a:t>06</a:t>
            </a:r>
            <a:endParaRPr lang="en-US" sz="2200" dirty="0"/>
          </a:p>
        </p:txBody>
      </p:sp>
      <p:sp>
        <p:nvSpPr>
          <p:cNvPr id="30" name="anim-7-26"/>
          <p:cNvSpPr txBox="1"/>
          <p:nvPr/>
        </p:nvSpPr>
        <p:spPr>
          <a:xfrm>
            <a:off x="8739414" y="1905000"/>
            <a:ext cx="1211943" cy="5715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First opportunities</a:t>
            </a:r>
            <a:endParaRPr lang="en-US" sz="1100" dirty="0"/>
          </a:p>
        </p:txBody>
      </p:sp>
      <p:sp>
        <p:nvSpPr>
          <p:cNvPr id="31" name="anim-7-27"/>
          <p:cNvSpPr txBox="1"/>
          <p:nvPr/>
        </p:nvSpPr>
        <p:spPr>
          <a:xfrm>
            <a:off x="8739414" y="2984500"/>
            <a:ext cx="1211943" cy="508000"/>
          </a:xfrm>
          <a:prstGeom prst="rect">
            <a:avLst/>
          </a:prstGeom>
          <a:noFill/>
          <a:ln/>
        </p:spPr>
        <p:txBody>
          <a:bodyPr wrap="square" lIns="0" tIns="0" rIns="0" bIns="0" rtlCol="0" anchor="t"/>
          <a:lstStyle/>
          <a:p>
            <a:pPr algn="l" indent="0" marL="0">
              <a:lnSpc>
                <a:spcPct val="112000"/>
              </a:lnSpc>
              <a:buNone/>
            </a:pPr>
            <a:r>
              <a:rPr lang="en-US" sz="900" b="1" dirty="0">
                <a:solidFill>
                  <a:srgbClr val="15B6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00" dirty="0">
                <a:solidFill>
                  <a:srgbClr val="FFFFFF"/>
                </a:solidFill>
                <a:latin typeface="Plus Jakarta Sans" pitchFamily="34" charset="0"/>
                <a:ea typeface="Plus Jakarta Sans" pitchFamily="34" charset="-122"/>
                <a:cs typeface="Plus Jakarta Sans" pitchFamily="34" charset="-120"/>
              </a:rPr>
              <a:t>Qualified pipeline</a:t>
            </a:r>
            <a:endParaRPr lang="en-US" sz="900" dirty="0"/>
          </a:p>
        </p:txBody>
      </p:sp>
      <p:sp>
        <p:nvSpPr>
          <p:cNvPr id="32" name="anim-8-28"/>
          <p:cNvSpPr/>
          <p:nvPr/>
        </p:nvSpPr>
        <p:spPr>
          <a:xfrm>
            <a:off x="10218057" y="1308100"/>
            <a:ext cx="1465943" cy="2413000"/>
          </a:xfrm>
          <a:prstGeom prst="roundRect">
            <a:avLst>
              <a:gd name="adj" fmla="val 8663"/>
            </a:avLst>
          </a:prstGeom>
          <a:solidFill>
            <a:srgbClr val="194EFF">
              <a:alpha val="30000"/>
            </a:srgbClr>
          </a:solidFill>
          <a:ln w="15875">
            <a:solidFill>
              <a:srgbClr val="194EFF"/>
            </a:solidFill>
            <a:prstDash val="solid"/>
          </a:ln>
        </p:spPr>
      </p:sp>
      <p:sp>
        <p:nvSpPr>
          <p:cNvPr id="33" name="anim-8-29"/>
          <p:cNvSpPr txBox="1"/>
          <p:nvPr/>
        </p:nvSpPr>
        <p:spPr>
          <a:xfrm>
            <a:off x="10357757" y="1447800"/>
            <a:ext cx="762000" cy="317500"/>
          </a:xfrm>
          <a:prstGeom prst="rect">
            <a:avLst/>
          </a:prstGeom>
          <a:noFill/>
          <a:ln/>
        </p:spPr>
        <p:txBody>
          <a:bodyPr wrap="square" lIns="0" tIns="0" rIns="0" bIns="0" rtlCol="0" anchor="t"/>
          <a:lstStyle/>
          <a:p>
            <a:pPr algn="l" indent="0" marL="0">
              <a:lnSpc>
                <a:spcPct val="112000"/>
              </a:lnSpc>
              <a:buNone/>
            </a:pPr>
            <a:r>
              <a:rPr lang="en-US" sz="2200" dirty="0">
                <a:solidFill>
                  <a:srgbClr val="15B6FF"/>
                </a:solidFill>
                <a:latin typeface="Plus Jakarta Sans Light" pitchFamily="34" charset="0"/>
                <a:ea typeface="Plus Jakarta Sans Light" pitchFamily="34" charset="-122"/>
                <a:cs typeface="Plus Jakarta Sans Light" pitchFamily="34" charset="-120"/>
              </a:rPr>
              <a:t>07</a:t>
            </a:r>
            <a:endParaRPr lang="en-US" sz="2200" dirty="0"/>
          </a:p>
        </p:txBody>
      </p:sp>
      <p:sp>
        <p:nvSpPr>
          <p:cNvPr id="34" name="anim-8-30"/>
          <p:cNvSpPr txBox="1"/>
          <p:nvPr/>
        </p:nvSpPr>
        <p:spPr>
          <a:xfrm>
            <a:off x="10357757" y="1905000"/>
            <a:ext cx="1211943" cy="571500"/>
          </a:xfrm>
          <a:prstGeom prst="rect">
            <a:avLst/>
          </a:prstGeom>
          <a:noFill/>
          <a:ln/>
        </p:spPr>
        <p:txBody>
          <a:bodyPr wrap="square" lIns="0" tIns="0" rIns="0" bIns="0" rtlCol="0" anchor="t"/>
          <a:lstStyle/>
          <a:p>
            <a:pPr algn="l" indent="0" marL="0">
              <a:lnSpc>
                <a:spcPct val="112000"/>
              </a:lnSpc>
              <a:buNone/>
            </a:pPr>
            <a:r>
              <a:rPr lang="en-US" sz="1100" b="1" dirty="0">
                <a:solidFill>
                  <a:srgbClr val="FFFFFF"/>
                </a:solidFill>
                <a:latin typeface="Plus Jakarta Sans" pitchFamily="34" charset="0"/>
                <a:ea typeface="Plus Jakarta Sans" pitchFamily="34" charset="-122"/>
                <a:cs typeface="Plus Jakarta Sans" pitchFamily="34" charset="-120"/>
              </a:rPr>
              <a:t>Review &amp; scale</a:t>
            </a:r>
            <a:endParaRPr lang="en-US" sz="1100" dirty="0"/>
          </a:p>
        </p:txBody>
      </p:sp>
      <p:sp>
        <p:nvSpPr>
          <p:cNvPr id="35" name="anim-8-31"/>
          <p:cNvSpPr txBox="1"/>
          <p:nvPr/>
        </p:nvSpPr>
        <p:spPr>
          <a:xfrm>
            <a:off x="10357757" y="2984500"/>
            <a:ext cx="1211943" cy="508000"/>
          </a:xfrm>
          <a:prstGeom prst="rect">
            <a:avLst/>
          </a:prstGeom>
          <a:noFill/>
          <a:ln/>
        </p:spPr>
        <p:txBody>
          <a:bodyPr wrap="square" lIns="0" tIns="0" rIns="0" bIns="0" rtlCol="0" anchor="t"/>
          <a:lstStyle/>
          <a:p>
            <a:pPr algn="l" indent="0" marL="0">
              <a:lnSpc>
                <a:spcPct val="112000"/>
              </a:lnSpc>
              <a:buNone/>
            </a:pPr>
            <a:r>
              <a:rPr lang="en-US" sz="900" b="1" dirty="0">
                <a:solidFill>
                  <a:srgbClr val="15B6FF"/>
                </a:solidFill>
                <a:latin typeface="Plus Jakarta Sans" pitchFamily="34" charset="0"/>
                <a:ea typeface="Plus Jakarta Sans" pitchFamily="34" charset="-122"/>
                <a:cs typeface="Plus Jakarta Sans" pitchFamily="34" charset="-120"/>
              </a:rPr>
              <a:t>→ </a:t>
            </a:r>
            <a:pPr algn="l" indent="0" marL="0">
              <a:lnSpc>
                <a:spcPct val="112000"/>
              </a:lnSpc>
              <a:buNone/>
            </a:pPr>
            <a:r>
              <a:rPr lang="en-US" sz="900" dirty="0">
                <a:solidFill>
                  <a:srgbClr val="FFFFFF"/>
                </a:solidFill>
                <a:latin typeface="Plus Jakarta Sans" pitchFamily="34" charset="0"/>
                <a:ea typeface="Plus Jakarta Sans" pitchFamily="34" charset="-122"/>
                <a:cs typeface="Plus Jakarta Sans" pitchFamily="34" charset="-120"/>
              </a:rPr>
              <a:t>Level progression</a:t>
            </a:r>
            <a:endParaRPr lang="en-US" sz="900" dirty="0"/>
          </a:p>
        </p:txBody>
      </p:sp>
      <p:sp>
        <p:nvSpPr>
          <p:cNvPr id="36" name="anim-9-32"/>
          <p:cNvSpPr/>
          <p:nvPr/>
        </p:nvSpPr>
        <p:spPr>
          <a:xfrm>
            <a:off x="508000" y="3898900"/>
            <a:ext cx="11176000" cy="1905000"/>
          </a:xfrm>
          <a:prstGeom prst="roundRect">
            <a:avLst>
              <a:gd name="adj" fmla="val 10667"/>
            </a:avLst>
          </a:prstGeom>
          <a:solidFill>
            <a:srgbClr val="194EFF"/>
          </a:solidFill>
          <a:ln w="9525">
            <a:solidFill>
              <a:srgbClr val="15B6FF">
                <a:alpha val="40000"/>
              </a:srgbClr>
            </a:solidFill>
            <a:prstDash val="solid"/>
          </a:ln>
        </p:spPr>
      </p:sp>
      <p:sp>
        <p:nvSpPr>
          <p:cNvPr id="37" name="anim-9-33"/>
          <p:cNvSpPr txBox="1"/>
          <p:nvPr/>
        </p:nvSpPr>
        <p:spPr>
          <a:xfrm>
            <a:off x="812800" y="4127500"/>
            <a:ext cx="8890000" cy="177800"/>
          </a:xfrm>
          <a:prstGeom prst="rect">
            <a:avLst/>
          </a:prstGeom>
          <a:noFill/>
          <a:ln/>
        </p:spPr>
        <p:txBody>
          <a:bodyPr wrap="square" lIns="0" tIns="0" rIns="0" bIns="0" rtlCol="0" anchor="t"/>
          <a:lstStyle/>
          <a:p>
            <a:pPr algn="l" indent="0" marL="0">
              <a:lnSpc>
                <a:spcPct val="112000"/>
              </a:lnSpc>
              <a:buNone/>
            </a:pPr>
            <a:r>
              <a:rPr lang="en-US" sz="850" spc="300" kern="0" dirty="0">
                <a:solidFill>
                  <a:srgbClr val="FFFFFF"/>
                </a:solidFill>
                <a:latin typeface="Plus Jakarta Sans SemiBold" pitchFamily="34" charset="0"/>
                <a:ea typeface="Plus Jakarta Sans SemiBold" pitchFamily="34" charset="-122"/>
                <a:cs typeface="Plus Jakarta Sans SemiBold" pitchFamily="34" charset="-120"/>
              </a:rPr>
              <a:t>GET STARTED · DIGNIFYX CHANNEL &amp; ALLIANCES</a:t>
            </a:r>
            <a:endParaRPr lang="en-US" sz="850" dirty="0"/>
          </a:p>
        </p:txBody>
      </p:sp>
      <p:sp>
        <p:nvSpPr>
          <p:cNvPr id="38" name="anim-9-34"/>
          <p:cNvSpPr txBox="1"/>
          <p:nvPr/>
        </p:nvSpPr>
        <p:spPr>
          <a:xfrm>
            <a:off x="812800" y="4368800"/>
            <a:ext cx="10160000" cy="533400"/>
          </a:xfrm>
          <a:prstGeom prst="rect">
            <a:avLst/>
          </a:prstGeom>
          <a:noFill/>
          <a:ln/>
        </p:spPr>
        <p:txBody>
          <a:bodyPr wrap="square" lIns="0" tIns="0" rIns="0" bIns="0" rtlCol="0" anchor="t"/>
          <a:lstStyle/>
          <a:p>
            <a:pPr algn="l" indent="0" marL="0">
              <a:lnSpc>
                <a:spcPct val="112000"/>
              </a:lnSpc>
              <a:buNone/>
            </a:pPr>
            <a:r>
              <a:rPr lang="en-US" sz="3000" b="1" dirty="0">
                <a:solidFill>
                  <a:srgbClr val="FFFFFF"/>
                </a:solidFill>
                <a:latin typeface="Plus Jakarta Sans" pitchFamily="34" charset="0"/>
                <a:ea typeface="Plus Jakarta Sans" pitchFamily="34" charset="-122"/>
                <a:cs typeface="Plus Jakarta Sans" pitchFamily="34" charset="-120"/>
              </a:rPr>
              <a:t>Request a partner discovery session.</a:t>
            </a:r>
            <a:endParaRPr lang="en-US" sz="3000" dirty="0"/>
          </a:p>
        </p:txBody>
      </p:sp>
      <p:sp>
        <p:nvSpPr>
          <p:cNvPr id="39" name="anim-9-35"/>
          <p:cNvSpPr txBox="1"/>
          <p:nvPr/>
        </p:nvSpPr>
        <p:spPr>
          <a:xfrm>
            <a:off x="812800" y="4991100"/>
            <a:ext cx="9525000" cy="254000"/>
          </a:xfrm>
          <a:prstGeom prst="rect">
            <a:avLst/>
          </a:prstGeom>
          <a:noFill/>
          <a:ln/>
        </p:spPr>
        <p:txBody>
          <a:bodyPr wrap="square" lIns="0" tIns="0" rIns="0" bIns="0" rtlCol="0" anchor="t"/>
          <a:lstStyle/>
          <a:p>
            <a:pPr algn="l" indent="0" marL="0">
              <a:lnSpc>
                <a:spcPct val="112000"/>
              </a:lnSpc>
              <a:buNone/>
            </a:pPr>
            <a:r>
              <a:rPr lang="en-US" sz="1300" dirty="0">
                <a:solidFill>
                  <a:srgbClr val="FFFFFF"/>
                </a:solidFill>
                <a:latin typeface="Plus Jakarta Sans Medium" pitchFamily="34" charset="0"/>
                <a:ea typeface="Plus Jakarta Sans Medium" pitchFamily="34" charset="-122"/>
                <a:cs typeface="Plus Jakarta Sans Medium" pitchFamily="34" charset="-120"/>
              </a:rPr>
              <a:t>Confirm fit, target markets, solution focus and your first 90-day activation plan.</a:t>
            </a:r>
            <a:endParaRPr lang="en-US" sz="1300" dirty="0"/>
          </a:p>
        </p:txBody>
      </p:sp>
      <p:sp>
        <p:nvSpPr>
          <p:cNvPr id="40" name="anim-9-36"/>
          <p:cNvSpPr txBox="1"/>
          <p:nvPr/>
        </p:nvSpPr>
        <p:spPr>
          <a:xfrm>
            <a:off x="812800" y="5359400"/>
            <a:ext cx="9525000" cy="254000"/>
          </a:xfrm>
          <a:prstGeom prst="rect">
            <a:avLst/>
          </a:prstGeom>
          <a:noFill/>
          <a:ln/>
        </p:spPr>
        <p:txBody>
          <a:bodyPr wrap="square" lIns="0" tIns="0" rIns="0" bIns="0" rtlCol="0" anchor="t"/>
          <a:lstStyle/>
          <a:p>
            <a:pPr algn="l" indent="0" marL="0">
              <a:lnSpc>
                <a:spcPct val="112000"/>
              </a:lnSpc>
              <a:buNone/>
            </a:pPr>
            <a:r>
              <a:rPr lang="en-US" sz="1300" b="1" dirty="0">
                <a:solidFill>
                  <a:srgbClr val="FFFFFF"/>
                </a:solidFill>
                <a:latin typeface="Plus Jakarta Sans" pitchFamily="34" charset="0"/>
                <a:ea typeface="Plus Jakarta Sans" pitchFamily="34" charset="-122"/>
                <a:cs typeface="Plus Jakarta Sans" pitchFamily="34" charset="-120"/>
              </a:rPr>
              <a:t>info@dignifyx.com  ·  dignifyx.com</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8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36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3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6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54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54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54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5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72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72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72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72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9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90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108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108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108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108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126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126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126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126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144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144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144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144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144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hosting/7c832a48-0979-56aa-9fdf-7d53efb9dc7a/scratchpad/build/imgd/chevron.png">    </p:cNvPr>
          <p:cNvPicPr>
            <a:picLocks noChangeAspect="1"/>
          </p:cNvPicPr>
          <p:nvPr/>
        </p:nvPicPr>
        <p:blipFill>
          <a:blip r:embed="rId2"/>
          <a:stretch>
            <a:fillRect/>
          </a:stretch>
        </p:blipFill>
        <p:spPr>
          <a:xfrm>
            <a:off x="7493000" y="-762000"/>
            <a:ext cx="5270500" cy="8382000"/>
          </a:xfrm>
          <a:prstGeom prst="rect">
            <a:avLst/>
          </a:prstGeom>
        </p:spPr>
      </p:pic>
      <p:pic>
        <p:nvPicPr>
          <p:cNvPr id="3" name="Image 1" descr="/tmp/claude-0/-home-user-hosting/7c832a48-0979-56aa-9fdf-7d53efb9dc7a/scratchpad/build/imgd/chevron.png">    </p:cNvPr>
          <p:cNvPicPr>
            <a:picLocks noChangeAspect="1"/>
          </p:cNvPicPr>
          <p:nvPr/>
        </p:nvPicPr>
        <p:blipFill>
          <a:blip r:embed="rId3">
            <a:alphaModFix amt="25000"/>
          </a:blip>
          <a:stretch>
            <a:fillRect/>
          </a:stretch>
        </p:blipFill>
        <p:spPr>
          <a:xfrm>
            <a:off x="9525000" y="1143000"/>
            <a:ext cx="2870200" cy="4572000"/>
          </a:xfrm>
          <a:prstGeom prst="rect">
            <a:avLst/>
          </a:prstGeom>
        </p:spPr>
      </p:pic>
      <p:pic>
        <p:nvPicPr>
          <p:cNvPr id="4" name="anim-1-1" descr="/tmp/claude-0/-home-user-hosting/7c832a48-0979-56aa-9fdf-7d53efb9dc7a/scratchpad/build/imgd/logo-white.png">    </p:cNvPr>
          <p:cNvPicPr>
            <a:picLocks noChangeAspect="1"/>
          </p:cNvPicPr>
          <p:nvPr/>
        </p:nvPicPr>
        <p:blipFill>
          <a:blip r:embed="rId4"/>
          <a:stretch>
            <a:fillRect/>
          </a:stretch>
        </p:blipFill>
        <p:spPr>
          <a:xfrm>
            <a:off x="762000" y="1155700"/>
            <a:ext cx="2616200" cy="628650"/>
          </a:xfrm>
          <a:prstGeom prst="rect">
            <a:avLst/>
          </a:prstGeom>
        </p:spPr>
      </p:pic>
      <p:sp>
        <p:nvSpPr>
          <p:cNvPr id="5" name="anim-2-2"/>
          <p:cNvSpPr txBox="1"/>
          <p:nvPr/>
        </p:nvSpPr>
        <p:spPr>
          <a:xfrm>
            <a:off x="762000" y="2235200"/>
            <a:ext cx="6350000" cy="228600"/>
          </a:xfrm>
          <a:prstGeom prst="rect">
            <a:avLst/>
          </a:prstGeom>
          <a:noFill/>
          <a:ln/>
        </p:spPr>
        <p:txBody>
          <a:bodyPr wrap="square" lIns="0" tIns="0" rIns="0" bIns="0" rtlCol="0" anchor="t"/>
          <a:lstStyle/>
          <a:p>
            <a:pPr algn="l" indent="0" marL="0">
              <a:lnSpc>
                <a:spcPct val="112000"/>
              </a:lnSpc>
              <a:buNone/>
            </a:pPr>
            <a:r>
              <a:rPr lang="en-US" sz="1200" spc="400" kern="0" dirty="0">
                <a:solidFill>
                  <a:srgbClr val="15B6FF"/>
                </a:solidFill>
                <a:latin typeface="Plus Jakarta Sans SemiBold" pitchFamily="34" charset="0"/>
                <a:ea typeface="Plus Jakarta Sans SemiBold" pitchFamily="34" charset="-122"/>
                <a:cs typeface="Plus Jakarta Sans SemiBold" pitchFamily="34" charset="-120"/>
              </a:rPr>
              <a:t>DIGNIFYX CHANNEL &amp; ALLIANCES</a:t>
            </a:r>
            <a:endParaRPr lang="en-US" sz="1200" dirty="0"/>
          </a:p>
        </p:txBody>
      </p:sp>
      <p:sp>
        <p:nvSpPr>
          <p:cNvPr id="6" name="anim-2-3"/>
          <p:cNvSpPr txBox="1"/>
          <p:nvPr/>
        </p:nvSpPr>
        <p:spPr>
          <a:xfrm>
            <a:off x="762000" y="2527300"/>
            <a:ext cx="6350000" cy="1397000"/>
          </a:xfrm>
          <a:prstGeom prst="rect">
            <a:avLst/>
          </a:prstGeom>
          <a:noFill/>
          <a:ln/>
        </p:spPr>
        <p:txBody>
          <a:bodyPr wrap="square" lIns="0" tIns="0" rIns="0" bIns="0" rtlCol="0" anchor="t"/>
          <a:lstStyle/>
          <a:p>
            <a:pPr algn="l" indent="0" marL="0">
              <a:lnSpc>
                <a:spcPct val="105000"/>
              </a:lnSpc>
              <a:buNone/>
            </a:pPr>
            <a:r>
              <a:rPr lang="en-US" sz="4200" b="1" dirty="0">
                <a:solidFill>
                  <a:srgbClr val="FFFFFF"/>
                </a:solidFill>
                <a:latin typeface="Plus Jakarta Sans" pitchFamily="34" charset="0"/>
                <a:ea typeface="Plus Jakarta Sans" pitchFamily="34" charset="-122"/>
                <a:cs typeface="Plus Jakarta Sans" pitchFamily="34" charset="-120"/>
              </a:rPr>
              <a:t>Let’s build what’s next, </a:t>
            </a:r>
            <a:pPr algn="l" indent="0" marL="0">
              <a:lnSpc>
                <a:spcPct val="105000"/>
              </a:lnSpc>
              <a:buNone/>
            </a:pPr>
            <a:r>
              <a:rPr lang="en-US" sz="4200" b="1" dirty="0">
                <a:solidFill>
                  <a:srgbClr val="15B6FF"/>
                </a:solidFill>
                <a:latin typeface="Plus Jakarta Sans" pitchFamily="34" charset="0"/>
                <a:ea typeface="Plus Jakarta Sans" pitchFamily="34" charset="-122"/>
                <a:cs typeface="Plus Jakarta Sans" pitchFamily="34" charset="-120"/>
              </a:rPr>
              <a:t>together.</a:t>
            </a:r>
            <a:endParaRPr lang="en-US" sz="4200" dirty="0"/>
          </a:p>
        </p:txBody>
      </p:sp>
      <p:sp>
        <p:nvSpPr>
          <p:cNvPr id="7" name="anim-3-4"/>
          <p:cNvSpPr/>
          <p:nvPr/>
        </p:nvSpPr>
        <p:spPr>
          <a:xfrm>
            <a:off x="762000" y="4229100"/>
            <a:ext cx="19050" cy="254000"/>
          </a:xfrm>
          <a:prstGeom prst="rect">
            <a:avLst/>
          </a:prstGeom>
          <a:solidFill>
            <a:srgbClr val="FFFFFF"/>
          </a:solidFill>
          <a:ln/>
        </p:spPr>
      </p:sp>
      <p:sp>
        <p:nvSpPr>
          <p:cNvPr id="8" name="anim-3-5"/>
          <p:cNvSpPr txBox="1"/>
          <p:nvPr/>
        </p:nvSpPr>
        <p:spPr>
          <a:xfrm>
            <a:off x="889000" y="4229100"/>
            <a:ext cx="5461000" cy="254000"/>
          </a:xfrm>
          <a:prstGeom prst="rect">
            <a:avLst/>
          </a:prstGeom>
          <a:noFill/>
          <a:ln/>
        </p:spPr>
        <p:txBody>
          <a:bodyPr wrap="square" lIns="0" tIns="0" rIns="0" bIns="0" rtlCol="0" anchor="ctr"/>
          <a:lstStyle/>
          <a:p>
            <a:pPr algn="l" indent="0" marL="0">
              <a:lnSpc>
                <a:spcPct val="112000"/>
              </a:lnSpc>
              <a:buNone/>
            </a:pPr>
            <a:r>
              <a:rPr lang="en-US" sz="1400" dirty="0">
                <a:solidFill>
                  <a:srgbClr val="FFFFFF"/>
                </a:solidFill>
                <a:latin typeface="Plus Jakarta Sans Medium" pitchFamily="34" charset="0"/>
                <a:ea typeface="Plus Jakarta Sans Medium" pitchFamily="34" charset="-122"/>
                <a:cs typeface="Plus Jakarta Sans Medium" pitchFamily="34" charset="-120"/>
              </a:rPr>
              <a:t>info@dignifyx.com  ·  dignifyx.com</a:t>
            </a:r>
            <a:endParaRPr lang="en-US" sz="1400" dirty="0"/>
          </a:p>
        </p:txBody>
      </p:sp>
      <p:sp>
        <p:nvSpPr>
          <p:cNvPr id="9" name="anim-4-6"/>
          <p:cNvSpPr txBox="1"/>
          <p:nvPr/>
        </p:nvSpPr>
        <p:spPr>
          <a:xfrm>
            <a:off x="762000" y="4724400"/>
            <a:ext cx="6350000" cy="228600"/>
          </a:xfrm>
          <a:prstGeom prst="rect">
            <a:avLst/>
          </a:prstGeom>
          <a:noFill/>
          <a:ln/>
        </p:spPr>
        <p:txBody>
          <a:bodyPr wrap="square" lIns="0" tIns="0" rIns="0" bIns="0" rtlCol="0" anchor="t"/>
          <a:lstStyle/>
          <a:p>
            <a:pPr algn="l" indent="0" marL="0">
              <a:lnSpc>
                <a:spcPct val="112000"/>
              </a:lnSpc>
              <a:buNone/>
            </a:pPr>
            <a:r>
              <a:rPr lang="en-US" sz="1300" spc="200" kern="0" dirty="0">
                <a:solidFill>
                  <a:srgbClr val="FFFFFF"/>
                </a:solidFill>
                <a:latin typeface="Plus Jakarta Sans" pitchFamily="34" charset="0"/>
                <a:ea typeface="Plus Jakarta Sans" pitchFamily="34" charset="-122"/>
                <a:cs typeface="Plus Jakarta Sans" pitchFamily="34" charset="-120"/>
              </a:rPr>
              <a:t>TRUST  </a:t>
            </a:r>
            <a:pPr algn="l" indent="0" marL="0">
              <a:lnSpc>
                <a:spcPct val="112000"/>
              </a:lnSpc>
              <a:buNone/>
            </a:pPr>
            <a:r>
              <a:rPr lang="en-US" sz="1300" spc="200" kern="0" dirty="0">
                <a:solidFill>
                  <a:srgbClr val="15B6FF"/>
                </a:solidFill>
                <a:latin typeface="Plus Jakarta Sans" pitchFamily="34" charset="0"/>
                <a:ea typeface="Plus Jakarta Sans" pitchFamily="34" charset="-122"/>
                <a:cs typeface="Plus Jakarta Sans" pitchFamily="34" charset="-120"/>
              </a:rPr>
              <a:t>|</a:t>
            </a:r>
            <a:pPr algn="l" indent="0" marL="0">
              <a:lnSpc>
                <a:spcPct val="112000"/>
              </a:lnSpc>
              <a:buNone/>
            </a:pPr>
            <a:r>
              <a:rPr lang="en-US" sz="1300" spc="200" kern="0" dirty="0">
                <a:solidFill>
                  <a:srgbClr val="FFFFFF"/>
                </a:solidFill>
                <a:latin typeface="Plus Jakarta Sans" pitchFamily="34" charset="0"/>
                <a:ea typeface="Plus Jakarta Sans" pitchFamily="34" charset="-122"/>
                <a:cs typeface="Plus Jakarta Sans" pitchFamily="34" charset="-120"/>
              </a:rPr>
              <a:t>  INTEGRITY  </a:t>
            </a:r>
            <a:pPr algn="l" indent="0" marL="0">
              <a:lnSpc>
                <a:spcPct val="112000"/>
              </a:lnSpc>
              <a:buNone/>
            </a:pPr>
            <a:r>
              <a:rPr lang="en-US" sz="1300" spc="200" kern="0" dirty="0">
                <a:solidFill>
                  <a:srgbClr val="15B6FF"/>
                </a:solidFill>
                <a:latin typeface="Plus Jakarta Sans" pitchFamily="34" charset="0"/>
                <a:ea typeface="Plus Jakarta Sans" pitchFamily="34" charset="-122"/>
                <a:cs typeface="Plus Jakarta Sans" pitchFamily="34" charset="-120"/>
              </a:rPr>
              <a:t>|</a:t>
            </a:r>
            <a:pPr algn="l" indent="0" marL="0">
              <a:lnSpc>
                <a:spcPct val="112000"/>
              </a:lnSpc>
              <a:buNone/>
            </a:pPr>
            <a:r>
              <a:rPr lang="en-US" sz="1300" spc="200" kern="0" dirty="0">
                <a:solidFill>
                  <a:srgbClr val="FFFFFF"/>
                </a:solidFill>
                <a:latin typeface="Plus Jakarta Sans" pitchFamily="34" charset="0"/>
                <a:ea typeface="Plus Jakarta Sans" pitchFamily="34" charset="-122"/>
                <a:cs typeface="Plus Jakarta Sans" pitchFamily="34" charset="-120"/>
              </a:rPr>
              <a:t>  IMPACT  </a:t>
            </a:r>
            <a:pPr algn="l" indent="0" marL="0">
              <a:lnSpc>
                <a:spcPct val="112000"/>
              </a:lnSpc>
              <a:buNone/>
            </a:pPr>
            <a:r>
              <a:rPr lang="en-US" sz="1300" spc="200" kern="0" dirty="0">
                <a:solidFill>
                  <a:srgbClr val="15B6FF"/>
                </a:solidFill>
                <a:latin typeface="Plus Jakarta Sans" pitchFamily="34" charset="0"/>
                <a:ea typeface="Plus Jakarta Sans" pitchFamily="34" charset="-122"/>
                <a:cs typeface="Plus Jakarta Sans" pitchFamily="34" charset="-120"/>
              </a:rPr>
              <a:t>|</a:t>
            </a:r>
            <a:pPr algn="l" indent="0" marL="0">
              <a:lnSpc>
                <a:spcPct val="112000"/>
              </a:lnSpc>
              <a:buNone/>
            </a:pPr>
            <a:r>
              <a:rPr lang="en-US" sz="1300" spc="200" kern="0" dirty="0">
                <a:solidFill>
                  <a:srgbClr val="FFFFFF"/>
                </a:solidFill>
                <a:latin typeface="Plus Jakarta Sans" pitchFamily="34" charset="0"/>
                <a:ea typeface="Plus Jakarta Sans" pitchFamily="34" charset="-122"/>
                <a:cs typeface="Plus Jakarta Sans" pitchFamily="34" charset="-120"/>
              </a:rPr>
              <a:t>  CRAFTSMANSHIP</a:t>
            </a:r>
            <a:endParaRPr lang="en-US" sz="1300" dirty="0"/>
          </a:p>
        </p:txBody>
      </p:sp>
      <p:sp>
        <p:nvSpPr>
          <p:cNvPr id="10" name="anim-5-7"/>
          <p:cNvSpPr txBox="1"/>
          <p:nvPr/>
        </p:nvSpPr>
        <p:spPr>
          <a:xfrm>
            <a:off x="762000" y="5715000"/>
            <a:ext cx="6350000" cy="889000"/>
          </a:xfrm>
          <a:prstGeom prst="rect">
            <a:avLst/>
          </a:prstGeom>
          <a:noFill/>
          <a:ln/>
        </p:spPr>
        <p:txBody>
          <a:bodyPr wrap="square" lIns="0" tIns="0" rIns="0" bIns="0" rtlCol="0" anchor="t"/>
          <a:lstStyle/>
          <a:p>
            <a:pPr algn="l" indent="0" marL="0">
              <a:lnSpc>
                <a:spcPct val="130000"/>
              </a:lnSpc>
              <a:buNone/>
            </a:pPr>
            <a:r>
              <a:rPr lang="en-US" sz="750" dirty="0">
                <a:solidFill>
                  <a:srgbClr val="8C93A3"/>
                </a:solidFill>
                <a:latin typeface="Plus Jakarta Sans" pitchFamily="34" charset="0"/>
                <a:ea typeface="Plus Jakarta Sans" pitchFamily="34" charset="-122"/>
                <a:cs typeface="Plus Jakarta Sans" pitchFamily="34" charset="-120"/>
              </a:rPr>
              <a:t>Disclaimer: This guide is a programme description for partner awareness and onboarding, not an offer, quotation or contract, and creates no binding commitment. The signed partner agreement, commercial schedule, local legal terms and DignifyX approval processes govern in all cases. Commercial figures are indicative pending final DignifyX Finance and Legal approval and must be confirmed in the signed agreement.</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18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18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36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36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54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72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DignifyX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DignifyX Global Partner Program FY2026</dc:title>
  <dc:subject>PptxGenJS Presentation</dc:subject>
  <dc:creator>DignifyX Channel &amp; Alliances</dc:creator>
  <cp:lastModifiedBy>DignifyX Channel &amp; Alliances</cp:lastModifiedBy>
  <cp:revision>1</cp:revision>
  <dcterms:created xsi:type="dcterms:W3CDTF">2026-10-28T08:29:19Z</dcterms:created>
  <dcterms:modified xsi:type="dcterms:W3CDTF">2026-10-28T08:29:19Z</dcterms:modified>
</cp:coreProperties>
</file>