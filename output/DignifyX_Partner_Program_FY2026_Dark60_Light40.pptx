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Lst>
  <p:notesMasterIdLst>
    <p:notesMasterId r:id="rId2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notesMaster" Target="notesMasters/notesMaster1.xml"/><Relationship Id="rId30" Type="http://schemas.openxmlformats.org/officeDocument/2006/relationships/presProps" Target="presProps.xml"/><Relationship Id="rId31" Type="http://schemas.openxmlformats.org/officeDocument/2006/relationships/viewProps" Target="viewProps.xml"/><Relationship Id="rId32" Type="http://schemas.openxmlformats.org/officeDocument/2006/relationships/theme" Target="theme/theme1.xml"/><Relationship Id="rId3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jpe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slideLayout" Target="../slideLayouts/slideLayout1.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Slide-2-image-1.jpeg"/><Relationship Id="rId2" Type="http://schemas.openxmlformats.org/officeDocument/2006/relationships/image" Target="../media/image-2-2.png"/><Relationship Id="rId3" Type="http://schemas.openxmlformats.org/officeDocument/2006/relationships/image" Target="../media/image-2-2.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slideLayout" Target="../slideLayouts/slideLayout1.xml"/><Relationship Id="rId7"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Slide-3-image-1.jpe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3.png"/><Relationship Id="rId5" Type="http://schemas.openxmlformats.org/officeDocument/2006/relationships/slideLayout" Target="../slideLayouts/slideLayout1.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Slide-4-image-1.jpe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3.png"/><Relationship Id="rId5" Type="http://schemas.openxmlformats.org/officeDocument/2006/relationships/image" Target="../media/image-4-5.png"/><Relationship Id="rId6" Type="http://schemas.openxmlformats.org/officeDocument/2006/relationships/image" Target="../media/image-4-5.png"/><Relationship Id="rId7" Type="http://schemas.openxmlformats.org/officeDocument/2006/relationships/image" Target="../media/image-4-7.png"/><Relationship Id="rId8" Type="http://schemas.openxmlformats.org/officeDocument/2006/relationships/image" Target="../media/image-4-8.png"/><Relationship Id="rId9" Type="http://schemas.openxmlformats.org/officeDocument/2006/relationships/image" Target="../media/image-4-9.png"/><Relationship Id="rId10" Type="http://schemas.openxmlformats.org/officeDocument/2006/relationships/image" Target="../media/image-4-10.png"/><Relationship Id="rId11" Type="http://schemas.openxmlformats.org/officeDocument/2006/relationships/image" Target="../media/image-4-11.png"/><Relationship Id="rId12" Type="http://schemas.openxmlformats.org/officeDocument/2006/relationships/image" Target="../media/image-4-12.png"/><Relationship Id="rId13" Type="http://schemas.openxmlformats.org/officeDocument/2006/relationships/slideLayout" Target="../slideLayouts/slideLayout1.xml"/><Relationship Id="rId1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Slide-5-image-1.jpe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1.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Slide-6-image-1.jpe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1.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Slide-7-image-1.jpe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3.png"/><Relationship Id="rId5" Type="http://schemas.openxmlformats.org/officeDocument/2006/relationships/slideLayout" Target="../slideLayouts/slideLayout1.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1.png"/><Relationship Id="rId3" Type="http://schemas.openxmlformats.org/officeDocument/2006/relationships/image" Target="../media/image-8-3.png"/><Relationship Id="rId4" Type="http://schemas.openxmlformats.org/officeDocument/2006/relationships/image" Target="../media/image-8-3.png"/><Relationship Id="rId5" Type="http://schemas.openxmlformats.org/officeDocument/2006/relationships/image" Target="../media/image-8-5.png"/><Relationship Id="rId6" Type="http://schemas.openxmlformats.org/officeDocument/2006/relationships/slideLayout" Target="../slideLayouts/slideLayout1.xml"/><Relationship Id="rId7"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slideLayout" Target="../slideLayouts/slideLayout1.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2.png"/><Relationship Id="rId4" Type="http://schemas.openxmlformats.org/officeDocument/2006/relationships/image" Target="../media/image-10-2.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slideLayout" Target="../slideLayouts/slideLayout1.xml"/><Relationship Id="rId8"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slideLayout" Target="../slideLayouts/slideLayout1.xml"/><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1.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slideLayout" Target="../slideLayouts/slideLayout1.xml"/><Relationship Id="rId6"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slideLayout" Target="../slideLayouts/slideLayout1.xml"/><Relationship Id="rId5"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slideLayout" Target="../slideLayouts/slideLayout1.xml"/><Relationship Id="rId5"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Slide-15-image-1.jpeg"/><Relationship Id="rId2" Type="http://schemas.openxmlformats.org/officeDocument/2006/relationships/image" Target="../media/image-15-2.png"/><Relationship Id="rId3" Type="http://schemas.openxmlformats.org/officeDocument/2006/relationships/image" Target="../media/image-15-2.png"/><Relationship Id="rId4" Type="http://schemas.openxmlformats.org/officeDocument/2006/relationships/image" Target="../media/image-15-4.png"/><Relationship Id="rId5" Type="http://schemas.openxmlformats.org/officeDocument/2006/relationships/image" Target="../media/image-15-5.png"/><Relationship Id="rId6" Type="http://schemas.openxmlformats.org/officeDocument/2006/relationships/slideLayout" Target="../slideLayouts/slideLayout1.xml"/><Relationship Id="rId7"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Slide-16-image-1.jpe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3.png"/><Relationship Id="rId5" Type="http://schemas.openxmlformats.org/officeDocument/2006/relationships/slideLayout" Target="../slideLayouts/slideLayout1.xml"/><Relationship Id="rId6"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Slide-17-image-1.jpe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slideLayout" Target="../slideLayouts/slideLayout1.xml"/><Relationship Id="rId5"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Slide-18-image-1.jpe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slideLayout" Target="../slideLayouts/slideLayout1.xml"/><Relationship Id="rId5"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Slide-19-image-1.jpe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slideLayout" Target="../slideLayouts/slideLayout1.xml"/><Relationship Id="rId5"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Slide-20-image-1.jpe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slideLayout" Target="../slideLayouts/slideLayout1.xml"/><Relationship Id="rId5"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Slide-21-image-1.jpe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slideLayout" Target="../slideLayouts/slideLayout1.xml"/><Relationship Id="rId5"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1.png"/><Relationship Id="rId3" Type="http://schemas.openxmlformats.org/officeDocument/2006/relationships/image" Target="../media/image-22-3.png"/><Relationship Id="rId4" Type="http://schemas.openxmlformats.org/officeDocument/2006/relationships/image" Target="../media/image-22-3.png"/><Relationship Id="rId5" Type="http://schemas.openxmlformats.org/officeDocument/2006/relationships/image" Target="../media/image-22-5.png"/><Relationship Id="rId6" Type="http://schemas.openxmlformats.org/officeDocument/2006/relationships/slideLayout" Target="../slideLayouts/slideLayout1.xml"/><Relationship Id="rId7"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image" Target="../media/image-23-3.png"/><Relationship Id="rId4" Type="http://schemas.openxmlformats.org/officeDocument/2006/relationships/slideLayout" Target="../slideLayouts/slideLayout1.xml"/><Relationship Id="rId5"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image" Target="../media/image-24-2.png"/><Relationship Id="rId4" Type="http://schemas.openxmlformats.org/officeDocument/2006/relationships/image" Target="../media/image-24-4.png"/><Relationship Id="rId5" Type="http://schemas.openxmlformats.org/officeDocument/2006/relationships/image" Target="../media/image-24-5.png"/><Relationship Id="rId6" Type="http://schemas.openxmlformats.org/officeDocument/2006/relationships/slideLayout" Target="../slideLayouts/slideLayout1.xml"/><Relationship Id="rId7"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png"/><Relationship Id="rId3" Type="http://schemas.openxmlformats.org/officeDocument/2006/relationships/image" Target="../media/image-25-2.png"/><Relationship Id="rId4" Type="http://schemas.openxmlformats.org/officeDocument/2006/relationships/image" Target="../media/image-25-2.png"/><Relationship Id="rId5" Type="http://schemas.openxmlformats.org/officeDocument/2006/relationships/image" Target="../media/image-25-2.png"/><Relationship Id="rId6" Type="http://schemas.openxmlformats.org/officeDocument/2006/relationships/image" Target="../media/image-25-2.png"/><Relationship Id="rId7" Type="http://schemas.openxmlformats.org/officeDocument/2006/relationships/image" Target="../media/image-25-2.png"/><Relationship Id="rId8" Type="http://schemas.openxmlformats.org/officeDocument/2006/relationships/image" Target="../media/image-25-2.png"/><Relationship Id="rId9" Type="http://schemas.openxmlformats.org/officeDocument/2006/relationships/image" Target="../media/image-25-9.png"/><Relationship Id="rId10" Type="http://schemas.openxmlformats.org/officeDocument/2006/relationships/image" Target="../media/image-25-10.png"/><Relationship Id="rId11" Type="http://schemas.openxmlformats.org/officeDocument/2006/relationships/slideLayout" Target="../slideLayouts/slideLayout1.xml"/><Relationship Id="rId1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Slide-26-image-1.jpeg"/><Relationship Id="rId2" Type="http://schemas.openxmlformats.org/officeDocument/2006/relationships/image" Target="../media/image-26-2.png"/><Relationship Id="rId3" Type="http://schemas.openxmlformats.org/officeDocument/2006/relationships/slideLayout" Target="../slideLayouts/slideLayout1.xml"/><Relationship Id="rId4"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Slide-27-image-1.jpeg"/><Relationship Id="rId2" Type="http://schemas.openxmlformats.org/officeDocument/2006/relationships/image" Target="../media/image-27-2.png"/><Relationship Id="rId3" Type="http://schemas.openxmlformats.org/officeDocument/2006/relationships/image" Target="../media/image-27-2.png"/><Relationship Id="rId4" Type="http://schemas.openxmlformats.org/officeDocument/2006/relationships/image" Target="../media/image-27-4.png"/><Relationship Id="rId5" Type="http://schemas.openxmlformats.org/officeDocument/2006/relationships/slideLayout" Target="../slideLayouts/slideLayout1.xml"/><Relationship Id="rId6" Type="http://schemas.openxmlformats.org/officeDocument/2006/relationships/notesSlide" Target="../notesSlides/notesSlide2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anim-4-1" descr="/tmp/claude-0/-home-user-hosting/7c832a48-0979-56aa-9fdf-7d53efb9dc7a/scratchpad/build/imgd/xmark-dark.png">    </p:cNvPr>
          <p:cNvPicPr>
            <a:picLocks noChangeAspect="1"/>
          </p:cNvPicPr>
          <p:nvPr/>
        </p:nvPicPr>
        <p:blipFill>
          <a:blip r:embed="rId2"/>
          <a:stretch>
            <a:fillRect/>
          </a:stretch>
        </p:blipFill>
        <p:spPr>
          <a:xfrm>
            <a:off x="6572250" y="0"/>
            <a:ext cx="7061200" cy="6858000"/>
          </a:xfrm>
          <a:prstGeom prst="rect">
            <a:avLst/>
          </a:prstGeom>
        </p:spPr>
      </p:pic>
      <p:pic>
        <p:nvPicPr>
          <p:cNvPr id="3" name="anim-1-2" descr="/tmp/claude-0/-home-user-hosting/7c832a48-0979-56aa-9fdf-7d53efb9dc7a/scratchpad/build/imgd/logo-white.png">    </p:cNvPr>
          <p:cNvPicPr>
            <a:picLocks noChangeAspect="1"/>
          </p:cNvPicPr>
          <p:nvPr/>
        </p:nvPicPr>
        <p:blipFill>
          <a:blip r:embed="rId3"/>
          <a:stretch>
            <a:fillRect/>
          </a:stretch>
        </p:blipFill>
        <p:spPr>
          <a:xfrm>
            <a:off x="762000" y="577850"/>
            <a:ext cx="2616200" cy="628650"/>
          </a:xfrm>
          <a:prstGeom prst="rect">
            <a:avLst/>
          </a:prstGeom>
        </p:spPr>
      </p:pic>
      <p:sp>
        <p:nvSpPr>
          <p:cNvPr id="4" name="anim-2-3"/>
          <p:cNvSpPr txBox="1"/>
          <p:nvPr/>
        </p:nvSpPr>
        <p:spPr>
          <a:xfrm>
            <a:off x="793750" y="2413000"/>
            <a:ext cx="5461000" cy="1270000"/>
          </a:xfrm>
          <a:prstGeom prst="rect">
            <a:avLst/>
          </a:prstGeom>
          <a:noFill/>
          <a:ln/>
        </p:spPr>
        <p:txBody>
          <a:bodyPr wrap="square" lIns="0" tIns="0" rIns="0" bIns="0" rtlCol="0" anchor="b"/>
          <a:lstStyle/>
          <a:p>
            <a:pPr algn="l" indent="0" marL="0">
              <a:lnSpc>
                <a:spcPct val="105000"/>
              </a:lnSpc>
              <a:buNone/>
            </a:pPr>
            <a:r>
              <a:rPr lang="en-US" sz="4400" b="1" dirty="0">
                <a:solidFill>
                  <a:srgbClr val="FFFFFF"/>
                </a:solidFill>
                <a:latin typeface="Plus Jakarta Sans" pitchFamily="34" charset="0"/>
                <a:ea typeface="Plus Jakarta Sans" pitchFamily="34" charset="-122"/>
                <a:cs typeface="Plus Jakarta Sans" pitchFamily="34" charset="-120"/>
              </a:rPr>
              <a:t>Build. Sell. </a:t>
            </a:r>
            <a:pPr algn="l" indent="0" marL="0">
              <a:lnSpc>
                <a:spcPct val="105000"/>
              </a:lnSpc>
              <a:buNone/>
            </a:pPr>
            <a:r>
              <a:rPr lang="en-US" sz="4400" b="1" dirty="0">
                <a:solidFill>
                  <a:srgbClr val="15B6FF"/>
                </a:solidFill>
                <a:latin typeface="Plus Jakarta Sans" pitchFamily="34" charset="0"/>
                <a:ea typeface="Plus Jakarta Sans" pitchFamily="34" charset="-122"/>
                <a:cs typeface="Plus Jakarta Sans" pitchFamily="34" charset="-120"/>
              </a:rPr>
              <a:t>Scale.</a:t>
            </a:r>
            <a:endParaRPr lang="en-US" sz="4400" dirty="0"/>
          </a:p>
        </p:txBody>
      </p:sp>
      <p:sp>
        <p:nvSpPr>
          <p:cNvPr id="5" name="anim-2-4"/>
          <p:cNvSpPr txBox="1"/>
          <p:nvPr/>
        </p:nvSpPr>
        <p:spPr>
          <a:xfrm>
            <a:off x="793750" y="3810000"/>
            <a:ext cx="5207000" cy="381000"/>
          </a:xfrm>
          <a:prstGeom prst="rect">
            <a:avLst/>
          </a:prstGeom>
          <a:noFill/>
          <a:ln/>
        </p:spPr>
        <p:txBody>
          <a:bodyPr wrap="square" lIns="0" tIns="0" rIns="0" bIns="0" rtlCol="0" anchor="t"/>
          <a:lstStyle/>
          <a:p>
            <a:pPr algn="l" indent="0" marL="0">
              <a:lnSpc>
                <a:spcPct val="125000"/>
              </a:lnSpc>
              <a:buNone/>
            </a:pPr>
            <a:r>
              <a:rPr lang="en-US" sz="1100" dirty="0">
                <a:solidFill>
                  <a:srgbClr val="C3C8D1"/>
                </a:solidFill>
                <a:latin typeface="Plus Jakarta Sans" pitchFamily="34" charset="0"/>
                <a:ea typeface="Plus Jakarta Sans" pitchFamily="34" charset="-122"/>
                <a:cs typeface="Plus Jakarta Sans" pitchFamily="34" charset="-120"/>
              </a:rPr>
              <a:t>The partner guide to growing a trusted AI coaching practice with DignifyX, from your first registered deal to a strategic, multi-country alliance.</a:t>
            </a:r>
            <a:endParaRPr lang="en-US" sz="1100" dirty="0"/>
          </a:p>
        </p:txBody>
      </p:sp>
      <p:sp>
        <p:nvSpPr>
          <p:cNvPr id="6" name="anim-3-5"/>
          <p:cNvSpPr/>
          <p:nvPr/>
        </p:nvSpPr>
        <p:spPr>
          <a:xfrm>
            <a:off x="793750" y="4406900"/>
            <a:ext cx="19050" cy="527050"/>
          </a:xfrm>
          <a:prstGeom prst="rect">
            <a:avLst/>
          </a:prstGeom>
          <a:solidFill>
            <a:srgbClr val="FFFFFF"/>
          </a:solidFill>
          <a:ln/>
        </p:spPr>
      </p:sp>
      <p:sp>
        <p:nvSpPr>
          <p:cNvPr id="7" name="anim-3-6"/>
          <p:cNvSpPr txBox="1"/>
          <p:nvPr/>
        </p:nvSpPr>
        <p:spPr>
          <a:xfrm>
            <a:off x="882650" y="4368800"/>
            <a:ext cx="4445000" cy="285750"/>
          </a:xfrm>
          <a:prstGeom prst="rect">
            <a:avLst/>
          </a:prstGeom>
          <a:noFill/>
          <a:ln/>
        </p:spPr>
        <p:txBody>
          <a:bodyPr wrap="square" lIns="0" tIns="0" rIns="0" bIns="0" rtlCol="0" anchor="t"/>
          <a:lstStyle/>
          <a:p>
            <a:pPr algn="l" indent="0" marL="0">
              <a:lnSpc>
                <a:spcPct val="112000"/>
              </a:lnSpc>
              <a:buNone/>
            </a:pPr>
            <a:r>
              <a:rPr lang="en-US" sz="1800" dirty="0">
                <a:solidFill>
                  <a:srgbClr val="FFFFFF"/>
                </a:solidFill>
                <a:latin typeface="Plus Jakarta Sans Medium" pitchFamily="34" charset="0"/>
                <a:ea typeface="Plus Jakarta Sans Medium" pitchFamily="34" charset="-122"/>
                <a:cs typeface="Plus Jakarta Sans Medium" pitchFamily="34" charset="-120"/>
              </a:rPr>
              <a:t>OCTOBER 2026</a:t>
            </a:r>
            <a:endParaRPr lang="en-US" sz="1800" dirty="0"/>
          </a:p>
        </p:txBody>
      </p:sp>
      <p:sp>
        <p:nvSpPr>
          <p:cNvPr id="8" name="anim-3-7"/>
          <p:cNvSpPr txBox="1"/>
          <p:nvPr/>
        </p:nvSpPr>
        <p:spPr>
          <a:xfrm>
            <a:off x="882650" y="4705350"/>
            <a:ext cx="5715000" cy="254000"/>
          </a:xfrm>
          <a:prstGeom prst="rect">
            <a:avLst/>
          </a:prstGeom>
          <a:noFill/>
          <a:ln/>
        </p:spPr>
        <p:txBody>
          <a:bodyPr wrap="square" lIns="0" tIns="0" rIns="0" bIns="0" rtlCol="0" anchor="t"/>
          <a:lstStyle/>
          <a:p>
            <a:pPr algn="l" indent="0" marL="0">
              <a:lnSpc>
                <a:spcPct val="112000"/>
              </a:lnSpc>
              <a:buNone/>
            </a:pPr>
            <a:r>
              <a:rPr lang="en-US" sz="2000" dirty="0">
                <a:solidFill>
                  <a:srgbClr val="15B6FF"/>
                </a:solidFill>
                <a:latin typeface="Plus Jakarta Sans SemiBold" pitchFamily="34" charset="0"/>
                <a:ea typeface="Plus Jakarta Sans SemiBold" pitchFamily="34" charset="-122"/>
                <a:cs typeface="Plus Jakarta Sans SemiBold" pitchFamily="34" charset="-120"/>
              </a:rPr>
              <a:t>GLOBAL PARTNER PROGRAM FY2026</a:t>
            </a:r>
            <a:endParaRPr lang="en-US" sz="2000" dirty="0"/>
          </a:p>
        </p:txBody>
      </p:sp>
      <p:sp>
        <p:nvSpPr>
          <p:cNvPr id="9" name="anim-5-8"/>
          <p:cNvSpPr txBox="1"/>
          <p:nvPr/>
        </p:nvSpPr>
        <p:spPr>
          <a:xfrm>
            <a:off x="793750" y="6223000"/>
            <a:ext cx="5461000" cy="381000"/>
          </a:xfrm>
          <a:prstGeom prst="rect">
            <a:avLst/>
          </a:prstGeom>
          <a:noFill/>
          <a:ln/>
        </p:spPr>
        <p:txBody>
          <a:bodyPr wrap="square" lIns="0" tIns="0" rIns="0" bIns="0" rtlCol="0" anchor="t"/>
          <a:lstStyle/>
          <a:p>
            <a:pPr algn="l" indent="0" marL="0">
              <a:lnSpc>
                <a:spcPct val="130000"/>
              </a:lnSpc>
              <a:buNone/>
            </a:pPr>
            <a:r>
              <a:rPr lang="en-US" sz="750" dirty="0">
                <a:solidFill>
                  <a:srgbClr val="8C93A3"/>
                </a:solidFill>
                <a:latin typeface="Plus Jakarta Sans" pitchFamily="34" charset="0"/>
                <a:ea typeface="Plus Jakarta Sans" pitchFamily="34" charset="-122"/>
                <a:cs typeface="Plus Jakarta Sans" pitchFamily="34" charset="-120"/>
              </a:rPr>
              <a:t>Owner: DignifyX Channel &amp; Alliances  |  Partner-Confidential · NDA  |  For partners under signed NDA or partnership agreement. Do not post publicly or forward to unqualified parties.</a:t>
            </a:r>
            <a:endParaRPr lang="en-US" sz="75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4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500"/>
                                        <p:tgtEl>
                                          <p:spTgt spid="3"/>
                                        </p:tgtEl>
                                      </p:cBhvr>
                                    </p:animEffect>
                                  </p:childTnLst>
                                </p:cTn>
                              </p:par>
                              <p:par>
                                <p:cTn id="11" presetID="10" presetClass="entr" presetSubtype="0" fill="hold" grpId="0" nodeType="withEffect">
                                  <p:stCondLst>
                                    <p:cond delay="180"/>
                                  </p:stCondLst>
                                  <p:childTnLst>
                                    <p:set>
                                      <p:cBhvr>
                                        <p:cTn id="12" dur="1" fill="hold">
                                          <p:stCondLst>
                                            <p:cond delay="0"/>
                                          </p:stCondLst>
                                        </p:cTn>
                                        <p:tgtEl>
                                          <p:spTgt spid="4"/>
                                        </p:tgtEl>
                                        <p:attrNameLst>
                                          <p:attrName>style.visibility</p:attrName>
                                        </p:attrNameLst>
                                      </p:cBhvr>
                                      <p:to>
                                        <p:strVal val="visible"/>
                                      </p:to>
                                    </p:set>
                                    <p:animEffect transition="in" filter="fade">
                                      <p:cBhvr>
                                        <p:cTn id="13" dur="500"/>
                                        <p:tgtEl>
                                          <p:spTgt spid="4"/>
                                        </p:tgtEl>
                                      </p:cBhvr>
                                    </p:animEffect>
                                  </p:childTnLst>
                                </p:cTn>
                              </p:par>
                              <p:par>
                                <p:cTn id="14" presetID="10" presetClass="entr" presetSubtype="0" fill="hold" grpId="0" nodeType="withEffect">
                                  <p:stCondLst>
                                    <p:cond delay="180"/>
                                  </p:stCondLst>
                                  <p:childTnLst>
                                    <p:set>
                                      <p:cBhvr>
                                        <p:cTn id="15" dur="1" fill="hold">
                                          <p:stCondLst>
                                            <p:cond delay="0"/>
                                          </p:stCondLst>
                                        </p:cTn>
                                        <p:tgtEl>
                                          <p:spTgt spid="5"/>
                                        </p:tgtEl>
                                        <p:attrNameLst>
                                          <p:attrName>style.visibility</p:attrName>
                                        </p:attrNameLst>
                                      </p:cBhvr>
                                      <p:to>
                                        <p:strVal val="visible"/>
                                      </p:to>
                                    </p:set>
                                    <p:animEffect transition="in" filter="fade">
                                      <p:cBhvr>
                                        <p:cTn id="16" dur="500"/>
                                        <p:tgtEl>
                                          <p:spTgt spid="5"/>
                                        </p:tgtEl>
                                      </p:cBhvr>
                                    </p:animEffect>
                                  </p:childTnLst>
                                </p:cTn>
                              </p:par>
                              <p:par>
                                <p:cTn id="17" presetID="10" presetClass="entr" presetSubtype="0" fill="hold" grpId="0" nodeType="withEffect">
                                  <p:stCondLst>
                                    <p:cond delay="360"/>
                                  </p:stCondLst>
                                  <p:childTnLst>
                                    <p:set>
                                      <p:cBhvr>
                                        <p:cTn id="18" dur="1" fill="hold">
                                          <p:stCondLst>
                                            <p:cond delay="0"/>
                                          </p:stCondLst>
                                        </p:cTn>
                                        <p:tgtEl>
                                          <p:spTgt spid="6"/>
                                        </p:tgtEl>
                                        <p:attrNameLst>
                                          <p:attrName>style.visibility</p:attrName>
                                        </p:attrNameLst>
                                      </p:cBhvr>
                                      <p:to>
                                        <p:strVal val="visible"/>
                                      </p:to>
                                    </p:set>
                                    <p:animEffect transition="in" filter="fade">
                                      <p:cBhvr>
                                        <p:cTn id="19" dur="500"/>
                                        <p:tgtEl>
                                          <p:spTgt spid="6"/>
                                        </p:tgtEl>
                                      </p:cBhvr>
                                    </p:animEffect>
                                  </p:childTnLst>
                                </p:cTn>
                              </p:par>
                              <p:par>
                                <p:cTn id="20" presetID="10" presetClass="entr" presetSubtype="0" fill="hold" grpId="0" nodeType="withEffect">
                                  <p:stCondLst>
                                    <p:cond delay="360"/>
                                  </p:stCondLst>
                                  <p:childTnLst>
                                    <p:set>
                                      <p:cBhvr>
                                        <p:cTn id="21" dur="1" fill="hold">
                                          <p:stCondLst>
                                            <p:cond delay="0"/>
                                          </p:stCondLst>
                                        </p:cTn>
                                        <p:tgtEl>
                                          <p:spTgt spid="7"/>
                                        </p:tgtEl>
                                        <p:attrNameLst>
                                          <p:attrName>style.visibility</p:attrName>
                                        </p:attrNameLst>
                                      </p:cBhvr>
                                      <p:to>
                                        <p:strVal val="visible"/>
                                      </p:to>
                                    </p:set>
                                    <p:animEffect transition="in" filter="fade">
                                      <p:cBhvr>
                                        <p:cTn id="22" dur="500"/>
                                        <p:tgtEl>
                                          <p:spTgt spid="7"/>
                                        </p:tgtEl>
                                      </p:cBhvr>
                                    </p:animEffect>
                                  </p:childTnLst>
                                </p:cTn>
                              </p:par>
                              <p:par>
                                <p:cTn id="23" presetID="10" presetClass="entr" presetSubtype="0" fill="hold" grpId="0" nodeType="withEffect">
                                  <p:stCondLst>
                                    <p:cond delay="360"/>
                                  </p:stCondLst>
                                  <p:childTnLst>
                                    <p:set>
                                      <p:cBhvr>
                                        <p:cTn id="24" dur="1" fill="hold">
                                          <p:stCondLst>
                                            <p:cond delay="0"/>
                                          </p:stCondLst>
                                        </p:cTn>
                                        <p:tgtEl>
                                          <p:spTgt spid="8"/>
                                        </p:tgtEl>
                                        <p:attrNameLst>
                                          <p:attrName>style.visibility</p:attrName>
                                        </p:attrNameLst>
                                      </p:cBhvr>
                                      <p:to>
                                        <p:strVal val="visible"/>
                                      </p:to>
                                    </p:set>
                                    <p:animEffect transition="in" filter="fade">
                                      <p:cBhvr>
                                        <p:cTn id="25" dur="500"/>
                                        <p:tgtEl>
                                          <p:spTgt spid="8"/>
                                        </p:tgtEl>
                                      </p:cBhvr>
                                    </p:animEffect>
                                  </p:childTnLst>
                                </p:cTn>
                              </p:par>
                              <p:par>
                                <p:cTn id="26" presetID="10" presetClass="entr" presetSubtype="0" fill="hold" grpId="0" nodeType="withEffect">
                                  <p:stCondLst>
                                    <p:cond delay="720"/>
                                  </p:stCondLst>
                                  <p:childTnLst>
                                    <p:set>
                                      <p:cBhvr>
                                        <p:cTn id="27" dur="1" fill="hold">
                                          <p:stCondLst>
                                            <p:cond delay="0"/>
                                          </p:stCondLst>
                                        </p:cTn>
                                        <p:tgtEl>
                                          <p:spTgt spid="9"/>
                                        </p:tgtEl>
                                        <p:attrNameLst>
                                          <p:attrName>style.visibility</p:attrName>
                                        </p:attrNameLst>
                                      </p:cBhvr>
                                      <p:to>
                                        <p:strVal val="visible"/>
                                      </p:to>
                                    </p:set>
                                    <p:animEffect transition="in" filter="fade">
                                      <p:cBhvr>
                                        <p:cTn id="28"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9" grpId="0" animBg="1"/>
    </p:bldLst>
  </p:timing>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anim-1-1" descr="/tmp/claude-0/-home-user-hosting/7c832a48-0979-56aa-9fdf-7d53efb9dc7a/scratchpad/build/imgd/chev-soft.png">    </p:cNvPr>
          <p:cNvPicPr>
            <a:picLocks noChangeAspect="1"/>
          </p:cNvPicPr>
          <p:nvPr/>
        </p:nvPicPr>
        <p:blipFill>
          <a:blip r:embed="rId2"/>
          <a:stretch>
            <a:fillRect/>
          </a:stretch>
        </p:blipFill>
        <p:spPr>
          <a:xfrm>
            <a:off x="-4171324" y="-488324"/>
            <a:ext cx="9231649" cy="12902981"/>
          </a:xfrm>
          <a:prstGeom prst="rect">
            <a:avLst/>
          </a:prstGeom>
        </p:spPr>
      </p:pic>
      <p:pic>
        <p:nvPicPr>
          <p:cNvPr id="3" name="anim-1-2" descr="/tmp/claude-0/-home-user-hosting/7c832a48-0979-56aa-9fdf-7d53efb9dc7a/scratchpad/build/imgd/chev-soft.png">    </p:cNvPr>
          <p:cNvPicPr>
            <a:picLocks noChangeAspect="1"/>
          </p:cNvPicPr>
          <p:nvPr/>
        </p:nvPicPr>
        <p:blipFill>
          <a:blip r:embed="rId3"/>
          <a:stretch>
            <a:fillRect/>
          </a:stretch>
        </p:blipFill>
        <p:spPr>
          <a:xfrm rot="10800000">
            <a:off x="7138026" y="-488324"/>
            <a:ext cx="9231649" cy="12902981"/>
          </a:xfrm>
          <a:prstGeom prst="rect">
            <a:avLst/>
          </a:prstGeom>
        </p:spPr>
      </p:pic>
      <p:pic>
        <p:nvPicPr>
          <p:cNvPr id="4" name="anim-2-3" descr="/tmp/claude-0/-home-user-hosting/7c832a48-0979-56aa-9fdf-7d53efb9dc7a/scratchpad/build/imgd/pointer.png">    </p:cNvPr>
          <p:cNvPicPr>
            <a:picLocks noChangeAspect="1"/>
          </p:cNvPicPr>
          <p:nvPr/>
        </p:nvPicPr>
        <p:blipFill>
          <a:blip r:embed="rId4"/>
          <a:stretch>
            <a:fillRect/>
          </a:stretch>
        </p:blipFill>
        <p:spPr>
          <a:xfrm>
            <a:off x="5584825" y="2743200"/>
            <a:ext cx="100964" cy="203200"/>
          </a:xfrm>
          <a:prstGeom prst="rect">
            <a:avLst/>
          </a:prstGeom>
        </p:spPr>
      </p:pic>
      <p:sp>
        <p:nvSpPr>
          <p:cNvPr id="5" name="anim-2-4"/>
          <p:cNvSpPr txBox="1"/>
          <p:nvPr/>
        </p:nvSpPr>
        <p:spPr>
          <a:xfrm>
            <a:off x="5762625" y="2755900"/>
            <a:ext cx="1098550" cy="190500"/>
          </a:xfrm>
          <a:prstGeom prst="rect">
            <a:avLst/>
          </a:prstGeom>
          <a:noFill/>
          <a:ln/>
        </p:spPr>
        <p:txBody>
          <a:bodyPr wrap="square" lIns="0" tIns="0" rIns="0" bIns="0" rtlCol="0" anchor="t"/>
          <a:lstStyle/>
          <a:p>
            <a:pPr algn="l" indent="0" marL="0">
              <a:lnSpc>
                <a:spcPct val="112000"/>
              </a:lnSpc>
              <a:buNone/>
            </a:pPr>
            <a:r>
              <a:rPr lang="en-US" sz="1000" spc="300" kern="0" dirty="0">
                <a:solidFill>
                  <a:srgbClr val="15B6FF"/>
                </a:solidFill>
                <a:latin typeface="Plus Jakarta Sans SemiBold" pitchFamily="34" charset="0"/>
                <a:ea typeface="Plus Jakarta Sans SemiBold" pitchFamily="34" charset="-122"/>
                <a:cs typeface="Plus Jakarta Sans SemiBold" pitchFamily="34" charset="-120"/>
              </a:rPr>
              <a:t>PART 01</a:t>
            </a:r>
            <a:endParaRPr lang="en-US" sz="1000" dirty="0"/>
          </a:p>
        </p:txBody>
      </p:sp>
      <p:sp>
        <p:nvSpPr>
          <p:cNvPr id="6" name="anim-2-5"/>
          <p:cNvSpPr txBox="1"/>
          <p:nvPr/>
        </p:nvSpPr>
        <p:spPr>
          <a:xfrm>
            <a:off x="1016000" y="3048000"/>
            <a:ext cx="10160000" cy="635000"/>
          </a:xfrm>
          <a:prstGeom prst="rect">
            <a:avLst/>
          </a:prstGeom>
          <a:noFill/>
          <a:ln/>
        </p:spPr>
        <p:txBody>
          <a:bodyPr wrap="square" lIns="0" tIns="0" rIns="0" bIns="0" rtlCol="0" anchor="ctr"/>
          <a:lstStyle/>
          <a:p>
            <a:pPr algn="ctr" indent="0" marL="0">
              <a:lnSpc>
                <a:spcPct val="112000"/>
              </a:lnSpc>
              <a:buNone/>
            </a:pPr>
            <a:r>
              <a:rPr lang="en-US" sz="4000" b="1" dirty="0">
                <a:solidFill>
                  <a:srgbClr val="FFFFFF"/>
                </a:solidFill>
                <a:latin typeface="Plus Jakarta Sans" pitchFamily="34" charset="0"/>
                <a:ea typeface="Plus Jakarta Sans" pitchFamily="34" charset="-122"/>
                <a:cs typeface="Plus Jakarta Sans" pitchFamily="34" charset="-120"/>
              </a:rPr>
              <a:t>THE PROGRAMME</a:t>
            </a:r>
            <a:endParaRPr lang="en-US" sz="4000" dirty="0"/>
          </a:p>
        </p:txBody>
      </p:sp>
      <p:pic>
        <p:nvPicPr>
          <p:cNvPr id="7" name="anim-3-6" descr="/tmp/claude-0/-home-user-hosting/7c832a48-0979-56aa-9fdf-7d53efb9dc7a/scratchpad/build/imgd/logo-white.png">    </p:cNvPr>
          <p:cNvPicPr>
            <a:picLocks noChangeAspect="1"/>
          </p:cNvPicPr>
          <p:nvPr/>
        </p:nvPicPr>
        <p:blipFill>
          <a:blip r:embed="rId5"/>
          <a:stretch>
            <a:fillRect/>
          </a:stretch>
        </p:blipFill>
        <p:spPr>
          <a:xfrm>
            <a:off x="5251450" y="5759450"/>
            <a:ext cx="1682750" cy="406400"/>
          </a:xfrm>
          <a:prstGeom prst="rect">
            <a:avLst/>
          </a:prstGeom>
        </p:spPr>
      </p:pic>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500"/>
                                        <p:tgtEl>
                                          <p:spTgt spid="3"/>
                                        </p:tgtEl>
                                      </p:cBhvr>
                                    </p:animEffect>
                                  </p:childTnLst>
                                </p:cTn>
                              </p:par>
                              <p:par>
                                <p:cTn id="11" presetID="10" presetClass="entr" presetSubtype="0" fill="hold" grpId="0" nodeType="withEffect">
                                  <p:stCondLst>
                                    <p:cond delay="180"/>
                                  </p:stCondLst>
                                  <p:childTnLst>
                                    <p:set>
                                      <p:cBhvr>
                                        <p:cTn id="12" dur="1" fill="hold">
                                          <p:stCondLst>
                                            <p:cond delay="0"/>
                                          </p:stCondLst>
                                        </p:cTn>
                                        <p:tgtEl>
                                          <p:spTgt spid="4"/>
                                        </p:tgtEl>
                                        <p:attrNameLst>
                                          <p:attrName>style.visibility</p:attrName>
                                        </p:attrNameLst>
                                      </p:cBhvr>
                                      <p:to>
                                        <p:strVal val="visible"/>
                                      </p:to>
                                    </p:set>
                                    <p:animEffect transition="in" filter="fade">
                                      <p:cBhvr>
                                        <p:cTn id="13" dur="500"/>
                                        <p:tgtEl>
                                          <p:spTgt spid="4"/>
                                        </p:tgtEl>
                                      </p:cBhvr>
                                    </p:animEffect>
                                  </p:childTnLst>
                                </p:cTn>
                              </p:par>
                              <p:par>
                                <p:cTn id="14" presetID="10" presetClass="entr" presetSubtype="0" fill="hold" grpId="0" nodeType="withEffect">
                                  <p:stCondLst>
                                    <p:cond delay="180"/>
                                  </p:stCondLst>
                                  <p:childTnLst>
                                    <p:set>
                                      <p:cBhvr>
                                        <p:cTn id="15" dur="1" fill="hold">
                                          <p:stCondLst>
                                            <p:cond delay="0"/>
                                          </p:stCondLst>
                                        </p:cTn>
                                        <p:tgtEl>
                                          <p:spTgt spid="5"/>
                                        </p:tgtEl>
                                        <p:attrNameLst>
                                          <p:attrName>style.visibility</p:attrName>
                                        </p:attrNameLst>
                                      </p:cBhvr>
                                      <p:to>
                                        <p:strVal val="visible"/>
                                      </p:to>
                                    </p:set>
                                    <p:animEffect transition="in" filter="fade">
                                      <p:cBhvr>
                                        <p:cTn id="16" dur="500"/>
                                        <p:tgtEl>
                                          <p:spTgt spid="5"/>
                                        </p:tgtEl>
                                      </p:cBhvr>
                                    </p:animEffect>
                                  </p:childTnLst>
                                </p:cTn>
                              </p:par>
                              <p:par>
                                <p:cTn id="17" presetID="10" presetClass="entr" presetSubtype="0" fill="hold" grpId="0" nodeType="withEffect">
                                  <p:stCondLst>
                                    <p:cond delay="180"/>
                                  </p:stCondLst>
                                  <p:childTnLst>
                                    <p:set>
                                      <p:cBhvr>
                                        <p:cTn id="18" dur="1" fill="hold">
                                          <p:stCondLst>
                                            <p:cond delay="0"/>
                                          </p:stCondLst>
                                        </p:cTn>
                                        <p:tgtEl>
                                          <p:spTgt spid="6"/>
                                        </p:tgtEl>
                                        <p:attrNameLst>
                                          <p:attrName>style.visibility</p:attrName>
                                        </p:attrNameLst>
                                      </p:cBhvr>
                                      <p:to>
                                        <p:strVal val="visible"/>
                                      </p:to>
                                    </p:set>
                                    <p:animEffect transition="in" filter="fade">
                                      <p:cBhvr>
                                        <p:cTn id="19" dur="500"/>
                                        <p:tgtEl>
                                          <p:spTgt spid="6"/>
                                        </p:tgtEl>
                                      </p:cBhvr>
                                    </p:animEffect>
                                  </p:childTnLst>
                                </p:cTn>
                              </p:par>
                              <p:par>
                                <p:cTn id="20" presetID="10" presetClass="entr" presetSubtype="0" fill="hold" grpId="0" nodeType="withEffect">
                                  <p:stCondLst>
                                    <p:cond delay="360"/>
                                  </p:stCondLst>
                                  <p:childTnLst>
                                    <p:set>
                                      <p:cBhvr>
                                        <p:cTn id="21" dur="1" fill="hold">
                                          <p:stCondLst>
                                            <p:cond delay="0"/>
                                          </p:stCondLst>
                                        </p:cTn>
                                        <p:tgtEl>
                                          <p:spTgt spid="7"/>
                                        </p:tgtEl>
                                        <p:attrNameLst>
                                          <p:attrName>style.visibility</p:attrName>
                                        </p:attrNameLst>
                                      </p:cBhvr>
                                      <p:to>
                                        <p:strVal val="visible"/>
                                      </p:to>
                                    </p:set>
                                    <p:animEffect transition="in" filter="fade">
                                      <p:cBhvr>
                                        <p:cTn id="22"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tmp/claude-0/-home-user-hosting/7c832a48-0979-56aa-9fdf-7d53efb9dc7a/scratchpad/build/imgd/logo-white.png">    </p:cNvPr>
          <p:cNvPicPr>
            <a:picLocks noChangeAspect="1"/>
          </p:cNvPicPr>
          <p:nvPr/>
        </p:nvPicPr>
        <p:blipFill>
          <a:blip r:embed="rId2"/>
          <a:stretch>
            <a:fillRect/>
          </a:stretch>
        </p:blipFill>
        <p:spPr>
          <a:xfrm>
            <a:off x="10414000" y="355600"/>
            <a:ext cx="1270000" cy="304800"/>
          </a:xfrm>
          <a:prstGeom prst="rect">
            <a:avLst/>
          </a:prstGeom>
        </p:spPr>
      </p:pic>
      <p:sp>
        <p:nvSpPr>
          <p:cNvPr id="3" name="Text 0"/>
          <p:cNvSpPr/>
          <p:nvPr/>
        </p:nvSpPr>
        <p:spPr>
          <a:xfrm>
            <a:off x="177800" y="6134100"/>
            <a:ext cx="1270000" cy="571500"/>
          </a:xfrm>
          <a:prstGeom prst="rect">
            <a:avLst/>
          </a:prstGeom>
          <a:noFill/>
          <a:ln/>
        </p:spPr>
        <p:txBody>
          <a:bodyPr wrap="square" lIns="0" tIns="0" rIns="0" bIns="0" rtlCol="0" anchor="ctr"/>
          <a:lstStyle/>
          <a:p>
            <a:pPr indent="0" marL="0">
              <a:buNone/>
            </a:pPr>
            <a:r>
              <a:rPr lang="en-US" sz="3550" b="1" dirty="0">
                <a:solidFill>
                  <a:srgbClr val="3F8FF2">
                    <a:alpha val="30000"/>
                  </a:srgbClr>
                </a:solidFill>
                <a:latin typeface="Plus Jakarta Sans" pitchFamily="34" charset="0"/>
                <a:ea typeface="Plus Jakarta Sans" pitchFamily="34" charset="-122"/>
                <a:cs typeface="Plus Jakarta Sans" pitchFamily="34" charset="-120"/>
              </a:rPr>
              <a:t>03</a:t>
            </a:r>
            <a:endParaRPr lang="en-US" sz="3550" dirty="0"/>
          </a:p>
        </p:txBody>
      </p:sp>
      <p:sp>
        <p:nvSpPr>
          <p:cNvPr id="4" name="Text 1"/>
          <p:cNvSpPr txBox="1"/>
          <p:nvPr/>
        </p:nvSpPr>
        <p:spPr>
          <a:xfrm>
            <a:off x="6604000" y="6477000"/>
            <a:ext cx="5080000" cy="152400"/>
          </a:xfrm>
          <a:prstGeom prst="rect">
            <a:avLst/>
          </a:prstGeom>
          <a:noFill/>
          <a:ln/>
        </p:spPr>
        <p:txBody>
          <a:bodyPr wrap="square" lIns="0" tIns="0" rIns="0" bIns="0" rtlCol="0" anchor="t"/>
          <a:lstStyle/>
          <a:p>
            <a:pPr algn="r" indent="0" marL="0">
              <a:lnSpc>
                <a:spcPct val="112000"/>
              </a:lnSpc>
              <a:buNone/>
            </a:pPr>
            <a:r>
              <a:rPr lang="en-US" sz="750" dirty="0">
                <a:solidFill>
                  <a:srgbClr val="8C93A3"/>
                </a:solidFill>
                <a:latin typeface="Plus Jakarta Sans" pitchFamily="34" charset="0"/>
                <a:ea typeface="Plus Jakarta Sans" pitchFamily="34" charset="-122"/>
                <a:cs typeface="Plus Jakarta Sans" pitchFamily="34" charset="-120"/>
              </a:rPr>
              <a:t>Partner-Confidential · NDA · Programme description only; not a contract</a:t>
            </a:r>
            <a:endParaRPr lang="en-US" sz="750" dirty="0"/>
          </a:p>
        </p:txBody>
      </p:sp>
      <p:pic>
        <p:nvPicPr>
          <p:cNvPr id="5" name="anim-1-1" descr="/tmp/claude-0/-home-user-hosting/7c832a48-0979-56aa-9fdf-7d53efb9dc7a/scratchpad/build/imgd/pointer.png">    </p:cNvPr>
          <p:cNvPicPr>
            <a:picLocks noChangeAspect="1"/>
          </p:cNvPicPr>
          <p:nvPr/>
        </p:nvPicPr>
        <p:blipFill>
          <a:blip r:embed="rId3"/>
          <a:stretch>
            <a:fillRect/>
          </a:stretch>
        </p:blipFill>
        <p:spPr>
          <a:xfrm>
            <a:off x="508000" y="285750"/>
            <a:ext cx="100964" cy="203200"/>
          </a:xfrm>
          <a:prstGeom prst="rect">
            <a:avLst/>
          </a:prstGeom>
        </p:spPr>
      </p:pic>
      <p:sp>
        <p:nvSpPr>
          <p:cNvPr id="6" name="anim-1-2"/>
          <p:cNvSpPr txBox="1"/>
          <p:nvPr/>
        </p:nvSpPr>
        <p:spPr>
          <a:xfrm>
            <a:off x="673100" y="304800"/>
            <a:ext cx="8890000" cy="190500"/>
          </a:xfrm>
          <a:prstGeom prst="rect">
            <a:avLst/>
          </a:prstGeom>
          <a:noFill/>
          <a:ln/>
        </p:spPr>
        <p:txBody>
          <a:bodyPr wrap="square" lIns="0" tIns="0" rIns="0" bIns="0" rtlCol="0" anchor="t"/>
          <a:lstStyle/>
          <a:p>
            <a:pPr algn="l" indent="0" marL="0">
              <a:lnSpc>
                <a:spcPct val="112000"/>
              </a:lnSpc>
              <a:buNone/>
            </a:pPr>
            <a:r>
              <a:rPr lang="en-US" sz="1000" spc="200" kern="0" dirty="0">
                <a:solidFill>
                  <a:srgbClr val="15B6FF"/>
                </a:solidFill>
                <a:latin typeface="Plus Jakarta Sans SemiBold" pitchFamily="34" charset="0"/>
                <a:ea typeface="Plus Jakarta Sans SemiBold" pitchFamily="34" charset="-122"/>
                <a:cs typeface="Plus Jakarta Sans SemiBold" pitchFamily="34" charset="-120"/>
              </a:rPr>
              <a:t>EXECUTIVE OVERVIEW</a:t>
            </a:r>
            <a:endParaRPr lang="en-US" sz="1000" dirty="0"/>
          </a:p>
        </p:txBody>
      </p:sp>
      <p:sp>
        <p:nvSpPr>
          <p:cNvPr id="7" name="anim-1-3"/>
          <p:cNvSpPr txBox="1"/>
          <p:nvPr/>
        </p:nvSpPr>
        <p:spPr>
          <a:xfrm>
            <a:off x="508000" y="558800"/>
            <a:ext cx="9652000" cy="406400"/>
          </a:xfrm>
          <a:prstGeom prst="rect">
            <a:avLst/>
          </a:prstGeom>
          <a:noFill/>
          <a:ln/>
        </p:spPr>
        <p:txBody>
          <a:bodyPr wrap="square" lIns="0" tIns="0" rIns="0" bIns="0" rtlCol="0" anchor="ctr"/>
          <a:lstStyle/>
          <a:p>
            <a:pPr algn="l" indent="0" marL="0">
              <a:lnSpc>
                <a:spcPct val="112000"/>
              </a:lnSpc>
              <a:buNone/>
            </a:pPr>
            <a:r>
              <a:rPr lang="en-US" sz="2000" b="1" dirty="0">
                <a:solidFill>
                  <a:srgbClr val="FFFFFF"/>
                </a:solidFill>
                <a:latin typeface="Plus Jakarta Sans" pitchFamily="34" charset="0"/>
                <a:ea typeface="Plus Jakarta Sans" pitchFamily="34" charset="-122"/>
                <a:cs typeface="Plus Jakarta Sans" pitchFamily="34" charset="-120"/>
              </a:rPr>
              <a:t>A structured programme that rewards </a:t>
            </a:r>
            <a:pPr algn="l" indent="0" marL="0">
              <a:lnSpc>
                <a:spcPct val="112000"/>
              </a:lnSpc>
              <a:buNone/>
            </a:pPr>
            <a:r>
              <a:rPr lang="en-US" sz="2000" b="1" i="1" dirty="0">
                <a:solidFill>
                  <a:srgbClr val="15B6FF"/>
                </a:solidFill>
                <a:latin typeface="Plus Jakarta Sans Light" pitchFamily="34" charset="0"/>
                <a:ea typeface="Plus Jakarta Sans Light" pitchFamily="34" charset="-122"/>
                <a:cs typeface="Plus Jakarta Sans Light" pitchFamily="34" charset="-120"/>
              </a:rPr>
              <a:t>real</a:t>
            </a:r>
            <a:pPr algn="l" indent="0" marL="0">
              <a:lnSpc>
                <a:spcPct val="112000"/>
              </a:lnSpc>
              <a:buNone/>
            </a:pPr>
            <a:r>
              <a:rPr lang="en-US" sz="2000" b="1" dirty="0">
                <a:solidFill>
                  <a:srgbClr val="FFFFFF"/>
                </a:solidFill>
                <a:latin typeface="Plus Jakarta Sans" pitchFamily="34" charset="0"/>
                <a:ea typeface="Plus Jakarta Sans" pitchFamily="34" charset="-122"/>
                <a:cs typeface="Plus Jakarta Sans" pitchFamily="34" charset="-120"/>
              </a:rPr>
              <a:t> contribution and protects trust</a:t>
            </a:r>
            <a:endParaRPr lang="en-US" sz="2000" dirty="0"/>
          </a:p>
        </p:txBody>
      </p:sp>
      <p:sp>
        <p:nvSpPr>
          <p:cNvPr id="8" name="anim-2-4"/>
          <p:cNvSpPr/>
          <p:nvPr/>
        </p:nvSpPr>
        <p:spPr>
          <a:xfrm>
            <a:off x="508000" y="1308100"/>
            <a:ext cx="3623733" cy="1174750"/>
          </a:xfrm>
          <a:prstGeom prst="roundRect">
            <a:avLst>
              <a:gd name="adj" fmla="val 15135"/>
            </a:avLst>
          </a:prstGeom>
          <a:solidFill>
            <a:srgbClr val="194EFF">
              <a:alpha val="30000"/>
            </a:srgbClr>
          </a:solidFill>
          <a:ln w="15875">
            <a:solidFill>
              <a:srgbClr val="194EFF"/>
            </a:solidFill>
            <a:prstDash val="solid"/>
          </a:ln>
        </p:spPr>
      </p:sp>
      <p:pic>
        <p:nvPicPr>
          <p:cNvPr id="9" name="anim-2-5" descr="/tmp/claude-0/-home-user-hosting/7c832a48-0979-56aa-9fdf-7d53efb9dc7a/scratchpad/build/imgd/pointer.png">    </p:cNvPr>
          <p:cNvPicPr>
            <a:picLocks noChangeAspect="1"/>
          </p:cNvPicPr>
          <p:nvPr/>
        </p:nvPicPr>
        <p:blipFill>
          <a:blip r:embed="rId4"/>
          <a:stretch>
            <a:fillRect/>
          </a:stretch>
        </p:blipFill>
        <p:spPr>
          <a:xfrm>
            <a:off x="698500" y="1727200"/>
            <a:ext cx="145135" cy="292100"/>
          </a:xfrm>
          <a:prstGeom prst="rect">
            <a:avLst/>
          </a:prstGeom>
        </p:spPr>
      </p:pic>
      <p:sp>
        <p:nvSpPr>
          <p:cNvPr id="10" name="anim-2-6"/>
          <p:cNvSpPr txBox="1"/>
          <p:nvPr/>
        </p:nvSpPr>
        <p:spPr>
          <a:xfrm>
            <a:off x="711200" y="1460500"/>
            <a:ext cx="1905000" cy="139700"/>
          </a:xfrm>
          <a:prstGeom prst="rect">
            <a:avLst/>
          </a:prstGeom>
          <a:noFill/>
          <a:ln/>
        </p:spPr>
        <p:txBody>
          <a:bodyPr wrap="square" lIns="0" tIns="0" rIns="0" bIns="0" rtlCol="0" anchor="t"/>
          <a:lstStyle/>
          <a:p>
            <a:pPr algn="l" indent="0" marL="0">
              <a:lnSpc>
                <a:spcPct val="112000"/>
              </a:lnSpc>
              <a:buNone/>
            </a:pPr>
            <a:r>
              <a:rPr lang="en-US" sz="750" spc="200" kern="0" dirty="0">
                <a:solidFill>
                  <a:srgbClr val="15B6FF"/>
                </a:solidFill>
                <a:latin typeface="Plus Jakarta Sans SemiBold" pitchFamily="34" charset="0"/>
                <a:ea typeface="Plus Jakarta Sans SemiBold" pitchFamily="34" charset="-122"/>
                <a:cs typeface="Plus Jakarta Sans SemiBold" pitchFamily="34" charset="-120"/>
              </a:rPr>
              <a:t>UP TO</a:t>
            </a:r>
            <a:endParaRPr lang="en-US" sz="750" dirty="0"/>
          </a:p>
        </p:txBody>
      </p:sp>
      <p:sp>
        <p:nvSpPr>
          <p:cNvPr id="11" name="anim-2-7"/>
          <p:cNvSpPr txBox="1"/>
          <p:nvPr/>
        </p:nvSpPr>
        <p:spPr>
          <a:xfrm>
            <a:off x="939800" y="1562100"/>
            <a:ext cx="2988733" cy="508000"/>
          </a:xfrm>
          <a:prstGeom prst="rect">
            <a:avLst/>
          </a:prstGeom>
          <a:noFill/>
          <a:ln/>
        </p:spPr>
        <p:txBody>
          <a:bodyPr wrap="square" lIns="0" tIns="0" rIns="0" bIns="0" rtlCol="0" anchor="b"/>
          <a:lstStyle/>
          <a:p>
            <a:pPr algn="l" indent="0" marL="0">
              <a:lnSpc>
                <a:spcPct val="112000"/>
              </a:lnSpc>
              <a:buNone/>
            </a:pPr>
            <a:r>
              <a:rPr lang="en-US" sz="3400" b="1" dirty="0">
                <a:solidFill>
                  <a:srgbClr val="FFFFFF"/>
                </a:solidFill>
                <a:latin typeface="Plus Jakarta Sans" pitchFamily="34" charset="0"/>
                <a:ea typeface="Plus Jakarta Sans" pitchFamily="34" charset="-122"/>
                <a:cs typeface="Plus Jakarta Sans" pitchFamily="34" charset="-120"/>
              </a:rPr>
              <a:t>40</a:t>
            </a:r>
            <a:pPr algn="l" indent="0" marL="0">
              <a:lnSpc>
                <a:spcPct val="112000"/>
              </a:lnSpc>
              <a:buNone/>
            </a:pPr>
            <a:r>
              <a:rPr lang="en-US" sz="1800" b="1" dirty="0">
                <a:solidFill>
                  <a:srgbClr val="15B6FF"/>
                </a:solidFill>
                <a:latin typeface="Plus Jakarta Sans" pitchFamily="34" charset="0"/>
                <a:ea typeface="Plus Jakarta Sans" pitchFamily="34" charset="-122"/>
                <a:cs typeface="Plus Jakarta Sans" pitchFamily="34" charset="-120"/>
              </a:rPr>
              <a:t>%</a:t>
            </a:r>
            <a:endParaRPr lang="en-US" sz="3400" dirty="0"/>
          </a:p>
        </p:txBody>
      </p:sp>
      <p:sp>
        <p:nvSpPr>
          <p:cNvPr id="12" name="anim-2-8"/>
          <p:cNvSpPr txBox="1"/>
          <p:nvPr/>
        </p:nvSpPr>
        <p:spPr>
          <a:xfrm>
            <a:off x="711200" y="2108200"/>
            <a:ext cx="3217333" cy="330200"/>
          </a:xfrm>
          <a:prstGeom prst="rect">
            <a:avLst/>
          </a:prstGeom>
          <a:noFill/>
          <a:ln/>
        </p:spPr>
        <p:txBody>
          <a:bodyPr wrap="square" lIns="0" tIns="0" rIns="0" bIns="0" rtlCol="0" anchor="t"/>
          <a:lstStyle/>
          <a:p>
            <a:pPr algn="l" indent="0" marL="0">
              <a:lnSpc>
                <a:spcPct val="112000"/>
              </a:lnSpc>
              <a:buNone/>
            </a:pPr>
            <a:r>
              <a:rPr lang="en-US" sz="900" dirty="0">
                <a:solidFill>
                  <a:srgbClr val="C3C8D1"/>
                </a:solidFill>
                <a:latin typeface="Plus Jakarta Sans" pitchFamily="34" charset="0"/>
                <a:ea typeface="Plus Jakarta Sans" pitchFamily="34" charset="-122"/>
                <a:cs typeface="Plus Jakarta Sans" pitchFamily="34" charset="-120"/>
              </a:rPr>
              <a:t>Partner-sourced commission on first-year eligible ARR (Elite)</a:t>
            </a:r>
            <a:endParaRPr lang="en-US" sz="900" dirty="0"/>
          </a:p>
        </p:txBody>
      </p:sp>
      <p:sp>
        <p:nvSpPr>
          <p:cNvPr id="13" name="anim-3-9"/>
          <p:cNvSpPr/>
          <p:nvPr/>
        </p:nvSpPr>
        <p:spPr>
          <a:xfrm>
            <a:off x="4284133" y="1308100"/>
            <a:ext cx="3623733" cy="1174750"/>
          </a:xfrm>
          <a:prstGeom prst="roundRect">
            <a:avLst>
              <a:gd name="adj" fmla="val 15135"/>
            </a:avLst>
          </a:prstGeom>
          <a:solidFill>
            <a:srgbClr val="FFFFFF">
              <a:alpha val="5000"/>
            </a:srgbClr>
          </a:solidFill>
          <a:ln w="9525">
            <a:solidFill>
              <a:srgbClr val="FFFFFF">
                <a:alpha val="12000"/>
              </a:srgbClr>
            </a:solidFill>
            <a:prstDash val="solid"/>
          </a:ln>
        </p:spPr>
      </p:sp>
      <p:sp>
        <p:nvSpPr>
          <p:cNvPr id="14" name="anim-3-10"/>
          <p:cNvSpPr txBox="1"/>
          <p:nvPr/>
        </p:nvSpPr>
        <p:spPr>
          <a:xfrm>
            <a:off x="4487333" y="1562100"/>
            <a:ext cx="3217333" cy="508000"/>
          </a:xfrm>
          <a:prstGeom prst="rect">
            <a:avLst/>
          </a:prstGeom>
          <a:noFill/>
          <a:ln/>
        </p:spPr>
        <p:txBody>
          <a:bodyPr wrap="square" lIns="0" tIns="0" rIns="0" bIns="0" rtlCol="0" anchor="b"/>
          <a:lstStyle/>
          <a:p>
            <a:pPr algn="l" indent="0" marL="0">
              <a:lnSpc>
                <a:spcPct val="112000"/>
              </a:lnSpc>
              <a:buNone/>
            </a:pPr>
            <a:r>
              <a:rPr lang="en-US" sz="3400" b="1" dirty="0">
                <a:solidFill>
                  <a:srgbClr val="FFFFFF"/>
                </a:solidFill>
                <a:latin typeface="Plus Jakarta Sans" pitchFamily="34" charset="0"/>
                <a:ea typeface="Plus Jakarta Sans" pitchFamily="34" charset="-122"/>
                <a:cs typeface="Plus Jakarta Sans" pitchFamily="34" charset="-120"/>
              </a:rPr>
              <a:t>05</a:t>
            </a:r>
            <a:pPr algn="l" indent="0" marL="0">
              <a:lnSpc>
                <a:spcPct val="112000"/>
              </a:lnSpc>
              <a:buNone/>
            </a:pPr>
            <a:r>
              <a:rPr lang="en-US" sz="1800" b="1" dirty="0">
                <a:solidFill>
                  <a:srgbClr val="15B6FF"/>
                </a:solidFill>
                <a:latin typeface="Plus Jakarta Sans" pitchFamily="34" charset="0"/>
                <a:ea typeface="Plus Jakarta Sans" pitchFamily="34" charset="-122"/>
                <a:cs typeface="Plus Jakarta Sans" pitchFamily="34" charset="-120"/>
              </a:rPr>
              <a:t> levels</a:t>
            </a:r>
            <a:endParaRPr lang="en-US" sz="3400" dirty="0"/>
          </a:p>
        </p:txBody>
      </p:sp>
      <p:sp>
        <p:nvSpPr>
          <p:cNvPr id="15" name="anim-3-11"/>
          <p:cNvSpPr txBox="1"/>
          <p:nvPr/>
        </p:nvSpPr>
        <p:spPr>
          <a:xfrm>
            <a:off x="4487333" y="2108200"/>
            <a:ext cx="3217333" cy="330200"/>
          </a:xfrm>
          <a:prstGeom prst="rect">
            <a:avLst/>
          </a:prstGeom>
          <a:noFill/>
          <a:ln/>
        </p:spPr>
        <p:txBody>
          <a:bodyPr wrap="square" lIns="0" tIns="0" rIns="0" bIns="0" rtlCol="0" anchor="t"/>
          <a:lstStyle/>
          <a:p>
            <a:pPr algn="l" indent="0" marL="0">
              <a:lnSpc>
                <a:spcPct val="112000"/>
              </a:lnSpc>
              <a:buNone/>
            </a:pPr>
            <a:r>
              <a:rPr lang="en-US" sz="900" dirty="0">
                <a:solidFill>
                  <a:srgbClr val="C3C8D1"/>
                </a:solidFill>
                <a:latin typeface="Plus Jakarta Sans" pitchFamily="34" charset="0"/>
                <a:ea typeface="Plus Jakarta Sans" pitchFamily="34" charset="-122"/>
                <a:cs typeface="Plus Jakarta Sans" pitchFamily="34" charset="-120"/>
              </a:rPr>
              <a:t>Registered → Silver → Gold → Platinum → Elite, reviewed up to twice a year</a:t>
            </a:r>
            <a:endParaRPr lang="en-US" sz="900" dirty="0"/>
          </a:p>
        </p:txBody>
      </p:sp>
      <p:sp>
        <p:nvSpPr>
          <p:cNvPr id="16" name="anim-4-12"/>
          <p:cNvSpPr/>
          <p:nvPr/>
        </p:nvSpPr>
        <p:spPr>
          <a:xfrm>
            <a:off x="8060267" y="1308100"/>
            <a:ext cx="3623733" cy="1174750"/>
          </a:xfrm>
          <a:prstGeom prst="roundRect">
            <a:avLst>
              <a:gd name="adj" fmla="val 15135"/>
            </a:avLst>
          </a:prstGeom>
          <a:solidFill>
            <a:srgbClr val="FFFFFF">
              <a:alpha val="5000"/>
            </a:srgbClr>
          </a:solidFill>
          <a:ln w="9525">
            <a:solidFill>
              <a:srgbClr val="FFFFFF">
                <a:alpha val="12000"/>
              </a:srgbClr>
            </a:solidFill>
            <a:prstDash val="solid"/>
          </a:ln>
        </p:spPr>
      </p:sp>
      <p:sp>
        <p:nvSpPr>
          <p:cNvPr id="17" name="anim-4-13"/>
          <p:cNvSpPr txBox="1"/>
          <p:nvPr/>
        </p:nvSpPr>
        <p:spPr>
          <a:xfrm>
            <a:off x="8263467" y="1562100"/>
            <a:ext cx="3217333" cy="508000"/>
          </a:xfrm>
          <a:prstGeom prst="rect">
            <a:avLst/>
          </a:prstGeom>
          <a:noFill/>
          <a:ln/>
        </p:spPr>
        <p:txBody>
          <a:bodyPr wrap="square" lIns="0" tIns="0" rIns="0" bIns="0" rtlCol="0" anchor="b"/>
          <a:lstStyle/>
          <a:p>
            <a:pPr algn="l" indent="0" marL="0">
              <a:lnSpc>
                <a:spcPct val="112000"/>
              </a:lnSpc>
              <a:buNone/>
            </a:pPr>
            <a:r>
              <a:rPr lang="en-US" sz="3400" b="1" dirty="0">
                <a:solidFill>
                  <a:srgbClr val="FFFFFF"/>
                </a:solidFill>
                <a:latin typeface="Plus Jakarta Sans" pitchFamily="34" charset="0"/>
                <a:ea typeface="Plus Jakarta Sans" pitchFamily="34" charset="-122"/>
                <a:cs typeface="Plus Jakarta Sans" pitchFamily="34" charset="-120"/>
              </a:rPr>
              <a:t>03</a:t>
            </a:r>
            <a:pPr algn="l" indent="0" marL="0">
              <a:lnSpc>
                <a:spcPct val="112000"/>
              </a:lnSpc>
              <a:buNone/>
            </a:pPr>
            <a:r>
              <a:rPr lang="en-US" sz="1800" b="1" dirty="0">
                <a:solidFill>
                  <a:srgbClr val="15B6FF"/>
                </a:solidFill>
                <a:latin typeface="Plus Jakarta Sans" pitchFamily="34" charset="0"/>
                <a:ea typeface="Plus Jakarta Sans" pitchFamily="34" charset="-122"/>
                <a:cs typeface="Plus Jakarta Sans" pitchFamily="34" charset="-120"/>
              </a:rPr>
              <a:t> years</a:t>
            </a:r>
            <a:endParaRPr lang="en-US" sz="3400" dirty="0"/>
          </a:p>
        </p:txBody>
      </p:sp>
      <p:sp>
        <p:nvSpPr>
          <p:cNvPr id="18" name="anim-4-14"/>
          <p:cNvSpPr txBox="1"/>
          <p:nvPr/>
        </p:nvSpPr>
        <p:spPr>
          <a:xfrm>
            <a:off x="8263467" y="2108200"/>
            <a:ext cx="3217333" cy="330200"/>
          </a:xfrm>
          <a:prstGeom prst="rect">
            <a:avLst/>
          </a:prstGeom>
          <a:noFill/>
          <a:ln/>
        </p:spPr>
        <p:txBody>
          <a:bodyPr wrap="square" lIns="0" tIns="0" rIns="0" bIns="0" rtlCol="0" anchor="t"/>
          <a:lstStyle/>
          <a:p>
            <a:pPr algn="l" indent="0" marL="0">
              <a:lnSpc>
                <a:spcPct val="112000"/>
              </a:lnSpc>
              <a:buNone/>
            </a:pPr>
            <a:r>
              <a:rPr lang="en-US" sz="900" dirty="0">
                <a:solidFill>
                  <a:srgbClr val="C3C8D1"/>
                </a:solidFill>
                <a:latin typeface="Plus Jakarta Sans" pitchFamily="34" charset="0"/>
                <a:ea typeface="Plus Jakarta Sans" pitchFamily="34" charset="-122"/>
                <a:cs typeface="Plus Jakarta Sans" pitchFamily="34" charset="-120"/>
              </a:rPr>
              <a:t>Year 1, 2 and 3 of standard three-year contracts credited as New ARR Bookings</a:t>
            </a:r>
            <a:endParaRPr lang="en-US" sz="900" dirty="0"/>
          </a:p>
        </p:txBody>
      </p:sp>
      <p:sp>
        <p:nvSpPr>
          <p:cNvPr id="19" name="anim-5-15"/>
          <p:cNvSpPr/>
          <p:nvPr/>
        </p:nvSpPr>
        <p:spPr>
          <a:xfrm>
            <a:off x="508000" y="2635250"/>
            <a:ext cx="3623733" cy="1174750"/>
          </a:xfrm>
          <a:prstGeom prst="roundRect">
            <a:avLst>
              <a:gd name="adj" fmla="val 15135"/>
            </a:avLst>
          </a:prstGeom>
          <a:solidFill>
            <a:srgbClr val="FFFFFF">
              <a:alpha val="5000"/>
            </a:srgbClr>
          </a:solidFill>
          <a:ln w="9525">
            <a:solidFill>
              <a:srgbClr val="FFFFFF">
                <a:alpha val="12000"/>
              </a:srgbClr>
            </a:solidFill>
            <a:prstDash val="solid"/>
          </a:ln>
        </p:spPr>
      </p:sp>
      <p:sp>
        <p:nvSpPr>
          <p:cNvPr id="20" name="anim-5-16"/>
          <p:cNvSpPr txBox="1"/>
          <p:nvPr/>
        </p:nvSpPr>
        <p:spPr>
          <a:xfrm>
            <a:off x="711200" y="2889250"/>
            <a:ext cx="3217333" cy="508000"/>
          </a:xfrm>
          <a:prstGeom prst="rect">
            <a:avLst/>
          </a:prstGeom>
          <a:noFill/>
          <a:ln/>
        </p:spPr>
        <p:txBody>
          <a:bodyPr wrap="square" lIns="0" tIns="0" rIns="0" bIns="0" rtlCol="0" anchor="b"/>
          <a:lstStyle/>
          <a:p>
            <a:pPr algn="l" indent="0" marL="0">
              <a:lnSpc>
                <a:spcPct val="112000"/>
              </a:lnSpc>
              <a:buNone/>
            </a:pPr>
            <a:r>
              <a:rPr lang="en-US" sz="3400" b="1" dirty="0">
                <a:solidFill>
                  <a:srgbClr val="FFFFFF"/>
                </a:solidFill>
                <a:latin typeface="Plus Jakarta Sans" pitchFamily="34" charset="0"/>
                <a:ea typeface="Plus Jakarta Sans" pitchFamily="34" charset="-122"/>
                <a:cs typeface="Plus Jakarta Sans" pitchFamily="34" charset="-120"/>
              </a:rPr>
              <a:t>90 + 180</a:t>
            </a:r>
            <a:pPr algn="l" indent="0" marL="0">
              <a:lnSpc>
                <a:spcPct val="112000"/>
              </a:lnSpc>
              <a:buNone/>
            </a:pPr>
            <a:r>
              <a:rPr lang="en-US" sz="1800" b="1" dirty="0">
                <a:solidFill>
                  <a:srgbClr val="15B6FF"/>
                </a:solidFill>
                <a:latin typeface="Plus Jakarta Sans" pitchFamily="34" charset="0"/>
                <a:ea typeface="Plus Jakarta Sans" pitchFamily="34" charset="-122"/>
                <a:cs typeface="Plus Jakarta Sans" pitchFamily="34" charset="-120"/>
              </a:rPr>
              <a:t> days</a:t>
            </a:r>
            <a:endParaRPr lang="en-US" sz="3400" dirty="0"/>
          </a:p>
        </p:txBody>
      </p:sp>
      <p:sp>
        <p:nvSpPr>
          <p:cNvPr id="21" name="anim-5-17"/>
          <p:cNvSpPr txBox="1"/>
          <p:nvPr/>
        </p:nvSpPr>
        <p:spPr>
          <a:xfrm>
            <a:off x="711200" y="3435350"/>
            <a:ext cx="3217333" cy="330200"/>
          </a:xfrm>
          <a:prstGeom prst="rect">
            <a:avLst/>
          </a:prstGeom>
          <a:noFill/>
          <a:ln/>
        </p:spPr>
        <p:txBody>
          <a:bodyPr wrap="square" lIns="0" tIns="0" rIns="0" bIns="0" rtlCol="0" anchor="t"/>
          <a:lstStyle/>
          <a:p>
            <a:pPr algn="l" indent="0" marL="0">
              <a:lnSpc>
                <a:spcPct val="112000"/>
              </a:lnSpc>
              <a:buNone/>
            </a:pPr>
            <a:r>
              <a:rPr lang="en-US" sz="900" dirty="0">
                <a:solidFill>
                  <a:srgbClr val="C3C8D1"/>
                </a:solidFill>
                <a:latin typeface="Plus Jakarta Sans" pitchFamily="34" charset="0"/>
                <a:ea typeface="Plus Jakarta Sans" pitchFamily="34" charset="-122"/>
                <a:cs typeface="Plus Jakarta Sans" pitchFamily="34" charset="-120"/>
              </a:rPr>
              <a:t>Deal-registration protection: lead, then converted opportunity</a:t>
            </a:r>
            <a:endParaRPr lang="en-US" sz="900" dirty="0"/>
          </a:p>
        </p:txBody>
      </p:sp>
      <p:sp>
        <p:nvSpPr>
          <p:cNvPr id="22" name="anim-6-18"/>
          <p:cNvSpPr/>
          <p:nvPr/>
        </p:nvSpPr>
        <p:spPr>
          <a:xfrm>
            <a:off x="4284133" y="2635250"/>
            <a:ext cx="3623733" cy="1174750"/>
          </a:xfrm>
          <a:prstGeom prst="roundRect">
            <a:avLst>
              <a:gd name="adj" fmla="val 15135"/>
            </a:avLst>
          </a:prstGeom>
          <a:solidFill>
            <a:srgbClr val="FFFFFF">
              <a:alpha val="5000"/>
            </a:srgbClr>
          </a:solidFill>
          <a:ln w="9525">
            <a:solidFill>
              <a:srgbClr val="FFFFFF">
                <a:alpha val="12000"/>
              </a:srgbClr>
            </a:solidFill>
            <a:prstDash val="solid"/>
          </a:ln>
        </p:spPr>
      </p:sp>
      <p:sp>
        <p:nvSpPr>
          <p:cNvPr id="23" name="anim-6-19"/>
          <p:cNvSpPr txBox="1"/>
          <p:nvPr/>
        </p:nvSpPr>
        <p:spPr>
          <a:xfrm>
            <a:off x="4487333" y="2787650"/>
            <a:ext cx="1905000" cy="139700"/>
          </a:xfrm>
          <a:prstGeom prst="rect">
            <a:avLst/>
          </a:prstGeom>
          <a:noFill/>
          <a:ln/>
        </p:spPr>
        <p:txBody>
          <a:bodyPr wrap="square" lIns="0" tIns="0" rIns="0" bIns="0" rtlCol="0" anchor="t"/>
          <a:lstStyle/>
          <a:p>
            <a:pPr algn="l" indent="0" marL="0">
              <a:lnSpc>
                <a:spcPct val="112000"/>
              </a:lnSpc>
              <a:buNone/>
            </a:pPr>
            <a:r>
              <a:rPr lang="en-US" sz="750" spc="200" kern="0" dirty="0">
                <a:solidFill>
                  <a:srgbClr val="15B6FF"/>
                </a:solidFill>
                <a:latin typeface="Plus Jakarta Sans SemiBold" pitchFamily="34" charset="0"/>
                <a:ea typeface="Plus Jakarta Sans SemiBold" pitchFamily="34" charset="-122"/>
                <a:cs typeface="Plus Jakarta Sans SemiBold" pitchFamily="34" charset="-120"/>
              </a:rPr>
              <a:t>UP TO</a:t>
            </a:r>
            <a:endParaRPr lang="en-US" sz="750" dirty="0"/>
          </a:p>
        </p:txBody>
      </p:sp>
      <p:sp>
        <p:nvSpPr>
          <p:cNvPr id="24" name="anim-6-20"/>
          <p:cNvSpPr txBox="1"/>
          <p:nvPr/>
        </p:nvSpPr>
        <p:spPr>
          <a:xfrm>
            <a:off x="4487333" y="2889250"/>
            <a:ext cx="3217333" cy="508000"/>
          </a:xfrm>
          <a:prstGeom prst="rect">
            <a:avLst/>
          </a:prstGeom>
          <a:noFill/>
          <a:ln/>
        </p:spPr>
        <p:txBody>
          <a:bodyPr wrap="square" lIns="0" tIns="0" rIns="0" bIns="0" rtlCol="0" anchor="b"/>
          <a:lstStyle/>
          <a:p>
            <a:pPr algn="l" indent="0" marL="0">
              <a:lnSpc>
                <a:spcPct val="112000"/>
              </a:lnSpc>
              <a:buNone/>
            </a:pPr>
            <a:r>
              <a:rPr lang="en-US" sz="3400" b="1" dirty="0">
                <a:solidFill>
                  <a:srgbClr val="FFFFFF"/>
                </a:solidFill>
                <a:latin typeface="Plus Jakarta Sans" pitchFamily="34" charset="0"/>
                <a:ea typeface="Plus Jakarta Sans" pitchFamily="34" charset="-122"/>
                <a:cs typeface="Plus Jakarta Sans" pitchFamily="34" charset="-120"/>
              </a:rPr>
              <a:t>$45</a:t>
            </a:r>
            <a:pPr algn="l" indent="0" marL="0">
              <a:lnSpc>
                <a:spcPct val="112000"/>
              </a:lnSpc>
              <a:buNone/>
            </a:pPr>
            <a:r>
              <a:rPr lang="en-US" sz="1800" b="1" dirty="0">
                <a:solidFill>
                  <a:srgbClr val="15B6FF"/>
                </a:solidFill>
                <a:latin typeface="Plus Jakarta Sans" pitchFamily="34" charset="0"/>
                <a:ea typeface="Plus Jakarta Sans" pitchFamily="34" charset="-122"/>
                <a:cs typeface="Plus Jakarta Sans" pitchFamily="34" charset="-120"/>
              </a:rPr>
              <a:t>K</a:t>
            </a:r>
            <a:endParaRPr lang="en-US" sz="3400" dirty="0"/>
          </a:p>
        </p:txBody>
      </p:sp>
      <p:sp>
        <p:nvSpPr>
          <p:cNvPr id="25" name="anim-6-21"/>
          <p:cNvSpPr txBox="1"/>
          <p:nvPr/>
        </p:nvSpPr>
        <p:spPr>
          <a:xfrm>
            <a:off x="4487333" y="3435350"/>
            <a:ext cx="3217333" cy="330200"/>
          </a:xfrm>
          <a:prstGeom prst="rect">
            <a:avLst/>
          </a:prstGeom>
          <a:noFill/>
          <a:ln/>
        </p:spPr>
        <p:txBody>
          <a:bodyPr wrap="square" lIns="0" tIns="0" rIns="0" bIns="0" rtlCol="0" anchor="t"/>
          <a:lstStyle/>
          <a:p>
            <a:pPr algn="l" indent="0" marL="0">
              <a:lnSpc>
                <a:spcPct val="112000"/>
              </a:lnSpc>
              <a:buNone/>
            </a:pPr>
            <a:r>
              <a:rPr lang="en-US" sz="900" dirty="0">
                <a:solidFill>
                  <a:srgbClr val="C3C8D1"/>
                </a:solidFill>
                <a:latin typeface="Plus Jakarta Sans" pitchFamily="34" charset="0"/>
                <a:ea typeface="Plus Jakarta Sans" pitchFamily="34" charset="-122"/>
                <a:cs typeface="Plus Jakarta Sans" pitchFamily="34" charset="-120"/>
              </a:rPr>
              <a:t>Combined annual co-marketing ($30K) and promotion ($15K) funds at Elite</a:t>
            </a:r>
            <a:endParaRPr lang="en-US" sz="900" dirty="0"/>
          </a:p>
        </p:txBody>
      </p:sp>
      <p:sp>
        <p:nvSpPr>
          <p:cNvPr id="26" name="anim-7-22"/>
          <p:cNvSpPr/>
          <p:nvPr/>
        </p:nvSpPr>
        <p:spPr>
          <a:xfrm>
            <a:off x="8060267" y="2635250"/>
            <a:ext cx="3623733" cy="1174750"/>
          </a:xfrm>
          <a:prstGeom prst="roundRect">
            <a:avLst>
              <a:gd name="adj" fmla="val 15135"/>
            </a:avLst>
          </a:prstGeom>
          <a:solidFill>
            <a:srgbClr val="FFFFFF">
              <a:alpha val="5000"/>
            </a:srgbClr>
          </a:solidFill>
          <a:ln w="9525">
            <a:solidFill>
              <a:srgbClr val="FFFFFF">
                <a:alpha val="12000"/>
              </a:srgbClr>
            </a:solidFill>
            <a:prstDash val="solid"/>
          </a:ln>
        </p:spPr>
      </p:sp>
      <p:sp>
        <p:nvSpPr>
          <p:cNvPr id="27" name="anim-7-23"/>
          <p:cNvSpPr txBox="1"/>
          <p:nvPr/>
        </p:nvSpPr>
        <p:spPr>
          <a:xfrm>
            <a:off x="8263467" y="2787650"/>
            <a:ext cx="1905000" cy="139700"/>
          </a:xfrm>
          <a:prstGeom prst="rect">
            <a:avLst/>
          </a:prstGeom>
          <a:noFill/>
          <a:ln/>
        </p:spPr>
        <p:txBody>
          <a:bodyPr wrap="square" lIns="0" tIns="0" rIns="0" bIns="0" rtlCol="0" anchor="t"/>
          <a:lstStyle/>
          <a:p>
            <a:pPr algn="l" indent="0" marL="0">
              <a:lnSpc>
                <a:spcPct val="112000"/>
              </a:lnSpc>
              <a:buNone/>
            </a:pPr>
            <a:r>
              <a:rPr lang="en-US" sz="750" spc="200" kern="0" dirty="0">
                <a:solidFill>
                  <a:srgbClr val="15B6FF"/>
                </a:solidFill>
                <a:latin typeface="Plus Jakarta Sans SemiBold" pitchFamily="34" charset="0"/>
                <a:ea typeface="Plus Jakarta Sans SemiBold" pitchFamily="34" charset="-122"/>
                <a:cs typeface="Plus Jakarta Sans SemiBold" pitchFamily="34" charset="-120"/>
              </a:rPr>
              <a:t>UP TO</a:t>
            </a:r>
            <a:endParaRPr lang="en-US" sz="750" dirty="0"/>
          </a:p>
        </p:txBody>
      </p:sp>
      <p:sp>
        <p:nvSpPr>
          <p:cNvPr id="28" name="anim-7-24"/>
          <p:cNvSpPr txBox="1"/>
          <p:nvPr/>
        </p:nvSpPr>
        <p:spPr>
          <a:xfrm>
            <a:off x="8263467" y="2889250"/>
            <a:ext cx="3217333" cy="508000"/>
          </a:xfrm>
          <a:prstGeom prst="rect">
            <a:avLst/>
          </a:prstGeom>
          <a:noFill/>
          <a:ln/>
        </p:spPr>
        <p:txBody>
          <a:bodyPr wrap="square" lIns="0" tIns="0" rIns="0" bIns="0" rtlCol="0" anchor="b"/>
          <a:lstStyle/>
          <a:p>
            <a:pPr algn="l" indent="0" marL="0">
              <a:lnSpc>
                <a:spcPct val="112000"/>
              </a:lnSpc>
              <a:buNone/>
            </a:pPr>
            <a:r>
              <a:rPr lang="en-US" sz="3400" b="1" dirty="0">
                <a:solidFill>
                  <a:srgbClr val="FFFFFF"/>
                </a:solidFill>
                <a:latin typeface="Plus Jakarta Sans" pitchFamily="34" charset="0"/>
                <a:ea typeface="Plus Jakarta Sans" pitchFamily="34" charset="-122"/>
                <a:cs typeface="Plus Jakarta Sans" pitchFamily="34" charset="-120"/>
              </a:rPr>
              <a:t>$50</a:t>
            </a:r>
            <a:pPr algn="l" indent="0" marL="0">
              <a:lnSpc>
                <a:spcPct val="112000"/>
              </a:lnSpc>
              <a:buNone/>
            </a:pPr>
            <a:r>
              <a:rPr lang="en-US" sz="1800" b="1" dirty="0">
                <a:solidFill>
                  <a:srgbClr val="15B6FF"/>
                </a:solidFill>
                <a:latin typeface="Plus Jakarta Sans" pitchFamily="34" charset="0"/>
                <a:ea typeface="Plus Jakarta Sans" pitchFamily="34" charset="-122"/>
                <a:cs typeface="Plus Jakarta Sans" pitchFamily="34" charset="-120"/>
              </a:rPr>
              <a:t>K</a:t>
            </a:r>
            <a:endParaRPr lang="en-US" sz="3400" dirty="0"/>
          </a:p>
        </p:txBody>
      </p:sp>
      <p:sp>
        <p:nvSpPr>
          <p:cNvPr id="29" name="anim-7-25"/>
          <p:cNvSpPr txBox="1"/>
          <p:nvPr/>
        </p:nvSpPr>
        <p:spPr>
          <a:xfrm>
            <a:off x="8263467" y="3435350"/>
            <a:ext cx="3217333" cy="330200"/>
          </a:xfrm>
          <a:prstGeom prst="rect">
            <a:avLst/>
          </a:prstGeom>
          <a:noFill/>
          <a:ln/>
        </p:spPr>
        <p:txBody>
          <a:bodyPr wrap="square" lIns="0" tIns="0" rIns="0" bIns="0" rtlCol="0" anchor="t"/>
          <a:lstStyle/>
          <a:p>
            <a:pPr algn="l" indent="0" marL="0">
              <a:lnSpc>
                <a:spcPct val="112000"/>
              </a:lnSpc>
              <a:buNone/>
            </a:pPr>
            <a:r>
              <a:rPr lang="en-US" sz="900" dirty="0">
                <a:solidFill>
                  <a:srgbClr val="C3C8D1"/>
                </a:solidFill>
                <a:latin typeface="Plus Jakarta Sans" pitchFamily="34" charset="0"/>
                <a:ea typeface="Plus Jakarta Sans" pitchFamily="34" charset="-122"/>
                <a:cs typeface="Plus Jakarta Sans" pitchFamily="34" charset="-120"/>
              </a:rPr>
              <a:t>Indicative sandbox value, plus enhanced support on your first 03 opportunities</a:t>
            </a:r>
            <a:endParaRPr lang="en-US" sz="900" dirty="0"/>
          </a:p>
        </p:txBody>
      </p:sp>
      <p:sp>
        <p:nvSpPr>
          <p:cNvPr id="30" name="anim-8-26"/>
          <p:cNvSpPr/>
          <p:nvPr/>
        </p:nvSpPr>
        <p:spPr>
          <a:xfrm>
            <a:off x="508000" y="4064000"/>
            <a:ext cx="2113280" cy="1447800"/>
          </a:xfrm>
          <a:prstGeom prst="roundRect">
            <a:avLst>
              <a:gd name="adj" fmla="val 12281"/>
            </a:avLst>
          </a:prstGeom>
          <a:solidFill>
            <a:srgbClr val="FFFFFF">
              <a:alpha val="5000"/>
            </a:srgbClr>
          </a:solidFill>
          <a:ln w="9525">
            <a:solidFill>
              <a:srgbClr val="FFFFFF">
                <a:alpha val="12000"/>
              </a:srgbClr>
            </a:solidFill>
            <a:prstDash val="solid"/>
          </a:ln>
        </p:spPr>
      </p:sp>
      <p:sp>
        <p:nvSpPr>
          <p:cNvPr id="31" name="anim-8-27"/>
          <p:cNvSpPr txBox="1"/>
          <p:nvPr/>
        </p:nvSpPr>
        <p:spPr>
          <a:xfrm>
            <a:off x="685800" y="4216400"/>
            <a:ext cx="762000" cy="317500"/>
          </a:xfrm>
          <a:prstGeom prst="rect">
            <a:avLst/>
          </a:prstGeom>
          <a:noFill/>
          <a:ln/>
        </p:spPr>
        <p:txBody>
          <a:bodyPr wrap="square" lIns="0" tIns="0" rIns="0" bIns="0" rtlCol="0" anchor="t"/>
          <a:lstStyle/>
          <a:p>
            <a:pPr algn="l" indent="0" marL="0">
              <a:lnSpc>
                <a:spcPct val="112000"/>
              </a:lnSpc>
              <a:buNone/>
            </a:pPr>
            <a:r>
              <a:rPr lang="en-US" sz="2000" dirty="0">
                <a:solidFill>
                  <a:srgbClr val="15B6FF"/>
                </a:solidFill>
                <a:latin typeface="Plus Jakarta Sans Light" pitchFamily="34" charset="0"/>
                <a:ea typeface="Plus Jakarta Sans Light" pitchFamily="34" charset="-122"/>
                <a:cs typeface="Plus Jakarta Sans Light" pitchFamily="34" charset="-120"/>
              </a:rPr>
              <a:t>01</a:t>
            </a:r>
            <a:endParaRPr lang="en-US" sz="2000" dirty="0"/>
          </a:p>
        </p:txBody>
      </p:sp>
      <p:sp>
        <p:nvSpPr>
          <p:cNvPr id="32" name="anim-8-28"/>
          <p:cNvSpPr txBox="1"/>
          <p:nvPr/>
        </p:nvSpPr>
        <p:spPr>
          <a:xfrm>
            <a:off x="685800" y="4597400"/>
            <a:ext cx="1757680" cy="254000"/>
          </a:xfrm>
          <a:prstGeom prst="rect">
            <a:avLst/>
          </a:prstGeom>
          <a:noFill/>
          <a:ln/>
        </p:spPr>
        <p:txBody>
          <a:bodyPr wrap="square" lIns="0" tIns="0" rIns="0" bIns="0" rtlCol="0" anchor="t"/>
          <a:lstStyle/>
          <a:p>
            <a:pPr algn="l" indent="0" marL="0">
              <a:lnSpc>
                <a:spcPct val="112000"/>
              </a:lnSpc>
              <a:buNone/>
            </a:pPr>
            <a:r>
              <a:rPr lang="en-US" sz="1400" b="1" dirty="0">
                <a:solidFill>
                  <a:srgbClr val="FFFFFF"/>
                </a:solidFill>
                <a:latin typeface="Plus Jakarta Sans" pitchFamily="34" charset="0"/>
                <a:ea typeface="Plus Jakarta Sans" pitchFamily="34" charset="-122"/>
                <a:cs typeface="Plus Jakarta Sans" pitchFamily="34" charset="-120"/>
              </a:rPr>
              <a:t>Join</a:t>
            </a:r>
            <a:endParaRPr lang="en-US" sz="1400" dirty="0"/>
          </a:p>
        </p:txBody>
      </p:sp>
      <p:sp>
        <p:nvSpPr>
          <p:cNvPr id="33" name="anim-8-29"/>
          <p:cNvSpPr txBox="1"/>
          <p:nvPr/>
        </p:nvSpPr>
        <p:spPr>
          <a:xfrm>
            <a:off x="685800" y="4889500"/>
            <a:ext cx="1757680" cy="444500"/>
          </a:xfrm>
          <a:prstGeom prst="rect">
            <a:avLst/>
          </a:prstGeom>
          <a:noFill/>
          <a:ln/>
        </p:spPr>
        <p:txBody>
          <a:bodyPr wrap="square" lIns="0" tIns="0" rIns="0" bIns="0" rtlCol="0" anchor="t"/>
          <a:lstStyle/>
          <a:p>
            <a:pPr algn="l" indent="0" marL="0">
              <a:lnSpc>
                <a:spcPct val="112000"/>
              </a:lnSpc>
              <a:buNone/>
            </a:pPr>
            <a:r>
              <a:rPr lang="en-US" sz="950" dirty="0">
                <a:solidFill>
                  <a:srgbClr val="C3C8D1"/>
                </a:solidFill>
                <a:latin typeface="Plus Jakarta Sans" pitchFamily="34" charset="0"/>
                <a:ea typeface="Plus Jakarta Sans" pitchFamily="34" charset="-122"/>
                <a:cs typeface="Plus Jakarta Sans" pitchFamily="34" charset="-120"/>
              </a:rPr>
              <a:t>Apply, due diligence, sign</a:t>
            </a:r>
            <a:endParaRPr lang="en-US" sz="950" dirty="0"/>
          </a:p>
        </p:txBody>
      </p:sp>
      <p:sp>
        <p:nvSpPr>
          <p:cNvPr id="34" name="anim-8-30"/>
          <p:cNvSpPr txBox="1"/>
          <p:nvPr/>
        </p:nvSpPr>
        <p:spPr>
          <a:xfrm>
            <a:off x="2291080" y="4254500"/>
            <a:ext cx="254000" cy="254000"/>
          </a:xfrm>
          <a:prstGeom prst="rect">
            <a:avLst/>
          </a:prstGeom>
          <a:noFill/>
          <a:ln/>
        </p:spPr>
        <p:txBody>
          <a:bodyPr wrap="square" lIns="0" tIns="0" rIns="0" bIns="0" rtlCol="0" anchor="t"/>
          <a:lstStyle/>
          <a:p>
            <a:pPr algn="l" indent="0" marL="0">
              <a:lnSpc>
                <a:spcPct val="112000"/>
              </a:lnSpc>
              <a:buNone/>
            </a:pPr>
            <a:r>
              <a:rPr lang="en-US" sz="1400" b="1" dirty="0">
                <a:solidFill>
                  <a:srgbClr val="15B6FF"/>
                </a:solidFill>
                <a:latin typeface="Plus Jakarta Sans" pitchFamily="34" charset="0"/>
                <a:ea typeface="Plus Jakarta Sans" pitchFamily="34" charset="-122"/>
                <a:cs typeface="Plus Jakarta Sans" pitchFamily="34" charset="-120"/>
              </a:rPr>
              <a:t>→</a:t>
            </a:r>
            <a:endParaRPr lang="en-US" sz="1400" dirty="0"/>
          </a:p>
        </p:txBody>
      </p:sp>
      <p:sp>
        <p:nvSpPr>
          <p:cNvPr id="35" name="anim-8-31"/>
          <p:cNvSpPr/>
          <p:nvPr/>
        </p:nvSpPr>
        <p:spPr>
          <a:xfrm>
            <a:off x="2773680" y="4064000"/>
            <a:ext cx="2113280" cy="1447800"/>
          </a:xfrm>
          <a:prstGeom prst="roundRect">
            <a:avLst>
              <a:gd name="adj" fmla="val 12281"/>
            </a:avLst>
          </a:prstGeom>
          <a:solidFill>
            <a:srgbClr val="FFFFFF">
              <a:alpha val="5000"/>
            </a:srgbClr>
          </a:solidFill>
          <a:ln w="9525">
            <a:solidFill>
              <a:srgbClr val="FFFFFF">
                <a:alpha val="12000"/>
              </a:srgbClr>
            </a:solidFill>
            <a:prstDash val="solid"/>
          </a:ln>
        </p:spPr>
      </p:sp>
      <p:sp>
        <p:nvSpPr>
          <p:cNvPr id="36" name="anim-8-32"/>
          <p:cNvSpPr txBox="1"/>
          <p:nvPr/>
        </p:nvSpPr>
        <p:spPr>
          <a:xfrm>
            <a:off x="2951480" y="4216400"/>
            <a:ext cx="762000" cy="317500"/>
          </a:xfrm>
          <a:prstGeom prst="rect">
            <a:avLst/>
          </a:prstGeom>
          <a:noFill/>
          <a:ln/>
        </p:spPr>
        <p:txBody>
          <a:bodyPr wrap="square" lIns="0" tIns="0" rIns="0" bIns="0" rtlCol="0" anchor="t"/>
          <a:lstStyle/>
          <a:p>
            <a:pPr algn="l" indent="0" marL="0">
              <a:lnSpc>
                <a:spcPct val="112000"/>
              </a:lnSpc>
              <a:buNone/>
            </a:pPr>
            <a:r>
              <a:rPr lang="en-US" sz="2000" dirty="0">
                <a:solidFill>
                  <a:srgbClr val="15B6FF"/>
                </a:solidFill>
                <a:latin typeface="Plus Jakarta Sans Light" pitchFamily="34" charset="0"/>
                <a:ea typeface="Plus Jakarta Sans Light" pitchFamily="34" charset="-122"/>
                <a:cs typeface="Plus Jakarta Sans Light" pitchFamily="34" charset="-120"/>
              </a:rPr>
              <a:t>02</a:t>
            </a:r>
            <a:endParaRPr lang="en-US" sz="2000" dirty="0"/>
          </a:p>
        </p:txBody>
      </p:sp>
      <p:sp>
        <p:nvSpPr>
          <p:cNvPr id="37" name="anim-8-33"/>
          <p:cNvSpPr txBox="1"/>
          <p:nvPr/>
        </p:nvSpPr>
        <p:spPr>
          <a:xfrm>
            <a:off x="2951480" y="4597400"/>
            <a:ext cx="1757680" cy="254000"/>
          </a:xfrm>
          <a:prstGeom prst="rect">
            <a:avLst/>
          </a:prstGeom>
          <a:noFill/>
          <a:ln/>
        </p:spPr>
        <p:txBody>
          <a:bodyPr wrap="square" lIns="0" tIns="0" rIns="0" bIns="0" rtlCol="0" anchor="t"/>
          <a:lstStyle/>
          <a:p>
            <a:pPr algn="l" indent="0" marL="0">
              <a:lnSpc>
                <a:spcPct val="112000"/>
              </a:lnSpc>
              <a:buNone/>
            </a:pPr>
            <a:r>
              <a:rPr lang="en-US" sz="1400" b="1" dirty="0">
                <a:solidFill>
                  <a:srgbClr val="FFFFFF"/>
                </a:solidFill>
                <a:latin typeface="Plus Jakarta Sans" pitchFamily="34" charset="0"/>
                <a:ea typeface="Plus Jakarta Sans" pitchFamily="34" charset="-122"/>
                <a:cs typeface="Plus Jakarta Sans" pitchFamily="34" charset="-120"/>
              </a:rPr>
              <a:t>Enable</a:t>
            </a:r>
            <a:endParaRPr lang="en-US" sz="1400" dirty="0"/>
          </a:p>
        </p:txBody>
      </p:sp>
      <p:sp>
        <p:nvSpPr>
          <p:cNvPr id="38" name="anim-8-34"/>
          <p:cNvSpPr txBox="1"/>
          <p:nvPr/>
        </p:nvSpPr>
        <p:spPr>
          <a:xfrm>
            <a:off x="2951480" y="4889500"/>
            <a:ext cx="1757680" cy="444500"/>
          </a:xfrm>
          <a:prstGeom prst="rect">
            <a:avLst/>
          </a:prstGeom>
          <a:noFill/>
          <a:ln/>
        </p:spPr>
        <p:txBody>
          <a:bodyPr wrap="square" lIns="0" tIns="0" rIns="0" bIns="0" rtlCol="0" anchor="t"/>
          <a:lstStyle/>
          <a:p>
            <a:pPr algn="l" indent="0" marL="0">
              <a:lnSpc>
                <a:spcPct val="112000"/>
              </a:lnSpc>
              <a:buNone/>
            </a:pPr>
            <a:r>
              <a:rPr lang="en-US" sz="950" dirty="0">
                <a:solidFill>
                  <a:srgbClr val="C3C8D1"/>
                </a:solidFill>
                <a:latin typeface="Plus Jakarta Sans" pitchFamily="34" charset="0"/>
                <a:ea typeface="Plus Jakarta Sans" pitchFamily="34" charset="-122"/>
                <a:cs typeface="Plus Jakarta Sans" pitchFamily="34" charset="-120"/>
              </a:rPr>
              <a:t>Certify your people</a:t>
            </a:r>
            <a:endParaRPr lang="en-US" sz="950" dirty="0"/>
          </a:p>
        </p:txBody>
      </p:sp>
      <p:sp>
        <p:nvSpPr>
          <p:cNvPr id="39" name="anim-8-35"/>
          <p:cNvSpPr txBox="1"/>
          <p:nvPr/>
        </p:nvSpPr>
        <p:spPr>
          <a:xfrm>
            <a:off x="4556760" y="4254500"/>
            <a:ext cx="254000" cy="254000"/>
          </a:xfrm>
          <a:prstGeom prst="rect">
            <a:avLst/>
          </a:prstGeom>
          <a:noFill/>
          <a:ln/>
        </p:spPr>
        <p:txBody>
          <a:bodyPr wrap="square" lIns="0" tIns="0" rIns="0" bIns="0" rtlCol="0" anchor="t"/>
          <a:lstStyle/>
          <a:p>
            <a:pPr algn="l" indent="0" marL="0">
              <a:lnSpc>
                <a:spcPct val="112000"/>
              </a:lnSpc>
              <a:buNone/>
            </a:pPr>
            <a:r>
              <a:rPr lang="en-US" sz="1400" b="1" dirty="0">
                <a:solidFill>
                  <a:srgbClr val="15B6FF"/>
                </a:solidFill>
                <a:latin typeface="Plus Jakarta Sans" pitchFamily="34" charset="0"/>
                <a:ea typeface="Plus Jakarta Sans" pitchFamily="34" charset="-122"/>
                <a:cs typeface="Plus Jakarta Sans" pitchFamily="34" charset="-120"/>
              </a:rPr>
              <a:t>→</a:t>
            </a:r>
            <a:endParaRPr lang="en-US" sz="1400" dirty="0"/>
          </a:p>
        </p:txBody>
      </p:sp>
      <p:sp>
        <p:nvSpPr>
          <p:cNvPr id="40" name="anim-8-36"/>
          <p:cNvSpPr/>
          <p:nvPr/>
        </p:nvSpPr>
        <p:spPr>
          <a:xfrm>
            <a:off x="5039360" y="4064000"/>
            <a:ext cx="2113280" cy="1447800"/>
          </a:xfrm>
          <a:prstGeom prst="roundRect">
            <a:avLst>
              <a:gd name="adj" fmla="val 12281"/>
            </a:avLst>
          </a:prstGeom>
          <a:solidFill>
            <a:srgbClr val="FFFFFF">
              <a:alpha val="5000"/>
            </a:srgbClr>
          </a:solidFill>
          <a:ln w="9525">
            <a:solidFill>
              <a:srgbClr val="FFFFFF">
                <a:alpha val="12000"/>
              </a:srgbClr>
            </a:solidFill>
            <a:prstDash val="solid"/>
          </a:ln>
        </p:spPr>
      </p:sp>
      <p:sp>
        <p:nvSpPr>
          <p:cNvPr id="41" name="anim-8-37"/>
          <p:cNvSpPr txBox="1"/>
          <p:nvPr/>
        </p:nvSpPr>
        <p:spPr>
          <a:xfrm>
            <a:off x="5217160" y="4216400"/>
            <a:ext cx="762000" cy="317500"/>
          </a:xfrm>
          <a:prstGeom prst="rect">
            <a:avLst/>
          </a:prstGeom>
          <a:noFill/>
          <a:ln/>
        </p:spPr>
        <p:txBody>
          <a:bodyPr wrap="square" lIns="0" tIns="0" rIns="0" bIns="0" rtlCol="0" anchor="t"/>
          <a:lstStyle/>
          <a:p>
            <a:pPr algn="l" indent="0" marL="0">
              <a:lnSpc>
                <a:spcPct val="112000"/>
              </a:lnSpc>
              <a:buNone/>
            </a:pPr>
            <a:r>
              <a:rPr lang="en-US" sz="2000" dirty="0">
                <a:solidFill>
                  <a:srgbClr val="15B6FF"/>
                </a:solidFill>
                <a:latin typeface="Plus Jakarta Sans Light" pitchFamily="34" charset="0"/>
                <a:ea typeface="Plus Jakarta Sans Light" pitchFamily="34" charset="-122"/>
                <a:cs typeface="Plus Jakarta Sans Light" pitchFamily="34" charset="-120"/>
              </a:rPr>
              <a:t>03</a:t>
            </a:r>
            <a:endParaRPr lang="en-US" sz="2000" dirty="0"/>
          </a:p>
        </p:txBody>
      </p:sp>
      <p:sp>
        <p:nvSpPr>
          <p:cNvPr id="42" name="anim-8-38"/>
          <p:cNvSpPr txBox="1"/>
          <p:nvPr/>
        </p:nvSpPr>
        <p:spPr>
          <a:xfrm>
            <a:off x="5217160" y="4597400"/>
            <a:ext cx="1757680" cy="254000"/>
          </a:xfrm>
          <a:prstGeom prst="rect">
            <a:avLst/>
          </a:prstGeom>
          <a:noFill/>
          <a:ln/>
        </p:spPr>
        <p:txBody>
          <a:bodyPr wrap="square" lIns="0" tIns="0" rIns="0" bIns="0" rtlCol="0" anchor="t"/>
          <a:lstStyle/>
          <a:p>
            <a:pPr algn="l" indent="0" marL="0">
              <a:lnSpc>
                <a:spcPct val="112000"/>
              </a:lnSpc>
              <a:buNone/>
            </a:pPr>
            <a:r>
              <a:rPr lang="en-US" sz="1400" b="1" dirty="0">
                <a:solidFill>
                  <a:srgbClr val="FFFFFF"/>
                </a:solidFill>
                <a:latin typeface="Plus Jakarta Sans" pitchFamily="34" charset="0"/>
                <a:ea typeface="Plus Jakarta Sans" pitchFamily="34" charset="-122"/>
                <a:cs typeface="Plus Jakarta Sans" pitchFamily="34" charset="-120"/>
              </a:rPr>
              <a:t>Sell</a:t>
            </a:r>
            <a:endParaRPr lang="en-US" sz="1400" dirty="0"/>
          </a:p>
        </p:txBody>
      </p:sp>
      <p:sp>
        <p:nvSpPr>
          <p:cNvPr id="43" name="anim-8-39"/>
          <p:cNvSpPr txBox="1"/>
          <p:nvPr/>
        </p:nvSpPr>
        <p:spPr>
          <a:xfrm>
            <a:off x="5217160" y="4889500"/>
            <a:ext cx="1757680" cy="444500"/>
          </a:xfrm>
          <a:prstGeom prst="rect">
            <a:avLst/>
          </a:prstGeom>
          <a:noFill/>
          <a:ln/>
        </p:spPr>
        <p:txBody>
          <a:bodyPr wrap="square" lIns="0" tIns="0" rIns="0" bIns="0" rtlCol="0" anchor="t"/>
          <a:lstStyle/>
          <a:p>
            <a:pPr algn="l" indent="0" marL="0">
              <a:lnSpc>
                <a:spcPct val="112000"/>
              </a:lnSpc>
              <a:buNone/>
            </a:pPr>
            <a:r>
              <a:rPr lang="en-US" sz="950" dirty="0">
                <a:solidFill>
                  <a:srgbClr val="C3C8D1"/>
                </a:solidFill>
                <a:latin typeface="Plus Jakarta Sans" pitchFamily="34" charset="0"/>
                <a:ea typeface="Plus Jakarta Sans" pitchFamily="34" charset="-122"/>
                <a:cs typeface="Plus Jakarta Sans" pitchFamily="34" charset="-120"/>
              </a:rPr>
              <a:t>Register, co-sell, earn</a:t>
            </a:r>
            <a:endParaRPr lang="en-US" sz="950" dirty="0"/>
          </a:p>
        </p:txBody>
      </p:sp>
      <p:sp>
        <p:nvSpPr>
          <p:cNvPr id="44" name="anim-8-40"/>
          <p:cNvSpPr txBox="1"/>
          <p:nvPr/>
        </p:nvSpPr>
        <p:spPr>
          <a:xfrm>
            <a:off x="6822440" y="4254500"/>
            <a:ext cx="254000" cy="254000"/>
          </a:xfrm>
          <a:prstGeom prst="rect">
            <a:avLst/>
          </a:prstGeom>
          <a:noFill/>
          <a:ln/>
        </p:spPr>
        <p:txBody>
          <a:bodyPr wrap="square" lIns="0" tIns="0" rIns="0" bIns="0" rtlCol="0" anchor="t"/>
          <a:lstStyle/>
          <a:p>
            <a:pPr algn="l" indent="0" marL="0">
              <a:lnSpc>
                <a:spcPct val="112000"/>
              </a:lnSpc>
              <a:buNone/>
            </a:pPr>
            <a:r>
              <a:rPr lang="en-US" sz="1400" b="1" dirty="0">
                <a:solidFill>
                  <a:srgbClr val="15B6FF"/>
                </a:solidFill>
                <a:latin typeface="Plus Jakarta Sans" pitchFamily="34" charset="0"/>
                <a:ea typeface="Plus Jakarta Sans" pitchFamily="34" charset="-122"/>
                <a:cs typeface="Plus Jakarta Sans" pitchFamily="34" charset="-120"/>
              </a:rPr>
              <a:t>→</a:t>
            </a:r>
            <a:endParaRPr lang="en-US" sz="1400" dirty="0"/>
          </a:p>
        </p:txBody>
      </p:sp>
      <p:sp>
        <p:nvSpPr>
          <p:cNvPr id="45" name="anim-8-41"/>
          <p:cNvSpPr/>
          <p:nvPr/>
        </p:nvSpPr>
        <p:spPr>
          <a:xfrm>
            <a:off x="7305040" y="4064000"/>
            <a:ext cx="2113280" cy="1447800"/>
          </a:xfrm>
          <a:prstGeom prst="roundRect">
            <a:avLst>
              <a:gd name="adj" fmla="val 12281"/>
            </a:avLst>
          </a:prstGeom>
          <a:solidFill>
            <a:srgbClr val="FFFFFF">
              <a:alpha val="5000"/>
            </a:srgbClr>
          </a:solidFill>
          <a:ln w="9525">
            <a:solidFill>
              <a:srgbClr val="FFFFFF">
                <a:alpha val="12000"/>
              </a:srgbClr>
            </a:solidFill>
            <a:prstDash val="solid"/>
          </a:ln>
        </p:spPr>
      </p:sp>
      <p:sp>
        <p:nvSpPr>
          <p:cNvPr id="46" name="anim-8-42"/>
          <p:cNvSpPr txBox="1"/>
          <p:nvPr/>
        </p:nvSpPr>
        <p:spPr>
          <a:xfrm>
            <a:off x="7482840" y="4216400"/>
            <a:ext cx="762000" cy="317500"/>
          </a:xfrm>
          <a:prstGeom prst="rect">
            <a:avLst/>
          </a:prstGeom>
          <a:noFill/>
          <a:ln/>
        </p:spPr>
        <p:txBody>
          <a:bodyPr wrap="square" lIns="0" tIns="0" rIns="0" bIns="0" rtlCol="0" anchor="t"/>
          <a:lstStyle/>
          <a:p>
            <a:pPr algn="l" indent="0" marL="0">
              <a:lnSpc>
                <a:spcPct val="112000"/>
              </a:lnSpc>
              <a:buNone/>
            </a:pPr>
            <a:r>
              <a:rPr lang="en-US" sz="2000" dirty="0">
                <a:solidFill>
                  <a:srgbClr val="15B6FF"/>
                </a:solidFill>
                <a:latin typeface="Plus Jakarta Sans Light" pitchFamily="34" charset="0"/>
                <a:ea typeface="Plus Jakarta Sans Light" pitchFamily="34" charset="-122"/>
                <a:cs typeface="Plus Jakarta Sans Light" pitchFamily="34" charset="-120"/>
              </a:rPr>
              <a:t>04</a:t>
            </a:r>
            <a:endParaRPr lang="en-US" sz="2000" dirty="0"/>
          </a:p>
        </p:txBody>
      </p:sp>
      <p:sp>
        <p:nvSpPr>
          <p:cNvPr id="47" name="anim-8-43"/>
          <p:cNvSpPr txBox="1"/>
          <p:nvPr/>
        </p:nvSpPr>
        <p:spPr>
          <a:xfrm>
            <a:off x="7482840" y="4597400"/>
            <a:ext cx="1757680" cy="254000"/>
          </a:xfrm>
          <a:prstGeom prst="rect">
            <a:avLst/>
          </a:prstGeom>
          <a:noFill/>
          <a:ln/>
        </p:spPr>
        <p:txBody>
          <a:bodyPr wrap="square" lIns="0" tIns="0" rIns="0" bIns="0" rtlCol="0" anchor="t"/>
          <a:lstStyle/>
          <a:p>
            <a:pPr algn="l" indent="0" marL="0">
              <a:lnSpc>
                <a:spcPct val="112000"/>
              </a:lnSpc>
              <a:buNone/>
            </a:pPr>
            <a:r>
              <a:rPr lang="en-US" sz="1400" b="1" dirty="0">
                <a:solidFill>
                  <a:srgbClr val="FFFFFF"/>
                </a:solidFill>
                <a:latin typeface="Plus Jakarta Sans" pitchFamily="34" charset="0"/>
                <a:ea typeface="Plus Jakarta Sans" pitchFamily="34" charset="-122"/>
                <a:cs typeface="Plus Jakarta Sans" pitchFamily="34" charset="-120"/>
              </a:rPr>
              <a:t>Deliver</a:t>
            </a:r>
            <a:endParaRPr lang="en-US" sz="1400" dirty="0"/>
          </a:p>
        </p:txBody>
      </p:sp>
      <p:sp>
        <p:nvSpPr>
          <p:cNvPr id="48" name="anim-8-44"/>
          <p:cNvSpPr txBox="1"/>
          <p:nvPr/>
        </p:nvSpPr>
        <p:spPr>
          <a:xfrm>
            <a:off x="7482840" y="4889500"/>
            <a:ext cx="1757680" cy="444500"/>
          </a:xfrm>
          <a:prstGeom prst="rect">
            <a:avLst/>
          </a:prstGeom>
          <a:noFill/>
          <a:ln/>
        </p:spPr>
        <p:txBody>
          <a:bodyPr wrap="square" lIns="0" tIns="0" rIns="0" bIns="0" rtlCol="0" anchor="t"/>
          <a:lstStyle/>
          <a:p>
            <a:pPr algn="l" indent="0" marL="0">
              <a:lnSpc>
                <a:spcPct val="112000"/>
              </a:lnSpc>
              <a:buNone/>
            </a:pPr>
            <a:r>
              <a:rPr lang="en-US" sz="950" dirty="0">
                <a:solidFill>
                  <a:srgbClr val="C3C8D1"/>
                </a:solidFill>
                <a:latin typeface="Plus Jakarta Sans" pitchFamily="34" charset="0"/>
                <a:ea typeface="Plus Jakarta Sans" pitchFamily="34" charset="-122"/>
                <a:cs typeface="Plus Jakarta Sans" pitchFamily="34" charset="-120"/>
              </a:rPr>
              <a:t>Adoption and renewals</a:t>
            </a:r>
            <a:endParaRPr lang="en-US" sz="950" dirty="0"/>
          </a:p>
        </p:txBody>
      </p:sp>
      <p:sp>
        <p:nvSpPr>
          <p:cNvPr id="49" name="anim-8-45"/>
          <p:cNvSpPr txBox="1"/>
          <p:nvPr/>
        </p:nvSpPr>
        <p:spPr>
          <a:xfrm>
            <a:off x="9088120" y="4254500"/>
            <a:ext cx="254000" cy="254000"/>
          </a:xfrm>
          <a:prstGeom prst="rect">
            <a:avLst/>
          </a:prstGeom>
          <a:noFill/>
          <a:ln/>
        </p:spPr>
        <p:txBody>
          <a:bodyPr wrap="square" lIns="0" tIns="0" rIns="0" bIns="0" rtlCol="0" anchor="t"/>
          <a:lstStyle/>
          <a:p>
            <a:pPr algn="l" indent="0" marL="0">
              <a:lnSpc>
                <a:spcPct val="112000"/>
              </a:lnSpc>
              <a:buNone/>
            </a:pPr>
            <a:r>
              <a:rPr lang="en-US" sz="1400" b="1" dirty="0">
                <a:solidFill>
                  <a:srgbClr val="15B6FF"/>
                </a:solidFill>
                <a:latin typeface="Plus Jakarta Sans" pitchFamily="34" charset="0"/>
                <a:ea typeface="Plus Jakarta Sans" pitchFamily="34" charset="-122"/>
                <a:cs typeface="Plus Jakarta Sans" pitchFamily="34" charset="-120"/>
              </a:rPr>
              <a:t>→</a:t>
            </a:r>
            <a:endParaRPr lang="en-US" sz="1400" dirty="0"/>
          </a:p>
        </p:txBody>
      </p:sp>
      <p:sp>
        <p:nvSpPr>
          <p:cNvPr id="50" name="anim-8-46"/>
          <p:cNvSpPr/>
          <p:nvPr/>
        </p:nvSpPr>
        <p:spPr>
          <a:xfrm>
            <a:off x="9570720" y="4064000"/>
            <a:ext cx="2113280" cy="1447800"/>
          </a:xfrm>
          <a:prstGeom prst="roundRect">
            <a:avLst>
              <a:gd name="adj" fmla="val 12281"/>
            </a:avLst>
          </a:prstGeom>
          <a:solidFill>
            <a:srgbClr val="194EFF"/>
          </a:solidFill>
          <a:ln w="9525">
            <a:solidFill>
              <a:srgbClr val="15B6FF">
                <a:alpha val="40000"/>
              </a:srgbClr>
            </a:solidFill>
            <a:prstDash val="solid"/>
          </a:ln>
        </p:spPr>
      </p:sp>
      <p:sp>
        <p:nvSpPr>
          <p:cNvPr id="51" name="anim-8-47"/>
          <p:cNvSpPr txBox="1"/>
          <p:nvPr/>
        </p:nvSpPr>
        <p:spPr>
          <a:xfrm>
            <a:off x="9748520" y="4216400"/>
            <a:ext cx="762000" cy="317500"/>
          </a:xfrm>
          <a:prstGeom prst="rect">
            <a:avLst/>
          </a:prstGeom>
          <a:noFill/>
          <a:ln/>
        </p:spPr>
        <p:txBody>
          <a:bodyPr wrap="square" lIns="0" tIns="0" rIns="0" bIns="0" rtlCol="0" anchor="t"/>
          <a:lstStyle/>
          <a:p>
            <a:pPr algn="l" indent="0" marL="0">
              <a:lnSpc>
                <a:spcPct val="112000"/>
              </a:lnSpc>
              <a:buNone/>
            </a:pPr>
            <a:r>
              <a:rPr lang="en-US" sz="2000" dirty="0">
                <a:solidFill>
                  <a:srgbClr val="15B6FF"/>
                </a:solidFill>
                <a:latin typeface="Plus Jakarta Sans Light" pitchFamily="34" charset="0"/>
                <a:ea typeface="Plus Jakarta Sans Light" pitchFamily="34" charset="-122"/>
                <a:cs typeface="Plus Jakarta Sans Light" pitchFamily="34" charset="-120"/>
              </a:rPr>
              <a:t>05</a:t>
            </a:r>
            <a:endParaRPr lang="en-US" sz="2000" dirty="0"/>
          </a:p>
        </p:txBody>
      </p:sp>
      <p:sp>
        <p:nvSpPr>
          <p:cNvPr id="52" name="anim-8-48"/>
          <p:cNvSpPr txBox="1"/>
          <p:nvPr/>
        </p:nvSpPr>
        <p:spPr>
          <a:xfrm>
            <a:off x="9748520" y="4597400"/>
            <a:ext cx="1757680" cy="254000"/>
          </a:xfrm>
          <a:prstGeom prst="rect">
            <a:avLst/>
          </a:prstGeom>
          <a:noFill/>
          <a:ln/>
        </p:spPr>
        <p:txBody>
          <a:bodyPr wrap="square" lIns="0" tIns="0" rIns="0" bIns="0" rtlCol="0" anchor="t"/>
          <a:lstStyle/>
          <a:p>
            <a:pPr algn="l" indent="0" marL="0">
              <a:lnSpc>
                <a:spcPct val="112000"/>
              </a:lnSpc>
              <a:buNone/>
            </a:pPr>
            <a:r>
              <a:rPr lang="en-US" sz="1400" b="1" dirty="0">
                <a:solidFill>
                  <a:srgbClr val="FFFFFF"/>
                </a:solidFill>
                <a:latin typeface="Plus Jakarta Sans" pitchFamily="34" charset="0"/>
                <a:ea typeface="Plus Jakarta Sans" pitchFamily="34" charset="-122"/>
                <a:cs typeface="Plus Jakarta Sans" pitchFamily="34" charset="-120"/>
              </a:rPr>
              <a:t>Scale</a:t>
            </a:r>
            <a:endParaRPr lang="en-US" sz="1400" dirty="0"/>
          </a:p>
        </p:txBody>
      </p:sp>
      <p:sp>
        <p:nvSpPr>
          <p:cNvPr id="53" name="anim-8-49"/>
          <p:cNvSpPr txBox="1"/>
          <p:nvPr/>
        </p:nvSpPr>
        <p:spPr>
          <a:xfrm>
            <a:off x="9748520" y="4889500"/>
            <a:ext cx="1757680" cy="444500"/>
          </a:xfrm>
          <a:prstGeom prst="rect">
            <a:avLst/>
          </a:prstGeom>
          <a:noFill/>
          <a:ln/>
        </p:spPr>
        <p:txBody>
          <a:bodyPr wrap="square" lIns="0" tIns="0" rIns="0" bIns="0" rtlCol="0" anchor="t"/>
          <a:lstStyle/>
          <a:p>
            <a:pPr algn="l" indent="0" marL="0">
              <a:lnSpc>
                <a:spcPct val="112000"/>
              </a:lnSpc>
              <a:buNone/>
            </a:pPr>
            <a:r>
              <a:rPr lang="en-US" sz="950" dirty="0">
                <a:solidFill>
                  <a:srgbClr val="FFFFFF"/>
                </a:solidFill>
                <a:latin typeface="Plus Jakarta Sans" pitchFamily="34" charset="0"/>
                <a:ea typeface="Plus Jakarta Sans" pitchFamily="34" charset="-122"/>
                <a:cs typeface="Plus Jakarta Sans" pitchFamily="34" charset="-120"/>
              </a:rPr>
              <a:t>Level up, unlock more</a:t>
            </a:r>
            <a:endParaRPr lang="en-US" sz="950" dirty="0"/>
          </a:p>
        </p:txBody>
      </p:sp>
      <p:sp>
        <p:nvSpPr>
          <p:cNvPr id="54" name="anim-9-50"/>
          <p:cNvSpPr/>
          <p:nvPr/>
        </p:nvSpPr>
        <p:spPr>
          <a:xfrm>
            <a:off x="508000" y="5664200"/>
            <a:ext cx="11176000" cy="406400"/>
          </a:xfrm>
          <a:prstGeom prst="roundRect">
            <a:avLst>
              <a:gd name="adj" fmla="val 50000"/>
            </a:avLst>
          </a:prstGeom>
          <a:solidFill>
            <a:srgbClr val="FFFFFF">
              <a:alpha val="4000"/>
            </a:srgbClr>
          </a:solidFill>
          <a:ln w="9525">
            <a:solidFill>
              <a:srgbClr val="FFFFFF">
                <a:alpha val="22000"/>
              </a:srgbClr>
            </a:solidFill>
            <a:prstDash val="solid"/>
          </a:ln>
        </p:spPr>
      </p:sp>
      <p:sp>
        <p:nvSpPr>
          <p:cNvPr id="55" name="anim-9-51"/>
          <p:cNvSpPr txBox="1"/>
          <p:nvPr/>
        </p:nvSpPr>
        <p:spPr>
          <a:xfrm>
            <a:off x="762000" y="5664200"/>
            <a:ext cx="2095500" cy="406400"/>
          </a:xfrm>
          <a:prstGeom prst="rect">
            <a:avLst/>
          </a:prstGeom>
          <a:noFill/>
          <a:ln/>
        </p:spPr>
        <p:txBody>
          <a:bodyPr wrap="square" lIns="0" tIns="0" rIns="0" bIns="0" rtlCol="0" anchor="ctr"/>
          <a:lstStyle/>
          <a:p>
            <a:pPr algn="l" indent="0" marL="0">
              <a:lnSpc>
                <a:spcPct val="112000"/>
              </a:lnSpc>
              <a:buNone/>
            </a:pPr>
            <a:r>
              <a:rPr lang="en-US" sz="1100" b="1" dirty="0">
                <a:solidFill>
                  <a:srgbClr val="15B6FF"/>
                </a:solidFill>
                <a:latin typeface="Plus Jakarta Sans" pitchFamily="34" charset="0"/>
                <a:ea typeface="Plus Jakarta Sans" pitchFamily="34" charset="-122"/>
                <a:cs typeface="Plus Jakarta Sans" pitchFamily="34" charset="-120"/>
              </a:rPr>
              <a:t>The Path</a:t>
            </a:r>
            <a:endParaRPr lang="en-US" sz="1100" dirty="0"/>
          </a:p>
        </p:txBody>
      </p:sp>
      <p:sp>
        <p:nvSpPr>
          <p:cNvPr id="56" name="anim-9-52"/>
          <p:cNvSpPr txBox="1"/>
          <p:nvPr/>
        </p:nvSpPr>
        <p:spPr>
          <a:xfrm>
            <a:off x="2921000" y="5664200"/>
            <a:ext cx="8572500" cy="406400"/>
          </a:xfrm>
          <a:prstGeom prst="rect">
            <a:avLst/>
          </a:prstGeom>
          <a:noFill/>
          <a:ln/>
        </p:spPr>
        <p:txBody>
          <a:bodyPr wrap="square" lIns="0" tIns="0" rIns="0" bIns="0" rtlCol="0" anchor="ctr"/>
          <a:lstStyle/>
          <a:p>
            <a:pPr algn="l" indent="0" marL="0">
              <a:lnSpc>
                <a:spcPct val="112000"/>
              </a:lnSpc>
              <a:buNone/>
            </a:pPr>
            <a:r>
              <a:rPr lang="en-US" sz="1050" dirty="0">
                <a:solidFill>
                  <a:srgbClr val="FFFFFF"/>
                </a:solidFill>
                <a:latin typeface="Plus Jakarta Sans Medium" pitchFamily="34" charset="0"/>
                <a:ea typeface="Plus Jakarta Sans Medium" pitchFamily="34" charset="-122"/>
                <a:cs typeface="Plus Jakarta Sans Medium" pitchFamily="34" charset="-120"/>
              </a:rPr>
              <a:t>Join, enable, sell, deliver and scale. Every level unlocks more investment from DignifyX.</a:t>
            </a:r>
            <a:endParaRPr lang="en-US" sz="105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500"/>
                                        <p:tgtEl>
                                          <p:spTgt spid="7"/>
                                        </p:tgtEl>
                                      </p:cBhvr>
                                    </p:animEffect>
                                  </p:childTnLst>
                                </p:cTn>
                              </p:par>
                              <p:par>
                                <p:cTn id="14" presetID="10" presetClass="entr" presetSubtype="0" fill="hold" grpId="0" nodeType="withEffect">
                                  <p:stCondLst>
                                    <p:cond delay="18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500"/>
                                        <p:tgtEl>
                                          <p:spTgt spid="8"/>
                                        </p:tgtEl>
                                      </p:cBhvr>
                                    </p:animEffect>
                                  </p:childTnLst>
                                </p:cTn>
                              </p:par>
                              <p:par>
                                <p:cTn id="17" presetID="10" presetClass="entr" presetSubtype="0" fill="hold" grpId="0" nodeType="withEffect">
                                  <p:stCondLst>
                                    <p:cond delay="18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500"/>
                                        <p:tgtEl>
                                          <p:spTgt spid="9"/>
                                        </p:tgtEl>
                                      </p:cBhvr>
                                    </p:animEffect>
                                  </p:childTnLst>
                                </p:cTn>
                              </p:par>
                              <p:par>
                                <p:cTn id="20" presetID="10" presetClass="entr" presetSubtype="0" fill="hold" grpId="0" nodeType="withEffect">
                                  <p:stCondLst>
                                    <p:cond delay="180"/>
                                  </p:stCondLst>
                                  <p:childTnLst>
                                    <p:set>
                                      <p:cBhvr>
                                        <p:cTn id="21" dur="1" fill="hold">
                                          <p:stCondLst>
                                            <p:cond delay="0"/>
                                          </p:stCondLst>
                                        </p:cTn>
                                        <p:tgtEl>
                                          <p:spTgt spid="10"/>
                                        </p:tgtEl>
                                        <p:attrNameLst>
                                          <p:attrName>style.visibility</p:attrName>
                                        </p:attrNameLst>
                                      </p:cBhvr>
                                      <p:to>
                                        <p:strVal val="visible"/>
                                      </p:to>
                                    </p:set>
                                    <p:animEffect transition="in" filter="fade">
                                      <p:cBhvr>
                                        <p:cTn id="22" dur="500"/>
                                        <p:tgtEl>
                                          <p:spTgt spid="10"/>
                                        </p:tgtEl>
                                      </p:cBhvr>
                                    </p:animEffect>
                                  </p:childTnLst>
                                </p:cTn>
                              </p:par>
                              <p:par>
                                <p:cTn id="23" presetID="10" presetClass="entr" presetSubtype="0" fill="hold" grpId="0" nodeType="withEffect">
                                  <p:stCondLst>
                                    <p:cond delay="180"/>
                                  </p:stCondLst>
                                  <p:childTnLst>
                                    <p:set>
                                      <p:cBhvr>
                                        <p:cTn id="24" dur="1" fill="hold">
                                          <p:stCondLst>
                                            <p:cond delay="0"/>
                                          </p:stCondLst>
                                        </p:cTn>
                                        <p:tgtEl>
                                          <p:spTgt spid="11"/>
                                        </p:tgtEl>
                                        <p:attrNameLst>
                                          <p:attrName>style.visibility</p:attrName>
                                        </p:attrNameLst>
                                      </p:cBhvr>
                                      <p:to>
                                        <p:strVal val="visible"/>
                                      </p:to>
                                    </p:set>
                                    <p:animEffect transition="in" filter="fade">
                                      <p:cBhvr>
                                        <p:cTn id="25" dur="500"/>
                                        <p:tgtEl>
                                          <p:spTgt spid="11"/>
                                        </p:tgtEl>
                                      </p:cBhvr>
                                    </p:animEffect>
                                  </p:childTnLst>
                                </p:cTn>
                              </p:par>
                              <p:par>
                                <p:cTn id="26" presetID="10" presetClass="entr" presetSubtype="0" fill="hold" grpId="0" nodeType="withEffect">
                                  <p:stCondLst>
                                    <p:cond delay="180"/>
                                  </p:stCondLst>
                                  <p:childTnLst>
                                    <p:set>
                                      <p:cBhvr>
                                        <p:cTn id="27" dur="1" fill="hold">
                                          <p:stCondLst>
                                            <p:cond delay="0"/>
                                          </p:stCondLst>
                                        </p:cTn>
                                        <p:tgtEl>
                                          <p:spTgt spid="12"/>
                                        </p:tgtEl>
                                        <p:attrNameLst>
                                          <p:attrName>style.visibility</p:attrName>
                                        </p:attrNameLst>
                                      </p:cBhvr>
                                      <p:to>
                                        <p:strVal val="visible"/>
                                      </p:to>
                                    </p:set>
                                    <p:animEffect transition="in" filter="fade">
                                      <p:cBhvr>
                                        <p:cTn id="28" dur="500"/>
                                        <p:tgtEl>
                                          <p:spTgt spid="12"/>
                                        </p:tgtEl>
                                      </p:cBhvr>
                                    </p:animEffect>
                                  </p:childTnLst>
                                </p:cTn>
                              </p:par>
                              <p:par>
                                <p:cTn id="29" presetID="10" presetClass="entr" presetSubtype="0" fill="hold" grpId="0" nodeType="withEffect">
                                  <p:stCondLst>
                                    <p:cond delay="360"/>
                                  </p:stCondLst>
                                  <p:childTnLst>
                                    <p:set>
                                      <p:cBhvr>
                                        <p:cTn id="30" dur="1" fill="hold">
                                          <p:stCondLst>
                                            <p:cond delay="0"/>
                                          </p:stCondLst>
                                        </p:cTn>
                                        <p:tgtEl>
                                          <p:spTgt spid="13"/>
                                        </p:tgtEl>
                                        <p:attrNameLst>
                                          <p:attrName>style.visibility</p:attrName>
                                        </p:attrNameLst>
                                      </p:cBhvr>
                                      <p:to>
                                        <p:strVal val="visible"/>
                                      </p:to>
                                    </p:set>
                                    <p:animEffect transition="in" filter="fade">
                                      <p:cBhvr>
                                        <p:cTn id="31" dur="500"/>
                                        <p:tgtEl>
                                          <p:spTgt spid="13"/>
                                        </p:tgtEl>
                                      </p:cBhvr>
                                    </p:animEffect>
                                  </p:childTnLst>
                                </p:cTn>
                              </p:par>
                              <p:par>
                                <p:cTn id="32" presetID="10" presetClass="entr" presetSubtype="0" fill="hold" grpId="0" nodeType="withEffect">
                                  <p:stCondLst>
                                    <p:cond delay="36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500"/>
                                        <p:tgtEl>
                                          <p:spTgt spid="14"/>
                                        </p:tgtEl>
                                      </p:cBhvr>
                                    </p:animEffect>
                                  </p:childTnLst>
                                </p:cTn>
                              </p:par>
                              <p:par>
                                <p:cTn id="35" presetID="10" presetClass="entr" presetSubtype="0" fill="hold" grpId="0" nodeType="withEffect">
                                  <p:stCondLst>
                                    <p:cond delay="360"/>
                                  </p:stCondLst>
                                  <p:childTnLst>
                                    <p:set>
                                      <p:cBhvr>
                                        <p:cTn id="36" dur="1" fill="hold">
                                          <p:stCondLst>
                                            <p:cond delay="0"/>
                                          </p:stCondLst>
                                        </p:cTn>
                                        <p:tgtEl>
                                          <p:spTgt spid="15"/>
                                        </p:tgtEl>
                                        <p:attrNameLst>
                                          <p:attrName>style.visibility</p:attrName>
                                        </p:attrNameLst>
                                      </p:cBhvr>
                                      <p:to>
                                        <p:strVal val="visible"/>
                                      </p:to>
                                    </p:set>
                                    <p:animEffect transition="in" filter="fade">
                                      <p:cBhvr>
                                        <p:cTn id="37" dur="500"/>
                                        <p:tgtEl>
                                          <p:spTgt spid="15"/>
                                        </p:tgtEl>
                                      </p:cBhvr>
                                    </p:animEffect>
                                  </p:childTnLst>
                                </p:cTn>
                              </p:par>
                              <p:par>
                                <p:cTn id="38" presetID="10" presetClass="entr" presetSubtype="0" fill="hold" grpId="0" nodeType="withEffect">
                                  <p:stCondLst>
                                    <p:cond delay="540"/>
                                  </p:stCondLst>
                                  <p:childTnLst>
                                    <p:set>
                                      <p:cBhvr>
                                        <p:cTn id="39" dur="1" fill="hold">
                                          <p:stCondLst>
                                            <p:cond delay="0"/>
                                          </p:stCondLst>
                                        </p:cTn>
                                        <p:tgtEl>
                                          <p:spTgt spid="16"/>
                                        </p:tgtEl>
                                        <p:attrNameLst>
                                          <p:attrName>style.visibility</p:attrName>
                                        </p:attrNameLst>
                                      </p:cBhvr>
                                      <p:to>
                                        <p:strVal val="visible"/>
                                      </p:to>
                                    </p:set>
                                    <p:animEffect transition="in" filter="fade">
                                      <p:cBhvr>
                                        <p:cTn id="40" dur="500"/>
                                        <p:tgtEl>
                                          <p:spTgt spid="16"/>
                                        </p:tgtEl>
                                      </p:cBhvr>
                                    </p:animEffect>
                                  </p:childTnLst>
                                </p:cTn>
                              </p:par>
                              <p:par>
                                <p:cTn id="41" presetID="10" presetClass="entr" presetSubtype="0" fill="hold" grpId="0" nodeType="withEffect">
                                  <p:stCondLst>
                                    <p:cond delay="540"/>
                                  </p:stCondLst>
                                  <p:childTnLst>
                                    <p:set>
                                      <p:cBhvr>
                                        <p:cTn id="42" dur="1" fill="hold">
                                          <p:stCondLst>
                                            <p:cond delay="0"/>
                                          </p:stCondLst>
                                        </p:cTn>
                                        <p:tgtEl>
                                          <p:spTgt spid="17"/>
                                        </p:tgtEl>
                                        <p:attrNameLst>
                                          <p:attrName>style.visibility</p:attrName>
                                        </p:attrNameLst>
                                      </p:cBhvr>
                                      <p:to>
                                        <p:strVal val="visible"/>
                                      </p:to>
                                    </p:set>
                                    <p:animEffect transition="in" filter="fade">
                                      <p:cBhvr>
                                        <p:cTn id="43" dur="500"/>
                                        <p:tgtEl>
                                          <p:spTgt spid="17"/>
                                        </p:tgtEl>
                                      </p:cBhvr>
                                    </p:animEffect>
                                  </p:childTnLst>
                                </p:cTn>
                              </p:par>
                              <p:par>
                                <p:cTn id="44" presetID="10" presetClass="entr" presetSubtype="0" fill="hold" grpId="0" nodeType="withEffect">
                                  <p:stCondLst>
                                    <p:cond delay="540"/>
                                  </p:stCondLst>
                                  <p:childTnLst>
                                    <p:set>
                                      <p:cBhvr>
                                        <p:cTn id="45" dur="1" fill="hold">
                                          <p:stCondLst>
                                            <p:cond delay="0"/>
                                          </p:stCondLst>
                                        </p:cTn>
                                        <p:tgtEl>
                                          <p:spTgt spid="18"/>
                                        </p:tgtEl>
                                        <p:attrNameLst>
                                          <p:attrName>style.visibility</p:attrName>
                                        </p:attrNameLst>
                                      </p:cBhvr>
                                      <p:to>
                                        <p:strVal val="visible"/>
                                      </p:to>
                                    </p:set>
                                    <p:animEffect transition="in" filter="fade">
                                      <p:cBhvr>
                                        <p:cTn id="46" dur="500"/>
                                        <p:tgtEl>
                                          <p:spTgt spid="18"/>
                                        </p:tgtEl>
                                      </p:cBhvr>
                                    </p:animEffect>
                                  </p:childTnLst>
                                </p:cTn>
                              </p:par>
                              <p:par>
                                <p:cTn id="47" presetID="10" presetClass="entr" presetSubtype="0" fill="hold" grpId="0" nodeType="withEffect">
                                  <p:stCondLst>
                                    <p:cond delay="720"/>
                                  </p:stCondLst>
                                  <p:childTnLst>
                                    <p:set>
                                      <p:cBhvr>
                                        <p:cTn id="48" dur="1" fill="hold">
                                          <p:stCondLst>
                                            <p:cond delay="0"/>
                                          </p:stCondLst>
                                        </p:cTn>
                                        <p:tgtEl>
                                          <p:spTgt spid="19"/>
                                        </p:tgtEl>
                                        <p:attrNameLst>
                                          <p:attrName>style.visibility</p:attrName>
                                        </p:attrNameLst>
                                      </p:cBhvr>
                                      <p:to>
                                        <p:strVal val="visible"/>
                                      </p:to>
                                    </p:set>
                                    <p:animEffect transition="in" filter="fade">
                                      <p:cBhvr>
                                        <p:cTn id="49" dur="500"/>
                                        <p:tgtEl>
                                          <p:spTgt spid="19"/>
                                        </p:tgtEl>
                                      </p:cBhvr>
                                    </p:animEffect>
                                  </p:childTnLst>
                                </p:cTn>
                              </p:par>
                              <p:par>
                                <p:cTn id="50" presetID="10" presetClass="entr" presetSubtype="0" fill="hold" grpId="0" nodeType="withEffect">
                                  <p:stCondLst>
                                    <p:cond delay="720"/>
                                  </p:stCondLst>
                                  <p:childTnLst>
                                    <p:set>
                                      <p:cBhvr>
                                        <p:cTn id="51" dur="1" fill="hold">
                                          <p:stCondLst>
                                            <p:cond delay="0"/>
                                          </p:stCondLst>
                                        </p:cTn>
                                        <p:tgtEl>
                                          <p:spTgt spid="20"/>
                                        </p:tgtEl>
                                        <p:attrNameLst>
                                          <p:attrName>style.visibility</p:attrName>
                                        </p:attrNameLst>
                                      </p:cBhvr>
                                      <p:to>
                                        <p:strVal val="visible"/>
                                      </p:to>
                                    </p:set>
                                    <p:animEffect transition="in" filter="fade">
                                      <p:cBhvr>
                                        <p:cTn id="52" dur="500"/>
                                        <p:tgtEl>
                                          <p:spTgt spid="20"/>
                                        </p:tgtEl>
                                      </p:cBhvr>
                                    </p:animEffect>
                                  </p:childTnLst>
                                </p:cTn>
                              </p:par>
                              <p:par>
                                <p:cTn id="53" presetID="10" presetClass="entr" presetSubtype="0" fill="hold" grpId="0" nodeType="withEffect">
                                  <p:stCondLst>
                                    <p:cond delay="720"/>
                                  </p:stCondLst>
                                  <p:childTnLst>
                                    <p:set>
                                      <p:cBhvr>
                                        <p:cTn id="54" dur="1" fill="hold">
                                          <p:stCondLst>
                                            <p:cond delay="0"/>
                                          </p:stCondLst>
                                        </p:cTn>
                                        <p:tgtEl>
                                          <p:spTgt spid="21"/>
                                        </p:tgtEl>
                                        <p:attrNameLst>
                                          <p:attrName>style.visibility</p:attrName>
                                        </p:attrNameLst>
                                      </p:cBhvr>
                                      <p:to>
                                        <p:strVal val="visible"/>
                                      </p:to>
                                    </p:set>
                                    <p:animEffect transition="in" filter="fade">
                                      <p:cBhvr>
                                        <p:cTn id="55" dur="500"/>
                                        <p:tgtEl>
                                          <p:spTgt spid="21"/>
                                        </p:tgtEl>
                                      </p:cBhvr>
                                    </p:animEffect>
                                  </p:childTnLst>
                                </p:cTn>
                              </p:par>
                              <p:par>
                                <p:cTn id="56" presetID="10" presetClass="entr" presetSubtype="0" fill="hold" grpId="0" nodeType="withEffect">
                                  <p:stCondLst>
                                    <p:cond delay="900"/>
                                  </p:stCondLst>
                                  <p:childTnLst>
                                    <p:set>
                                      <p:cBhvr>
                                        <p:cTn id="57" dur="1" fill="hold">
                                          <p:stCondLst>
                                            <p:cond delay="0"/>
                                          </p:stCondLst>
                                        </p:cTn>
                                        <p:tgtEl>
                                          <p:spTgt spid="22"/>
                                        </p:tgtEl>
                                        <p:attrNameLst>
                                          <p:attrName>style.visibility</p:attrName>
                                        </p:attrNameLst>
                                      </p:cBhvr>
                                      <p:to>
                                        <p:strVal val="visible"/>
                                      </p:to>
                                    </p:set>
                                    <p:animEffect transition="in" filter="fade">
                                      <p:cBhvr>
                                        <p:cTn id="58" dur="500"/>
                                        <p:tgtEl>
                                          <p:spTgt spid="22"/>
                                        </p:tgtEl>
                                      </p:cBhvr>
                                    </p:animEffect>
                                  </p:childTnLst>
                                </p:cTn>
                              </p:par>
                              <p:par>
                                <p:cTn id="59" presetID="10" presetClass="entr" presetSubtype="0" fill="hold" grpId="0" nodeType="withEffect">
                                  <p:stCondLst>
                                    <p:cond delay="900"/>
                                  </p:stCondLst>
                                  <p:childTnLst>
                                    <p:set>
                                      <p:cBhvr>
                                        <p:cTn id="60" dur="1" fill="hold">
                                          <p:stCondLst>
                                            <p:cond delay="0"/>
                                          </p:stCondLst>
                                        </p:cTn>
                                        <p:tgtEl>
                                          <p:spTgt spid="23"/>
                                        </p:tgtEl>
                                        <p:attrNameLst>
                                          <p:attrName>style.visibility</p:attrName>
                                        </p:attrNameLst>
                                      </p:cBhvr>
                                      <p:to>
                                        <p:strVal val="visible"/>
                                      </p:to>
                                    </p:set>
                                    <p:animEffect transition="in" filter="fade">
                                      <p:cBhvr>
                                        <p:cTn id="61" dur="500"/>
                                        <p:tgtEl>
                                          <p:spTgt spid="23"/>
                                        </p:tgtEl>
                                      </p:cBhvr>
                                    </p:animEffect>
                                  </p:childTnLst>
                                </p:cTn>
                              </p:par>
                              <p:par>
                                <p:cTn id="62" presetID="10" presetClass="entr" presetSubtype="0" fill="hold" grpId="0" nodeType="withEffect">
                                  <p:stCondLst>
                                    <p:cond delay="900"/>
                                  </p:stCondLst>
                                  <p:childTnLst>
                                    <p:set>
                                      <p:cBhvr>
                                        <p:cTn id="63" dur="1" fill="hold">
                                          <p:stCondLst>
                                            <p:cond delay="0"/>
                                          </p:stCondLst>
                                        </p:cTn>
                                        <p:tgtEl>
                                          <p:spTgt spid="24"/>
                                        </p:tgtEl>
                                        <p:attrNameLst>
                                          <p:attrName>style.visibility</p:attrName>
                                        </p:attrNameLst>
                                      </p:cBhvr>
                                      <p:to>
                                        <p:strVal val="visible"/>
                                      </p:to>
                                    </p:set>
                                    <p:animEffect transition="in" filter="fade">
                                      <p:cBhvr>
                                        <p:cTn id="64" dur="500"/>
                                        <p:tgtEl>
                                          <p:spTgt spid="24"/>
                                        </p:tgtEl>
                                      </p:cBhvr>
                                    </p:animEffect>
                                  </p:childTnLst>
                                </p:cTn>
                              </p:par>
                              <p:par>
                                <p:cTn id="65" presetID="10" presetClass="entr" presetSubtype="0" fill="hold" grpId="0" nodeType="withEffect">
                                  <p:stCondLst>
                                    <p:cond delay="900"/>
                                  </p:stCondLst>
                                  <p:childTnLst>
                                    <p:set>
                                      <p:cBhvr>
                                        <p:cTn id="66" dur="1" fill="hold">
                                          <p:stCondLst>
                                            <p:cond delay="0"/>
                                          </p:stCondLst>
                                        </p:cTn>
                                        <p:tgtEl>
                                          <p:spTgt spid="25"/>
                                        </p:tgtEl>
                                        <p:attrNameLst>
                                          <p:attrName>style.visibility</p:attrName>
                                        </p:attrNameLst>
                                      </p:cBhvr>
                                      <p:to>
                                        <p:strVal val="visible"/>
                                      </p:to>
                                    </p:set>
                                    <p:animEffect transition="in" filter="fade">
                                      <p:cBhvr>
                                        <p:cTn id="67" dur="500"/>
                                        <p:tgtEl>
                                          <p:spTgt spid="25"/>
                                        </p:tgtEl>
                                      </p:cBhvr>
                                    </p:animEffect>
                                  </p:childTnLst>
                                </p:cTn>
                              </p:par>
                              <p:par>
                                <p:cTn id="68" presetID="10" presetClass="entr" presetSubtype="0" fill="hold" grpId="0" nodeType="withEffect">
                                  <p:stCondLst>
                                    <p:cond delay="1080"/>
                                  </p:stCondLst>
                                  <p:childTnLst>
                                    <p:set>
                                      <p:cBhvr>
                                        <p:cTn id="69" dur="1" fill="hold">
                                          <p:stCondLst>
                                            <p:cond delay="0"/>
                                          </p:stCondLst>
                                        </p:cTn>
                                        <p:tgtEl>
                                          <p:spTgt spid="26"/>
                                        </p:tgtEl>
                                        <p:attrNameLst>
                                          <p:attrName>style.visibility</p:attrName>
                                        </p:attrNameLst>
                                      </p:cBhvr>
                                      <p:to>
                                        <p:strVal val="visible"/>
                                      </p:to>
                                    </p:set>
                                    <p:animEffect transition="in" filter="fade">
                                      <p:cBhvr>
                                        <p:cTn id="70" dur="500"/>
                                        <p:tgtEl>
                                          <p:spTgt spid="26"/>
                                        </p:tgtEl>
                                      </p:cBhvr>
                                    </p:animEffect>
                                  </p:childTnLst>
                                </p:cTn>
                              </p:par>
                              <p:par>
                                <p:cTn id="71" presetID="10" presetClass="entr" presetSubtype="0" fill="hold" grpId="0" nodeType="withEffect">
                                  <p:stCondLst>
                                    <p:cond delay="1080"/>
                                  </p:stCondLst>
                                  <p:childTnLst>
                                    <p:set>
                                      <p:cBhvr>
                                        <p:cTn id="72" dur="1" fill="hold">
                                          <p:stCondLst>
                                            <p:cond delay="0"/>
                                          </p:stCondLst>
                                        </p:cTn>
                                        <p:tgtEl>
                                          <p:spTgt spid="27"/>
                                        </p:tgtEl>
                                        <p:attrNameLst>
                                          <p:attrName>style.visibility</p:attrName>
                                        </p:attrNameLst>
                                      </p:cBhvr>
                                      <p:to>
                                        <p:strVal val="visible"/>
                                      </p:to>
                                    </p:set>
                                    <p:animEffect transition="in" filter="fade">
                                      <p:cBhvr>
                                        <p:cTn id="73" dur="500"/>
                                        <p:tgtEl>
                                          <p:spTgt spid="27"/>
                                        </p:tgtEl>
                                      </p:cBhvr>
                                    </p:animEffect>
                                  </p:childTnLst>
                                </p:cTn>
                              </p:par>
                              <p:par>
                                <p:cTn id="74" presetID="10" presetClass="entr" presetSubtype="0" fill="hold" grpId="0" nodeType="withEffect">
                                  <p:stCondLst>
                                    <p:cond delay="1080"/>
                                  </p:stCondLst>
                                  <p:childTnLst>
                                    <p:set>
                                      <p:cBhvr>
                                        <p:cTn id="75" dur="1" fill="hold">
                                          <p:stCondLst>
                                            <p:cond delay="0"/>
                                          </p:stCondLst>
                                        </p:cTn>
                                        <p:tgtEl>
                                          <p:spTgt spid="28"/>
                                        </p:tgtEl>
                                        <p:attrNameLst>
                                          <p:attrName>style.visibility</p:attrName>
                                        </p:attrNameLst>
                                      </p:cBhvr>
                                      <p:to>
                                        <p:strVal val="visible"/>
                                      </p:to>
                                    </p:set>
                                    <p:animEffect transition="in" filter="fade">
                                      <p:cBhvr>
                                        <p:cTn id="76" dur="500"/>
                                        <p:tgtEl>
                                          <p:spTgt spid="28"/>
                                        </p:tgtEl>
                                      </p:cBhvr>
                                    </p:animEffect>
                                  </p:childTnLst>
                                </p:cTn>
                              </p:par>
                              <p:par>
                                <p:cTn id="77" presetID="10" presetClass="entr" presetSubtype="0" fill="hold" grpId="0" nodeType="withEffect">
                                  <p:stCondLst>
                                    <p:cond delay="1080"/>
                                  </p:stCondLst>
                                  <p:childTnLst>
                                    <p:set>
                                      <p:cBhvr>
                                        <p:cTn id="78" dur="1" fill="hold">
                                          <p:stCondLst>
                                            <p:cond delay="0"/>
                                          </p:stCondLst>
                                        </p:cTn>
                                        <p:tgtEl>
                                          <p:spTgt spid="29"/>
                                        </p:tgtEl>
                                        <p:attrNameLst>
                                          <p:attrName>style.visibility</p:attrName>
                                        </p:attrNameLst>
                                      </p:cBhvr>
                                      <p:to>
                                        <p:strVal val="visible"/>
                                      </p:to>
                                    </p:set>
                                    <p:animEffect transition="in" filter="fade">
                                      <p:cBhvr>
                                        <p:cTn id="79" dur="500"/>
                                        <p:tgtEl>
                                          <p:spTgt spid="29"/>
                                        </p:tgtEl>
                                      </p:cBhvr>
                                    </p:animEffect>
                                  </p:childTnLst>
                                </p:cTn>
                              </p:par>
                              <p:par>
                                <p:cTn id="80" presetID="10" presetClass="entr" presetSubtype="0" fill="hold" grpId="0" nodeType="withEffect">
                                  <p:stCondLst>
                                    <p:cond delay="1260"/>
                                  </p:stCondLst>
                                  <p:childTnLst>
                                    <p:set>
                                      <p:cBhvr>
                                        <p:cTn id="81" dur="1" fill="hold">
                                          <p:stCondLst>
                                            <p:cond delay="0"/>
                                          </p:stCondLst>
                                        </p:cTn>
                                        <p:tgtEl>
                                          <p:spTgt spid="30"/>
                                        </p:tgtEl>
                                        <p:attrNameLst>
                                          <p:attrName>style.visibility</p:attrName>
                                        </p:attrNameLst>
                                      </p:cBhvr>
                                      <p:to>
                                        <p:strVal val="visible"/>
                                      </p:to>
                                    </p:set>
                                    <p:animEffect transition="in" filter="fade">
                                      <p:cBhvr>
                                        <p:cTn id="82" dur="500"/>
                                        <p:tgtEl>
                                          <p:spTgt spid="30"/>
                                        </p:tgtEl>
                                      </p:cBhvr>
                                    </p:animEffect>
                                  </p:childTnLst>
                                </p:cTn>
                              </p:par>
                              <p:par>
                                <p:cTn id="83" presetID="10" presetClass="entr" presetSubtype="0" fill="hold" grpId="0" nodeType="withEffect">
                                  <p:stCondLst>
                                    <p:cond delay="1260"/>
                                  </p:stCondLst>
                                  <p:childTnLst>
                                    <p:set>
                                      <p:cBhvr>
                                        <p:cTn id="84" dur="1" fill="hold">
                                          <p:stCondLst>
                                            <p:cond delay="0"/>
                                          </p:stCondLst>
                                        </p:cTn>
                                        <p:tgtEl>
                                          <p:spTgt spid="31"/>
                                        </p:tgtEl>
                                        <p:attrNameLst>
                                          <p:attrName>style.visibility</p:attrName>
                                        </p:attrNameLst>
                                      </p:cBhvr>
                                      <p:to>
                                        <p:strVal val="visible"/>
                                      </p:to>
                                    </p:set>
                                    <p:animEffect transition="in" filter="fade">
                                      <p:cBhvr>
                                        <p:cTn id="85" dur="500"/>
                                        <p:tgtEl>
                                          <p:spTgt spid="31"/>
                                        </p:tgtEl>
                                      </p:cBhvr>
                                    </p:animEffect>
                                  </p:childTnLst>
                                </p:cTn>
                              </p:par>
                              <p:par>
                                <p:cTn id="86" presetID="10" presetClass="entr" presetSubtype="0" fill="hold" grpId="0" nodeType="withEffect">
                                  <p:stCondLst>
                                    <p:cond delay="1260"/>
                                  </p:stCondLst>
                                  <p:childTnLst>
                                    <p:set>
                                      <p:cBhvr>
                                        <p:cTn id="87" dur="1" fill="hold">
                                          <p:stCondLst>
                                            <p:cond delay="0"/>
                                          </p:stCondLst>
                                        </p:cTn>
                                        <p:tgtEl>
                                          <p:spTgt spid="32"/>
                                        </p:tgtEl>
                                        <p:attrNameLst>
                                          <p:attrName>style.visibility</p:attrName>
                                        </p:attrNameLst>
                                      </p:cBhvr>
                                      <p:to>
                                        <p:strVal val="visible"/>
                                      </p:to>
                                    </p:set>
                                    <p:animEffect transition="in" filter="fade">
                                      <p:cBhvr>
                                        <p:cTn id="88" dur="500"/>
                                        <p:tgtEl>
                                          <p:spTgt spid="32"/>
                                        </p:tgtEl>
                                      </p:cBhvr>
                                    </p:animEffect>
                                  </p:childTnLst>
                                </p:cTn>
                              </p:par>
                              <p:par>
                                <p:cTn id="89" presetID="10" presetClass="entr" presetSubtype="0" fill="hold" grpId="0" nodeType="withEffect">
                                  <p:stCondLst>
                                    <p:cond delay="1260"/>
                                  </p:stCondLst>
                                  <p:childTnLst>
                                    <p:set>
                                      <p:cBhvr>
                                        <p:cTn id="90" dur="1" fill="hold">
                                          <p:stCondLst>
                                            <p:cond delay="0"/>
                                          </p:stCondLst>
                                        </p:cTn>
                                        <p:tgtEl>
                                          <p:spTgt spid="33"/>
                                        </p:tgtEl>
                                        <p:attrNameLst>
                                          <p:attrName>style.visibility</p:attrName>
                                        </p:attrNameLst>
                                      </p:cBhvr>
                                      <p:to>
                                        <p:strVal val="visible"/>
                                      </p:to>
                                    </p:set>
                                    <p:animEffect transition="in" filter="fade">
                                      <p:cBhvr>
                                        <p:cTn id="91" dur="500"/>
                                        <p:tgtEl>
                                          <p:spTgt spid="33"/>
                                        </p:tgtEl>
                                      </p:cBhvr>
                                    </p:animEffect>
                                  </p:childTnLst>
                                </p:cTn>
                              </p:par>
                              <p:par>
                                <p:cTn id="92" presetID="10" presetClass="entr" presetSubtype="0" fill="hold" grpId="0" nodeType="withEffect">
                                  <p:stCondLst>
                                    <p:cond delay="1260"/>
                                  </p:stCondLst>
                                  <p:childTnLst>
                                    <p:set>
                                      <p:cBhvr>
                                        <p:cTn id="93" dur="1" fill="hold">
                                          <p:stCondLst>
                                            <p:cond delay="0"/>
                                          </p:stCondLst>
                                        </p:cTn>
                                        <p:tgtEl>
                                          <p:spTgt spid="34"/>
                                        </p:tgtEl>
                                        <p:attrNameLst>
                                          <p:attrName>style.visibility</p:attrName>
                                        </p:attrNameLst>
                                      </p:cBhvr>
                                      <p:to>
                                        <p:strVal val="visible"/>
                                      </p:to>
                                    </p:set>
                                    <p:animEffect transition="in" filter="fade">
                                      <p:cBhvr>
                                        <p:cTn id="94" dur="500"/>
                                        <p:tgtEl>
                                          <p:spTgt spid="34"/>
                                        </p:tgtEl>
                                      </p:cBhvr>
                                    </p:animEffect>
                                  </p:childTnLst>
                                </p:cTn>
                              </p:par>
                              <p:par>
                                <p:cTn id="95" presetID="10" presetClass="entr" presetSubtype="0" fill="hold" grpId="0" nodeType="withEffect">
                                  <p:stCondLst>
                                    <p:cond delay="1260"/>
                                  </p:stCondLst>
                                  <p:childTnLst>
                                    <p:set>
                                      <p:cBhvr>
                                        <p:cTn id="96" dur="1" fill="hold">
                                          <p:stCondLst>
                                            <p:cond delay="0"/>
                                          </p:stCondLst>
                                        </p:cTn>
                                        <p:tgtEl>
                                          <p:spTgt spid="35"/>
                                        </p:tgtEl>
                                        <p:attrNameLst>
                                          <p:attrName>style.visibility</p:attrName>
                                        </p:attrNameLst>
                                      </p:cBhvr>
                                      <p:to>
                                        <p:strVal val="visible"/>
                                      </p:to>
                                    </p:set>
                                    <p:animEffect transition="in" filter="fade">
                                      <p:cBhvr>
                                        <p:cTn id="97" dur="500"/>
                                        <p:tgtEl>
                                          <p:spTgt spid="35"/>
                                        </p:tgtEl>
                                      </p:cBhvr>
                                    </p:animEffect>
                                  </p:childTnLst>
                                </p:cTn>
                              </p:par>
                              <p:par>
                                <p:cTn id="98" presetID="10" presetClass="entr" presetSubtype="0" fill="hold" grpId="0" nodeType="withEffect">
                                  <p:stCondLst>
                                    <p:cond delay="1260"/>
                                  </p:stCondLst>
                                  <p:childTnLst>
                                    <p:set>
                                      <p:cBhvr>
                                        <p:cTn id="99" dur="1" fill="hold">
                                          <p:stCondLst>
                                            <p:cond delay="0"/>
                                          </p:stCondLst>
                                        </p:cTn>
                                        <p:tgtEl>
                                          <p:spTgt spid="36"/>
                                        </p:tgtEl>
                                        <p:attrNameLst>
                                          <p:attrName>style.visibility</p:attrName>
                                        </p:attrNameLst>
                                      </p:cBhvr>
                                      <p:to>
                                        <p:strVal val="visible"/>
                                      </p:to>
                                    </p:set>
                                    <p:animEffect transition="in" filter="fade">
                                      <p:cBhvr>
                                        <p:cTn id="100" dur="500"/>
                                        <p:tgtEl>
                                          <p:spTgt spid="36"/>
                                        </p:tgtEl>
                                      </p:cBhvr>
                                    </p:animEffect>
                                  </p:childTnLst>
                                </p:cTn>
                              </p:par>
                              <p:par>
                                <p:cTn id="101" presetID="10" presetClass="entr" presetSubtype="0" fill="hold" grpId="0" nodeType="withEffect">
                                  <p:stCondLst>
                                    <p:cond delay="1260"/>
                                  </p:stCondLst>
                                  <p:childTnLst>
                                    <p:set>
                                      <p:cBhvr>
                                        <p:cTn id="102" dur="1" fill="hold">
                                          <p:stCondLst>
                                            <p:cond delay="0"/>
                                          </p:stCondLst>
                                        </p:cTn>
                                        <p:tgtEl>
                                          <p:spTgt spid="37"/>
                                        </p:tgtEl>
                                        <p:attrNameLst>
                                          <p:attrName>style.visibility</p:attrName>
                                        </p:attrNameLst>
                                      </p:cBhvr>
                                      <p:to>
                                        <p:strVal val="visible"/>
                                      </p:to>
                                    </p:set>
                                    <p:animEffect transition="in" filter="fade">
                                      <p:cBhvr>
                                        <p:cTn id="103" dur="500"/>
                                        <p:tgtEl>
                                          <p:spTgt spid="37"/>
                                        </p:tgtEl>
                                      </p:cBhvr>
                                    </p:animEffect>
                                  </p:childTnLst>
                                </p:cTn>
                              </p:par>
                              <p:par>
                                <p:cTn id="104" presetID="10" presetClass="entr" presetSubtype="0" fill="hold" grpId="0" nodeType="withEffect">
                                  <p:stCondLst>
                                    <p:cond delay="1260"/>
                                  </p:stCondLst>
                                  <p:childTnLst>
                                    <p:set>
                                      <p:cBhvr>
                                        <p:cTn id="105" dur="1" fill="hold">
                                          <p:stCondLst>
                                            <p:cond delay="0"/>
                                          </p:stCondLst>
                                        </p:cTn>
                                        <p:tgtEl>
                                          <p:spTgt spid="38"/>
                                        </p:tgtEl>
                                        <p:attrNameLst>
                                          <p:attrName>style.visibility</p:attrName>
                                        </p:attrNameLst>
                                      </p:cBhvr>
                                      <p:to>
                                        <p:strVal val="visible"/>
                                      </p:to>
                                    </p:set>
                                    <p:animEffect transition="in" filter="fade">
                                      <p:cBhvr>
                                        <p:cTn id="106" dur="500"/>
                                        <p:tgtEl>
                                          <p:spTgt spid="38"/>
                                        </p:tgtEl>
                                      </p:cBhvr>
                                    </p:animEffect>
                                  </p:childTnLst>
                                </p:cTn>
                              </p:par>
                              <p:par>
                                <p:cTn id="107" presetID="10" presetClass="entr" presetSubtype="0" fill="hold" grpId="0" nodeType="withEffect">
                                  <p:stCondLst>
                                    <p:cond delay="1260"/>
                                  </p:stCondLst>
                                  <p:childTnLst>
                                    <p:set>
                                      <p:cBhvr>
                                        <p:cTn id="108" dur="1" fill="hold">
                                          <p:stCondLst>
                                            <p:cond delay="0"/>
                                          </p:stCondLst>
                                        </p:cTn>
                                        <p:tgtEl>
                                          <p:spTgt spid="39"/>
                                        </p:tgtEl>
                                        <p:attrNameLst>
                                          <p:attrName>style.visibility</p:attrName>
                                        </p:attrNameLst>
                                      </p:cBhvr>
                                      <p:to>
                                        <p:strVal val="visible"/>
                                      </p:to>
                                    </p:set>
                                    <p:animEffect transition="in" filter="fade">
                                      <p:cBhvr>
                                        <p:cTn id="109" dur="500"/>
                                        <p:tgtEl>
                                          <p:spTgt spid="39"/>
                                        </p:tgtEl>
                                      </p:cBhvr>
                                    </p:animEffect>
                                  </p:childTnLst>
                                </p:cTn>
                              </p:par>
                              <p:par>
                                <p:cTn id="110" presetID="10" presetClass="entr" presetSubtype="0" fill="hold" grpId="0" nodeType="withEffect">
                                  <p:stCondLst>
                                    <p:cond delay="1260"/>
                                  </p:stCondLst>
                                  <p:childTnLst>
                                    <p:set>
                                      <p:cBhvr>
                                        <p:cTn id="111" dur="1" fill="hold">
                                          <p:stCondLst>
                                            <p:cond delay="0"/>
                                          </p:stCondLst>
                                        </p:cTn>
                                        <p:tgtEl>
                                          <p:spTgt spid="40"/>
                                        </p:tgtEl>
                                        <p:attrNameLst>
                                          <p:attrName>style.visibility</p:attrName>
                                        </p:attrNameLst>
                                      </p:cBhvr>
                                      <p:to>
                                        <p:strVal val="visible"/>
                                      </p:to>
                                    </p:set>
                                    <p:animEffect transition="in" filter="fade">
                                      <p:cBhvr>
                                        <p:cTn id="112" dur="500"/>
                                        <p:tgtEl>
                                          <p:spTgt spid="40"/>
                                        </p:tgtEl>
                                      </p:cBhvr>
                                    </p:animEffect>
                                  </p:childTnLst>
                                </p:cTn>
                              </p:par>
                              <p:par>
                                <p:cTn id="113" presetID="10" presetClass="entr" presetSubtype="0" fill="hold" grpId="0" nodeType="withEffect">
                                  <p:stCondLst>
                                    <p:cond delay="1260"/>
                                  </p:stCondLst>
                                  <p:childTnLst>
                                    <p:set>
                                      <p:cBhvr>
                                        <p:cTn id="114" dur="1" fill="hold">
                                          <p:stCondLst>
                                            <p:cond delay="0"/>
                                          </p:stCondLst>
                                        </p:cTn>
                                        <p:tgtEl>
                                          <p:spTgt spid="41"/>
                                        </p:tgtEl>
                                        <p:attrNameLst>
                                          <p:attrName>style.visibility</p:attrName>
                                        </p:attrNameLst>
                                      </p:cBhvr>
                                      <p:to>
                                        <p:strVal val="visible"/>
                                      </p:to>
                                    </p:set>
                                    <p:animEffect transition="in" filter="fade">
                                      <p:cBhvr>
                                        <p:cTn id="115" dur="500"/>
                                        <p:tgtEl>
                                          <p:spTgt spid="41"/>
                                        </p:tgtEl>
                                      </p:cBhvr>
                                    </p:animEffect>
                                  </p:childTnLst>
                                </p:cTn>
                              </p:par>
                              <p:par>
                                <p:cTn id="116" presetID="10" presetClass="entr" presetSubtype="0" fill="hold" grpId="0" nodeType="withEffect">
                                  <p:stCondLst>
                                    <p:cond delay="1260"/>
                                  </p:stCondLst>
                                  <p:childTnLst>
                                    <p:set>
                                      <p:cBhvr>
                                        <p:cTn id="117" dur="1" fill="hold">
                                          <p:stCondLst>
                                            <p:cond delay="0"/>
                                          </p:stCondLst>
                                        </p:cTn>
                                        <p:tgtEl>
                                          <p:spTgt spid="42"/>
                                        </p:tgtEl>
                                        <p:attrNameLst>
                                          <p:attrName>style.visibility</p:attrName>
                                        </p:attrNameLst>
                                      </p:cBhvr>
                                      <p:to>
                                        <p:strVal val="visible"/>
                                      </p:to>
                                    </p:set>
                                    <p:animEffect transition="in" filter="fade">
                                      <p:cBhvr>
                                        <p:cTn id="118" dur="500"/>
                                        <p:tgtEl>
                                          <p:spTgt spid="42"/>
                                        </p:tgtEl>
                                      </p:cBhvr>
                                    </p:animEffect>
                                  </p:childTnLst>
                                </p:cTn>
                              </p:par>
                              <p:par>
                                <p:cTn id="119" presetID="10" presetClass="entr" presetSubtype="0" fill="hold" grpId="0" nodeType="withEffect">
                                  <p:stCondLst>
                                    <p:cond delay="1260"/>
                                  </p:stCondLst>
                                  <p:childTnLst>
                                    <p:set>
                                      <p:cBhvr>
                                        <p:cTn id="120" dur="1" fill="hold">
                                          <p:stCondLst>
                                            <p:cond delay="0"/>
                                          </p:stCondLst>
                                        </p:cTn>
                                        <p:tgtEl>
                                          <p:spTgt spid="43"/>
                                        </p:tgtEl>
                                        <p:attrNameLst>
                                          <p:attrName>style.visibility</p:attrName>
                                        </p:attrNameLst>
                                      </p:cBhvr>
                                      <p:to>
                                        <p:strVal val="visible"/>
                                      </p:to>
                                    </p:set>
                                    <p:animEffect transition="in" filter="fade">
                                      <p:cBhvr>
                                        <p:cTn id="121" dur="500"/>
                                        <p:tgtEl>
                                          <p:spTgt spid="43"/>
                                        </p:tgtEl>
                                      </p:cBhvr>
                                    </p:animEffect>
                                  </p:childTnLst>
                                </p:cTn>
                              </p:par>
                              <p:par>
                                <p:cTn id="122" presetID="10" presetClass="entr" presetSubtype="0" fill="hold" grpId="0" nodeType="withEffect">
                                  <p:stCondLst>
                                    <p:cond delay="1260"/>
                                  </p:stCondLst>
                                  <p:childTnLst>
                                    <p:set>
                                      <p:cBhvr>
                                        <p:cTn id="123" dur="1" fill="hold">
                                          <p:stCondLst>
                                            <p:cond delay="0"/>
                                          </p:stCondLst>
                                        </p:cTn>
                                        <p:tgtEl>
                                          <p:spTgt spid="44"/>
                                        </p:tgtEl>
                                        <p:attrNameLst>
                                          <p:attrName>style.visibility</p:attrName>
                                        </p:attrNameLst>
                                      </p:cBhvr>
                                      <p:to>
                                        <p:strVal val="visible"/>
                                      </p:to>
                                    </p:set>
                                    <p:animEffect transition="in" filter="fade">
                                      <p:cBhvr>
                                        <p:cTn id="124" dur="500"/>
                                        <p:tgtEl>
                                          <p:spTgt spid="44"/>
                                        </p:tgtEl>
                                      </p:cBhvr>
                                    </p:animEffect>
                                  </p:childTnLst>
                                </p:cTn>
                              </p:par>
                              <p:par>
                                <p:cTn id="125" presetID="10" presetClass="entr" presetSubtype="0" fill="hold" grpId="0" nodeType="withEffect">
                                  <p:stCondLst>
                                    <p:cond delay="1260"/>
                                  </p:stCondLst>
                                  <p:childTnLst>
                                    <p:set>
                                      <p:cBhvr>
                                        <p:cTn id="126" dur="1" fill="hold">
                                          <p:stCondLst>
                                            <p:cond delay="0"/>
                                          </p:stCondLst>
                                        </p:cTn>
                                        <p:tgtEl>
                                          <p:spTgt spid="45"/>
                                        </p:tgtEl>
                                        <p:attrNameLst>
                                          <p:attrName>style.visibility</p:attrName>
                                        </p:attrNameLst>
                                      </p:cBhvr>
                                      <p:to>
                                        <p:strVal val="visible"/>
                                      </p:to>
                                    </p:set>
                                    <p:animEffect transition="in" filter="fade">
                                      <p:cBhvr>
                                        <p:cTn id="127" dur="500"/>
                                        <p:tgtEl>
                                          <p:spTgt spid="45"/>
                                        </p:tgtEl>
                                      </p:cBhvr>
                                    </p:animEffect>
                                  </p:childTnLst>
                                </p:cTn>
                              </p:par>
                              <p:par>
                                <p:cTn id="128" presetID="10" presetClass="entr" presetSubtype="0" fill="hold" grpId="0" nodeType="withEffect">
                                  <p:stCondLst>
                                    <p:cond delay="1260"/>
                                  </p:stCondLst>
                                  <p:childTnLst>
                                    <p:set>
                                      <p:cBhvr>
                                        <p:cTn id="129" dur="1" fill="hold">
                                          <p:stCondLst>
                                            <p:cond delay="0"/>
                                          </p:stCondLst>
                                        </p:cTn>
                                        <p:tgtEl>
                                          <p:spTgt spid="46"/>
                                        </p:tgtEl>
                                        <p:attrNameLst>
                                          <p:attrName>style.visibility</p:attrName>
                                        </p:attrNameLst>
                                      </p:cBhvr>
                                      <p:to>
                                        <p:strVal val="visible"/>
                                      </p:to>
                                    </p:set>
                                    <p:animEffect transition="in" filter="fade">
                                      <p:cBhvr>
                                        <p:cTn id="130" dur="500"/>
                                        <p:tgtEl>
                                          <p:spTgt spid="46"/>
                                        </p:tgtEl>
                                      </p:cBhvr>
                                    </p:animEffect>
                                  </p:childTnLst>
                                </p:cTn>
                              </p:par>
                              <p:par>
                                <p:cTn id="131" presetID="10" presetClass="entr" presetSubtype="0" fill="hold" grpId="0" nodeType="withEffect">
                                  <p:stCondLst>
                                    <p:cond delay="1260"/>
                                  </p:stCondLst>
                                  <p:childTnLst>
                                    <p:set>
                                      <p:cBhvr>
                                        <p:cTn id="132" dur="1" fill="hold">
                                          <p:stCondLst>
                                            <p:cond delay="0"/>
                                          </p:stCondLst>
                                        </p:cTn>
                                        <p:tgtEl>
                                          <p:spTgt spid="47"/>
                                        </p:tgtEl>
                                        <p:attrNameLst>
                                          <p:attrName>style.visibility</p:attrName>
                                        </p:attrNameLst>
                                      </p:cBhvr>
                                      <p:to>
                                        <p:strVal val="visible"/>
                                      </p:to>
                                    </p:set>
                                    <p:animEffect transition="in" filter="fade">
                                      <p:cBhvr>
                                        <p:cTn id="133" dur="500"/>
                                        <p:tgtEl>
                                          <p:spTgt spid="47"/>
                                        </p:tgtEl>
                                      </p:cBhvr>
                                    </p:animEffect>
                                  </p:childTnLst>
                                </p:cTn>
                              </p:par>
                              <p:par>
                                <p:cTn id="134" presetID="10" presetClass="entr" presetSubtype="0" fill="hold" grpId="0" nodeType="withEffect">
                                  <p:stCondLst>
                                    <p:cond delay="1260"/>
                                  </p:stCondLst>
                                  <p:childTnLst>
                                    <p:set>
                                      <p:cBhvr>
                                        <p:cTn id="135" dur="1" fill="hold">
                                          <p:stCondLst>
                                            <p:cond delay="0"/>
                                          </p:stCondLst>
                                        </p:cTn>
                                        <p:tgtEl>
                                          <p:spTgt spid="48"/>
                                        </p:tgtEl>
                                        <p:attrNameLst>
                                          <p:attrName>style.visibility</p:attrName>
                                        </p:attrNameLst>
                                      </p:cBhvr>
                                      <p:to>
                                        <p:strVal val="visible"/>
                                      </p:to>
                                    </p:set>
                                    <p:animEffect transition="in" filter="fade">
                                      <p:cBhvr>
                                        <p:cTn id="136" dur="500"/>
                                        <p:tgtEl>
                                          <p:spTgt spid="48"/>
                                        </p:tgtEl>
                                      </p:cBhvr>
                                    </p:animEffect>
                                  </p:childTnLst>
                                </p:cTn>
                              </p:par>
                              <p:par>
                                <p:cTn id="137" presetID="10" presetClass="entr" presetSubtype="0" fill="hold" grpId="0" nodeType="withEffect">
                                  <p:stCondLst>
                                    <p:cond delay="1260"/>
                                  </p:stCondLst>
                                  <p:childTnLst>
                                    <p:set>
                                      <p:cBhvr>
                                        <p:cTn id="138" dur="1" fill="hold">
                                          <p:stCondLst>
                                            <p:cond delay="0"/>
                                          </p:stCondLst>
                                        </p:cTn>
                                        <p:tgtEl>
                                          <p:spTgt spid="49"/>
                                        </p:tgtEl>
                                        <p:attrNameLst>
                                          <p:attrName>style.visibility</p:attrName>
                                        </p:attrNameLst>
                                      </p:cBhvr>
                                      <p:to>
                                        <p:strVal val="visible"/>
                                      </p:to>
                                    </p:set>
                                    <p:animEffect transition="in" filter="fade">
                                      <p:cBhvr>
                                        <p:cTn id="139" dur="500"/>
                                        <p:tgtEl>
                                          <p:spTgt spid="49"/>
                                        </p:tgtEl>
                                      </p:cBhvr>
                                    </p:animEffect>
                                  </p:childTnLst>
                                </p:cTn>
                              </p:par>
                              <p:par>
                                <p:cTn id="140" presetID="10" presetClass="entr" presetSubtype="0" fill="hold" grpId="0" nodeType="withEffect">
                                  <p:stCondLst>
                                    <p:cond delay="1260"/>
                                  </p:stCondLst>
                                  <p:childTnLst>
                                    <p:set>
                                      <p:cBhvr>
                                        <p:cTn id="141" dur="1" fill="hold">
                                          <p:stCondLst>
                                            <p:cond delay="0"/>
                                          </p:stCondLst>
                                        </p:cTn>
                                        <p:tgtEl>
                                          <p:spTgt spid="50"/>
                                        </p:tgtEl>
                                        <p:attrNameLst>
                                          <p:attrName>style.visibility</p:attrName>
                                        </p:attrNameLst>
                                      </p:cBhvr>
                                      <p:to>
                                        <p:strVal val="visible"/>
                                      </p:to>
                                    </p:set>
                                    <p:animEffect transition="in" filter="fade">
                                      <p:cBhvr>
                                        <p:cTn id="142" dur="500"/>
                                        <p:tgtEl>
                                          <p:spTgt spid="50"/>
                                        </p:tgtEl>
                                      </p:cBhvr>
                                    </p:animEffect>
                                  </p:childTnLst>
                                </p:cTn>
                              </p:par>
                              <p:par>
                                <p:cTn id="143" presetID="10" presetClass="entr" presetSubtype="0" fill="hold" grpId="0" nodeType="withEffect">
                                  <p:stCondLst>
                                    <p:cond delay="1260"/>
                                  </p:stCondLst>
                                  <p:childTnLst>
                                    <p:set>
                                      <p:cBhvr>
                                        <p:cTn id="144" dur="1" fill="hold">
                                          <p:stCondLst>
                                            <p:cond delay="0"/>
                                          </p:stCondLst>
                                        </p:cTn>
                                        <p:tgtEl>
                                          <p:spTgt spid="51"/>
                                        </p:tgtEl>
                                        <p:attrNameLst>
                                          <p:attrName>style.visibility</p:attrName>
                                        </p:attrNameLst>
                                      </p:cBhvr>
                                      <p:to>
                                        <p:strVal val="visible"/>
                                      </p:to>
                                    </p:set>
                                    <p:animEffect transition="in" filter="fade">
                                      <p:cBhvr>
                                        <p:cTn id="145" dur="500"/>
                                        <p:tgtEl>
                                          <p:spTgt spid="51"/>
                                        </p:tgtEl>
                                      </p:cBhvr>
                                    </p:animEffect>
                                  </p:childTnLst>
                                </p:cTn>
                              </p:par>
                              <p:par>
                                <p:cTn id="146" presetID="10" presetClass="entr" presetSubtype="0" fill="hold" grpId="0" nodeType="withEffect">
                                  <p:stCondLst>
                                    <p:cond delay="1260"/>
                                  </p:stCondLst>
                                  <p:childTnLst>
                                    <p:set>
                                      <p:cBhvr>
                                        <p:cTn id="147" dur="1" fill="hold">
                                          <p:stCondLst>
                                            <p:cond delay="0"/>
                                          </p:stCondLst>
                                        </p:cTn>
                                        <p:tgtEl>
                                          <p:spTgt spid="52"/>
                                        </p:tgtEl>
                                        <p:attrNameLst>
                                          <p:attrName>style.visibility</p:attrName>
                                        </p:attrNameLst>
                                      </p:cBhvr>
                                      <p:to>
                                        <p:strVal val="visible"/>
                                      </p:to>
                                    </p:set>
                                    <p:animEffect transition="in" filter="fade">
                                      <p:cBhvr>
                                        <p:cTn id="148" dur="500"/>
                                        <p:tgtEl>
                                          <p:spTgt spid="52"/>
                                        </p:tgtEl>
                                      </p:cBhvr>
                                    </p:animEffect>
                                  </p:childTnLst>
                                </p:cTn>
                              </p:par>
                              <p:par>
                                <p:cTn id="149" presetID="10" presetClass="entr" presetSubtype="0" fill="hold" grpId="0" nodeType="withEffect">
                                  <p:stCondLst>
                                    <p:cond delay="1260"/>
                                  </p:stCondLst>
                                  <p:childTnLst>
                                    <p:set>
                                      <p:cBhvr>
                                        <p:cTn id="150" dur="1" fill="hold">
                                          <p:stCondLst>
                                            <p:cond delay="0"/>
                                          </p:stCondLst>
                                        </p:cTn>
                                        <p:tgtEl>
                                          <p:spTgt spid="53"/>
                                        </p:tgtEl>
                                        <p:attrNameLst>
                                          <p:attrName>style.visibility</p:attrName>
                                        </p:attrNameLst>
                                      </p:cBhvr>
                                      <p:to>
                                        <p:strVal val="visible"/>
                                      </p:to>
                                    </p:set>
                                    <p:animEffect transition="in" filter="fade">
                                      <p:cBhvr>
                                        <p:cTn id="151" dur="500"/>
                                        <p:tgtEl>
                                          <p:spTgt spid="53"/>
                                        </p:tgtEl>
                                      </p:cBhvr>
                                    </p:animEffect>
                                  </p:childTnLst>
                                </p:cTn>
                              </p:par>
                              <p:par>
                                <p:cTn id="152" presetID="10" presetClass="entr" presetSubtype="0" fill="hold" grpId="0" nodeType="withEffect">
                                  <p:stCondLst>
                                    <p:cond delay="1440"/>
                                  </p:stCondLst>
                                  <p:childTnLst>
                                    <p:set>
                                      <p:cBhvr>
                                        <p:cTn id="153" dur="1" fill="hold">
                                          <p:stCondLst>
                                            <p:cond delay="0"/>
                                          </p:stCondLst>
                                        </p:cTn>
                                        <p:tgtEl>
                                          <p:spTgt spid="54"/>
                                        </p:tgtEl>
                                        <p:attrNameLst>
                                          <p:attrName>style.visibility</p:attrName>
                                        </p:attrNameLst>
                                      </p:cBhvr>
                                      <p:to>
                                        <p:strVal val="visible"/>
                                      </p:to>
                                    </p:set>
                                    <p:animEffect transition="in" filter="fade">
                                      <p:cBhvr>
                                        <p:cTn id="154" dur="500"/>
                                        <p:tgtEl>
                                          <p:spTgt spid="54"/>
                                        </p:tgtEl>
                                      </p:cBhvr>
                                    </p:animEffect>
                                  </p:childTnLst>
                                </p:cTn>
                              </p:par>
                              <p:par>
                                <p:cTn id="155" presetID="10" presetClass="entr" presetSubtype="0" fill="hold" grpId="0" nodeType="withEffect">
                                  <p:stCondLst>
                                    <p:cond delay="1440"/>
                                  </p:stCondLst>
                                  <p:childTnLst>
                                    <p:set>
                                      <p:cBhvr>
                                        <p:cTn id="156" dur="1" fill="hold">
                                          <p:stCondLst>
                                            <p:cond delay="0"/>
                                          </p:stCondLst>
                                        </p:cTn>
                                        <p:tgtEl>
                                          <p:spTgt spid="55"/>
                                        </p:tgtEl>
                                        <p:attrNameLst>
                                          <p:attrName>style.visibility</p:attrName>
                                        </p:attrNameLst>
                                      </p:cBhvr>
                                      <p:to>
                                        <p:strVal val="visible"/>
                                      </p:to>
                                    </p:set>
                                    <p:animEffect transition="in" filter="fade">
                                      <p:cBhvr>
                                        <p:cTn id="157" dur="500"/>
                                        <p:tgtEl>
                                          <p:spTgt spid="55"/>
                                        </p:tgtEl>
                                      </p:cBhvr>
                                    </p:animEffect>
                                  </p:childTnLst>
                                </p:cTn>
                              </p:par>
                              <p:par>
                                <p:cTn id="158" presetID="10" presetClass="entr" presetSubtype="0" fill="hold" grpId="0" nodeType="withEffect">
                                  <p:stCondLst>
                                    <p:cond delay="1440"/>
                                  </p:stCondLst>
                                  <p:childTnLst>
                                    <p:set>
                                      <p:cBhvr>
                                        <p:cTn id="159" dur="1" fill="hold">
                                          <p:stCondLst>
                                            <p:cond delay="0"/>
                                          </p:stCondLst>
                                        </p:cTn>
                                        <p:tgtEl>
                                          <p:spTgt spid="56"/>
                                        </p:tgtEl>
                                        <p:attrNameLst>
                                          <p:attrName>style.visibility</p:attrName>
                                        </p:attrNameLst>
                                      </p:cBhvr>
                                      <p:to>
                                        <p:strVal val="visible"/>
                                      </p:to>
                                    </p:set>
                                    <p:animEffect transition="in" filter="fade">
                                      <p:cBhvr>
                                        <p:cTn id="160" dur="500"/>
                                        <p:tgtEl>
                                          <p:spTgt spid="5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P spid="44" grpId="0" animBg="1"/>
      <p:bldP spid="45" grpId="0" animBg="1"/>
      <p:bldP spid="46" grpId="0" animBg="1"/>
      <p:bldP spid="47" grpId="0" animBg="1"/>
      <p:bldP spid="48" grpId="0" animBg="1"/>
      <p:bldP spid="49" grpId="0" animBg="1"/>
      <p:bldP spid="50" grpId="0" animBg="1"/>
      <p:bldP spid="51" grpId="0" animBg="1"/>
      <p:bldP spid="52" grpId="0" animBg="1"/>
      <p:bldP spid="53" grpId="0" animBg="1"/>
      <p:bldP spid="54" grpId="0" animBg="1"/>
      <p:bldP spid="55" grpId="0" animBg="1"/>
      <p:bldP spid="56"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tmp/claude-0/-home-user-hosting/7c832a48-0979-56aa-9fdf-7d53efb9dc7a/scratchpad/build/imgd/logo-white.png">    </p:cNvPr>
          <p:cNvPicPr>
            <a:picLocks noChangeAspect="1"/>
          </p:cNvPicPr>
          <p:nvPr/>
        </p:nvPicPr>
        <p:blipFill>
          <a:blip r:embed="rId2"/>
          <a:stretch>
            <a:fillRect/>
          </a:stretch>
        </p:blipFill>
        <p:spPr>
          <a:xfrm>
            <a:off x="10414000" y="355600"/>
            <a:ext cx="1270000" cy="304800"/>
          </a:xfrm>
          <a:prstGeom prst="rect">
            <a:avLst/>
          </a:prstGeom>
        </p:spPr>
      </p:pic>
      <p:sp>
        <p:nvSpPr>
          <p:cNvPr id="3" name="Text 0"/>
          <p:cNvSpPr/>
          <p:nvPr/>
        </p:nvSpPr>
        <p:spPr>
          <a:xfrm>
            <a:off x="177800" y="6134100"/>
            <a:ext cx="1270000" cy="571500"/>
          </a:xfrm>
          <a:prstGeom prst="rect">
            <a:avLst/>
          </a:prstGeom>
          <a:noFill/>
          <a:ln/>
        </p:spPr>
        <p:txBody>
          <a:bodyPr wrap="square" lIns="0" tIns="0" rIns="0" bIns="0" rtlCol="0" anchor="ctr"/>
          <a:lstStyle/>
          <a:p>
            <a:pPr indent="0" marL="0">
              <a:buNone/>
            </a:pPr>
            <a:r>
              <a:rPr lang="en-US" sz="3550" b="1" dirty="0">
                <a:solidFill>
                  <a:srgbClr val="3F8FF2">
                    <a:alpha val="30000"/>
                  </a:srgbClr>
                </a:solidFill>
                <a:latin typeface="Plus Jakarta Sans" pitchFamily="34" charset="0"/>
                <a:ea typeface="Plus Jakarta Sans" pitchFamily="34" charset="-122"/>
                <a:cs typeface="Plus Jakarta Sans" pitchFamily="34" charset="-120"/>
              </a:rPr>
              <a:t>04</a:t>
            </a:r>
            <a:endParaRPr lang="en-US" sz="3550" dirty="0"/>
          </a:p>
        </p:txBody>
      </p:sp>
      <p:sp>
        <p:nvSpPr>
          <p:cNvPr id="4" name="Text 1"/>
          <p:cNvSpPr txBox="1"/>
          <p:nvPr/>
        </p:nvSpPr>
        <p:spPr>
          <a:xfrm>
            <a:off x="6604000" y="6477000"/>
            <a:ext cx="5080000" cy="152400"/>
          </a:xfrm>
          <a:prstGeom prst="rect">
            <a:avLst/>
          </a:prstGeom>
          <a:noFill/>
          <a:ln/>
        </p:spPr>
        <p:txBody>
          <a:bodyPr wrap="square" lIns="0" tIns="0" rIns="0" bIns="0" rtlCol="0" anchor="t"/>
          <a:lstStyle/>
          <a:p>
            <a:pPr algn="r" indent="0" marL="0">
              <a:lnSpc>
                <a:spcPct val="112000"/>
              </a:lnSpc>
              <a:buNone/>
            </a:pPr>
            <a:r>
              <a:rPr lang="en-US" sz="750" dirty="0">
                <a:solidFill>
                  <a:srgbClr val="8C93A3"/>
                </a:solidFill>
                <a:latin typeface="Plus Jakarta Sans" pitchFamily="34" charset="0"/>
                <a:ea typeface="Plus Jakarta Sans" pitchFamily="34" charset="-122"/>
                <a:cs typeface="Plus Jakarta Sans" pitchFamily="34" charset="-120"/>
              </a:rPr>
              <a:t>Partner-Confidential · NDA · Programme description only; not a contract</a:t>
            </a:r>
            <a:endParaRPr lang="en-US" sz="750" dirty="0"/>
          </a:p>
        </p:txBody>
      </p:sp>
      <p:pic>
        <p:nvPicPr>
          <p:cNvPr id="5" name="anim-1-1" descr="/tmp/claude-0/-home-user-hosting/7c832a48-0979-56aa-9fdf-7d53efb9dc7a/scratchpad/build/imgd/pointer.png">    </p:cNvPr>
          <p:cNvPicPr>
            <a:picLocks noChangeAspect="1"/>
          </p:cNvPicPr>
          <p:nvPr/>
        </p:nvPicPr>
        <p:blipFill>
          <a:blip r:embed="rId3"/>
          <a:stretch>
            <a:fillRect/>
          </a:stretch>
        </p:blipFill>
        <p:spPr>
          <a:xfrm>
            <a:off x="508000" y="285750"/>
            <a:ext cx="100964" cy="203200"/>
          </a:xfrm>
          <a:prstGeom prst="rect">
            <a:avLst/>
          </a:prstGeom>
        </p:spPr>
      </p:pic>
      <p:sp>
        <p:nvSpPr>
          <p:cNvPr id="6" name="anim-1-2"/>
          <p:cNvSpPr txBox="1"/>
          <p:nvPr/>
        </p:nvSpPr>
        <p:spPr>
          <a:xfrm>
            <a:off x="673100" y="304800"/>
            <a:ext cx="8890000" cy="190500"/>
          </a:xfrm>
          <a:prstGeom prst="rect">
            <a:avLst/>
          </a:prstGeom>
          <a:noFill/>
          <a:ln/>
        </p:spPr>
        <p:txBody>
          <a:bodyPr wrap="square" lIns="0" tIns="0" rIns="0" bIns="0" rtlCol="0" anchor="t"/>
          <a:lstStyle/>
          <a:p>
            <a:pPr algn="l" indent="0" marL="0">
              <a:lnSpc>
                <a:spcPct val="112000"/>
              </a:lnSpc>
              <a:buNone/>
            </a:pPr>
            <a:r>
              <a:rPr lang="en-US" sz="1000" spc="200" kern="0" dirty="0">
                <a:solidFill>
                  <a:srgbClr val="15B6FF"/>
                </a:solidFill>
                <a:latin typeface="Plus Jakarta Sans SemiBold" pitchFamily="34" charset="0"/>
                <a:ea typeface="Plus Jakarta Sans SemiBold" pitchFamily="34" charset="-122"/>
                <a:cs typeface="Plus Jakarta Sans SemiBold" pitchFamily="34" charset="-120"/>
              </a:rPr>
              <a:t>THE OPPORTUNITY</a:t>
            </a:r>
            <a:endParaRPr lang="en-US" sz="1000" dirty="0"/>
          </a:p>
        </p:txBody>
      </p:sp>
      <p:sp>
        <p:nvSpPr>
          <p:cNvPr id="7" name="anim-1-3"/>
          <p:cNvSpPr txBox="1"/>
          <p:nvPr/>
        </p:nvSpPr>
        <p:spPr>
          <a:xfrm>
            <a:off x="508000" y="558800"/>
            <a:ext cx="9652000" cy="406400"/>
          </a:xfrm>
          <a:prstGeom prst="rect">
            <a:avLst/>
          </a:prstGeom>
          <a:noFill/>
          <a:ln/>
        </p:spPr>
        <p:txBody>
          <a:bodyPr wrap="square" lIns="0" tIns="0" rIns="0" bIns="0" rtlCol="0" anchor="ctr"/>
          <a:lstStyle/>
          <a:p>
            <a:pPr algn="l" indent="0" marL="0">
              <a:lnSpc>
                <a:spcPct val="112000"/>
              </a:lnSpc>
              <a:buNone/>
            </a:pPr>
            <a:r>
              <a:rPr lang="en-US" sz="2000" b="1" dirty="0">
                <a:solidFill>
                  <a:srgbClr val="FFFFFF"/>
                </a:solidFill>
                <a:latin typeface="Plus Jakarta Sans" pitchFamily="34" charset="0"/>
                <a:ea typeface="Plus Jakarta Sans" pitchFamily="34" charset="-122"/>
                <a:cs typeface="Plus Jakarta Sans" pitchFamily="34" charset="-120"/>
              </a:rPr>
              <a:t>Why partner with </a:t>
            </a:r>
            <a:pPr algn="l" indent="0" marL="0">
              <a:lnSpc>
                <a:spcPct val="112000"/>
              </a:lnSpc>
              <a:buNone/>
            </a:pPr>
            <a:r>
              <a:rPr lang="en-US" sz="2000" b="1" i="1" dirty="0">
                <a:solidFill>
                  <a:srgbClr val="15B6FF"/>
                </a:solidFill>
                <a:latin typeface="Plus Jakarta Sans Light" pitchFamily="34" charset="0"/>
                <a:ea typeface="Plus Jakarta Sans Light" pitchFamily="34" charset="-122"/>
                <a:cs typeface="Plus Jakarta Sans Light" pitchFamily="34" charset="-120"/>
              </a:rPr>
              <a:t>DignifyX</a:t>
            </a:r>
            <a:endParaRPr lang="en-US" sz="2000" dirty="0"/>
          </a:p>
        </p:txBody>
      </p:sp>
      <p:sp>
        <p:nvSpPr>
          <p:cNvPr id="8" name="anim-2-4"/>
          <p:cNvSpPr/>
          <p:nvPr/>
        </p:nvSpPr>
        <p:spPr>
          <a:xfrm>
            <a:off x="508000" y="1308100"/>
            <a:ext cx="2667000" cy="1295400"/>
          </a:xfrm>
          <a:prstGeom prst="roundRect">
            <a:avLst>
              <a:gd name="adj" fmla="val 13725"/>
            </a:avLst>
          </a:prstGeom>
          <a:solidFill>
            <a:srgbClr val="194EFF">
              <a:alpha val="30000"/>
            </a:srgbClr>
          </a:solidFill>
          <a:ln w="15875">
            <a:solidFill>
              <a:srgbClr val="194EFF"/>
            </a:solidFill>
            <a:prstDash val="solid"/>
          </a:ln>
        </p:spPr>
      </p:sp>
      <p:pic>
        <p:nvPicPr>
          <p:cNvPr id="9" name="anim-2-5" descr="/tmp/claude-0/-home-user-hosting/7c832a48-0979-56aa-9fdf-7d53efb9dc7a/scratchpad/build/imgd/pointer.png">    </p:cNvPr>
          <p:cNvPicPr>
            <a:picLocks noChangeAspect="1"/>
          </p:cNvPicPr>
          <p:nvPr/>
        </p:nvPicPr>
        <p:blipFill>
          <a:blip r:embed="rId4"/>
          <a:stretch>
            <a:fillRect/>
          </a:stretch>
        </p:blipFill>
        <p:spPr>
          <a:xfrm>
            <a:off x="685800" y="1587500"/>
            <a:ext cx="164066" cy="330200"/>
          </a:xfrm>
          <a:prstGeom prst="rect">
            <a:avLst/>
          </a:prstGeom>
        </p:spPr>
      </p:pic>
      <p:sp>
        <p:nvSpPr>
          <p:cNvPr id="10" name="anim-2-6"/>
          <p:cNvSpPr txBox="1"/>
          <p:nvPr/>
        </p:nvSpPr>
        <p:spPr>
          <a:xfrm>
            <a:off x="965200" y="1460500"/>
            <a:ext cx="2032000" cy="571500"/>
          </a:xfrm>
          <a:prstGeom prst="rect">
            <a:avLst/>
          </a:prstGeom>
          <a:noFill/>
          <a:ln/>
        </p:spPr>
        <p:txBody>
          <a:bodyPr wrap="square" lIns="0" tIns="0" rIns="0" bIns="0" rtlCol="0" anchor="t"/>
          <a:lstStyle/>
          <a:p>
            <a:pPr algn="l" indent="0" marL="0">
              <a:lnSpc>
                <a:spcPct val="112000"/>
              </a:lnSpc>
              <a:buNone/>
            </a:pPr>
            <a:r>
              <a:rPr lang="en-US" sz="4000" b="1" dirty="0">
                <a:solidFill>
                  <a:srgbClr val="FFFFFF"/>
                </a:solidFill>
                <a:latin typeface="Plus Jakarta Sans" pitchFamily="34" charset="0"/>
                <a:ea typeface="Plus Jakarta Sans" pitchFamily="34" charset="-122"/>
                <a:cs typeface="Plus Jakarta Sans" pitchFamily="34" charset="-120"/>
              </a:rPr>
              <a:t>04</a:t>
            </a:r>
            <a:endParaRPr lang="en-US" sz="4000" dirty="0"/>
          </a:p>
        </p:txBody>
      </p:sp>
      <p:sp>
        <p:nvSpPr>
          <p:cNvPr id="11" name="anim-2-7"/>
          <p:cNvSpPr txBox="1"/>
          <p:nvPr/>
        </p:nvSpPr>
        <p:spPr>
          <a:xfrm>
            <a:off x="711200" y="2095500"/>
            <a:ext cx="2286000" cy="406400"/>
          </a:xfrm>
          <a:prstGeom prst="rect">
            <a:avLst/>
          </a:prstGeom>
          <a:noFill/>
          <a:ln/>
        </p:spPr>
        <p:txBody>
          <a:bodyPr wrap="square" lIns="0" tIns="0" rIns="0" bIns="0" rtlCol="0" anchor="t"/>
          <a:lstStyle/>
          <a:p>
            <a:pPr algn="l" indent="0" marL="0">
              <a:lnSpc>
                <a:spcPct val="112000"/>
              </a:lnSpc>
              <a:buNone/>
            </a:pPr>
            <a:r>
              <a:rPr lang="en-US" sz="950" dirty="0">
                <a:solidFill>
                  <a:srgbClr val="C3C8D1"/>
                </a:solidFill>
                <a:latin typeface="Plus Jakarta Sans" pitchFamily="34" charset="0"/>
                <a:ea typeface="Plus Jakarta Sans" pitchFamily="34" charset="-122"/>
                <a:cs typeface="Plus Jakarta Sans" pitchFamily="34" charset="-120"/>
              </a:rPr>
              <a:t>pilot agencies across Singapore, Malaysia and Indonesia</a:t>
            </a:r>
            <a:endParaRPr lang="en-US" sz="950" dirty="0"/>
          </a:p>
        </p:txBody>
      </p:sp>
      <p:sp>
        <p:nvSpPr>
          <p:cNvPr id="12" name="anim-2-8"/>
          <p:cNvSpPr/>
          <p:nvPr/>
        </p:nvSpPr>
        <p:spPr>
          <a:xfrm>
            <a:off x="508000" y="2755900"/>
            <a:ext cx="2667000" cy="1295400"/>
          </a:xfrm>
          <a:prstGeom prst="roundRect">
            <a:avLst>
              <a:gd name="adj" fmla="val 13725"/>
            </a:avLst>
          </a:prstGeom>
          <a:solidFill>
            <a:srgbClr val="FFFFFF">
              <a:alpha val="5000"/>
            </a:srgbClr>
          </a:solidFill>
          <a:ln w="9525">
            <a:solidFill>
              <a:srgbClr val="FFFFFF">
                <a:alpha val="12000"/>
              </a:srgbClr>
            </a:solidFill>
            <a:prstDash val="solid"/>
          </a:ln>
        </p:spPr>
      </p:sp>
      <p:sp>
        <p:nvSpPr>
          <p:cNvPr id="13" name="anim-2-9"/>
          <p:cNvSpPr txBox="1"/>
          <p:nvPr/>
        </p:nvSpPr>
        <p:spPr>
          <a:xfrm>
            <a:off x="711200" y="2908300"/>
            <a:ext cx="2286000" cy="571500"/>
          </a:xfrm>
          <a:prstGeom prst="rect">
            <a:avLst/>
          </a:prstGeom>
          <a:noFill/>
          <a:ln/>
        </p:spPr>
        <p:txBody>
          <a:bodyPr wrap="square" lIns="0" tIns="0" rIns="0" bIns="0" rtlCol="0" anchor="t"/>
          <a:lstStyle/>
          <a:p>
            <a:pPr algn="l" indent="0" marL="0">
              <a:lnSpc>
                <a:spcPct val="112000"/>
              </a:lnSpc>
              <a:buNone/>
            </a:pPr>
            <a:r>
              <a:rPr lang="en-US" sz="4000" b="1" dirty="0">
                <a:solidFill>
                  <a:srgbClr val="FFFFFF"/>
                </a:solidFill>
                <a:latin typeface="Plus Jakarta Sans" pitchFamily="34" charset="0"/>
                <a:ea typeface="Plus Jakarta Sans" pitchFamily="34" charset="-122"/>
                <a:cs typeface="Plus Jakarta Sans" pitchFamily="34" charset="-120"/>
              </a:rPr>
              <a:t>~400</a:t>
            </a:r>
            <a:endParaRPr lang="en-US" sz="4000" dirty="0"/>
          </a:p>
        </p:txBody>
      </p:sp>
      <p:sp>
        <p:nvSpPr>
          <p:cNvPr id="14" name="anim-2-10"/>
          <p:cNvSpPr txBox="1"/>
          <p:nvPr/>
        </p:nvSpPr>
        <p:spPr>
          <a:xfrm>
            <a:off x="711200" y="3543300"/>
            <a:ext cx="2286000" cy="406400"/>
          </a:xfrm>
          <a:prstGeom prst="rect">
            <a:avLst/>
          </a:prstGeom>
          <a:noFill/>
          <a:ln/>
        </p:spPr>
        <p:txBody>
          <a:bodyPr wrap="square" lIns="0" tIns="0" rIns="0" bIns="0" rtlCol="0" anchor="t"/>
          <a:lstStyle/>
          <a:p>
            <a:pPr algn="l" indent="0" marL="0">
              <a:lnSpc>
                <a:spcPct val="112000"/>
              </a:lnSpc>
              <a:buNone/>
            </a:pPr>
            <a:r>
              <a:rPr lang="en-US" sz="950" dirty="0">
                <a:solidFill>
                  <a:srgbClr val="C3C8D1"/>
                </a:solidFill>
                <a:latin typeface="Plus Jakarta Sans" pitchFamily="34" charset="0"/>
                <a:ea typeface="Plus Jakarta Sans" pitchFamily="34" charset="-122"/>
                <a:cs typeface="Plus Jakarta Sans" pitchFamily="34" charset="-120"/>
              </a:rPr>
              <a:t>beta users in Malaysia on the DX App</a:t>
            </a:r>
            <a:endParaRPr lang="en-US" sz="950" dirty="0"/>
          </a:p>
        </p:txBody>
      </p:sp>
      <p:sp>
        <p:nvSpPr>
          <p:cNvPr id="15" name="anim-2-11"/>
          <p:cNvSpPr/>
          <p:nvPr/>
        </p:nvSpPr>
        <p:spPr>
          <a:xfrm>
            <a:off x="508000" y="4203700"/>
            <a:ext cx="2667000" cy="1295400"/>
          </a:xfrm>
          <a:prstGeom prst="roundRect">
            <a:avLst>
              <a:gd name="adj" fmla="val 13725"/>
            </a:avLst>
          </a:prstGeom>
          <a:solidFill>
            <a:srgbClr val="FFFFFF">
              <a:alpha val="5000"/>
            </a:srgbClr>
          </a:solidFill>
          <a:ln w="9525">
            <a:solidFill>
              <a:srgbClr val="FFFFFF">
                <a:alpha val="12000"/>
              </a:srgbClr>
            </a:solidFill>
            <a:prstDash val="solid"/>
          </a:ln>
        </p:spPr>
      </p:sp>
      <p:sp>
        <p:nvSpPr>
          <p:cNvPr id="16" name="anim-2-12"/>
          <p:cNvSpPr txBox="1"/>
          <p:nvPr/>
        </p:nvSpPr>
        <p:spPr>
          <a:xfrm>
            <a:off x="711200" y="4356100"/>
            <a:ext cx="2286000" cy="571500"/>
          </a:xfrm>
          <a:prstGeom prst="rect">
            <a:avLst/>
          </a:prstGeom>
          <a:noFill/>
          <a:ln/>
        </p:spPr>
        <p:txBody>
          <a:bodyPr wrap="square" lIns="0" tIns="0" rIns="0" bIns="0" rtlCol="0" anchor="t"/>
          <a:lstStyle/>
          <a:p>
            <a:pPr algn="l" indent="0" marL="0">
              <a:lnSpc>
                <a:spcPct val="112000"/>
              </a:lnSpc>
              <a:buNone/>
            </a:pPr>
            <a:r>
              <a:rPr lang="en-US" sz="4000" b="1" dirty="0">
                <a:solidFill>
                  <a:srgbClr val="FFFFFF"/>
                </a:solidFill>
                <a:latin typeface="Plus Jakarta Sans" pitchFamily="34" charset="0"/>
                <a:ea typeface="Plus Jakarta Sans" pitchFamily="34" charset="-122"/>
                <a:cs typeface="Plus Jakarta Sans" pitchFamily="34" charset="-120"/>
              </a:rPr>
              <a:t>03</a:t>
            </a:r>
            <a:endParaRPr lang="en-US" sz="4000" dirty="0"/>
          </a:p>
        </p:txBody>
      </p:sp>
      <p:sp>
        <p:nvSpPr>
          <p:cNvPr id="17" name="anim-2-13"/>
          <p:cNvSpPr txBox="1"/>
          <p:nvPr/>
        </p:nvSpPr>
        <p:spPr>
          <a:xfrm>
            <a:off x="711200" y="4991100"/>
            <a:ext cx="2286000" cy="406400"/>
          </a:xfrm>
          <a:prstGeom prst="rect">
            <a:avLst/>
          </a:prstGeom>
          <a:noFill/>
          <a:ln/>
        </p:spPr>
        <p:txBody>
          <a:bodyPr wrap="square" lIns="0" tIns="0" rIns="0" bIns="0" rtlCol="0" anchor="t"/>
          <a:lstStyle/>
          <a:p>
            <a:pPr algn="l" indent="0" marL="0">
              <a:lnSpc>
                <a:spcPct val="112000"/>
              </a:lnSpc>
              <a:buNone/>
            </a:pPr>
            <a:r>
              <a:rPr lang="en-US" sz="950" dirty="0">
                <a:solidFill>
                  <a:srgbClr val="C3C8D1"/>
                </a:solidFill>
                <a:latin typeface="Plus Jakarta Sans" pitchFamily="34" charset="0"/>
                <a:ea typeface="Plus Jakarta Sans" pitchFamily="34" charset="-122"/>
                <a:cs typeface="Plus Jakarta Sans" pitchFamily="34" charset="-120"/>
              </a:rPr>
              <a:t>agencies converted to a paid annual plan</a:t>
            </a:r>
            <a:endParaRPr lang="en-US" sz="950" dirty="0"/>
          </a:p>
        </p:txBody>
      </p:sp>
      <p:sp>
        <p:nvSpPr>
          <p:cNvPr id="18" name="anim-3-14"/>
          <p:cNvSpPr/>
          <p:nvPr/>
        </p:nvSpPr>
        <p:spPr>
          <a:xfrm>
            <a:off x="3327400" y="1308100"/>
            <a:ext cx="2683933" cy="952500"/>
          </a:xfrm>
          <a:prstGeom prst="roundRect">
            <a:avLst>
              <a:gd name="adj" fmla="val 16000"/>
            </a:avLst>
          </a:prstGeom>
          <a:solidFill>
            <a:srgbClr val="FFFFFF">
              <a:alpha val="5000"/>
            </a:srgbClr>
          </a:solidFill>
          <a:ln w="9525">
            <a:solidFill>
              <a:srgbClr val="FFFFFF">
                <a:alpha val="12000"/>
              </a:srgbClr>
            </a:solidFill>
            <a:prstDash val="solid"/>
          </a:ln>
        </p:spPr>
      </p:sp>
      <p:sp>
        <p:nvSpPr>
          <p:cNvPr id="19" name="anim-3-15"/>
          <p:cNvSpPr txBox="1"/>
          <p:nvPr/>
        </p:nvSpPr>
        <p:spPr>
          <a:xfrm>
            <a:off x="3479800" y="1422400"/>
            <a:ext cx="2379133" cy="215900"/>
          </a:xfrm>
          <a:prstGeom prst="rect">
            <a:avLst/>
          </a:prstGeom>
          <a:noFill/>
          <a:ln/>
        </p:spPr>
        <p:txBody>
          <a:bodyPr wrap="square" lIns="0" tIns="0" rIns="0" bIns="0" rtlCol="0" anchor="t"/>
          <a:lstStyle/>
          <a:p>
            <a:pPr algn="l" indent="0" marL="0">
              <a:lnSpc>
                <a:spcPct val="112000"/>
              </a:lnSpc>
              <a:buNone/>
            </a:pPr>
            <a:r>
              <a:rPr lang="en-US" sz="1100" dirty="0">
                <a:solidFill>
                  <a:srgbClr val="15B6FF"/>
                </a:solidFill>
                <a:latin typeface="Plus Jakarta Sans Light" pitchFamily="34" charset="0"/>
                <a:ea typeface="Plus Jakarta Sans Light" pitchFamily="34" charset="-122"/>
                <a:cs typeface="Plus Jakarta Sans Light" pitchFamily="34" charset="-120"/>
              </a:rPr>
              <a:t>01  </a:t>
            </a:r>
            <a:pPr algn="l" indent="0" marL="0">
              <a:lnSpc>
                <a:spcPct val="112000"/>
              </a:lnSpc>
              <a:buNone/>
            </a:pPr>
            <a:r>
              <a:rPr lang="en-US" sz="1100" b="1" dirty="0">
                <a:solidFill>
                  <a:srgbClr val="FFFFFF"/>
                </a:solidFill>
                <a:latin typeface="Plus Jakarta Sans" pitchFamily="34" charset="0"/>
                <a:ea typeface="Plus Jakarta Sans" pitchFamily="34" charset="-122"/>
                <a:cs typeface="Plus Jakarta Sans" pitchFamily="34" charset="-120"/>
              </a:rPr>
              <a:t>Market relevance</a:t>
            </a:r>
            <a:endParaRPr lang="en-US" sz="1100" dirty="0"/>
          </a:p>
        </p:txBody>
      </p:sp>
      <p:sp>
        <p:nvSpPr>
          <p:cNvPr id="20" name="anim-3-16"/>
          <p:cNvSpPr txBox="1"/>
          <p:nvPr/>
        </p:nvSpPr>
        <p:spPr>
          <a:xfrm>
            <a:off x="3479800" y="1676400"/>
            <a:ext cx="2379133" cy="533400"/>
          </a:xfrm>
          <a:prstGeom prst="rect">
            <a:avLst/>
          </a:prstGeom>
          <a:noFill/>
          <a:ln/>
        </p:spPr>
        <p:txBody>
          <a:bodyPr wrap="square" lIns="0" tIns="0" rIns="0" bIns="0" rtlCol="0" anchor="t"/>
          <a:lstStyle/>
          <a:p>
            <a:pPr algn="l" indent="0" marL="0">
              <a:lnSpc>
                <a:spcPct val="112000"/>
              </a:lnSpc>
              <a:buNone/>
            </a:pPr>
            <a:r>
              <a:rPr lang="en-US" sz="800" dirty="0">
                <a:solidFill>
                  <a:srgbClr val="C3C8D1"/>
                </a:solidFill>
                <a:latin typeface="Plus Jakarta Sans" pitchFamily="34" charset="0"/>
                <a:ea typeface="Plus Jakarta Sans" pitchFamily="34" charset="-122"/>
                <a:cs typeface="Plus Jakarta Sans" pitchFamily="34" charset="-120"/>
              </a:rPr>
              <a:t>Tap growing demand for AI-powered coaching, agency leadership, activation and productivity in life insurance.</a:t>
            </a:r>
            <a:endParaRPr lang="en-US" sz="800" dirty="0"/>
          </a:p>
        </p:txBody>
      </p:sp>
      <p:sp>
        <p:nvSpPr>
          <p:cNvPr id="21" name="anim-3-17"/>
          <p:cNvSpPr/>
          <p:nvPr/>
        </p:nvSpPr>
        <p:spPr>
          <a:xfrm>
            <a:off x="6163733" y="1308100"/>
            <a:ext cx="2683933" cy="952500"/>
          </a:xfrm>
          <a:prstGeom prst="roundRect">
            <a:avLst>
              <a:gd name="adj" fmla="val 16000"/>
            </a:avLst>
          </a:prstGeom>
          <a:solidFill>
            <a:srgbClr val="FFFFFF">
              <a:alpha val="5000"/>
            </a:srgbClr>
          </a:solidFill>
          <a:ln w="9525">
            <a:solidFill>
              <a:srgbClr val="FFFFFF">
                <a:alpha val="12000"/>
              </a:srgbClr>
            </a:solidFill>
            <a:prstDash val="solid"/>
          </a:ln>
        </p:spPr>
      </p:sp>
      <p:sp>
        <p:nvSpPr>
          <p:cNvPr id="22" name="anim-3-18"/>
          <p:cNvSpPr txBox="1"/>
          <p:nvPr/>
        </p:nvSpPr>
        <p:spPr>
          <a:xfrm>
            <a:off x="6316133" y="1422400"/>
            <a:ext cx="2379133" cy="215900"/>
          </a:xfrm>
          <a:prstGeom prst="rect">
            <a:avLst/>
          </a:prstGeom>
          <a:noFill/>
          <a:ln/>
        </p:spPr>
        <p:txBody>
          <a:bodyPr wrap="square" lIns="0" tIns="0" rIns="0" bIns="0" rtlCol="0" anchor="t"/>
          <a:lstStyle/>
          <a:p>
            <a:pPr algn="l" indent="0" marL="0">
              <a:lnSpc>
                <a:spcPct val="112000"/>
              </a:lnSpc>
              <a:buNone/>
            </a:pPr>
            <a:r>
              <a:rPr lang="en-US" sz="1100" dirty="0">
                <a:solidFill>
                  <a:srgbClr val="15B6FF"/>
                </a:solidFill>
                <a:latin typeface="Plus Jakarta Sans Light" pitchFamily="34" charset="0"/>
                <a:ea typeface="Plus Jakarta Sans Light" pitchFamily="34" charset="-122"/>
                <a:cs typeface="Plus Jakarta Sans Light" pitchFamily="34" charset="-120"/>
              </a:rPr>
              <a:t>02  </a:t>
            </a:r>
            <a:pPr algn="l" indent="0" marL="0">
              <a:lnSpc>
                <a:spcPct val="112000"/>
              </a:lnSpc>
              <a:buNone/>
            </a:pPr>
            <a:r>
              <a:rPr lang="en-US" sz="1100" b="1" dirty="0">
                <a:solidFill>
                  <a:srgbClr val="FFFFFF"/>
                </a:solidFill>
                <a:latin typeface="Plus Jakarta Sans" pitchFamily="34" charset="0"/>
                <a:ea typeface="Plus Jakarta Sans" pitchFamily="34" charset="-122"/>
                <a:cs typeface="Plus Jakarta Sans" pitchFamily="34" charset="-120"/>
              </a:rPr>
              <a:t>Structured partner path</a:t>
            </a:r>
            <a:endParaRPr lang="en-US" sz="1100" dirty="0"/>
          </a:p>
        </p:txBody>
      </p:sp>
      <p:sp>
        <p:nvSpPr>
          <p:cNvPr id="23" name="anim-3-19"/>
          <p:cNvSpPr txBox="1"/>
          <p:nvPr/>
        </p:nvSpPr>
        <p:spPr>
          <a:xfrm>
            <a:off x="6316133" y="1676400"/>
            <a:ext cx="2379133" cy="533400"/>
          </a:xfrm>
          <a:prstGeom prst="rect">
            <a:avLst/>
          </a:prstGeom>
          <a:noFill/>
          <a:ln/>
        </p:spPr>
        <p:txBody>
          <a:bodyPr wrap="square" lIns="0" tIns="0" rIns="0" bIns="0" rtlCol="0" anchor="t"/>
          <a:lstStyle/>
          <a:p>
            <a:pPr algn="l" indent="0" marL="0">
              <a:lnSpc>
                <a:spcPct val="112000"/>
              </a:lnSpc>
              <a:buNone/>
            </a:pPr>
            <a:r>
              <a:rPr lang="en-US" sz="800" dirty="0">
                <a:solidFill>
                  <a:srgbClr val="C3C8D1"/>
                </a:solidFill>
                <a:latin typeface="Plus Jakarta Sans" pitchFamily="34" charset="0"/>
                <a:ea typeface="Plus Jakarta Sans" pitchFamily="34" charset="-122"/>
                <a:cs typeface="Plus Jakarta Sans" pitchFamily="34" charset="-120"/>
              </a:rPr>
              <a:t>Progress through levels based on capability, pipeline, certifications, customer success and performance.</a:t>
            </a:r>
            <a:endParaRPr lang="en-US" sz="800" dirty="0"/>
          </a:p>
        </p:txBody>
      </p:sp>
      <p:sp>
        <p:nvSpPr>
          <p:cNvPr id="24" name="anim-3-20"/>
          <p:cNvSpPr/>
          <p:nvPr/>
        </p:nvSpPr>
        <p:spPr>
          <a:xfrm>
            <a:off x="9000067" y="1308100"/>
            <a:ext cx="2683933" cy="952500"/>
          </a:xfrm>
          <a:prstGeom prst="roundRect">
            <a:avLst>
              <a:gd name="adj" fmla="val 16000"/>
            </a:avLst>
          </a:prstGeom>
          <a:solidFill>
            <a:srgbClr val="FFFFFF">
              <a:alpha val="5000"/>
            </a:srgbClr>
          </a:solidFill>
          <a:ln w="9525">
            <a:solidFill>
              <a:srgbClr val="FFFFFF">
                <a:alpha val="12000"/>
              </a:srgbClr>
            </a:solidFill>
            <a:prstDash val="solid"/>
          </a:ln>
        </p:spPr>
      </p:sp>
      <p:sp>
        <p:nvSpPr>
          <p:cNvPr id="25" name="anim-3-21"/>
          <p:cNvSpPr txBox="1"/>
          <p:nvPr/>
        </p:nvSpPr>
        <p:spPr>
          <a:xfrm>
            <a:off x="9152467" y="1422400"/>
            <a:ext cx="2379133" cy="215900"/>
          </a:xfrm>
          <a:prstGeom prst="rect">
            <a:avLst/>
          </a:prstGeom>
          <a:noFill/>
          <a:ln/>
        </p:spPr>
        <p:txBody>
          <a:bodyPr wrap="square" lIns="0" tIns="0" rIns="0" bIns="0" rtlCol="0" anchor="t"/>
          <a:lstStyle/>
          <a:p>
            <a:pPr algn="l" indent="0" marL="0">
              <a:lnSpc>
                <a:spcPct val="112000"/>
              </a:lnSpc>
              <a:buNone/>
            </a:pPr>
            <a:r>
              <a:rPr lang="en-US" sz="1100" dirty="0">
                <a:solidFill>
                  <a:srgbClr val="15B6FF"/>
                </a:solidFill>
                <a:latin typeface="Plus Jakarta Sans Light" pitchFamily="34" charset="0"/>
                <a:ea typeface="Plus Jakarta Sans Light" pitchFamily="34" charset="-122"/>
                <a:cs typeface="Plus Jakarta Sans Light" pitchFamily="34" charset="-120"/>
              </a:rPr>
              <a:t>03  </a:t>
            </a:r>
            <a:pPr algn="l" indent="0" marL="0">
              <a:lnSpc>
                <a:spcPct val="112000"/>
              </a:lnSpc>
              <a:buNone/>
            </a:pPr>
            <a:r>
              <a:rPr lang="en-US" sz="1100" b="1" dirty="0">
                <a:solidFill>
                  <a:srgbClr val="FFFFFF"/>
                </a:solidFill>
                <a:latin typeface="Plus Jakarta Sans" pitchFamily="34" charset="0"/>
                <a:ea typeface="Plus Jakarta Sans" pitchFamily="34" charset="-122"/>
                <a:cs typeface="Plus Jakarta Sans" pitchFamily="34" charset="-120"/>
              </a:rPr>
              <a:t>Commercial upside</a:t>
            </a:r>
            <a:endParaRPr lang="en-US" sz="1100" dirty="0"/>
          </a:p>
        </p:txBody>
      </p:sp>
      <p:sp>
        <p:nvSpPr>
          <p:cNvPr id="26" name="anim-3-22"/>
          <p:cNvSpPr txBox="1"/>
          <p:nvPr/>
        </p:nvSpPr>
        <p:spPr>
          <a:xfrm>
            <a:off x="9152467" y="1676400"/>
            <a:ext cx="2379133" cy="533400"/>
          </a:xfrm>
          <a:prstGeom prst="rect">
            <a:avLst/>
          </a:prstGeom>
          <a:noFill/>
          <a:ln/>
        </p:spPr>
        <p:txBody>
          <a:bodyPr wrap="square" lIns="0" tIns="0" rIns="0" bIns="0" rtlCol="0" anchor="t"/>
          <a:lstStyle/>
          <a:p>
            <a:pPr algn="l" indent="0" marL="0">
              <a:lnSpc>
                <a:spcPct val="112000"/>
              </a:lnSpc>
              <a:buNone/>
            </a:pPr>
            <a:r>
              <a:rPr lang="en-US" sz="800" dirty="0">
                <a:solidFill>
                  <a:srgbClr val="C3C8D1"/>
                </a:solidFill>
                <a:latin typeface="Plus Jakarta Sans" pitchFamily="34" charset="0"/>
                <a:ea typeface="Plus Jakarta Sans" pitchFamily="34" charset="-122"/>
                <a:cs typeface="Plus Jakarta Sans" pitchFamily="34" charset="-120"/>
              </a:rPr>
              <a:t>Role-based incentives for sourced, driven, assisted, referral, renewal, expansion and marketplace motions.</a:t>
            </a:r>
            <a:endParaRPr lang="en-US" sz="800" dirty="0"/>
          </a:p>
        </p:txBody>
      </p:sp>
      <p:sp>
        <p:nvSpPr>
          <p:cNvPr id="27" name="anim-3-23"/>
          <p:cNvSpPr/>
          <p:nvPr/>
        </p:nvSpPr>
        <p:spPr>
          <a:xfrm>
            <a:off x="3327400" y="2374900"/>
            <a:ext cx="2683933" cy="952500"/>
          </a:xfrm>
          <a:prstGeom prst="roundRect">
            <a:avLst>
              <a:gd name="adj" fmla="val 16000"/>
            </a:avLst>
          </a:prstGeom>
          <a:solidFill>
            <a:srgbClr val="FFFFFF">
              <a:alpha val="5000"/>
            </a:srgbClr>
          </a:solidFill>
          <a:ln w="9525">
            <a:solidFill>
              <a:srgbClr val="FFFFFF">
                <a:alpha val="12000"/>
              </a:srgbClr>
            </a:solidFill>
            <a:prstDash val="solid"/>
          </a:ln>
        </p:spPr>
      </p:sp>
      <p:sp>
        <p:nvSpPr>
          <p:cNvPr id="28" name="anim-3-24"/>
          <p:cNvSpPr txBox="1"/>
          <p:nvPr/>
        </p:nvSpPr>
        <p:spPr>
          <a:xfrm>
            <a:off x="3479800" y="2489200"/>
            <a:ext cx="2379133" cy="215900"/>
          </a:xfrm>
          <a:prstGeom prst="rect">
            <a:avLst/>
          </a:prstGeom>
          <a:noFill/>
          <a:ln/>
        </p:spPr>
        <p:txBody>
          <a:bodyPr wrap="square" lIns="0" tIns="0" rIns="0" bIns="0" rtlCol="0" anchor="t"/>
          <a:lstStyle/>
          <a:p>
            <a:pPr algn="l" indent="0" marL="0">
              <a:lnSpc>
                <a:spcPct val="112000"/>
              </a:lnSpc>
              <a:buNone/>
            </a:pPr>
            <a:r>
              <a:rPr lang="en-US" sz="1100" dirty="0">
                <a:solidFill>
                  <a:srgbClr val="15B6FF"/>
                </a:solidFill>
                <a:latin typeface="Plus Jakarta Sans Light" pitchFamily="34" charset="0"/>
                <a:ea typeface="Plus Jakarta Sans Light" pitchFamily="34" charset="-122"/>
                <a:cs typeface="Plus Jakarta Sans Light" pitchFamily="34" charset="-120"/>
              </a:rPr>
              <a:t>04  </a:t>
            </a:r>
            <a:pPr algn="l" indent="0" marL="0">
              <a:lnSpc>
                <a:spcPct val="112000"/>
              </a:lnSpc>
              <a:buNone/>
            </a:pPr>
            <a:r>
              <a:rPr lang="en-US" sz="1100" b="1" dirty="0">
                <a:solidFill>
                  <a:srgbClr val="FFFFFF"/>
                </a:solidFill>
                <a:latin typeface="Plus Jakarta Sans" pitchFamily="34" charset="0"/>
                <a:ea typeface="Plus Jakarta Sans" pitchFamily="34" charset="-122"/>
                <a:cs typeface="Plus Jakarta Sans" pitchFamily="34" charset="-120"/>
              </a:rPr>
              <a:t>Enablement &amp; support</a:t>
            </a:r>
            <a:endParaRPr lang="en-US" sz="1100" dirty="0"/>
          </a:p>
        </p:txBody>
      </p:sp>
      <p:sp>
        <p:nvSpPr>
          <p:cNvPr id="29" name="anim-3-25"/>
          <p:cNvSpPr txBox="1"/>
          <p:nvPr/>
        </p:nvSpPr>
        <p:spPr>
          <a:xfrm>
            <a:off x="3479800" y="2743200"/>
            <a:ext cx="2379133" cy="533400"/>
          </a:xfrm>
          <a:prstGeom prst="rect">
            <a:avLst/>
          </a:prstGeom>
          <a:noFill/>
          <a:ln/>
        </p:spPr>
        <p:txBody>
          <a:bodyPr wrap="square" lIns="0" tIns="0" rIns="0" bIns="0" rtlCol="0" anchor="t"/>
          <a:lstStyle/>
          <a:p>
            <a:pPr algn="l" indent="0" marL="0">
              <a:lnSpc>
                <a:spcPct val="112000"/>
              </a:lnSpc>
              <a:buNone/>
            </a:pPr>
            <a:r>
              <a:rPr lang="en-US" sz="800" dirty="0">
                <a:solidFill>
                  <a:srgbClr val="C3C8D1"/>
                </a:solidFill>
                <a:latin typeface="Plus Jakarta Sans" pitchFamily="34" charset="0"/>
                <a:ea typeface="Plus Jakarta Sans" pitchFamily="34" charset="-122"/>
                <a:cs typeface="Plus Jakarta Sans" pitchFamily="34" charset="-120"/>
              </a:rPr>
              <a:t>Sales enablement, certification paths, demo support, presales coordination and technical advisory.</a:t>
            </a:r>
            <a:endParaRPr lang="en-US" sz="800" dirty="0"/>
          </a:p>
        </p:txBody>
      </p:sp>
      <p:sp>
        <p:nvSpPr>
          <p:cNvPr id="30" name="anim-3-26"/>
          <p:cNvSpPr/>
          <p:nvPr/>
        </p:nvSpPr>
        <p:spPr>
          <a:xfrm>
            <a:off x="6163733" y="2374900"/>
            <a:ext cx="2683933" cy="952500"/>
          </a:xfrm>
          <a:prstGeom prst="roundRect">
            <a:avLst>
              <a:gd name="adj" fmla="val 16000"/>
            </a:avLst>
          </a:prstGeom>
          <a:solidFill>
            <a:srgbClr val="FFFFFF">
              <a:alpha val="5000"/>
            </a:srgbClr>
          </a:solidFill>
          <a:ln w="9525">
            <a:solidFill>
              <a:srgbClr val="FFFFFF">
                <a:alpha val="12000"/>
              </a:srgbClr>
            </a:solidFill>
            <a:prstDash val="solid"/>
          </a:ln>
        </p:spPr>
      </p:sp>
      <p:sp>
        <p:nvSpPr>
          <p:cNvPr id="31" name="anim-3-27"/>
          <p:cNvSpPr txBox="1"/>
          <p:nvPr/>
        </p:nvSpPr>
        <p:spPr>
          <a:xfrm>
            <a:off x="6316133" y="2489200"/>
            <a:ext cx="2379133" cy="215900"/>
          </a:xfrm>
          <a:prstGeom prst="rect">
            <a:avLst/>
          </a:prstGeom>
          <a:noFill/>
          <a:ln/>
        </p:spPr>
        <p:txBody>
          <a:bodyPr wrap="square" lIns="0" tIns="0" rIns="0" bIns="0" rtlCol="0" anchor="t"/>
          <a:lstStyle/>
          <a:p>
            <a:pPr algn="l" indent="0" marL="0">
              <a:lnSpc>
                <a:spcPct val="112000"/>
              </a:lnSpc>
              <a:buNone/>
            </a:pPr>
            <a:r>
              <a:rPr lang="en-US" sz="1100" dirty="0">
                <a:solidFill>
                  <a:srgbClr val="15B6FF"/>
                </a:solidFill>
                <a:latin typeface="Plus Jakarta Sans Light" pitchFamily="34" charset="0"/>
                <a:ea typeface="Plus Jakarta Sans Light" pitchFamily="34" charset="-122"/>
                <a:cs typeface="Plus Jakarta Sans Light" pitchFamily="34" charset="-120"/>
              </a:rPr>
              <a:t>05  </a:t>
            </a:r>
            <a:pPr algn="l" indent="0" marL="0">
              <a:lnSpc>
                <a:spcPct val="112000"/>
              </a:lnSpc>
              <a:buNone/>
            </a:pPr>
            <a:r>
              <a:rPr lang="en-US" sz="1100" b="1" dirty="0">
                <a:solidFill>
                  <a:srgbClr val="FFFFFF"/>
                </a:solidFill>
                <a:latin typeface="Plus Jakarta Sans" pitchFamily="34" charset="0"/>
                <a:ea typeface="Plus Jakarta Sans" pitchFamily="34" charset="-122"/>
                <a:cs typeface="Plus Jakarta Sans" pitchFamily="34" charset="-120"/>
              </a:rPr>
              <a:t>Joint GTM</a:t>
            </a:r>
            <a:endParaRPr lang="en-US" sz="1100" dirty="0"/>
          </a:p>
        </p:txBody>
      </p:sp>
      <p:sp>
        <p:nvSpPr>
          <p:cNvPr id="32" name="anim-3-28"/>
          <p:cNvSpPr txBox="1"/>
          <p:nvPr/>
        </p:nvSpPr>
        <p:spPr>
          <a:xfrm>
            <a:off x="6316133" y="2743200"/>
            <a:ext cx="2379133" cy="533400"/>
          </a:xfrm>
          <a:prstGeom prst="rect">
            <a:avLst/>
          </a:prstGeom>
          <a:noFill/>
          <a:ln/>
        </p:spPr>
        <p:txBody>
          <a:bodyPr wrap="square" lIns="0" tIns="0" rIns="0" bIns="0" rtlCol="0" anchor="t"/>
          <a:lstStyle/>
          <a:p>
            <a:pPr algn="l" indent="0" marL="0">
              <a:lnSpc>
                <a:spcPct val="112000"/>
              </a:lnSpc>
              <a:buNone/>
            </a:pPr>
            <a:r>
              <a:rPr lang="en-US" sz="800" dirty="0">
                <a:solidFill>
                  <a:srgbClr val="C3C8D1"/>
                </a:solidFill>
                <a:latin typeface="Plus Jakarta Sans" pitchFamily="34" charset="0"/>
                <a:ea typeface="Plus Jakarta Sans" pitchFamily="34" charset="-122"/>
                <a:cs typeface="Plus Jakarta Sans" pitchFamily="34" charset="-120"/>
              </a:rPr>
              <a:t>Account mapping, webinars, leader roundtables, thought leadership and alliance motions.</a:t>
            </a:r>
            <a:endParaRPr lang="en-US" sz="800" dirty="0"/>
          </a:p>
        </p:txBody>
      </p:sp>
      <p:sp>
        <p:nvSpPr>
          <p:cNvPr id="33" name="anim-3-29"/>
          <p:cNvSpPr/>
          <p:nvPr/>
        </p:nvSpPr>
        <p:spPr>
          <a:xfrm>
            <a:off x="9000067" y="2374900"/>
            <a:ext cx="2683933" cy="952500"/>
          </a:xfrm>
          <a:prstGeom prst="roundRect">
            <a:avLst>
              <a:gd name="adj" fmla="val 16000"/>
            </a:avLst>
          </a:prstGeom>
          <a:solidFill>
            <a:srgbClr val="FFFFFF">
              <a:alpha val="5000"/>
            </a:srgbClr>
          </a:solidFill>
          <a:ln w="9525">
            <a:solidFill>
              <a:srgbClr val="FFFFFF">
                <a:alpha val="12000"/>
              </a:srgbClr>
            </a:solidFill>
            <a:prstDash val="solid"/>
          </a:ln>
        </p:spPr>
      </p:sp>
      <p:sp>
        <p:nvSpPr>
          <p:cNvPr id="34" name="anim-3-30"/>
          <p:cNvSpPr txBox="1"/>
          <p:nvPr/>
        </p:nvSpPr>
        <p:spPr>
          <a:xfrm>
            <a:off x="9152467" y="2489200"/>
            <a:ext cx="2379133" cy="215900"/>
          </a:xfrm>
          <a:prstGeom prst="rect">
            <a:avLst/>
          </a:prstGeom>
          <a:noFill/>
          <a:ln/>
        </p:spPr>
        <p:txBody>
          <a:bodyPr wrap="square" lIns="0" tIns="0" rIns="0" bIns="0" rtlCol="0" anchor="t"/>
          <a:lstStyle/>
          <a:p>
            <a:pPr algn="l" indent="0" marL="0">
              <a:lnSpc>
                <a:spcPct val="112000"/>
              </a:lnSpc>
              <a:buNone/>
            </a:pPr>
            <a:r>
              <a:rPr lang="en-US" sz="1100" dirty="0">
                <a:solidFill>
                  <a:srgbClr val="15B6FF"/>
                </a:solidFill>
                <a:latin typeface="Plus Jakarta Sans Light" pitchFamily="34" charset="0"/>
                <a:ea typeface="Plus Jakarta Sans Light" pitchFamily="34" charset="-122"/>
                <a:cs typeface="Plus Jakarta Sans Light" pitchFamily="34" charset="-120"/>
              </a:rPr>
              <a:t>06  </a:t>
            </a:r>
            <a:pPr algn="l" indent="0" marL="0">
              <a:lnSpc>
                <a:spcPct val="112000"/>
              </a:lnSpc>
              <a:buNone/>
            </a:pPr>
            <a:r>
              <a:rPr lang="en-US" sz="1100" b="1" dirty="0">
                <a:solidFill>
                  <a:srgbClr val="FFFFFF"/>
                </a:solidFill>
                <a:latin typeface="Plus Jakarta Sans" pitchFamily="34" charset="0"/>
                <a:ea typeface="Plus Jakarta Sans" pitchFamily="34" charset="-122"/>
                <a:cs typeface="Plus Jakarta Sans" pitchFamily="34" charset="-120"/>
              </a:rPr>
              <a:t>Strategic growth</a:t>
            </a:r>
            <a:endParaRPr lang="en-US" sz="1100" dirty="0"/>
          </a:p>
        </p:txBody>
      </p:sp>
      <p:sp>
        <p:nvSpPr>
          <p:cNvPr id="35" name="anim-3-31"/>
          <p:cNvSpPr txBox="1"/>
          <p:nvPr/>
        </p:nvSpPr>
        <p:spPr>
          <a:xfrm>
            <a:off x="9152467" y="2743200"/>
            <a:ext cx="2379133" cy="533400"/>
          </a:xfrm>
          <a:prstGeom prst="rect">
            <a:avLst/>
          </a:prstGeom>
          <a:noFill/>
          <a:ln/>
        </p:spPr>
        <p:txBody>
          <a:bodyPr wrap="square" lIns="0" tIns="0" rIns="0" bIns="0" rtlCol="0" anchor="t"/>
          <a:lstStyle/>
          <a:p>
            <a:pPr algn="l" indent="0" marL="0">
              <a:lnSpc>
                <a:spcPct val="112000"/>
              </a:lnSpc>
              <a:buNone/>
            </a:pPr>
            <a:r>
              <a:rPr lang="en-US" sz="800" dirty="0">
                <a:solidFill>
                  <a:srgbClr val="C3C8D1"/>
                </a:solidFill>
                <a:latin typeface="Plus Jakarta Sans" pitchFamily="34" charset="0"/>
                <a:ea typeface="Plus Jakarta Sans" pitchFamily="34" charset="-122"/>
                <a:cs typeface="Plus Jakarta Sans" pitchFamily="34" charset="-120"/>
              </a:rPr>
              <a:t>Regional or multi-country growth plans through joint business planning and executive sponsorship.</a:t>
            </a:r>
            <a:endParaRPr lang="en-US" sz="800" dirty="0"/>
          </a:p>
        </p:txBody>
      </p:sp>
      <p:sp>
        <p:nvSpPr>
          <p:cNvPr id="36" name="anim-4-32"/>
          <p:cNvSpPr/>
          <p:nvPr/>
        </p:nvSpPr>
        <p:spPr>
          <a:xfrm>
            <a:off x="3327400" y="3517900"/>
            <a:ext cx="8356600" cy="1993900"/>
          </a:xfrm>
          <a:prstGeom prst="roundRect">
            <a:avLst>
              <a:gd name="adj" fmla="val 10191"/>
            </a:avLst>
          </a:prstGeom>
          <a:solidFill>
            <a:srgbClr val="000000">
              <a:alpha val="18000"/>
            </a:srgbClr>
          </a:solidFill>
          <a:ln w="9525">
            <a:solidFill>
              <a:srgbClr val="FFFFFF">
                <a:alpha val="15000"/>
              </a:srgbClr>
            </a:solidFill>
            <a:prstDash val="solid"/>
          </a:ln>
        </p:spPr>
      </p:sp>
      <p:pic>
        <p:nvPicPr>
          <p:cNvPr id="37" name="anim-4-33" descr="/tmp/claude-0/-home-user-hosting/7c832a48-0979-56aa-9fdf-7d53efb9dc7a/scratchpad/build/imgd/blob.png">    </p:cNvPr>
          <p:cNvPicPr>
            <a:picLocks noChangeAspect="1"/>
          </p:cNvPicPr>
          <p:nvPr/>
        </p:nvPicPr>
        <p:blipFill>
          <a:blip r:embed="rId5"/>
          <a:stretch>
            <a:fillRect/>
          </a:stretch>
        </p:blipFill>
        <p:spPr>
          <a:xfrm>
            <a:off x="4445000" y="3048000"/>
            <a:ext cx="2921000" cy="2921000"/>
          </a:xfrm>
          <a:prstGeom prst="rect">
            <a:avLst/>
          </a:prstGeom>
        </p:spPr>
      </p:pic>
      <p:pic>
        <p:nvPicPr>
          <p:cNvPr id="38" name="anim-4-34" descr="/tmp/claude-0/-home-user-hosting/7c832a48-0979-56aa-9fdf-7d53efb9dc7a/scratchpad/build/imgd/blob.png">    </p:cNvPr>
          <p:cNvPicPr>
            <a:picLocks noChangeAspect="1"/>
          </p:cNvPicPr>
          <p:nvPr/>
        </p:nvPicPr>
        <p:blipFill>
          <a:blip r:embed="rId6"/>
          <a:stretch>
            <a:fillRect/>
          </a:stretch>
        </p:blipFill>
        <p:spPr>
          <a:xfrm>
            <a:off x="8255000" y="3048000"/>
            <a:ext cx="2921000" cy="2921000"/>
          </a:xfrm>
          <a:prstGeom prst="rect">
            <a:avLst/>
          </a:prstGeom>
        </p:spPr>
      </p:pic>
      <p:sp>
        <p:nvSpPr>
          <p:cNvPr id="39" name="anim-4-35"/>
          <p:cNvSpPr txBox="1"/>
          <p:nvPr/>
        </p:nvSpPr>
        <p:spPr>
          <a:xfrm>
            <a:off x="3530600" y="3632200"/>
            <a:ext cx="7620000" cy="165100"/>
          </a:xfrm>
          <a:prstGeom prst="rect">
            <a:avLst/>
          </a:prstGeom>
          <a:noFill/>
          <a:ln/>
        </p:spPr>
        <p:txBody>
          <a:bodyPr wrap="square" lIns="0" tIns="0" rIns="0" bIns="0" rtlCol="0" anchor="t"/>
          <a:lstStyle/>
          <a:p>
            <a:pPr algn="l" indent="0" marL="0">
              <a:lnSpc>
                <a:spcPct val="112000"/>
              </a:lnSpc>
              <a:buNone/>
            </a:pPr>
            <a:r>
              <a:rPr lang="en-US" sz="800" spc="200" kern="0" dirty="0">
                <a:solidFill>
                  <a:srgbClr val="15B6FF"/>
                </a:solidFill>
                <a:latin typeface="Plus Jakarta Sans SemiBold" pitchFamily="34" charset="0"/>
                <a:ea typeface="Plus Jakarta Sans SemiBold" pitchFamily="34" charset="-122"/>
                <a:cs typeface="Plus Jakarta Sans SemiBold" pitchFamily="34" charset="-120"/>
              </a:rPr>
              <a:t>THE DIGNIFYX PLATFORM: SIX PRODUCTS FOR LIFE-INSURANCE AGENCY</a:t>
            </a:r>
            <a:endParaRPr lang="en-US" sz="800" dirty="0"/>
          </a:p>
        </p:txBody>
      </p:sp>
      <p:pic>
        <p:nvPicPr>
          <p:cNvPr id="40" name="anim-5-36" descr="/tmp/claude-0/-home-user-hosting/7c832a48-0979-56aa-9fdf-7d53efb9dc7a/scratchpad/build/imgd/intelligent-coaching.png">    </p:cNvPr>
          <p:cNvPicPr>
            <a:picLocks noChangeAspect="1"/>
          </p:cNvPicPr>
          <p:nvPr/>
        </p:nvPicPr>
        <p:blipFill>
          <a:blip r:embed="rId7"/>
          <a:stretch>
            <a:fillRect/>
          </a:stretch>
        </p:blipFill>
        <p:spPr>
          <a:xfrm>
            <a:off x="3702050" y="4015818"/>
            <a:ext cx="2032000" cy="451964"/>
          </a:xfrm>
          <a:prstGeom prst="rect">
            <a:avLst/>
          </a:prstGeom>
        </p:spPr>
      </p:pic>
      <p:pic>
        <p:nvPicPr>
          <p:cNvPr id="41" name="anim-5-37" descr="/tmp/claude-0/-home-user-hosting/7c832a48-0979-56aa-9fdf-7d53efb9dc7a/scratchpad/build/imgd/dx-coach.png">    </p:cNvPr>
          <p:cNvPicPr>
            <a:picLocks noChangeAspect="1"/>
          </p:cNvPicPr>
          <p:nvPr/>
        </p:nvPicPr>
        <p:blipFill>
          <a:blip r:embed="rId8"/>
          <a:stretch>
            <a:fillRect/>
          </a:stretch>
        </p:blipFill>
        <p:spPr>
          <a:xfrm>
            <a:off x="6489700" y="4068980"/>
            <a:ext cx="2032000" cy="345640"/>
          </a:xfrm>
          <a:prstGeom prst="rect">
            <a:avLst/>
          </a:prstGeom>
        </p:spPr>
      </p:pic>
      <p:pic>
        <p:nvPicPr>
          <p:cNvPr id="42" name="anim-5-38" descr="/tmp/claude-0/-home-user-hosting/7c832a48-0979-56aa-9fdf-7d53efb9dc7a/scratchpad/build/imgd/dx-learn.png">    </p:cNvPr>
          <p:cNvPicPr>
            <a:picLocks noChangeAspect="1"/>
          </p:cNvPicPr>
          <p:nvPr/>
        </p:nvPicPr>
        <p:blipFill>
          <a:blip r:embed="rId9"/>
          <a:stretch>
            <a:fillRect/>
          </a:stretch>
        </p:blipFill>
        <p:spPr>
          <a:xfrm>
            <a:off x="9277350" y="3991605"/>
            <a:ext cx="2032000" cy="500390"/>
          </a:xfrm>
          <a:prstGeom prst="rect">
            <a:avLst/>
          </a:prstGeom>
        </p:spPr>
      </p:pic>
      <p:pic>
        <p:nvPicPr>
          <p:cNvPr id="43" name="anim-6-39" descr="/tmp/claude-0/-home-user-hosting/7c832a48-0979-56aa-9fdf-7d53efb9dc7a/scratchpad/build/imgd/ai-customer-role-play.png">    </p:cNvPr>
          <p:cNvPicPr>
            <a:picLocks noChangeAspect="1"/>
          </p:cNvPicPr>
          <p:nvPr/>
        </p:nvPicPr>
        <p:blipFill>
          <a:blip r:embed="rId10"/>
          <a:stretch>
            <a:fillRect/>
          </a:stretch>
        </p:blipFill>
        <p:spPr>
          <a:xfrm>
            <a:off x="3826002" y="4699000"/>
            <a:ext cx="1784096" cy="609600"/>
          </a:xfrm>
          <a:prstGeom prst="rect">
            <a:avLst/>
          </a:prstGeom>
        </p:spPr>
      </p:pic>
      <p:pic>
        <p:nvPicPr>
          <p:cNvPr id="44" name="anim-6-40" descr="/tmp/claude-0/-home-user-hosting/7c832a48-0979-56aa-9fdf-7d53efb9dc7a/scratchpad/build/imgd/virtual-joint-fieldwork.png">    </p:cNvPr>
          <p:cNvPicPr>
            <a:picLocks noChangeAspect="1"/>
          </p:cNvPicPr>
          <p:nvPr/>
        </p:nvPicPr>
        <p:blipFill>
          <a:blip r:embed="rId11"/>
          <a:stretch>
            <a:fillRect/>
          </a:stretch>
        </p:blipFill>
        <p:spPr>
          <a:xfrm>
            <a:off x="6526844" y="4699000"/>
            <a:ext cx="1957712" cy="609600"/>
          </a:xfrm>
          <a:prstGeom prst="rect">
            <a:avLst/>
          </a:prstGeom>
        </p:spPr>
      </p:pic>
      <p:pic>
        <p:nvPicPr>
          <p:cNvPr id="45" name="anim-6-41" descr="/tmp/claude-0/-home-user-hosting/7c832a48-0979-56aa-9fdf-7d53efb9dc7a/scratchpad/build/imgd/agency-leader-avatar.png">    </p:cNvPr>
          <p:cNvPicPr>
            <a:picLocks noChangeAspect="1"/>
          </p:cNvPicPr>
          <p:nvPr/>
        </p:nvPicPr>
        <p:blipFill>
          <a:blip r:embed="rId12"/>
          <a:stretch>
            <a:fillRect/>
          </a:stretch>
        </p:blipFill>
        <p:spPr>
          <a:xfrm>
            <a:off x="9642228" y="4699000"/>
            <a:ext cx="1302244" cy="609600"/>
          </a:xfrm>
          <a:prstGeom prst="rect">
            <a:avLst/>
          </a:prstGeom>
        </p:spPr>
      </p:pic>
      <p:sp>
        <p:nvSpPr>
          <p:cNvPr id="46" name="anim-9-42"/>
          <p:cNvSpPr/>
          <p:nvPr/>
        </p:nvSpPr>
        <p:spPr>
          <a:xfrm>
            <a:off x="508000" y="5664200"/>
            <a:ext cx="11176000" cy="406400"/>
          </a:xfrm>
          <a:prstGeom prst="roundRect">
            <a:avLst>
              <a:gd name="adj" fmla="val 50000"/>
            </a:avLst>
          </a:prstGeom>
          <a:solidFill>
            <a:srgbClr val="FFFFFF">
              <a:alpha val="4000"/>
            </a:srgbClr>
          </a:solidFill>
          <a:ln w="9525">
            <a:solidFill>
              <a:srgbClr val="FFFFFF">
                <a:alpha val="22000"/>
              </a:srgbClr>
            </a:solidFill>
            <a:prstDash val="solid"/>
          </a:ln>
        </p:spPr>
      </p:sp>
      <p:sp>
        <p:nvSpPr>
          <p:cNvPr id="47" name="anim-9-43"/>
          <p:cNvSpPr txBox="1"/>
          <p:nvPr/>
        </p:nvSpPr>
        <p:spPr>
          <a:xfrm>
            <a:off x="762000" y="5664200"/>
            <a:ext cx="2095500" cy="406400"/>
          </a:xfrm>
          <a:prstGeom prst="rect">
            <a:avLst/>
          </a:prstGeom>
          <a:noFill/>
          <a:ln/>
        </p:spPr>
        <p:txBody>
          <a:bodyPr wrap="square" lIns="0" tIns="0" rIns="0" bIns="0" rtlCol="0" anchor="ctr"/>
          <a:lstStyle/>
          <a:p>
            <a:pPr algn="l" indent="0" marL="0">
              <a:lnSpc>
                <a:spcPct val="112000"/>
              </a:lnSpc>
              <a:buNone/>
            </a:pPr>
            <a:r>
              <a:rPr lang="en-US" sz="1100" b="1" dirty="0">
                <a:solidFill>
                  <a:srgbClr val="15B6FF"/>
                </a:solidFill>
                <a:latin typeface="Plus Jakarta Sans" pitchFamily="34" charset="0"/>
                <a:ea typeface="Plus Jakarta Sans" pitchFamily="34" charset="-122"/>
                <a:cs typeface="Plus Jakarta Sans" pitchFamily="34" charset="-120"/>
              </a:rPr>
              <a:t>Built with Agency</a:t>
            </a:r>
            <a:endParaRPr lang="en-US" sz="1100" dirty="0"/>
          </a:p>
        </p:txBody>
      </p:sp>
      <p:sp>
        <p:nvSpPr>
          <p:cNvPr id="48" name="anim-9-44"/>
          <p:cNvSpPr txBox="1"/>
          <p:nvPr/>
        </p:nvSpPr>
        <p:spPr>
          <a:xfrm>
            <a:off x="2921000" y="5664200"/>
            <a:ext cx="8572500" cy="406400"/>
          </a:xfrm>
          <a:prstGeom prst="rect">
            <a:avLst/>
          </a:prstGeom>
          <a:noFill/>
          <a:ln/>
        </p:spPr>
        <p:txBody>
          <a:bodyPr wrap="square" lIns="0" tIns="0" rIns="0" bIns="0" rtlCol="0" anchor="ctr"/>
          <a:lstStyle/>
          <a:p>
            <a:pPr algn="l" indent="0" marL="0">
              <a:lnSpc>
                <a:spcPct val="112000"/>
              </a:lnSpc>
              <a:buNone/>
            </a:pPr>
            <a:r>
              <a:rPr lang="en-US" sz="1050" dirty="0">
                <a:solidFill>
                  <a:srgbClr val="FFFFFF"/>
                </a:solidFill>
                <a:latin typeface="Plus Jakarta Sans Medium" pitchFamily="34" charset="0"/>
                <a:ea typeface="Plus Jakarta Sans Medium" pitchFamily="34" charset="-122"/>
                <a:cs typeface="Plus Jakarta Sans Medium" pitchFamily="34" charset="-120"/>
              </a:rPr>
              <a:t>Partners extend market reach, build customer trust, bring domain knowledge and create repeatable go-to-market motions.</a:t>
            </a:r>
            <a:endParaRPr lang="en-US" sz="105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500"/>
                                        <p:tgtEl>
                                          <p:spTgt spid="7"/>
                                        </p:tgtEl>
                                      </p:cBhvr>
                                    </p:animEffect>
                                  </p:childTnLst>
                                </p:cTn>
                              </p:par>
                              <p:par>
                                <p:cTn id="14" presetID="10" presetClass="entr" presetSubtype="0" fill="hold" grpId="0" nodeType="withEffect">
                                  <p:stCondLst>
                                    <p:cond delay="18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500"/>
                                        <p:tgtEl>
                                          <p:spTgt spid="8"/>
                                        </p:tgtEl>
                                      </p:cBhvr>
                                    </p:animEffect>
                                  </p:childTnLst>
                                </p:cTn>
                              </p:par>
                              <p:par>
                                <p:cTn id="17" presetID="10" presetClass="entr" presetSubtype="0" fill="hold" grpId="0" nodeType="withEffect">
                                  <p:stCondLst>
                                    <p:cond delay="18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500"/>
                                        <p:tgtEl>
                                          <p:spTgt spid="9"/>
                                        </p:tgtEl>
                                      </p:cBhvr>
                                    </p:animEffect>
                                  </p:childTnLst>
                                </p:cTn>
                              </p:par>
                              <p:par>
                                <p:cTn id="20" presetID="10" presetClass="entr" presetSubtype="0" fill="hold" grpId="0" nodeType="withEffect">
                                  <p:stCondLst>
                                    <p:cond delay="180"/>
                                  </p:stCondLst>
                                  <p:childTnLst>
                                    <p:set>
                                      <p:cBhvr>
                                        <p:cTn id="21" dur="1" fill="hold">
                                          <p:stCondLst>
                                            <p:cond delay="0"/>
                                          </p:stCondLst>
                                        </p:cTn>
                                        <p:tgtEl>
                                          <p:spTgt spid="10"/>
                                        </p:tgtEl>
                                        <p:attrNameLst>
                                          <p:attrName>style.visibility</p:attrName>
                                        </p:attrNameLst>
                                      </p:cBhvr>
                                      <p:to>
                                        <p:strVal val="visible"/>
                                      </p:to>
                                    </p:set>
                                    <p:animEffect transition="in" filter="fade">
                                      <p:cBhvr>
                                        <p:cTn id="22" dur="500"/>
                                        <p:tgtEl>
                                          <p:spTgt spid="10"/>
                                        </p:tgtEl>
                                      </p:cBhvr>
                                    </p:animEffect>
                                  </p:childTnLst>
                                </p:cTn>
                              </p:par>
                              <p:par>
                                <p:cTn id="23" presetID="10" presetClass="entr" presetSubtype="0" fill="hold" grpId="0" nodeType="withEffect">
                                  <p:stCondLst>
                                    <p:cond delay="180"/>
                                  </p:stCondLst>
                                  <p:childTnLst>
                                    <p:set>
                                      <p:cBhvr>
                                        <p:cTn id="24" dur="1" fill="hold">
                                          <p:stCondLst>
                                            <p:cond delay="0"/>
                                          </p:stCondLst>
                                        </p:cTn>
                                        <p:tgtEl>
                                          <p:spTgt spid="11"/>
                                        </p:tgtEl>
                                        <p:attrNameLst>
                                          <p:attrName>style.visibility</p:attrName>
                                        </p:attrNameLst>
                                      </p:cBhvr>
                                      <p:to>
                                        <p:strVal val="visible"/>
                                      </p:to>
                                    </p:set>
                                    <p:animEffect transition="in" filter="fade">
                                      <p:cBhvr>
                                        <p:cTn id="25" dur="500"/>
                                        <p:tgtEl>
                                          <p:spTgt spid="11"/>
                                        </p:tgtEl>
                                      </p:cBhvr>
                                    </p:animEffect>
                                  </p:childTnLst>
                                </p:cTn>
                              </p:par>
                              <p:par>
                                <p:cTn id="26" presetID="10" presetClass="entr" presetSubtype="0" fill="hold" grpId="0" nodeType="withEffect">
                                  <p:stCondLst>
                                    <p:cond delay="180"/>
                                  </p:stCondLst>
                                  <p:childTnLst>
                                    <p:set>
                                      <p:cBhvr>
                                        <p:cTn id="27" dur="1" fill="hold">
                                          <p:stCondLst>
                                            <p:cond delay="0"/>
                                          </p:stCondLst>
                                        </p:cTn>
                                        <p:tgtEl>
                                          <p:spTgt spid="12"/>
                                        </p:tgtEl>
                                        <p:attrNameLst>
                                          <p:attrName>style.visibility</p:attrName>
                                        </p:attrNameLst>
                                      </p:cBhvr>
                                      <p:to>
                                        <p:strVal val="visible"/>
                                      </p:to>
                                    </p:set>
                                    <p:animEffect transition="in" filter="fade">
                                      <p:cBhvr>
                                        <p:cTn id="28" dur="500"/>
                                        <p:tgtEl>
                                          <p:spTgt spid="12"/>
                                        </p:tgtEl>
                                      </p:cBhvr>
                                    </p:animEffect>
                                  </p:childTnLst>
                                </p:cTn>
                              </p:par>
                              <p:par>
                                <p:cTn id="29" presetID="10" presetClass="entr" presetSubtype="0" fill="hold" grpId="0" nodeType="withEffect">
                                  <p:stCondLst>
                                    <p:cond delay="180"/>
                                  </p:stCondLst>
                                  <p:childTnLst>
                                    <p:set>
                                      <p:cBhvr>
                                        <p:cTn id="30" dur="1" fill="hold">
                                          <p:stCondLst>
                                            <p:cond delay="0"/>
                                          </p:stCondLst>
                                        </p:cTn>
                                        <p:tgtEl>
                                          <p:spTgt spid="13"/>
                                        </p:tgtEl>
                                        <p:attrNameLst>
                                          <p:attrName>style.visibility</p:attrName>
                                        </p:attrNameLst>
                                      </p:cBhvr>
                                      <p:to>
                                        <p:strVal val="visible"/>
                                      </p:to>
                                    </p:set>
                                    <p:animEffect transition="in" filter="fade">
                                      <p:cBhvr>
                                        <p:cTn id="31" dur="500"/>
                                        <p:tgtEl>
                                          <p:spTgt spid="13"/>
                                        </p:tgtEl>
                                      </p:cBhvr>
                                    </p:animEffect>
                                  </p:childTnLst>
                                </p:cTn>
                              </p:par>
                              <p:par>
                                <p:cTn id="32" presetID="10" presetClass="entr" presetSubtype="0" fill="hold" grpId="0" nodeType="withEffect">
                                  <p:stCondLst>
                                    <p:cond delay="18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500"/>
                                        <p:tgtEl>
                                          <p:spTgt spid="14"/>
                                        </p:tgtEl>
                                      </p:cBhvr>
                                    </p:animEffect>
                                  </p:childTnLst>
                                </p:cTn>
                              </p:par>
                              <p:par>
                                <p:cTn id="35" presetID="10" presetClass="entr" presetSubtype="0" fill="hold" grpId="0" nodeType="withEffect">
                                  <p:stCondLst>
                                    <p:cond delay="180"/>
                                  </p:stCondLst>
                                  <p:childTnLst>
                                    <p:set>
                                      <p:cBhvr>
                                        <p:cTn id="36" dur="1" fill="hold">
                                          <p:stCondLst>
                                            <p:cond delay="0"/>
                                          </p:stCondLst>
                                        </p:cTn>
                                        <p:tgtEl>
                                          <p:spTgt spid="15"/>
                                        </p:tgtEl>
                                        <p:attrNameLst>
                                          <p:attrName>style.visibility</p:attrName>
                                        </p:attrNameLst>
                                      </p:cBhvr>
                                      <p:to>
                                        <p:strVal val="visible"/>
                                      </p:to>
                                    </p:set>
                                    <p:animEffect transition="in" filter="fade">
                                      <p:cBhvr>
                                        <p:cTn id="37" dur="500"/>
                                        <p:tgtEl>
                                          <p:spTgt spid="15"/>
                                        </p:tgtEl>
                                      </p:cBhvr>
                                    </p:animEffect>
                                  </p:childTnLst>
                                </p:cTn>
                              </p:par>
                              <p:par>
                                <p:cTn id="38" presetID="10" presetClass="entr" presetSubtype="0" fill="hold" grpId="0" nodeType="withEffect">
                                  <p:stCondLst>
                                    <p:cond delay="180"/>
                                  </p:stCondLst>
                                  <p:childTnLst>
                                    <p:set>
                                      <p:cBhvr>
                                        <p:cTn id="39" dur="1" fill="hold">
                                          <p:stCondLst>
                                            <p:cond delay="0"/>
                                          </p:stCondLst>
                                        </p:cTn>
                                        <p:tgtEl>
                                          <p:spTgt spid="16"/>
                                        </p:tgtEl>
                                        <p:attrNameLst>
                                          <p:attrName>style.visibility</p:attrName>
                                        </p:attrNameLst>
                                      </p:cBhvr>
                                      <p:to>
                                        <p:strVal val="visible"/>
                                      </p:to>
                                    </p:set>
                                    <p:animEffect transition="in" filter="fade">
                                      <p:cBhvr>
                                        <p:cTn id="40" dur="500"/>
                                        <p:tgtEl>
                                          <p:spTgt spid="16"/>
                                        </p:tgtEl>
                                      </p:cBhvr>
                                    </p:animEffect>
                                  </p:childTnLst>
                                </p:cTn>
                              </p:par>
                              <p:par>
                                <p:cTn id="41" presetID="10" presetClass="entr" presetSubtype="0" fill="hold" grpId="0" nodeType="withEffect">
                                  <p:stCondLst>
                                    <p:cond delay="180"/>
                                  </p:stCondLst>
                                  <p:childTnLst>
                                    <p:set>
                                      <p:cBhvr>
                                        <p:cTn id="42" dur="1" fill="hold">
                                          <p:stCondLst>
                                            <p:cond delay="0"/>
                                          </p:stCondLst>
                                        </p:cTn>
                                        <p:tgtEl>
                                          <p:spTgt spid="17"/>
                                        </p:tgtEl>
                                        <p:attrNameLst>
                                          <p:attrName>style.visibility</p:attrName>
                                        </p:attrNameLst>
                                      </p:cBhvr>
                                      <p:to>
                                        <p:strVal val="visible"/>
                                      </p:to>
                                    </p:set>
                                    <p:animEffect transition="in" filter="fade">
                                      <p:cBhvr>
                                        <p:cTn id="43" dur="500"/>
                                        <p:tgtEl>
                                          <p:spTgt spid="17"/>
                                        </p:tgtEl>
                                      </p:cBhvr>
                                    </p:animEffect>
                                  </p:childTnLst>
                                </p:cTn>
                              </p:par>
                              <p:par>
                                <p:cTn id="44" presetID="10" presetClass="entr" presetSubtype="0" fill="hold" grpId="0" nodeType="withEffect">
                                  <p:stCondLst>
                                    <p:cond delay="360"/>
                                  </p:stCondLst>
                                  <p:childTnLst>
                                    <p:set>
                                      <p:cBhvr>
                                        <p:cTn id="45" dur="1" fill="hold">
                                          <p:stCondLst>
                                            <p:cond delay="0"/>
                                          </p:stCondLst>
                                        </p:cTn>
                                        <p:tgtEl>
                                          <p:spTgt spid="18"/>
                                        </p:tgtEl>
                                        <p:attrNameLst>
                                          <p:attrName>style.visibility</p:attrName>
                                        </p:attrNameLst>
                                      </p:cBhvr>
                                      <p:to>
                                        <p:strVal val="visible"/>
                                      </p:to>
                                    </p:set>
                                    <p:animEffect transition="in" filter="fade">
                                      <p:cBhvr>
                                        <p:cTn id="46" dur="500"/>
                                        <p:tgtEl>
                                          <p:spTgt spid="18"/>
                                        </p:tgtEl>
                                      </p:cBhvr>
                                    </p:animEffect>
                                  </p:childTnLst>
                                </p:cTn>
                              </p:par>
                              <p:par>
                                <p:cTn id="47" presetID="10" presetClass="entr" presetSubtype="0" fill="hold" grpId="0" nodeType="withEffect">
                                  <p:stCondLst>
                                    <p:cond delay="360"/>
                                  </p:stCondLst>
                                  <p:childTnLst>
                                    <p:set>
                                      <p:cBhvr>
                                        <p:cTn id="48" dur="1" fill="hold">
                                          <p:stCondLst>
                                            <p:cond delay="0"/>
                                          </p:stCondLst>
                                        </p:cTn>
                                        <p:tgtEl>
                                          <p:spTgt spid="19"/>
                                        </p:tgtEl>
                                        <p:attrNameLst>
                                          <p:attrName>style.visibility</p:attrName>
                                        </p:attrNameLst>
                                      </p:cBhvr>
                                      <p:to>
                                        <p:strVal val="visible"/>
                                      </p:to>
                                    </p:set>
                                    <p:animEffect transition="in" filter="fade">
                                      <p:cBhvr>
                                        <p:cTn id="49" dur="500"/>
                                        <p:tgtEl>
                                          <p:spTgt spid="19"/>
                                        </p:tgtEl>
                                      </p:cBhvr>
                                    </p:animEffect>
                                  </p:childTnLst>
                                </p:cTn>
                              </p:par>
                              <p:par>
                                <p:cTn id="50" presetID="10" presetClass="entr" presetSubtype="0" fill="hold" grpId="0" nodeType="withEffect">
                                  <p:stCondLst>
                                    <p:cond delay="360"/>
                                  </p:stCondLst>
                                  <p:childTnLst>
                                    <p:set>
                                      <p:cBhvr>
                                        <p:cTn id="51" dur="1" fill="hold">
                                          <p:stCondLst>
                                            <p:cond delay="0"/>
                                          </p:stCondLst>
                                        </p:cTn>
                                        <p:tgtEl>
                                          <p:spTgt spid="20"/>
                                        </p:tgtEl>
                                        <p:attrNameLst>
                                          <p:attrName>style.visibility</p:attrName>
                                        </p:attrNameLst>
                                      </p:cBhvr>
                                      <p:to>
                                        <p:strVal val="visible"/>
                                      </p:to>
                                    </p:set>
                                    <p:animEffect transition="in" filter="fade">
                                      <p:cBhvr>
                                        <p:cTn id="52" dur="500"/>
                                        <p:tgtEl>
                                          <p:spTgt spid="20"/>
                                        </p:tgtEl>
                                      </p:cBhvr>
                                    </p:animEffect>
                                  </p:childTnLst>
                                </p:cTn>
                              </p:par>
                              <p:par>
                                <p:cTn id="53" presetID="10" presetClass="entr" presetSubtype="0" fill="hold" grpId="0" nodeType="withEffect">
                                  <p:stCondLst>
                                    <p:cond delay="360"/>
                                  </p:stCondLst>
                                  <p:childTnLst>
                                    <p:set>
                                      <p:cBhvr>
                                        <p:cTn id="54" dur="1" fill="hold">
                                          <p:stCondLst>
                                            <p:cond delay="0"/>
                                          </p:stCondLst>
                                        </p:cTn>
                                        <p:tgtEl>
                                          <p:spTgt spid="21"/>
                                        </p:tgtEl>
                                        <p:attrNameLst>
                                          <p:attrName>style.visibility</p:attrName>
                                        </p:attrNameLst>
                                      </p:cBhvr>
                                      <p:to>
                                        <p:strVal val="visible"/>
                                      </p:to>
                                    </p:set>
                                    <p:animEffect transition="in" filter="fade">
                                      <p:cBhvr>
                                        <p:cTn id="55" dur="500"/>
                                        <p:tgtEl>
                                          <p:spTgt spid="21"/>
                                        </p:tgtEl>
                                      </p:cBhvr>
                                    </p:animEffect>
                                  </p:childTnLst>
                                </p:cTn>
                              </p:par>
                              <p:par>
                                <p:cTn id="56" presetID="10" presetClass="entr" presetSubtype="0" fill="hold" grpId="0" nodeType="withEffect">
                                  <p:stCondLst>
                                    <p:cond delay="360"/>
                                  </p:stCondLst>
                                  <p:childTnLst>
                                    <p:set>
                                      <p:cBhvr>
                                        <p:cTn id="57" dur="1" fill="hold">
                                          <p:stCondLst>
                                            <p:cond delay="0"/>
                                          </p:stCondLst>
                                        </p:cTn>
                                        <p:tgtEl>
                                          <p:spTgt spid="22"/>
                                        </p:tgtEl>
                                        <p:attrNameLst>
                                          <p:attrName>style.visibility</p:attrName>
                                        </p:attrNameLst>
                                      </p:cBhvr>
                                      <p:to>
                                        <p:strVal val="visible"/>
                                      </p:to>
                                    </p:set>
                                    <p:animEffect transition="in" filter="fade">
                                      <p:cBhvr>
                                        <p:cTn id="58" dur="500"/>
                                        <p:tgtEl>
                                          <p:spTgt spid="22"/>
                                        </p:tgtEl>
                                      </p:cBhvr>
                                    </p:animEffect>
                                  </p:childTnLst>
                                </p:cTn>
                              </p:par>
                              <p:par>
                                <p:cTn id="59" presetID="10" presetClass="entr" presetSubtype="0" fill="hold" grpId="0" nodeType="withEffect">
                                  <p:stCondLst>
                                    <p:cond delay="360"/>
                                  </p:stCondLst>
                                  <p:childTnLst>
                                    <p:set>
                                      <p:cBhvr>
                                        <p:cTn id="60" dur="1" fill="hold">
                                          <p:stCondLst>
                                            <p:cond delay="0"/>
                                          </p:stCondLst>
                                        </p:cTn>
                                        <p:tgtEl>
                                          <p:spTgt spid="23"/>
                                        </p:tgtEl>
                                        <p:attrNameLst>
                                          <p:attrName>style.visibility</p:attrName>
                                        </p:attrNameLst>
                                      </p:cBhvr>
                                      <p:to>
                                        <p:strVal val="visible"/>
                                      </p:to>
                                    </p:set>
                                    <p:animEffect transition="in" filter="fade">
                                      <p:cBhvr>
                                        <p:cTn id="61" dur="500"/>
                                        <p:tgtEl>
                                          <p:spTgt spid="23"/>
                                        </p:tgtEl>
                                      </p:cBhvr>
                                    </p:animEffect>
                                  </p:childTnLst>
                                </p:cTn>
                              </p:par>
                              <p:par>
                                <p:cTn id="62" presetID="10" presetClass="entr" presetSubtype="0" fill="hold" grpId="0" nodeType="withEffect">
                                  <p:stCondLst>
                                    <p:cond delay="360"/>
                                  </p:stCondLst>
                                  <p:childTnLst>
                                    <p:set>
                                      <p:cBhvr>
                                        <p:cTn id="63" dur="1" fill="hold">
                                          <p:stCondLst>
                                            <p:cond delay="0"/>
                                          </p:stCondLst>
                                        </p:cTn>
                                        <p:tgtEl>
                                          <p:spTgt spid="24"/>
                                        </p:tgtEl>
                                        <p:attrNameLst>
                                          <p:attrName>style.visibility</p:attrName>
                                        </p:attrNameLst>
                                      </p:cBhvr>
                                      <p:to>
                                        <p:strVal val="visible"/>
                                      </p:to>
                                    </p:set>
                                    <p:animEffect transition="in" filter="fade">
                                      <p:cBhvr>
                                        <p:cTn id="64" dur="500"/>
                                        <p:tgtEl>
                                          <p:spTgt spid="24"/>
                                        </p:tgtEl>
                                      </p:cBhvr>
                                    </p:animEffect>
                                  </p:childTnLst>
                                </p:cTn>
                              </p:par>
                              <p:par>
                                <p:cTn id="65" presetID="10" presetClass="entr" presetSubtype="0" fill="hold" grpId="0" nodeType="withEffect">
                                  <p:stCondLst>
                                    <p:cond delay="360"/>
                                  </p:stCondLst>
                                  <p:childTnLst>
                                    <p:set>
                                      <p:cBhvr>
                                        <p:cTn id="66" dur="1" fill="hold">
                                          <p:stCondLst>
                                            <p:cond delay="0"/>
                                          </p:stCondLst>
                                        </p:cTn>
                                        <p:tgtEl>
                                          <p:spTgt spid="25"/>
                                        </p:tgtEl>
                                        <p:attrNameLst>
                                          <p:attrName>style.visibility</p:attrName>
                                        </p:attrNameLst>
                                      </p:cBhvr>
                                      <p:to>
                                        <p:strVal val="visible"/>
                                      </p:to>
                                    </p:set>
                                    <p:animEffect transition="in" filter="fade">
                                      <p:cBhvr>
                                        <p:cTn id="67" dur="500"/>
                                        <p:tgtEl>
                                          <p:spTgt spid="25"/>
                                        </p:tgtEl>
                                      </p:cBhvr>
                                    </p:animEffect>
                                  </p:childTnLst>
                                </p:cTn>
                              </p:par>
                              <p:par>
                                <p:cTn id="68" presetID="10" presetClass="entr" presetSubtype="0" fill="hold" grpId="0" nodeType="withEffect">
                                  <p:stCondLst>
                                    <p:cond delay="360"/>
                                  </p:stCondLst>
                                  <p:childTnLst>
                                    <p:set>
                                      <p:cBhvr>
                                        <p:cTn id="69" dur="1" fill="hold">
                                          <p:stCondLst>
                                            <p:cond delay="0"/>
                                          </p:stCondLst>
                                        </p:cTn>
                                        <p:tgtEl>
                                          <p:spTgt spid="26"/>
                                        </p:tgtEl>
                                        <p:attrNameLst>
                                          <p:attrName>style.visibility</p:attrName>
                                        </p:attrNameLst>
                                      </p:cBhvr>
                                      <p:to>
                                        <p:strVal val="visible"/>
                                      </p:to>
                                    </p:set>
                                    <p:animEffect transition="in" filter="fade">
                                      <p:cBhvr>
                                        <p:cTn id="70" dur="500"/>
                                        <p:tgtEl>
                                          <p:spTgt spid="26"/>
                                        </p:tgtEl>
                                      </p:cBhvr>
                                    </p:animEffect>
                                  </p:childTnLst>
                                </p:cTn>
                              </p:par>
                              <p:par>
                                <p:cTn id="71" presetID="10" presetClass="entr" presetSubtype="0" fill="hold" grpId="0" nodeType="withEffect">
                                  <p:stCondLst>
                                    <p:cond delay="360"/>
                                  </p:stCondLst>
                                  <p:childTnLst>
                                    <p:set>
                                      <p:cBhvr>
                                        <p:cTn id="72" dur="1" fill="hold">
                                          <p:stCondLst>
                                            <p:cond delay="0"/>
                                          </p:stCondLst>
                                        </p:cTn>
                                        <p:tgtEl>
                                          <p:spTgt spid="27"/>
                                        </p:tgtEl>
                                        <p:attrNameLst>
                                          <p:attrName>style.visibility</p:attrName>
                                        </p:attrNameLst>
                                      </p:cBhvr>
                                      <p:to>
                                        <p:strVal val="visible"/>
                                      </p:to>
                                    </p:set>
                                    <p:animEffect transition="in" filter="fade">
                                      <p:cBhvr>
                                        <p:cTn id="73" dur="500"/>
                                        <p:tgtEl>
                                          <p:spTgt spid="27"/>
                                        </p:tgtEl>
                                      </p:cBhvr>
                                    </p:animEffect>
                                  </p:childTnLst>
                                </p:cTn>
                              </p:par>
                              <p:par>
                                <p:cTn id="74" presetID="10" presetClass="entr" presetSubtype="0" fill="hold" grpId="0" nodeType="withEffect">
                                  <p:stCondLst>
                                    <p:cond delay="360"/>
                                  </p:stCondLst>
                                  <p:childTnLst>
                                    <p:set>
                                      <p:cBhvr>
                                        <p:cTn id="75" dur="1" fill="hold">
                                          <p:stCondLst>
                                            <p:cond delay="0"/>
                                          </p:stCondLst>
                                        </p:cTn>
                                        <p:tgtEl>
                                          <p:spTgt spid="28"/>
                                        </p:tgtEl>
                                        <p:attrNameLst>
                                          <p:attrName>style.visibility</p:attrName>
                                        </p:attrNameLst>
                                      </p:cBhvr>
                                      <p:to>
                                        <p:strVal val="visible"/>
                                      </p:to>
                                    </p:set>
                                    <p:animEffect transition="in" filter="fade">
                                      <p:cBhvr>
                                        <p:cTn id="76" dur="500"/>
                                        <p:tgtEl>
                                          <p:spTgt spid="28"/>
                                        </p:tgtEl>
                                      </p:cBhvr>
                                    </p:animEffect>
                                  </p:childTnLst>
                                </p:cTn>
                              </p:par>
                              <p:par>
                                <p:cTn id="77" presetID="10" presetClass="entr" presetSubtype="0" fill="hold" grpId="0" nodeType="withEffect">
                                  <p:stCondLst>
                                    <p:cond delay="360"/>
                                  </p:stCondLst>
                                  <p:childTnLst>
                                    <p:set>
                                      <p:cBhvr>
                                        <p:cTn id="78" dur="1" fill="hold">
                                          <p:stCondLst>
                                            <p:cond delay="0"/>
                                          </p:stCondLst>
                                        </p:cTn>
                                        <p:tgtEl>
                                          <p:spTgt spid="29"/>
                                        </p:tgtEl>
                                        <p:attrNameLst>
                                          <p:attrName>style.visibility</p:attrName>
                                        </p:attrNameLst>
                                      </p:cBhvr>
                                      <p:to>
                                        <p:strVal val="visible"/>
                                      </p:to>
                                    </p:set>
                                    <p:animEffect transition="in" filter="fade">
                                      <p:cBhvr>
                                        <p:cTn id="79" dur="500"/>
                                        <p:tgtEl>
                                          <p:spTgt spid="29"/>
                                        </p:tgtEl>
                                      </p:cBhvr>
                                    </p:animEffect>
                                  </p:childTnLst>
                                </p:cTn>
                              </p:par>
                              <p:par>
                                <p:cTn id="80" presetID="10" presetClass="entr" presetSubtype="0" fill="hold" grpId="0" nodeType="withEffect">
                                  <p:stCondLst>
                                    <p:cond delay="360"/>
                                  </p:stCondLst>
                                  <p:childTnLst>
                                    <p:set>
                                      <p:cBhvr>
                                        <p:cTn id="81" dur="1" fill="hold">
                                          <p:stCondLst>
                                            <p:cond delay="0"/>
                                          </p:stCondLst>
                                        </p:cTn>
                                        <p:tgtEl>
                                          <p:spTgt spid="30"/>
                                        </p:tgtEl>
                                        <p:attrNameLst>
                                          <p:attrName>style.visibility</p:attrName>
                                        </p:attrNameLst>
                                      </p:cBhvr>
                                      <p:to>
                                        <p:strVal val="visible"/>
                                      </p:to>
                                    </p:set>
                                    <p:animEffect transition="in" filter="fade">
                                      <p:cBhvr>
                                        <p:cTn id="82" dur="500"/>
                                        <p:tgtEl>
                                          <p:spTgt spid="30"/>
                                        </p:tgtEl>
                                      </p:cBhvr>
                                    </p:animEffect>
                                  </p:childTnLst>
                                </p:cTn>
                              </p:par>
                              <p:par>
                                <p:cTn id="83" presetID="10" presetClass="entr" presetSubtype="0" fill="hold" grpId="0" nodeType="withEffect">
                                  <p:stCondLst>
                                    <p:cond delay="360"/>
                                  </p:stCondLst>
                                  <p:childTnLst>
                                    <p:set>
                                      <p:cBhvr>
                                        <p:cTn id="84" dur="1" fill="hold">
                                          <p:stCondLst>
                                            <p:cond delay="0"/>
                                          </p:stCondLst>
                                        </p:cTn>
                                        <p:tgtEl>
                                          <p:spTgt spid="31"/>
                                        </p:tgtEl>
                                        <p:attrNameLst>
                                          <p:attrName>style.visibility</p:attrName>
                                        </p:attrNameLst>
                                      </p:cBhvr>
                                      <p:to>
                                        <p:strVal val="visible"/>
                                      </p:to>
                                    </p:set>
                                    <p:animEffect transition="in" filter="fade">
                                      <p:cBhvr>
                                        <p:cTn id="85" dur="500"/>
                                        <p:tgtEl>
                                          <p:spTgt spid="31"/>
                                        </p:tgtEl>
                                      </p:cBhvr>
                                    </p:animEffect>
                                  </p:childTnLst>
                                </p:cTn>
                              </p:par>
                              <p:par>
                                <p:cTn id="86" presetID="10" presetClass="entr" presetSubtype="0" fill="hold" grpId="0" nodeType="withEffect">
                                  <p:stCondLst>
                                    <p:cond delay="360"/>
                                  </p:stCondLst>
                                  <p:childTnLst>
                                    <p:set>
                                      <p:cBhvr>
                                        <p:cTn id="87" dur="1" fill="hold">
                                          <p:stCondLst>
                                            <p:cond delay="0"/>
                                          </p:stCondLst>
                                        </p:cTn>
                                        <p:tgtEl>
                                          <p:spTgt spid="32"/>
                                        </p:tgtEl>
                                        <p:attrNameLst>
                                          <p:attrName>style.visibility</p:attrName>
                                        </p:attrNameLst>
                                      </p:cBhvr>
                                      <p:to>
                                        <p:strVal val="visible"/>
                                      </p:to>
                                    </p:set>
                                    <p:animEffect transition="in" filter="fade">
                                      <p:cBhvr>
                                        <p:cTn id="88" dur="500"/>
                                        <p:tgtEl>
                                          <p:spTgt spid="32"/>
                                        </p:tgtEl>
                                      </p:cBhvr>
                                    </p:animEffect>
                                  </p:childTnLst>
                                </p:cTn>
                              </p:par>
                              <p:par>
                                <p:cTn id="89" presetID="10" presetClass="entr" presetSubtype="0" fill="hold" grpId="0" nodeType="withEffect">
                                  <p:stCondLst>
                                    <p:cond delay="360"/>
                                  </p:stCondLst>
                                  <p:childTnLst>
                                    <p:set>
                                      <p:cBhvr>
                                        <p:cTn id="90" dur="1" fill="hold">
                                          <p:stCondLst>
                                            <p:cond delay="0"/>
                                          </p:stCondLst>
                                        </p:cTn>
                                        <p:tgtEl>
                                          <p:spTgt spid="33"/>
                                        </p:tgtEl>
                                        <p:attrNameLst>
                                          <p:attrName>style.visibility</p:attrName>
                                        </p:attrNameLst>
                                      </p:cBhvr>
                                      <p:to>
                                        <p:strVal val="visible"/>
                                      </p:to>
                                    </p:set>
                                    <p:animEffect transition="in" filter="fade">
                                      <p:cBhvr>
                                        <p:cTn id="91" dur="500"/>
                                        <p:tgtEl>
                                          <p:spTgt spid="33"/>
                                        </p:tgtEl>
                                      </p:cBhvr>
                                    </p:animEffect>
                                  </p:childTnLst>
                                </p:cTn>
                              </p:par>
                              <p:par>
                                <p:cTn id="92" presetID="10" presetClass="entr" presetSubtype="0" fill="hold" grpId="0" nodeType="withEffect">
                                  <p:stCondLst>
                                    <p:cond delay="360"/>
                                  </p:stCondLst>
                                  <p:childTnLst>
                                    <p:set>
                                      <p:cBhvr>
                                        <p:cTn id="93" dur="1" fill="hold">
                                          <p:stCondLst>
                                            <p:cond delay="0"/>
                                          </p:stCondLst>
                                        </p:cTn>
                                        <p:tgtEl>
                                          <p:spTgt spid="34"/>
                                        </p:tgtEl>
                                        <p:attrNameLst>
                                          <p:attrName>style.visibility</p:attrName>
                                        </p:attrNameLst>
                                      </p:cBhvr>
                                      <p:to>
                                        <p:strVal val="visible"/>
                                      </p:to>
                                    </p:set>
                                    <p:animEffect transition="in" filter="fade">
                                      <p:cBhvr>
                                        <p:cTn id="94" dur="500"/>
                                        <p:tgtEl>
                                          <p:spTgt spid="34"/>
                                        </p:tgtEl>
                                      </p:cBhvr>
                                    </p:animEffect>
                                  </p:childTnLst>
                                </p:cTn>
                              </p:par>
                              <p:par>
                                <p:cTn id="95" presetID="10" presetClass="entr" presetSubtype="0" fill="hold" grpId="0" nodeType="withEffect">
                                  <p:stCondLst>
                                    <p:cond delay="360"/>
                                  </p:stCondLst>
                                  <p:childTnLst>
                                    <p:set>
                                      <p:cBhvr>
                                        <p:cTn id="96" dur="1" fill="hold">
                                          <p:stCondLst>
                                            <p:cond delay="0"/>
                                          </p:stCondLst>
                                        </p:cTn>
                                        <p:tgtEl>
                                          <p:spTgt spid="35"/>
                                        </p:tgtEl>
                                        <p:attrNameLst>
                                          <p:attrName>style.visibility</p:attrName>
                                        </p:attrNameLst>
                                      </p:cBhvr>
                                      <p:to>
                                        <p:strVal val="visible"/>
                                      </p:to>
                                    </p:set>
                                    <p:animEffect transition="in" filter="fade">
                                      <p:cBhvr>
                                        <p:cTn id="97" dur="500"/>
                                        <p:tgtEl>
                                          <p:spTgt spid="35"/>
                                        </p:tgtEl>
                                      </p:cBhvr>
                                    </p:animEffect>
                                  </p:childTnLst>
                                </p:cTn>
                              </p:par>
                              <p:par>
                                <p:cTn id="98" presetID="10" presetClass="entr" presetSubtype="0" fill="hold" grpId="0" nodeType="withEffect">
                                  <p:stCondLst>
                                    <p:cond delay="540"/>
                                  </p:stCondLst>
                                  <p:childTnLst>
                                    <p:set>
                                      <p:cBhvr>
                                        <p:cTn id="99" dur="1" fill="hold">
                                          <p:stCondLst>
                                            <p:cond delay="0"/>
                                          </p:stCondLst>
                                        </p:cTn>
                                        <p:tgtEl>
                                          <p:spTgt spid="36"/>
                                        </p:tgtEl>
                                        <p:attrNameLst>
                                          <p:attrName>style.visibility</p:attrName>
                                        </p:attrNameLst>
                                      </p:cBhvr>
                                      <p:to>
                                        <p:strVal val="visible"/>
                                      </p:to>
                                    </p:set>
                                    <p:animEffect transition="in" filter="fade">
                                      <p:cBhvr>
                                        <p:cTn id="100" dur="500"/>
                                        <p:tgtEl>
                                          <p:spTgt spid="36"/>
                                        </p:tgtEl>
                                      </p:cBhvr>
                                    </p:animEffect>
                                  </p:childTnLst>
                                </p:cTn>
                              </p:par>
                              <p:par>
                                <p:cTn id="101" presetID="10" presetClass="entr" presetSubtype="0" fill="hold" grpId="0" nodeType="withEffect">
                                  <p:stCondLst>
                                    <p:cond delay="540"/>
                                  </p:stCondLst>
                                  <p:childTnLst>
                                    <p:set>
                                      <p:cBhvr>
                                        <p:cTn id="102" dur="1" fill="hold">
                                          <p:stCondLst>
                                            <p:cond delay="0"/>
                                          </p:stCondLst>
                                        </p:cTn>
                                        <p:tgtEl>
                                          <p:spTgt spid="37"/>
                                        </p:tgtEl>
                                        <p:attrNameLst>
                                          <p:attrName>style.visibility</p:attrName>
                                        </p:attrNameLst>
                                      </p:cBhvr>
                                      <p:to>
                                        <p:strVal val="visible"/>
                                      </p:to>
                                    </p:set>
                                    <p:animEffect transition="in" filter="fade">
                                      <p:cBhvr>
                                        <p:cTn id="103" dur="500"/>
                                        <p:tgtEl>
                                          <p:spTgt spid="37"/>
                                        </p:tgtEl>
                                      </p:cBhvr>
                                    </p:animEffect>
                                  </p:childTnLst>
                                </p:cTn>
                              </p:par>
                              <p:par>
                                <p:cTn id="104" presetID="10" presetClass="entr" presetSubtype="0" fill="hold" grpId="0" nodeType="withEffect">
                                  <p:stCondLst>
                                    <p:cond delay="540"/>
                                  </p:stCondLst>
                                  <p:childTnLst>
                                    <p:set>
                                      <p:cBhvr>
                                        <p:cTn id="105" dur="1" fill="hold">
                                          <p:stCondLst>
                                            <p:cond delay="0"/>
                                          </p:stCondLst>
                                        </p:cTn>
                                        <p:tgtEl>
                                          <p:spTgt spid="38"/>
                                        </p:tgtEl>
                                        <p:attrNameLst>
                                          <p:attrName>style.visibility</p:attrName>
                                        </p:attrNameLst>
                                      </p:cBhvr>
                                      <p:to>
                                        <p:strVal val="visible"/>
                                      </p:to>
                                    </p:set>
                                    <p:animEffect transition="in" filter="fade">
                                      <p:cBhvr>
                                        <p:cTn id="106" dur="500"/>
                                        <p:tgtEl>
                                          <p:spTgt spid="38"/>
                                        </p:tgtEl>
                                      </p:cBhvr>
                                    </p:animEffect>
                                  </p:childTnLst>
                                </p:cTn>
                              </p:par>
                              <p:par>
                                <p:cTn id="107" presetID="10" presetClass="entr" presetSubtype="0" fill="hold" grpId="0" nodeType="withEffect">
                                  <p:stCondLst>
                                    <p:cond delay="540"/>
                                  </p:stCondLst>
                                  <p:childTnLst>
                                    <p:set>
                                      <p:cBhvr>
                                        <p:cTn id="108" dur="1" fill="hold">
                                          <p:stCondLst>
                                            <p:cond delay="0"/>
                                          </p:stCondLst>
                                        </p:cTn>
                                        <p:tgtEl>
                                          <p:spTgt spid="39"/>
                                        </p:tgtEl>
                                        <p:attrNameLst>
                                          <p:attrName>style.visibility</p:attrName>
                                        </p:attrNameLst>
                                      </p:cBhvr>
                                      <p:to>
                                        <p:strVal val="visible"/>
                                      </p:to>
                                    </p:set>
                                    <p:animEffect transition="in" filter="fade">
                                      <p:cBhvr>
                                        <p:cTn id="109" dur="500"/>
                                        <p:tgtEl>
                                          <p:spTgt spid="39"/>
                                        </p:tgtEl>
                                      </p:cBhvr>
                                    </p:animEffect>
                                  </p:childTnLst>
                                </p:cTn>
                              </p:par>
                              <p:par>
                                <p:cTn id="110" presetID="10" presetClass="entr" presetSubtype="0" fill="hold" grpId="0" nodeType="withEffect">
                                  <p:stCondLst>
                                    <p:cond delay="720"/>
                                  </p:stCondLst>
                                  <p:childTnLst>
                                    <p:set>
                                      <p:cBhvr>
                                        <p:cTn id="111" dur="1" fill="hold">
                                          <p:stCondLst>
                                            <p:cond delay="0"/>
                                          </p:stCondLst>
                                        </p:cTn>
                                        <p:tgtEl>
                                          <p:spTgt spid="40"/>
                                        </p:tgtEl>
                                        <p:attrNameLst>
                                          <p:attrName>style.visibility</p:attrName>
                                        </p:attrNameLst>
                                      </p:cBhvr>
                                      <p:to>
                                        <p:strVal val="visible"/>
                                      </p:to>
                                    </p:set>
                                    <p:animEffect transition="in" filter="fade">
                                      <p:cBhvr>
                                        <p:cTn id="112" dur="500"/>
                                        <p:tgtEl>
                                          <p:spTgt spid="40"/>
                                        </p:tgtEl>
                                      </p:cBhvr>
                                    </p:animEffect>
                                  </p:childTnLst>
                                </p:cTn>
                              </p:par>
                              <p:par>
                                <p:cTn id="113" presetID="10" presetClass="entr" presetSubtype="0" fill="hold" grpId="0" nodeType="withEffect">
                                  <p:stCondLst>
                                    <p:cond delay="720"/>
                                  </p:stCondLst>
                                  <p:childTnLst>
                                    <p:set>
                                      <p:cBhvr>
                                        <p:cTn id="114" dur="1" fill="hold">
                                          <p:stCondLst>
                                            <p:cond delay="0"/>
                                          </p:stCondLst>
                                        </p:cTn>
                                        <p:tgtEl>
                                          <p:spTgt spid="41"/>
                                        </p:tgtEl>
                                        <p:attrNameLst>
                                          <p:attrName>style.visibility</p:attrName>
                                        </p:attrNameLst>
                                      </p:cBhvr>
                                      <p:to>
                                        <p:strVal val="visible"/>
                                      </p:to>
                                    </p:set>
                                    <p:animEffect transition="in" filter="fade">
                                      <p:cBhvr>
                                        <p:cTn id="115" dur="500"/>
                                        <p:tgtEl>
                                          <p:spTgt spid="41"/>
                                        </p:tgtEl>
                                      </p:cBhvr>
                                    </p:animEffect>
                                  </p:childTnLst>
                                </p:cTn>
                              </p:par>
                              <p:par>
                                <p:cTn id="116" presetID="10" presetClass="entr" presetSubtype="0" fill="hold" grpId="0" nodeType="withEffect">
                                  <p:stCondLst>
                                    <p:cond delay="720"/>
                                  </p:stCondLst>
                                  <p:childTnLst>
                                    <p:set>
                                      <p:cBhvr>
                                        <p:cTn id="117" dur="1" fill="hold">
                                          <p:stCondLst>
                                            <p:cond delay="0"/>
                                          </p:stCondLst>
                                        </p:cTn>
                                        <p:tgtEl>
                                          <p:spTgt spid="42"/>
                                        </p:tgtEl>
                                        <p:attrNameLst>
                                          <p:attrName>style.visibility</p:attrName>
                                        </p:attrNameLst>
                                      </p:cBhvr>
                                      <p:to>
                                        <p:strVal val="visible"/>
                                      </p:to>
                                    </p:set>
                                    <p:animEffect transition="in" filter="fade">
                                      <p:cBhvr>
                                        <p:cTn id="118" dur="500"/>
                                        <p:tgtEl>
                                          <p:spTgt spid="42"/>
                                        </p:tgtEl>
                                      </p:cBhvr>
                                    </p:animEffect>
                                  </p:childTnLst>
                                </p:cTn>
                              </p:par>
                              <p:par>
                                <p:cTn id="119" presetID="10" presetClass="entr" presetSubtype="0" fill="hold" grpId="0" nodeType="withEffect">
                                  <p:stCondLst>
                                    <p:cond delay="900"/>
                                  </p:stCondLst>
                                  <p:childTnLst>
                                    <p:set>
                                      <p:cBhvr>
                                        <p:cTn id="120" dur="1" fill="hold">
                                          <p:stCondLst>
                                            <p:cond delay="0"/>
                                          </p:stCondLst>
                                        </p:cTn>
                                        <p:tgtEl>
                                          <p:spTgt spid="43"/>
                                        </p:tgtEl>
                                        <p:attrNameLst>
                                          <p:attrName>style.visibility</p:attrName>
                                        </p:attrNameLst>
                                      </p:cBhvr>
                                      <p:to>
                                        <p:strVal val="visible"/>
                                      </p:to>
                                    </p:set>
                                    <p:animEffect transition="in" filter="fade">
                                      <p:cBhvr>
                                        <p:cTn id="121" dur="500"/>
                                        <p:tgtEl>
                                          <p:spTgt spid="43"/>
                                        </p:tgtEl>
                                      </p:cBhvr>
                                    </p:animEffect>
                                  </p:childTnLst>
                                </p:cTn>
                              </p:par>
                              <p:par>
                                <p:cTn id="122" presetID="10" presetClass="entr" presetSubtype="0" fill="hold" grpId="0" nodeType="withEffect">
                                  <p:stCondLst>
                                    <p:cond delay="900"/>
                                  </p:stCondLst>
                                  <p:childTnLst>
                                    <p:set>
                                      <p:cBhvr>
                                        <p:cTn id="123" dur="1" fill="hold">
                                          <p:stCondLst>
                                            <p:cond delay="0"/>
                                          </p:stCondLst>
                                        </p:cTn>
                                        <p:tgtEl>
                                          <p:spTgt spid="44"/>
                                        </p:tgtEl>
                                        <p:attrNameLst>
                                          <p:attrName>style.visibility</p:attrName>
                                        </p:attrNameLst>
                                      </p:cBhvr>
                                      <p:to>
                                        <p:strVal val="visible"/>
                                      </p:to>
                                    </p:set>
                                    <p:animEffect transition="in" filter="fade">
                                      <p:cBhvr>
                                        <p:cTn id="124" dur="500"/>
                                        <p:tgtEl>
                                          <p:spTgt spid="44"/>
                                        </p:tgtEl>
                                      </p:cBhvr>
                                    </p:animEffect>
                                  </p:childTnLst>
                                </p:cTn>
                              </p:par>
                              <p:par>
                                <p:cTn id="125" presetID="10" presetClass="entr" presetSubtype="0" fill="hold" grpId="0" nodeType="withEffect">
                                  <p:stCondLst>
                                    <p:cond delay="900"/>
                                  </p:stCondLst>
                                  <p:childTnLst>
                                    <p:set>
                                      <p:cBhvr>
                                        <p:cTn id="126" dur="1" fill="hold">
                                          <p:stCondLst>
                                            <p:cond delay="0"/>
                                          </p:stCondLst>
                                        </p:cTn>
                                        <p:tgtEl>
                                          <p:spTgt spid="45"/>
                                        </p:tgtEl>
                                        <p:attrNameLst>
                                          <p:attrName>style.visibility</p:attrName>
                                        </p:attrNameLst>
                                      </p:cBhvr>
                                      <p:to>
                                        <p:strVal val="visible"/>
                                      </p:to>
                                    </p:set>
                                    <p:animEffect transition="in" filter="fade">
                                      <p:cBhvr>
                                        <p:cTn id="127" dur="500"/>
                                        <p:tgtEl>
                                          <p:spTgt spid="45"/>
                                        </p:tgtEl>
                                      </p:cBhvr>
                                    </p:animEffect>
                                  </p:childTnLst>
                                </p:cTn>
                              </p:par>
                              <p:par>
                                <p:cTn id="128" presetID="10" presetClass="entr" presetSubtype="0" fill="hold" grpId="0" nodeType="withEffect">
                                  <p:stCondLst>
                                    <p:cond delay="1080"/>
                                  </p:stCondLst>
                                  <p:childTnLst>
                                    <p:set>
                                      <p:cBhvr>
                                        <p:cTn id="129" dur="1" fill="hold">
                                          <p:stCondLst>
                                            <p:cond delay="0"/>
                                          </p:stCondLst>
                                        </p:cTn>
                                        <p:tgtEl>
                                          <p:spTgt spid="46"/>
                                        </p:tgtEl>
                                        <p:attrNameLst>
                                          <p:attrName>style.visibility</p:attrName>
                                        </p:attrNameLst>
                                      </p:cBhvr>
                                      <p:to>
                                        <p:strVal val="visible"/>
                                      </p:to>
                                    </p:set>
                                    <p:animEffect transition="in" filter="fade">
                                      <p:cBhvr>
                                        <p:cTn id="130" dur="500"/>
                                        <p:tgtEl>
                                          <p:spTgt spid="46"/>
                                        </p:tgtEl>
                                      </p:cBhvr>
                                    </p:animEffect>
                                  </p:childTnLst>
                                </p:cTn>
                              </p:par>
                              <p:par>
                                <p:cTn id="131" presetID="10" presetClass="entr" presetSubtype="0" fill="hold" grpId="0" nodeType="withEffect">
                                  <p:stCondLst>
                                    <p:cond delay="1080"/>
                                  </p:stCondLst>
                                  <p:childTnLst>
                                    <p:set>
                                      <p:cBhvr>
                                        <p:cTn id="132" dur="1" fill="hold">
                                          <p:stCondLst>
                                            <p:cond delay="0"/>
                                          </p:stCondLst>
                                        </p:cTn>
                                        <p:tgtEl>
                                          <p:spTgt spid="47"/>
                                        </p:tgtEl>
                                        <p:attrNameLst>
                                          <p:attrName>style.visibility</p:attrName>
                                        </p:attrNameLst>
                                      </p:cBhvr>
                                      <p:to>
                                        <p:strVal val="visible"/>
                                      </p:to>
                                    </p:set>
                                    <p:animEffect transition="in" filter="fade">
                                      <p:cBhvr>
                                        <p:cTn id="133" dur="500"/>
                                        <p:tgtEl>
                                          <p:spTgt spid="47"/>
                                        </p:tgtEl>
                                      </p:cBhvr>
                                    </p:animEffect>
                                  </p:childTnLst>
                                </p:cTn>
                              </p:par>
                              <p:par>
                                <p:cTn id="134" presetID="10" presetClass="entr" presetSubtype="0" fill="hold" grpId="0" nodeType="withEffect">
                                  <p:stCondLst>
                                    <p:cond delay="1080"/>
                                  </p:stCondLst>
                                  <p:childTnLst>
                                    <p:set>
                                      <p:cBhvr>
                                        <p:cTn id="135" dur="1" fill="hold">
                                          <p:stCondLst>
                                            <p:cond delay="0"/>
                                          </p:stCondLst>
                                        </p:cTn>
                                        <p:tgtEl>
                                          <p:spTgt spid="48"/>
                                        </p:tgtEl>
                                        <p:attrNameLst>
                                          <p:attrName>style.visibility</p:attrName>
                                        </p:attrNameLst>
                                      </p:cBhvr>
                                      <p:to>
                                        <p:strVal val="visible"/>
                                      </p:to>
                                    </p:set>
                                    <p:animEffect transition="in" filter="fade">
                                      <p:cBhvr>
                                        <p:cTn id="136" dur="500"/>
                                        <p:tgtEl>
                                          <p:spTgt spid="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9" grpId="0" animBg="1"/>
      <p:bldP spid="46" grpId="0" animBg="1"/>
      <p:bldP spid="47" grpId="0" animBg="1"/>
      <p:bldP spid="48"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tmp/claude-0/-home-user-hosting/7c832a48-0979-56aa-9fdf-7d53efb9dc7a/scratchpad/build/imgd/logo-white.png">    </p:cNvPr>
          <p:cNvPicPr>
            <a:picLocks noChangeAspect="1"/>
          </p:cNvPicPr>
          <p:nvPr/>
        </p:nvPicPr>
        <p:blipFill>
          <a:blip r:embed="rId2"/>
          <a:stretch>
            <a:fillRect/>
          </a:stretch>
        </p:blipFill>
        <p:spPr>
          <a:xfrm>
            <a:off x="10414000" y="355600"/>
            <a:ext cx="1270000" cy="304800"/>
          </a:xfrm>
          <a:prstGeom prst="rect">
            <a:avLst/>
          </a:prstGeom>
        </p:spPr>
      </p:pic>
      <p:sp>
        <p:nvSpPr>
          <p:cNvPr id="3" name="Text 0"/>
          <p:cNvSpPr/>
          <p:nvPr/>
        </p:nvSpPr>
        <p:spPr>
          <a:xfrm>
            <a:off x="177800" y="6134100"/>
            <a:ext cx="1270000" cy="571500"/>
          </a:xfrm>
          <a:prstGeom prst="rect">
            <a:avLst/>
          </a:prstGeom>
          <a:noFill/>
          <a:ln/>
        </p:spPr>
        <p:txBody>
          <a:bodyPr wrap="square" lIns="0" tIns="0" rIns="0" bIns="0" rtlCol="0" anchor="ctr"/>
          <a:lstStyle/>
          <a:p>
            <a:pPr indent="0" marL="0">
              <a:buNone/>
            </a:pPr>
            <a:r>
              <a:rPr lang="en-US" sz="3550" b="1" dirty="0">
                <a:solidFill>
                  <a:srgbClr val="3F8FF2">
                    <a:alpha val="30000"/>
                  </a:srgbClr>
                </a:solidFill>
                <a:latin typeface="Plus Jakarta Sans" pitchFamily="34" charset="0"/>
                <a:ea typeface="Plus Jakarta Sans" pitchFamily="34" charset="-122"/>
                <a:cs typeface="Plus Jakarta Sans" pitchFamily="34" charset="-120"/>
              </a:rPr>
              <a:t>05</a:t>
            </a:r>
            <a:endParaRPr lang="en-US" sz="3550" dirty="0"/>
          </a:p>
        </p:txBody>
      </p:sp>
      <p:sp>
        <p:nvSpPr>
          <p:cNvPr id="4" name="Text 1"/>
          <p:cNvSpPr txBox="1"/>
          <p:nvPr/>
        </p:nvSpPr>
        <p:spPr>
          <a:xfrm>
            <a:off x="6604000" y="6477000"/>
            <a:ext cx="5080000" cy="152400"/>
          </a:xfrm>
          <a:prstGeom prst="rect">
            <a:avLst/>
          </a:prstGeom>
          <a:noFill/>
          <a:ln/>
        </p:spPr>
        <p:txBody>
          <a:bodyPr wrap="square" lIns="0" tIns="0" rIns="0" bIns="0" rtlCol="0" anchor="t"/>
          <a:lstStyle/>
          <a:p>
            <a:pPr algn="r" indent="0" marL="0">
              <a:lnSpc>
                <a:spcPct val="112000"/>
              </a:lnSpc>
              <a:buNone/>
            </a:pPr>
            <a:r>
              <a:rPr lang="en-US" sz="750" dirty="0">
                <a:solidFill>
                  <a:srgbClr val="8C93A3"/>
                </a:solidFill>
                <a:latin typeface="Plus Jakarta Sans" pitchFamily="34" charset="0"/>
                <a:ea typeface="Plus Jakarta Sans" pitchFamily="34" charset="-122"/>
                <a:cs typeface="Plus Jakarta Sans" pitchFamily="34" charset="-120"/>
              </a:rPr>
              <a:t>Partner-Confidential · NDA · Programme description only; not a contract</a:t>
            </a:r>
            <a:endParaRPr lang="en-US" sz="750" dirty="0"/>
          </a:p>
        </p:txBody>
      </p:sp>
      <p:pic>
        <p:nvPicPr>
          <p:cNvPr id="5" name="anim-1-1" descr="/tmp/claude-0/-home-user-hosting/7c832a48-0979-56aa-9fdf-7d53efb9dc7a/scratchpad/build/imgd/pointer.png">    </p:cNvPr>
          <p:cNvPicPr>
            <a:picLocks noChangeAspect="1"/>
          </p:cNvPicPr>
          <p:nvPr/>
        </p:nvPicPr>
        <p:blipFill>
          <a:blip r:embed="rId3"/>
          <a:stretch>
            <a:fillRect/>
          </a:stretch>
        </p:blipFill>
        <p:spPr>
          <a:xfrm>
            <a:off x="508000" y="285750"/>
            <a:ext cx="100964" cy="203200"/>
          </a:xfrm>
          <a:prstGeom prst="rect">
            <a:avLst/>
          </a:prstGeom>
        </p:spPr>
      </p:pic>
      <p:sp>
        <p:nvSpPr>
          <p:cNvPr id="6" name="anim-1-2"/>
          <p:cNvSpPr txBox="1"/>
          <p:nvPr/>
        </p:nvSpPr>
        <p:spPr>
          <a:xfrm>
            <a:off x="673100" y="304800"/>
            <a:ext cx="8890000" cy="190500"/>
          </a:xfrm>
          <a:prstGeom prst="rect">
            <a:avLst/>
          </a:prstGeom>
          <a:noFill/>
          <a:ln/>
        </p:spPr>
        <p:txBody>
          <a:bodyPr wrap="square" lIns="0" tIns="0" rIns="0" bIns="0" rtlCol="0" anchor="t"/>
          <a:lstStyle/>
          <a:p>
            <a:pPr algn="l" indent="0" marL="0">
              <a:lnSpc>
                <a:spcPct val="112000"/>
              </a:lnSpc>
              <a:buNone/>
            </a:pPr>
            <a:r>
              <a:rPr lang="en-US" sz="1000" spc="200" kern="0" dirty="0">
                <a:solidFill>
                  <a:srgbClr val="15B6FF"/>
                </a:solidFill>
                <a:latin typeface="Plus Jakarta Sans SemiBold" pitchFamily="34" charset="0"/>
                <a:ea typeface="Plus Jakarta Sans SemiBold" pitchFamily="34" charset="-122"/>
                <a:cs typeface="Plus Jakarta Sans SemiBold" pitchFamily="34" charset="-120"/>
              </a:rPr>
              <a:t>HOW THE PROGRAMME WORKS</a:t>
            </a:r>
            <a:endParaRPr lang="en-US" sz="1000" dirty="0"/>
          </a:p>
        </p:txBody>
      </p:sp>
      <p:sp>
        <p:nvSpPr>
          <p:cNvPr id="7" name="anim-1-3"/>
          <p:cNvSpPr txBox="1"/>
          <p:nvPr/>
        </p:nvSpPr>
        <p:spPr>
          <a:xfrm>
            <a:off x="508000" y="558800"/>
            <a:ext cx="9652000" cy="406400"/>
          </a:xfrm>
          <a:prstGeom prst="rect">
            <a:avLst/>
          </a:prstGeom>
          <a:noFill/>
          <a:ln/>
        </p:spPr>
        <p:txBody>
          <a:bodyPr wrap="square" lIns="0" tIns="0" rIns="0" bIns="0" rtlCol="0" anchor="ctr"/>
          <a:lstStyle/>
          <a:p>
            <a:pPr algn="l" indent="0" marL="0">
              <a:lnSpc>
                <a:spcPct val="112000"/>
              </a:lnSpc>
              <a:buNone/>
            </a:pPr>
            <a:r>
              <a:rPr lang="en-US" sz="2000" b="1" dirty="0">
                <a:solidFill>
                  <a:srgbClr val="FFFFFF"/>
                </a:solidFill>
                <a:latin typeface="Plus Jakarta Sans" pitchFamily="34" charset="0"/>
                <a:ea typeface="Plus Jakarta Sans" pitchFamily="34" charset="-122"/>
                <a:cs typeface="Plus Jakarta Sans" pitchFamily="34" charset="-120"/>
              </a:rPr>
              <a:t>Global by design, applied </a:t>
            </a:r>
            <a:pPr algn="l" indent="0" marL="0">
              <a:lnSpc>
                <a:spcPct val="112000"/>
              </a:lnSpc>
              <a:buNone/>
            </a:pPr>
            <a:r>
              <a:rPr lang="en-US" sz="2000" b="1" i="1" dirty="0">
                <a:solidFill>
                  <a:srgbClr val="15B6FF"/>
                </a:solidFill>
                <a:latin typeface="Plus Jakarta Sans Light" pitchFamily="34" charset="0"/>
                <a:ea typeface="Plus Jakarta Sans Light" pitchFamily="34" charset="-122"/>
                <a:cs typeface="Plus Jakarta Sans Light" pitchFamily="34" charset="-120"/>
              </a:rPr>
              <a:t>locally</a:t>
            </a:r>
            <a:pPr algn="l" indent="0" marL="0">
              <a:lnSpc>
                <a:spcPct val="112000"/>
              </a:lnSpc>
              <a:buNone/>
            </a:pPr>
            <a:r>
              <a:rPr lang="en-US" sz="2000" b="1" dirty="0">
                <a:solidFill>
                  <a:srgbClr val="FFFFFF"/>
                </a:solidFill>
                <a:latin typeface="Plus Jakarta Sans" pitchFamily="34" charset="0"/>
                <a:ea typeface="Plus Jakarta Sans" pitchFamily="34" charset="-122"/>
                <a:cs typeface="Plus Jakarta Sans" pitchFamily="34" charset="-120"/>
              </a:rPr>
              <a:t>, with trust in every motion</a:t>
            </a:r>
            <a:endParaRPr lang="en-US" sz="2000" dirty="0"/>
          </a:p>
        </p:txBody>
      </p:sp>
      <p:sp>
        <p:nvSpPr>
          <p:cNvPr id="8" name="anim-2-4"/>
          <p:cNvSpPr/>
          <p:nvPr/>
        </p:nvSpPr>
        <p:spPr>
          <a:xfrm>
            <a:off x="508000" y="1308100"/>
            <a:ext cx="2113280" cy="2540000"/>
          </a:xfrm>
          <a:prstGeom prst="roundRect">
            <a:avLst>
              <a:gd name="adj" fmla="val 9615"/>
            </a:avLst>
          </a:prstGeom>
          <a:solidFill>
            <a:srgbClr val="FFFFFF">
              <a:alpha val="5000"/>
            </a:srgbClr>
          </a:solidFill>
          <a:ln w="9525">
            <a:solidFill>
              <a:srgbClr val="FFFFFF">
                <a:alpha val="12000"/>
              </a:srgbClr>
            </a:solidFill>
            <a:prstDash val="solid"/>
          </a:ln>
        </p:spPr>
      </p:sp>
      <p:sp>
        <p:nvSpPr>
          <p:cNvPr id="9" name="anim-2-5"/>
          <p:cNvSpPr txBox="1"/>
          <p:nvPr/>
        </p:nvSpPr>
        <p:spPr>
          <a:xfrm>
            <a:off x="685800" y="1460500"/>
            <a:ext cx="762000" cy="317500"/>
          </a:xfrm>
          <a:prstGeom prst="rect">
            <a:avLst/>
          </a:prstGeom>
          <a:noFill/>
          <a:ln/>
        </p:spPr>
        <p:txBody>
          <a:bodyPr wrap="square" lIns="0" tIns="0" rIns="0" bIns="0" rtlCol="0" anchor="t"/>
          <a:lstStyle/>
          <a:p>
            <a:pPr algn="l" indent="0" marL="0">
              <a:lnSpc>
                <a:spcPct val="112000"/>
              </a:lnSpc>
              <a:buNone/>
            </a:pPr>
            <a:r>
              <a:rPr lang="en-US" sz="2000" dirty="0">
                <a:solidFill>
                  <a:srgbClr val="15B6FF"/>
                </a:solidFill>
                <a:latin typeface="Plus Jakarta Sans Light" pitchFamily="34" charset="0"/>
                <a:ea typeface="Plus Jakarta Sans Light" pitchFamily="34" charset="-122"/>
                <a:cs typeface="Plus Jakarta Sans Light" pitchFamily="34" charset="-120"/>
              </a:rPr>
              <a:t>01</a:t>
            </a:r>
            <a:endParaRPr lang="en-US" sz="2000" dirty="0"/>
          </a:p>
        </p:txBody>
      </p:sp>
      <p:sp>
        <p:nvSpPr>
          <p:cNvPr id="10" name="anim-2-6"/>
          <p:cNvSpPr txBox="1"/>
          <p:nvPr/>
        </p:nvSpPr>
        <p:spPr>
          <a:xfrm>
            <a:off x="685800" y="1854200"/>
            <a:ext cx="1757680" cy="609600"/>
          </a:xfrm>
          <a:prstGeom prst="rect">
            <a:avLst/>
          </a:prstGeom>
          <a:noFill/>
          <a:ln/>
        </p:spPr>
        <p:txBody>
          <a:bodyPr wrap="square" lIns="0" tIns="0" rIns="0" bIns="0" rtlCol="0" anchor="t"/>
          <a:lstStyle/>
          <a:p>
            <a:pPr algn="l" indent="0" marL="0">
              <a:lnSpc>
                <a:spcPct val="112000"/>
              </a:lnSpc>
              <a:buNone/>
            </a:pPr>
            <a:r>
              <a:rPr lang="en-US" sz="1250" b="1" dirty="0">
                <a:solidFill>
                  <a:srgbClr val="FFFFFF"/>
                </a:solidFill>
                <a:latin typeface="Plus Jakarta Sans" pitchFamily="34" charset="0"/>
                <a:ea typeface="Plus Jakarta Sans" pitchFamily="34" charset="-122"/>
                <a:cs typeface="Plus Jakarta Sans" pitchFamily="34" charset="-120"/>
              </a:rPr>
              <a:t>Partner-led growth</a:t>
            </a:r>
            <a:endParaRPr lang="en-US" sz="1250" dirty="0"/>
          </a:p>
        </p:txBody>
      </p:sp>
      <p:sp>
        <p:nvSpPr>
          <p:cNvPr id="11" name="anim-2-7"/>
          <p:cNvSpPr txBox="1"/>
          <p:nvPr/>
        </p:nvSpPr>
        <p:spPr>
          <a:xfrm>
            <a:off x="685800" y="2540000"/>
            <a:ext cx="1757680" cy="1270000"/>
          </a:xfrm>
          <a:prstGeom prst="rect">
            <a:avLst/>
          </a:prstGeom>
          <a:noFill/>
          <a:ln/>
        </p:spPr>
        <p:txBody>
          <a:bodyPr wrap="square" lIns="0" tIns="0" rIns="0" bIns="0" rtlCol="0" anchor="t"/>
          <a:lstStyle/>
          <a:p>
            <a:pPr algn="l" indent="0" marL="0">
              <a:lnSpc>
                <a:spcPct val="120000"/>
              </a:lnSpc>
              <a:buNone/>
            </a:pPr>
            <a:r>
              <a:rPr lang="en-US" sz="900" dirty="0">
                <a:solidFill>
                  <a:srgbClr val="C3C8D1"/>
                </a:solidFill>
                <a:latin typeface="Plus Jakarta Sans" pitchFamily="34" charset="0"/>
                <a:ea typeface="Plus Jakarta Sans" pitchFamily="34" charset="-122"/>
                <a:cs typeface="Plus Jakarta Sans" pitchFamily="34" charset="-120"/>
              </a:rPr>
              <a:t>DignifyX rewards partners that create qualified opportunities, drive value, support implementation and contribute to customer success.</a:t>
            </a:r>
            <a:endParaRPr lang="en-US" sz="900" dirty="0"/>
          </a:p>
        </p:txBody>
      </p:sp>
      <p:sp>
        <p:nvSpPr>
          <p:cNvPr id="12" name="anim-3-8"/>
          <p:cNvSpPr/>
          <p:nvPr/>
        </p:nvSpPr>
        <p:spPr>
          <a:xfrm>
            <a:off x="2773680" y="1308100"/>
            <a:ext cx="2113280" cy="2540000"/>
          </a:xfrm>
          <a:prstGeom prst="roundRect">
            <a:avLst>
              <a:gd name="adj" fmla="val 9615"/>
            </a:avLst>
          </a:prstGeom>
          <a:solidFill>
            <a:srgbClr val="FFFFFF">
              <a:alpha val="5000"/>
            </a:srgbClr>
          </a:solidFill>
          <a:ln w="9525">
            <a:solidFill>
              <a:srgbClr val="FFFFFF">
                <a:alpha val="12000"/>
              </a:srgbClr>
            </a:solidFill>
            <a:prstDash val="solid"/>
          </a:ln>
        </p:spPr>
      </p:sp>
      <p:sp>
        <p:nvSpPr>
          <p:cNvPr id="13" name="anim-3-9"/>
          <p:cNvSpPr txBox="1"/>
          <p:nvPr/>
        </p:nvSpPr>
        <p:spPr>
          <a:xfrm>
            <a:off x="2951480" y="1460500"/>
            <a:ext cx="762000" cy="317500"/>
          </a:xfrm>
          <a:prstGeom prst="rect">
            <a:avLst/>
          </a:prstGeom>
          <a:noFill/>
          <a:ln/>
        </p:spPr>
        <p:txBody>
          <a:bodyPr wrap="square" lIns="0" tIns="0" rIns="0" bIns="0" rtlCol="0" anchor="t"/>
          <a:lstStyle/>
          <a:p>
            <a:pPr algn="l" indent="0" marL="0">
              <a:lnSpc>
                <a:spcPct val="112000"/>
              </a:lnSpc>
              <a:buNone/>
            </a:pPr>
            <a:r>
              <a:rPr lang="en-US" sz="2000" dirty="0">
                <a:solidFill>
                  <a:srgbClr val="15B6FF"/>
                </a:solidFill>
                <a:latin typeface="Plus Jakarta Sans Light" pitchFamily="34" charset="0"/>
                <a:ea typeface="Plus Jakarta Sans Light" pitchFamily="34" charset="-122"/>
                <a:cs typeface="Plus Jakarta Sans Light" pitchFamily="34" charset="-120"/>
              </a:rPr>
              <a:t>02</a:t>
            </a:r>
            <a:endParaRPr lang="en-US" sz="2000" dirty="0"/>
          </a:p>
        </p:txBody>
      </p:sp>
      <p:sp>
        <p:nvSpPr>
          <p:cNvPr id="14" name="anim-3-10"/>
          <p:cNvSpPr txBox="1"/>
          <p:nvPr/>
        </p:nvSpPr>
        <p:spPr>
          <a:xfrm>
            <a:off x="2951480" y="1854200"/>
            <a:ext cx="1757680" cy="609600"/>
          </a:xfrm>
          <a:prstGeom prst="rect">
            <a:avLst/>
          </a:prstGeom>
          <a:noFill/>
          <a:ln/>
        </p:spPr>
        <p:txBody>
          <a:bodyPr wrap="square" lIns="0" tIns="0" rIns="0" bIns="0" rtlCol="0" anchor="t"/>
          <a:lstStyle/>
          <a:p>
            <a:pPr algn="l" indent="0" marL="0">
              <a:lnSpc>
                <a:spcPct val="112000"/>
              </a:lnSpc>
              <a:buNone/>
            </a:pPr>
            <a:r>
              <a:rPr lang="en-US" sz="1250" b="1" dirty="0">
                <a:solidFill>
                  <a:srgbClr val="FFFFFF"/>
                </a:solidFill>
                <a:latin typeface="Plus Jakarta Sans" pitchFamily="34" charset="0"/>
                <a:ea typeface="Plus Jakarta Sans" pitchFamily="34" charset="-122"/>
                <a:cs typeface="Plus Jakarta Sans" pitchFamily="34" charset="-120"/>
              </a:rPr>
              <a:t>Specialisation over volume</a:t>
            </a:r>
            <a:endParaRPr lang="en-US" sz="1250" dirty="0"/>
          </a:p>
        </p:txBody>
      </p:sp>
      <p:sp>
        <p:nvSpPr>
          <p:cNvPr id="15" name="anim-3-11"/>
          <p:cNvSpPr txBox="1"/>
          <p:nvPr/>
        </p:nvSpPr>
        <p:spPr>
          <a:xfrm>
            <a:off x="2951480" y="2540000"/>
            <a:ext cx="1757680" cy="1270000"/>
          </a:xfrm>
          <a:prstGeom prst="rect">
            <a:avLst/>
          </a:prstGeom>
          <a:noFill/>
          <a:ln/>
        </p:spPr>
        <p:txBody>
          <a:bodyPr wrap="square" lIns="0" tIns="0" rIns="0" bIns="0" rtlCol="0" anchor="t"/>
          <a:lstStyle/>
          <a:p>
            <a:pPr algn="l" indent="0" marL="0">
              <a:lnSpc>
                <a:spcPct val="120000"/>
              </a:lnSpc>
              <a:buNone/>
            </a:pPr>
            <a:r>
              <a:rPr lang="en-US" sz="900" dirty="0">
                <a:solidFill>
                  <a:srgbClr val="C3C8D1"/>
                </a:solidFill>
                <a:latin typeface="Plus Jakarta Sans" pitchFamily="34" charset="0"/>
                <a:ea typeface="Plus Jakarta Sans" pitchFamily="34" charset="-122"/>
                <a:cs typeface="Plus Jakarta Sans" pitchFamily="34" charset="-120"/>
              </a:rPr>
              <a:t>We prioritise domain expertise, regulatory awareness, delivery quality, agency access and customer trust.</a:t>
            </a:r>
            <a:endParaRPr lang="en-US" sz="900" dirty="0"/>
          </a:p>
        </p:txBody>
      </p:sp>
      <p:sp>
        <p:nvSpPr>
          <p:cNvPr id="16" name="anim-4-12"/>
          <p:cNvSpPr/>
          <p:nvPr/>
        </p:nvSpPr>
        <p:spPr>
          <a:xfrm>
            <a:off x="5039360" y="1308100"/>
            <a:ext cx="2113280" cy="2540000"/>
          </a:xfrm>
          <a:prstGeom prst="roundRect">
            <a:avLst>
              <a:gd name="adj" fmla="val 9615"/>
            </a:avLst>
          </a:prstGeom>
          <a:solidFill>
            <a:srgbClr val="FFFFFF">
              <a:alpha val="5000"/>
            </a:srgbClr>
          </a:solidFill>
          <a:ln w="9525">
            <a:solidFill>
              <a:srgbClr val="FFFFFF">
                <a:alpha val="12000"/>
              </a:srgbClr>
            </a:solidFill>
            <a:prstDash val="solid"/>
          </a:ln>
        </p:spPr>
      </p:sp>
      <p:sp>
        <p:nvSpPr>
          <p:cNvPr id="17" name="anim-4-13"/>
          <p:cNvSpPr txBox="1"/>
          <p:nvPr/>
        </p:nvSpPr>
        <p:spPr>
          <a:xfrm>
            <a:off x="5217160" y="1460500"/>
            <a:ext cx="762000" cy="317500"/>
          </a:xfrm>
          <a:prstGeom prst="rect">
            <a:avLst/>
          </a:prstGeom>
          <a:noFill/>
          <a:ln/>
        </p:spPr>
        <p:txBody>
          <a:bodyPr wrap="square" lIns="0" tIns="0" rIns="0" bIns="0" rtlCol="0" anchor="t"/>
          <a:lstStyle/>
          <a:p>
            <a:pPr algn="l" indent="0" marL="0">
              <a:lnSpc>
                <a:spcPct val="112000"/>
              </a:lnSpc>
              <a:buNone/>
            </a:pPr>
            <a:r>
              <a:rPr lang="en-US" sz="2000" dirty="0">
                <a:solidFill>
                  <a:srgbClr val="15B6FF"/>
                </a:solidFill>
                <a:latin typeface="Plus Jakarta Sans Light" pitchFamily="34" charset="0"/>
                <a:ea typeface="Plus Jakarta Sans Light" pitchFamily="34" charset="-122"/>
                <a:cs typeface="Plus Jakarta Sans Light" pitchFamily="34" charset="-120"/>
              </a:rPr>
              <a:t>03</a:t>
            </a:r>
            <a:endParaRPr lang="en-US" sz="2000" dirty="0"/>
          </a:p>
        </p:txBody>
      </p:sp>
      <p:sp>
        <p:nvSpPr>
          <p:cNvPr id="18" name="anim-4-14"/>
          <p:cNvSpPr txBox="1"/>
          <p:nvPr/>
        </p:nvSpPr>
        <p:spPr>
          <a:xfrm>
            <a:off x="5217160" y="1854200"/>
            <a:ext cx="1757680" cy="609600"/>
          </a:xfrm>
          <a:prstGeom prst="rect">
            <a:avLst/>
          </a:prstGeom>
          <a:noFill/>
          <a:ln/>
        </p:spPr>
        <p:txBody>
          <a:bodyPr wrap="square" lIns="0" tIns="0" rIns="0" bIns="0" rtlCol="0" anchor="t"/>
          <a:lstStyle/>
          <a:p>
            <a:pPr algn="l" indent="0" marL="0">
              <a:lnSpc>
                <a:spcPct val="112000"/>
              </a:lnSpc>
              <a:buNone/>
            </a:pPr>
            <a:r>
              <a:rPr lang="en-US" sz="1250" b="1" dirty="0">
                <a:solidFill>
                  <a:srgbClr val="FFFFFF"/>
                </a:solidFill>
                <a:latin typeface="Plus Jakarta Sans" pitchFamily="34" charset="0"/>
                <a:ea typeface="Plus Jakarta Sans" pitchFamily="34" charset="-122"/>
                <a:cs typeface="Plus Jakarta Sans" pitchFamily="34" charset="-120"/>
              </a:rPr>
              <a:t>Global consistency, local flexibility</a:t>
            </a:r>
            <a:endParaRPr lang="en-US" sz="1250" dirty="0"/>
          </a:p>
        </p:txBody>
      </p:sp>
      <p:sp>
        <p:nvSpPr>
          <p:cNvPr id="19" name="anim-4-15"/>
          <p:cNvSpPr txBox="1"/>
          <p:nvPr/>
        </p:nvSpPr>
        <p:spPr>
          <a:xfrm>
            <a:off x="5217160" y="2540000"/>
            <a:ext cx="1757680" cy="1270000"/>
          </a:xfrm>
          <a:prstGeom prst="rect">
            <a:avLst/>
          </a:prstGeom>
          <a:noFill/>
          <a:ln/>
        </p:spPr>
        <p:txBody>
          <a:bodyPr wrap="square" lIns="0" tIns="0" rIns="0" bIns="0" rtlCol="0" anchor="t"/>
          <a:lstStyle/>
          <a:p>
            <a:pPr algn="l" indent="0" marL="0">
              <a:lnSpc>
                <a:spcPct val="120000"/>
              </a:lnSpc>
              <a:buNone/>
            </a:pPr>
            <a:r>
              <a:rPr lang="en-US" sz="900" dirty="0">
                <a:solidFill>
                  <a:srgbClr val="C3C8D1"/>
                </a:solidFill>
                <a:latin typeface="Plus Jakarta Sans" pitchFamily="34" charset="0"/>
                <a:ea typeface="Plus Jakarta Sans" pitchFamily="34" charset="-122"/>
                <a:cs typeface="Plus Jakarta Sans" pitchFamily="34" charset="-120"/>
              </a:rPr>
              <a:t>One structure globally; local law, tax, procurement, data residency, currency and contracting handled country by country.</a:t>
            </a:r>
            <a:endParaRPr lang="en-US" sz="900" dirty="0"/>
          </a:p>
        </p:txBody>
      </p:sp>
      <p:sp>
        <p:nvSpPr>
          <p:cNvPr id="20" name="anim-5-16"/>
          <p:cNvSpPr/>
          <p:nvPr/>
        </p:nvSpPr>
        <p:spPr>
          <a:xfrm>
            <a:off x="7305040" y="1308100"/>
            <a:ext cx="2113280" cy="2540000"/>
          </a:xfrm>
          <a:prstGeom prst="roundRect">
            <a:avLst>
              <a:gd name="adj" fmla="val 9615"/>
            </a:avLst>
          </a:prstGeom>
          <a:solidFill>
            <a:srgbClr val="FFFFFF">
              <a:alpha val="5000"/>
            </a:srgbClr>
          </a:solidFill>
          <a:ln w="9525">
            <a:solidFill>
              <a:srgbClr val="FFFFFF">
                <a:alpha val="12000"/>
              </a:srgbClr>
            </a:solidFill>
            <a:prstDash val="solid"/>
          </a:ln>
        </p:spPr>
      </p:sp>
      <p:sp>
        <p:nvSpPr>
          <p:cNvPr id="21" name="anim-5-17"/>
          <p:cNvSpPr txBox="1"/>
          <p:nvPr/>
        </p:nvSpPr>
        <p:spPr>
          <a:xfrm>
            <a:off x="7482840" y="1460500"/>
            <a:ext cx="762000" cy="317500"/>
          </a:xfrm>
          <a:prstGeom prst="rect">
            <a:avLst/>
          </a:prstGeom>
          <a:noFill/>
          <a:ln/>
        </p:spPr>
        <p:txBody>
          <a:bodyPr wrap="square" lIns="0" tIns="0" rIns="0" bIns="0" rtlCol="0" anchor="t"/>
          <a:lstStyle/>
          <a:p>
            <a:pPr algn="l" indent="0" marL="0">
              <a:lnSpc>
                <a:spcPct val="112000"/>
              </a:lnSpc>
              <a:buNone/>
            </a:pPr>
            <a:r>
              <a:rPr lang="en-US" sz="2000" dirty="0">
                <a:solidFill>
                  <a:srgbClr val="15B6FF"/>
                </a:solidFill>
                <a:latin typeface="Plus Jakarta Sans Light" pitchFamily="34" charset="0"/>
                <a:ea typeface="Plus Jakarta Sans Light" pitchFamily="34" charset="-122"/>
                <a:cs typeface="Plus Jakarta Sans Light" pitchFamily="34" charset="-120"/>
              </a:rPr>
              <a:t>04</a:t>
            </a:r>
            <a:endParaRPr lang="en-US" sz="2000" dirty="0"/>
          </a:p>
        </p:txBody>
      </p:sp>
      <p:sp>
        <p:nvSpPr>
          <p:cNvPr id="22" name="anim-5-18"/>
          <p:cNvSpPr txBox="1"/>
          <p:nvPr/>
        </p:nvSpPr>
        <p:spPr>
          <a:xfrm>
            <a:off x="7482840" y="1854200"/>
            <a:ext cx="1757680" cy="609600"/>
          </a:xfrm>
          <a:prstGeom prst="rect">
            <a:avLst/>
          </a:prstGeom>
          <a:noFill/>
          <a:ln/>
        </p:spPr>
        <p:txBody>
          <a:bodyPr wrap="square" lIns="0" tIns="0" rIns="0" bIns="0" rtlCol="0" anchor="t"/>
          <a:lstStyle/>
          <a:p>
            <a:pPr algn="l" indent="0" marL="0">
              <a:lnSpc>
                <a:spcPct val="112000"/>
              </a:lnSpc>
              <a:buNone/>
            </a:pPr>
            <a:r>
              <a:rPr lang="en-US" sz="1250" b="1" dirty="0">
                <a:solidFill>
                  <a:srgbClr val="FFFFFF"/>
                </a:solidFill>
                <a:latin typeface="Plus Jakarta Sans" pitchFamily="34" charset="0"/>
                <a:ea typeface="Plus Jakarta Sans" pitchFamily="34" charset="-122"/>
                <a:cs typeface="Plus Jakarta Sans" pitchFamily="34" charset="-120"/>
              </a:rPr>
              <a:t>Trust &amp; compliance by design</a:t>
            </a:r>
            <a:endParaRPr lang="en-US" sz="1250" dirty="0"/>
          </a:p>
        </p:txBody>
      </p:sp>
      <p:sp>
        <p:nvSpPr>
          <p:cNvPr id="23" name="anim-5-19"/>
          <p:cNvSpPr txBox="1"/>
          <p:nvPr/>
        </p:nvSpPr>
        <p:spPr>
          <a:xfrm>
            <a:off x="7482840" y="2540000"/>
            <a:ext cx="1757680" cy="1270000"/>
          </a:xfrm>
          <a:prstGeom prst="rect">
            <a:avLst/>
          </a:prstGeom>
          <a:noFill/>
          <a:ln/>
        </p:spPr>
        <p:txBody>
          <a:bodyPr wrap="square" lIns="0" tIns="0" rIns="0" bIns="0" rtlCol="0" anchor="t"/>
          <a:lstStyle/>
          <a:p>
            <a:pPr algn="l" indent="0" marL="0">
              <a:lnSpc>
                <a:spcPct val="120000"/>
              </a:lnSpc>
              <a:buNone/>
            </a:pPr>
            <a:r>
              <a:rPr lang="en-US" sz="900" dirty="0">
                <a:solidFill>
                  <a:srgbClr val="C3C8D1"/>
                </a:solidFill>
                <a:latin typeface="Plus Jakarta Sans" pitchFamily="34" charset="0"/>
                <a:ea typeface="Plus Jakarta Sans" pitchFamily="34" charset="-122"/>
                <a:cs typeface="Plus Jakarta Sans" pitchFamily="34" charset="-120"/>
              </a:rPr>
              <a:t>Partners follow approved messaging, pricing, data use, customer communication, procurement and responsible-AI rules.</a:t>
            </a:r>
            <a:endParaRPr lang="en-US" sz="900" dirty="0"/>
          </a:p>
        </p:txBody>
      </p:sp>
      <p:sp>
        <p:nvSpPr>
          <p:cNvPr id="24" name="anim-6-20"/>
          <p:cNvSpPr/>
          <p:nvPr/>
        </p:nvSpPr>
        <p:spPr>
          <a:xfrm>
            <a:off x="9570720" y="1308100"/>
            <a:ext cx="2113280" cy="2540000"/>
          </a:xfrm>
          <a:prstGeom prst="roundRect">
            <a:avLst>
              <a:gd name="adj" fmla="val 9615"/>
            </a:avLst>
          </a:prstGeom>
          <a:solidFill>
            <a:srgbClr val="FFFFFF">
              <a:alpha val="5000"/>
            </a:srgbClr>
          </a:solidFill>
          <a:ln w="9525">
            <a:solidFill>
              <a:srgbClr val="FFFFFF">
                <a:alpha val="12000"/>
              </a:srgbClr>
            </a:solidFill>
            <a:prstDash val="solid"/>
          </a:ln>
        </p:spPr>
      </p:sp>
      <p:sp>
        <p:nvSpPr>
          <p:cNvPr id="25" name="anim-6-21"/>
          <p:cNvSpPr txBox="1"/>
          <p:nvPr/>
        </p:nvSpPr>
        <p:spPr>
          <a:xfrm>
            <a:off x="9748520" y="1460500"/>
            <a:ext cx="762000" cy="317500"/>
          </a:xfrm>
          <a:prstGeom prst="rect">
            <a:avLst/>
          </a:prstGeom>
          <a:noFill/>
          <a:ln/>
        </p:spPr>
        <p:txBody>
          <a:bodyPr wrap="square" lIns="0" tIns="0" rIns="0" bIns="0" rtlCol="0" anchor="t"/>
          <a:lstStyle/>
          <a:p>
            <a:pPr algn="l" indent="0" marL="0">
              <a:lnSpc>
                <a:spcPct val="112000"/>
              </a:lnSpc>
              <a:buNone/>
            </a:pPr>
            <a:r>
              <a:rPr lang="en-US" sz="2000" dirty="0">
                <a:solidFill>
                  <a:srgbClr val="15B6FF"/>
                </a:solidFill>
                <a:latin typeface="Plus Jakarta Sans Light" pitchFamily="34" charset="0"/>
                <a:ea typeface="Plus Jakarta Sans Light" pitchFamily="34" charset="-122"/>
                <a:cs typeface="Plus Jakarta Sans Light" pitchFamily="34" charset="-120"/>
              </a:rPr>
              <a:t>05</a:t>
            </a:r>
            <a:endParaRPr lang="en-US" sz="2000" dirty="0"/>
          </a:p>
        </p:txBody>
      </p:sp>
      <p:sp>
        <p:nvSpPr>
          <p:cNvPr id="26" name="anim-6-22"/>
          <p:cNvSpPr txBox="1"/>
          <p:nvPr/>
        </p:nvSpPr>
        <p:spPr>
          <a:xfrm>
            <a:off x="9748520" y="1854200"/>
            <a:ext cx="1757680" cy="609600"/>
          </a:xfrm>
          <a:prstGeom prst="rect">
            <a:avLst/>
          </a:prstGeom>
          <a:noFill/>
          <a:ln/>
        </p:spPr>
        <p:txBody>
          <a:bodyPr wrap="square" lIns="0" tIns="0" rIns="0" bIns="0" rtlCol="0" anchor="t"/>
          <a:lstStyle/>
          <a:p>
            <a:pPr algn="l" indent="0" marL="0">
              <a:lnSpc>
                <a:spcPct val="112000"/>
              </a:lnSpc>
              <a:buNone/>
            </a:pPr>
            <a:r>
              <a:rPr lang="en-US" sz="1250" b="1" dirty="0">
                <a:solidFill>
                  <a:srgbClr val="FFFFFF"/>
                </a:solidFill>
                <a:latin typeface="Plus Jakarta Sans" pitchFamily="34" charset="0"/>
                <a:ea typeface="Plus Jakarta Sans" pitchFamily="34" charset="-122"/>
                <a:cs typeface="Plus Jakarta Sans" pitchFamily="34" charset="-120"/>
              </a:rPr>
              <a:t>Customer success before commission</a:t>
            </a:r>
            <a:endParaRPr lang="en-US" sz="1250" dirty="0"/>
          </a:p>
        </p:txBody>
      </p:sp>
      <p:sp>
        <p:nvSpPr>
          <p:cNvPr id="27" name="anim-6-23"/>
          <p:cNvSpPr txBox="1"/>
          <p:nvPr/>
        </p:nvSpPr>
        <p:spPr>
          <a:xfrm>
            <a:off x="9748520" y="2540000"/>
            <a:ext cx="1757680" cy="1270000"/>
          </a:xfrm>
          <a:prstGeom prst="rect">
            <a:avLst/>
          </a:prstGeom>
          <a:noFill/>
          <a:ln/>
        </p:spPr>
        <p:txBody>
          <a:bodyPr wrap="square" lIns="0" tIns="0" rIns="0" bIns="0" rtlCol="0" anchor="t"/>
          <a:lstStyle/>
          <a:p>
            <a:pPr algn="l" indent="0" marL="0">
              <a:lnSpc>
                <a:spcPct val="120000"/>
              </a:lnSpc>
              <a:buNone/>
            </a:pPr>
            <a:r>
              <a:rPr lang="en-US" sz="900" dirty="0">
                <a:solidFill>
                  <a:srgbClr val="C3C8D1"/>
                </a:solidFill>
                <a:latin typeface="Plus Jakarta Sans" pitchFamily="34" charset="0"/>
                <a:ea typeface="Plus Jakarta Sans" pitchFamily="34" charset="-122"/>
                <a:cs typeface="Plus Jakarta Sans" pitchFamily="34" charset="-120"/>
              </a:rPr>
              <a:t>Long-term value depends on customer outcomes, adoption, support quality and renewal and expansion contribution.</a:t>
            </a:r>
            <a:endParaRPr lang="en-US" sz="900" dirty="0"/>
          </a:p>
        </p:txBody>
      </p:sp>
      <p:sp>
        <p:nvSpPr>
          <p:cNvPr id="28" name="anim-7-24"/>
          <p:cNvSpPr/>
          <p:nvPr/>
        </p:nvSpPr>
        <p:spPr>
          <a:xfrm>
            <a:off x="508000" y="4000500"/>
            <a:ext cx="11176000" cy="1511300"/>
          </a:xfrm>
          <a:prstGeom prst="roundRect">
            <a:avLst>
              <a:gd name="adj" fmla="val 11765"/>
            </a:avLst>
          </a:prstGeom>
          <a:solidFill>
            <a:srgbClr val="194EFF">
              <a:alpha val="30000"/>
            </a:srgbClr>
          </a:solidFill>
          <a:ln w="15875">
            <a:solidFill>
              <a:srgbClr val="194EFF"/>
            </a:solidFill>
            <a:prstDash val="solid"/>
          </a:ln>
        </p:spPr>
      </p:sp>
      <p:sp>
        <p:nvSpPr>
          <p:cNvPr id="29" name="anim-7-25"/>
          <p:cNvSpPr txBox="1"/>
          <p:nvPr/>
        </p:nvSpPr>
        <p:spPr>
          <a:xfrm>
            <a:off x="762000" y="4191000"/>
            <a:ext cx="1524000" cy="254000"/>
          </a:xfrm>
          <a:prstGeom prst="rect">
            <a:avLst/>
          </a:prstGeom>
          <a:noFill/>
          <a:ln/>
        </p:spPr>
        <p:txBody>
          <a:bodyPr wrap="square" lIns="0" tIns="0" rIns="0" bIns="0" rtlCol="0" anchor="t"/>
          <a:lstStyle/>
          <a:p>
            <a:pPr algn="l" indent="0" marL="0">
              <a:lnSpc>
                <a:spcPct val="112000"/>
              </a:lnSpc>
              <a:buNone/>
            </a:pPr>
            <a:r>
              <a:rPr lang="en-US" sz="1500" b="1" dirty="0">
                <a:solidFill>
                  <a:srgbClr val="15B6FF"/>
                </a:solidFill>
                <a:latin typeface="Plus Jakarta Sans" pitchFamily="34" charset="0"/>
                <a:ea typeface="Plus Jakarta Sans" pitchFamily="34" charset="-122"/>
                <a:cs typeface="Plus Jakarta Sans" pitchFamily="34" charset="-120"/>
              </a:rPr>
              <a:t>Scope</a:t>
            </a:r>
            <a:endParaRPr lang="en-US" sz="1500" dirty="0"/>
          </a:p>
        </p:txBody>
      </p:sp>
      <p:sp>
        <p:nvSpPr>
          <p:cNvPr id="30" name="anim-7-26"/>
          <p:cNvSpPr txBox="1"/>
          <p:nvPr/>
        </p:nvSpPr>
        <p:spPr>
          <a:xfrm>
            <a:off x="2413000" y="4165600"/>
            <a:ext cx="9017000" cy="1244600"/>
          </a:xfrm>
          <a:prstGeom prst="rect">
            <a:avLst/>
          </a:prstGeom>
          <a:noFill/>
          <a:ln/>
        </p:spPr>
        <p:txBody>
          <a:bodyPr wrap="square" lIns="0" tIns="0" rIns="0" bIns="0" rtlCol="0" anchor="t"/>
          <a:lstStyle/>
          <a:p>
            <a:pPr algn="l" indent="0" marL="0">
              <a:lnSpc>
                <a:spcPct val="125000"/>
              </a:lnSpc>
              <a:buNone/>
            </a:pPr>
            <a:r>
              <a:rPr lang="en-US" sz="950" dirty="0">
                <a:solidFill>
                  <a:srgbClr val="FFFFFF"/>
                </a:solidFill>
                <a:latin typeface="Plus Jakarta Sans" pitchFamily="34" charset="0"/>
                <a:ea typeface="Plus Jakarta Sans" pitchFamily="34" charset="-122"/>
                <a:cs typeface="Plus Jakarta Sans" pitchFamily="34" charset="-120"/>
              </a:rPr>
              <a:t>Applies to DignifyX products, platforms, services and future AI solutions, including the DX App (Intelligent Coaching, DX Coach, DX Learn), approved add-ons, connectors, support packages, managed-service and marketplace motions. USD is the reference currency for thresholds unless a signed local agreement states otherwise. Local tax, withholding, procurement, data-residency, labour, commercial-agency, sanctions and regulatory requirements take precedence where legally required.</a:t>
            </a:r>
            <a:endParaRPr lang="en-US" sz="950" dirty="0"/>
          </a:p>
        </p:txBody>
      </p:sp>
      <p:sp>
        <p:nvSpPr>
          <p:cNvPr id="31" name="anim-9-27"/>
          <p:cNvSpPr/>
          <p:nvPr/>
        </p:nvSpPr>
        <p:spPr>
          <a:xfrm>
            <a:off x="508000" y="5664200"/>
            <a:ext cx="11176000" cy="406400"/>
          </a:xfrm>
          <a:prstGeom prst="roundRect">
            <a:avLst>
              <a:gd name="adj" fmla="val 50000"/>
            </a:avLst>
          </a:prstGeom>
          <a:solidFill>
            <a:srgbClr val="FFFFFF">
              <a:alpha val="4000"/>
            </a:srgbClr>
          </a:solidFill>
          <a:ln w="9525">
            <a:solidFill>
              <a:srgbClr val="FFFFFF">
                <a:alpha val="22000"/>
              </a:srgbClr>
            </a:solidFill>
            <a:prstDash val="solid"/>
          </a:ln>
        </p:spPr>
      </p:sp>
      <p:sp>
        <p:nvSpPr>
          <p:cNvPr id="32" name="anim-9-28"/>
          <p:cNvSpPr txBox="1"/>
          <p:nvPr/>
        </p:nvSpPr>
        <p:spPr>
          <a:xfrm>
            <a:off x="762000" y="5664200"/>
            <a:ext cx="10668000" cy="406400"/>
          </a:xfrm>
          <a:prstGeom prst="rect">
            <a:avLst/>
          </a:prstGeom>
          <a:noFill/>
          <a:ln/>
        </p:spPr>
        <p:txBody>
          <a:bodyPr wrap="square" lIns="0" tIns="0" rIns="0" bIns="0" rtlCol="0" anchor="ctr"/>
          <a:lstStyle/>
          <a:p>
            <a:pPr algn="ctr" indent="0" marL="0">
              <a:lnSpc>
                <a:spcPct val="112000"/>
              </a:lnSpc>
              <a:buNone/>
            </a:pPr>
            <a:r>
              <a:rPr lang="en-US" sz="1100" dirty="0">
                <a:solidFill>
                  <a:srgbClr val="FFFFFF"/>
                </a:solidFill>
                <a:latin typeface="Plus Jakarta Sans Medium" pitchFamily="34" charset="0"/>
                <a:ea typeface="Plus Jakarta Sans Medium" pitchFamily="34" charset="-122"/>
                <a:cs typeface="Plus Jakarta Sans Medium" pitchFamily="34" charset="-120"/>
              </a:rPr>
              <a:t>Specialisation, trust and customer success come before volume.</a:t>
            </a:r>
            <a:endParaRPr lang="en-US" sz="11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500"/>
                                        <p:tgtEl>
                                          <p:spTgt spid="7"/>
                                        </p:tgtEl>
                                      </p:cBhvr>
                                    </p:animEffect>
                                  </p:childTnLst>
                                </p:cTn>
                              </p:par>
                              <p:par>
                                <p:cTn id="14" presetID="10" presetClass="entr" presetSubtype="0" fill="hold" grpId="0" nodeType="withEffect">
                                  <p:stCondLst>
                                    <p:cond delay="18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500"/>
                                        <p:tgtEl>
                                          <p:spTgt spid="8"/>
                                        </p:tgtEl>
                                      </p:cBhvr>
                                    </p:animEffect>
                                  </p:childTnLst>
                                </p:cTn>
                              </p:par>
                              <p:par>
                                <p:cTn id="17" presetID="10" presetClass="entr" presetSubtype="0" fill="hold" grpId="0" nodeType="withEffect">
                                  <p:stCondLst>
                                    <p:cond delay="18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500"/>
                                        <p:tgtEl>
                                          <p:spTgt spid="9"/>
                                        </p:tgtEl>
                                      </p:cBhvr>
                                    </p:animEffect>
                                  </p:childTnLst>
                                </p:cTn>
                              </p:par>
                              <p:par>
                                <p:cTn id="20" presetID="10" presetClass="entr" presetSubtype="0" fill="hold" grpId="0" nodeType="withEffect">
                                  <p:stCondLst>
                                    <p:cond delay="180"/>
                                  </p:stCondLst>
                                  <p:childTnLst>
                                    <p:set>
                                      <p:cBhvr>
                                        <p:cTn id="21" dur="1" fill="hold">
                                          <p:stCondLst>
                                            <p:cond delay="0"/>
                                          </p:stCondLst>
                                        </p:cTn>
                                        <p:tgtEl>
                                          <p:spTgt spid="10"/>
                                        </p:tgtEl>
                                        <p:attrNameLst>
                                          <p:attrName>style.visibility</p:attrName>
                                        </p:attrNameLst>
                                      </p:cBhvr>
                                      <p:to>
                                        <p:strVal val="visible"/>
                                      </p:to>
                                    </p:set>
                                    <p:animEffect transition="in" filter="fade">
                                      <p:cBhvr>
                                        <p:cTn id="22" dur="500"/>
                                        <p:tgtEl>
                                          <p:spTgt spid="10"/>
                                        </p:tgtEl>
                                      </p:cBhvr>
                                    </p:animEffect>
                                  </p:childTnLst>
                                </p:cTn>
                              </p:par>
                              <p:par>
                                <p:cTn id="23" presetID="10" presetClass="entr" presetSubtype="0" fill="hold" grpId="0" nodeType="withEffect">
                                  <p:stCondLst>
                                    <p:cond delay="180"/>
                                  </p:stCondLst>
                                  <p:childTnLst>
                                    <p:set>
                                      <p:cBhvr>
                                        <p:cTn id="24" dur="1" fill="hold">
                                          <p:stCondLst>
                                            <p:cond delay="0"/>
                                          </p:stCondLst>
                                        </p:cTn>
                                        <p:tgtEl>
                                          <p:spTgt spid="11"/>
                                        </p:tgtEl>
                                        <p:attrNameLst>
                                          <p:attrName>style.visibility</p:attrName>
                                        </p:attrNameLst>
                                      </p:cBhvr>
                                      <p:to>
                                        <p:strVal val="visible"/>
                                      </p:to>
                                    </p:set>
                                    <p:animEffect transition="in" filter="fade">
                                      <p:cBhvr>
                                        <p:cTn id="25" dur="500"/>
                                        <p:tgtEl>
                                          <p:spTgt spid="11"/>
                                        </p:tgtEl>
                                      </p:cBhvr>
                                    </p:animEffect>
                                  </p:childTnLst>
                                </p:cTn>
                              </p:par>
                              <p:par>
                                <p:cTn id="26" presetID="10" presetClass="entr" presetSubtype="0" fill="hold" grpId="0" nodeType="withEffect">
                                  <p:stCondLst>
                                    <p:cond delay="360"/>
                                  </p:stCondLst>
                                  <p:childTnLst>
                                    <p:set>
                                      <p:cBhvr>
                                        <p:cTn id="27" dur="1" fill="hold">
                                          <p:stCondLst>
                                            <p:cond delay="0"/>
                                          </p:stCondLst>
                                        </p:cTn>
                                        <p:tgtEl>
                                          <p:spTgt spid="12"/>
                                        </p:tgtEl>
                                        <p:attrNameLst>
                                          <p:attrName>style.visibility</p:attrName>
                                        </p:attrNameLst>
                                      </p:cBhvr>
                                      <p:to>
                                        <p:strVal val="visible"/>
                                      </p:to>
                                    </p:set>
                                    <p:animEffect transition="in" filter="fade">
                                      <p:cBhvr>
                                        <p:cTn id="28" dur="500"/>
                                        <p:tgtEl>
                                          <p:spTgt spid="12"/>
                                        </p:tgtEl>
                                      </p:cBhvr>
                                    </p:animEffect>
                                  </p:childTnLst>
                                </p:cTn>
                              </p:par>
                              <p:par>
                                <p:cTn id="29" presetID="10" presetClass="entr" presetSubtype="0" fill="hold" grpId="0" nodeType="withEffect">
                                  <p:stCondLst>
                                    <p:cond delay="360"/>
                                  </p:stCondLst>
                                  <p:childTnLst>
                                    <p:set>
                                      <p:cBhvr>
                                        <p:cTn id="30" dur="1" fill="hold">
                                          <p:stCondLst>
                                            <p:cond delay="0"/>
                                          </p:stCondLst>
                                        </p:cTn>
                                        <p:tgtEl>
                                          <p:spTgt spid="13"/>
                                        </p:tgtEl>
                                        <p:attrNameLst>
                                          <p:attrName>style.visibility</p:attrName>
                                        </p:attrNameLst>
                                      </p:cBhvr>
                                      <p:to>
                                        <p:strVal val="visible"/>
                                      </p:to>
                                    </p:set>
                                    <p:animEffect transition="in" filter="fade">
                                      <p:cBhvr>
                                        <p:cTn id="31" dur="500"/>
                                        <p:tgtEl>
                                          <p:spTgt spid="13"/>
                                        </p:tgtEl>
                                      </p:cBhvr>
                                    </p:animEffect>
                                  </p:childTnLst>
                                </p:cTn>
                              </p:par>
                              <p:par>
                                <p:cTn id="32" presetID="10" presetClass="entr" presetSubtype="0" fill="hold" grpId="0" nodeType="withEffect">
                                  <p:stCondLst>
                                    <p:cond delay="36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500"/>
                                        <p:tgtEl>
                                          <p:spTgt spid="14"/>
                                        </p:tgtEl>
                                      </p:cBhvr>
                                    </p:animEffect>
                                  </p:childTnLst>
                                </p:cTn>
                              </p:par>
                              <p:par>
                                <p:cTn id="35" presetID="10" presetClass="entr" presetSubtype="0" fill="hold" grpId="0" nodeType="withEffect">
                                  <p:stCondLst>
                                    <p:cond delay="360"/>
                                  </p:stCondLst>
                                  <p:childTnLst>
                                    <p:set>
                                      <p:cBhvr>
                                        <p:cTn id="36" dur="1" fill="hold">
                                          <p:stCondLst>
                                            <p:cond delay="0"/>
                                          </p:stCondLst>
                                        </p:cTn>
                                        <p:tgtEl>
                                          <p:spTgt spid="15"/>
                                        </p:tgtEl>
                                        <p:attrNameLst>
                                          <p:attrName>style.visibility</p:attrName>
                                        </p:attrNameLst>
                                      </p:cBhvr>
                                      <p:to>
                                        <p:strVal val="visible"/>
                                      </p:to>
                                    </p:set>
                                    <p:animEffect transition="in" filter="fade">
                                      <p:cBhvr>
                                        <p:cTn id="37" dur="500"/>
                                        <p:tgtEl>
                                          <p:spTgt spid="15"/>
                                        </p:tgtEl>
                                      </p:cBhvr>
                                    </p:animEffect>
                                  </p:childTnLst>
                                </p:cTn>
                              </p:par>
                              <p:par>
                                <p:cTn id="38" presetID="10" presetClass="entr" presetSubtype="0" fill="hold" grpId="0" nodeType="withEffect">
                                  <p:stCondLst>
                                    <p:cond delay="540"/>
                                  </p:stCondLst>
                                  <p:childTnLst>
                                    <p:set>
                                      <p:cBhvr>
                                        <p:cTn id="39" dur="1" fill="hold">
                                          <p:stCondLst>
                                            <p:cond delay="0"/>
                                          </p:stCondLst>
                                        </p:cTn>
                                        <p:tgtEl>
                                          <p:spTgt spid="16"/>
                                        </p:tgtEl>
                                        <p:attrNameLst>
                                          <p:attrName>style.visibility</p:attrName>
                                        </p:attrNameLst>
                                      </p:cBhvr>
                                      <p:to>
                                        <p:strVal val="visible"/>
                                      </p:to>
                                    </p:set>
                                    <p:animEffect transition="in" filter="fade">
                                      <p:cBhvr>
                                        <p:cTn id="40" dur="500"/>
                                        <p:tgtEl>
                                          <p:spTgt spid="16"/>
                                        </p:tgtEl>
                                      </p:cBhvr>
                                    </p:animEffect>
                                  </p:childTnLst>
                                </p:cTn>
                              </p:par>
                              <p:par>
                                <p:cTn id="41" presetID="10" presetClass="entr" presetSubtype="0" fill="hold" grpId="0" nodeType="withEffect">
                                  <p:stCondLst>
                                    <p:cond delay="540"/>
                                  </p:stCondLst>
                                  <p:childTnLst>
                                    <p:set>
                                      <p:cBhvr>
                                        <p:cTn id="42" dur="1" fill="hold">
                                          <p:stCondLst>
                                            <p:cond delay="0"/>
                                          </p:stCondLst>
                                        </p:cTn>
                                        <p:tgtEl>
                                          <p:spTgt spid="17"/>
                                        </p:tgtEl>
                                        <p:attrNameLst>
                                          <p:attrName>style.visibility</p:attrName>
                                        </p:attrNameLst>
                                      </p:cBhvr>
                                      <p:to>
                                        <p:strVal val="visible"/>
                                      </p:to>
                                    </p:set>
                                    <p:animEffect transition="in" filter="fade">
                                      <p:cBhvr>
                                        <p:cTn id="43" dur="500"/>
                                        <p:tgtEl>
                                          <p:spTgt spid="17"/>
                                        </p:tgtEl>
                                      </p:cBhvr>
                                    </p:animEffect>
                                  </p:childTnLst>
                                </p:cTn>
                              </p:par>
                              <p:par>
                                <p:cTn id="44" presetID="10" presetClass="entr" presetSubtype="0" fill="hold" grpId="0" nodeType="withEffect">
                                  <p:stCondLst>
                                    <p:cond delay="540"/>
                                  </p:stCondLst>
                                  <p:childTnLst>
                                    <p:set>
                                      <p:cBhvr>
                                        <p:cTn id="45" dur="1" fill="hold">
                                          <p:stCondLst>
                                            <p:cond delay="0"/>
                                          </p:stCondLst>
                                        </p:cTn>
                                        <p:tgtEl>
                                          <p:spTgt spid="18"/>
                                        </p:tgtEl>
                                        <p:attrNameLst>
                                          <p:attrName>style.visibility</p:attrName>
                                        </p:attrNameLst>
                                      </p:cBhvr>
                                      <p:to>
                                        <p:strVal val="visible"/>
                                      </p:to>
                                    </p:set>
                                    <p:animEffect transition="in" filter="fade">
                                      <p:cBhvr>
                                        <p:cTn id="46" dur="500"/>
                                        <p:tgtEl>
                                          <p:spTgt spid="18"/>
                                        </p:tgtEl>
                                      </p:cBhvr>
                                    </p:animEffect>
                                  </p:childTnLst>
                                </p:cTn>
                              </p:par>
                              <p:par>
                                <p:cTn id="47" presetID="10" presetClass="entr" presetSubtype="0" fill="hold" grpId="0" nodeType="withEffect">
                                  <p:stCondLst>
                                    <p:cond delay="540"/>
                                  </p:stCondLst>
                                  <p:childTnLst>
                                    <p:set>
                                      <p:cBhvr>
                                        <p:cTn id="48" dur="1" fill="hold">
                                          <p:stCondLst>
                                            <p:cond delay="0"/>
                                          </p:stCondLst>
                                        </p:cTn>
                                        <p:tgtEl>
                                          <p:spTgt spid="19"/>
                                        </p:tgtEl>
                                        <p:attrNameLst>
                                          <p:attrName>style.visibility</p:attrName>
                                        </p:attrNameLst>
                                      </p:cBhvr>
                                      <p:to>
                                        <p:strVal val="visible"/>
                                      </p:to>
                                    </p:set>
                                    <p:animEffect transition="in" filter="fade">
                                      <p:cBhvr>
                                        <p:cTn id="49" dur="500"/>
                                        <p:tgtEl>
                                          <p:spTgt spid="19"/>
                                        </p:tgtEl>
                                      </p:cBhvr>
                                    </p:animEffect>
                                  </p:childTnLst>
                                </p:cTn>
                              </p:par>
                              <p:par>
                                <p:cTn id="50" presetID="10" presetClass="entr" presetSubtype="0" fill="hold" grpId="0" nodeType="withEffect">
                                  <p:stCondLst>
                                    <p:cond delay="720"/>
                                  </p:stCondLst>
                                  <p:childTnLst>
                                    <p:set>
                                      <p:cBhvr>
                                        <p:cTn id="51" dur="1" fill="hold">
                                          <p:stCondLst>
                                            <p:cond delay="0"/>
                                          </p:stCondLst>
                                        </p:cTn>
                                        <p:tgtEl>
                                          <p:spTgt spid="20"/>
                                        </p:tgtEl>
                                        <p:attrNameLst>
                                          <p:attrName>style.visibility</p:attrName>
                                        </p:attrNameLst>
                                      </p:cBhvr>
                                      <p:to>
                                        <p:strVal val="visible"/>
                                      </p:to>
                                    </p:set>
                                    <p:animEffect transition="in" filter="fade">
                                      <p:cBhvr>
                                        <p:cTn id="52" dur="500"/>
                                        <p:tgtEl>
                                          <p:spTgt spid="20"/>
                                        </p:tgtEl>
                                      </p:cBhvr>
                                    </p:animEffect>
                                  </p:childTnLst>
                                </p:cTn>
                              </p:par>
                              <p:par>
                                <p:cTn id="53" presetID="10" presetClass="entr" presetSubtype="0" fill="hold" grpId="0" nodeType="withEffect">
                                  <p:stCondLst>
                                    <p:cond delay="720"/>
                                  </p:stCondLst>
                                  <p:childTnLst>
                                    <p:set>
                                      <p:cBhvr>
                                        <p:cTn id="54" dur="1" fill="hold">
                                          <p:stCondLst>
                                            <p:cond delay="0"/>
                                          </p:stCondLst>
                                        </p:cTn>
                                        <p:tgtEl>
                                          <p:spTgt spid="21"/>
                                        </p:tgtEl>
                                        <p:attrNameLst>
                                          <p:attrName>style.visibility</p:attrName>
                                        </p:attrNameLst>
                                      </p:cBhvr>
                                      <p:to>
                                        <p:strVal val="visible"/>
                                      </p:to>
                                    </p:set>
                                    <p:animEffect transition="in" filter="fade">
                                      <p:cBhvr>
                                        <p:cTn id="55" dur="500"/>
                                        <p:tgtEl>
                                          <p:spTgt spid="21"/>
                                        </p:tgtEl>
                                      </p:cBhvr>
                                    </p:animEffect>
                                  </p:childTnLst>
                                </p:cTn>
                              </p:par>
                              <p:par>
                                <p:cTn id="56" presetID="10" presetClass="entr" presetSubtype="0" fill="hold" grpId="0" nodeType="withEffect">
                                  <p:stCondLst>
                                    <p:cond delay="720"/>
                                  </p:stCondLst>
                                  <p:childTnLst>
                                    <p:set>
                                      <p:cBhvr>
                                        <p:cTn id="57" dur="1" fill="hold">
                                          <p:stCondLst>
                                            <p:cond delay="0"/>
                                          </p:stCondLst>
                                        </p:cTn>
                                        <p:tgtEl>
                                          <p:spTgt spid="22"/>
                                        </p:tgtEl>
                                        <p:attrNameLst>
                                          <p:attrName>style.visibility</p:attrName>
                                        </p:attrNameLst>
                                      </p:cBhvr>
                                      <p:to>
                                        <p:strVal val="visible"/>
                                      </p:to>
                                    </p:set>
                                    <p:animEffect transition="in" filter="fade">
                                      <p:cBhvr>
                                        <p:cTn id="58" dur="500"/>
                                        <p:tgtEl>
                                          <p:spTgt spid="22"/>
                                        </p:tgtEl>
                                      </p:cBhvr>
                                    </p:animEffect>
                                  </p:childTnLst>
                                </p:cTn>
                              </p:par>
                              <p:par>
                                <p:cTn id="59" presetID="10" presetClass="entr" presetSubtype="0" fill="hold" grpId="0" nodeType="withEffect">
                                  <p:stCondLst>
                                    <p:cond delay="720"/>
                                  </p:stCondLst>
                                  <p:childTnLst>
                                    <p:set>
                                      <p:cBhvr>
                                        <p:cTn id="60" dur="1" fill="hold">
                                          <p:stCondLst>
                                            <p:cond delay="0"/>
                                          </p:stCondLst>
                                        </p:cTn>
                                        <p:tgtEl>
                                          <p:spTgt spid="23"/>
                                        </p:tgtEl>
                                        <p:attrNameLst>
                                          <p:attrName>style.visibility</p:attrName>
                                        </p:attrNameLst>
                                      </p:cBhvr>
                                      <p:to>
                                        <p:strVal val="visible"/>
                                      </p:to>
                                    </p:set>
                                    <p:animEffect transition="in" filter="fade">
                                      <p:cBhvr>
                                        <p:cTn id="61" dur="500"/>
                                        <p:tgtEl>
                                          <p:spTgt spid="23"/>
                                        </p:tgtEl>
                                      </p:cBhvr>
                                    </p:animEffect>
                                  </p:childTnLst>
                                </p:cTn>
                              </p:par>
                              <p:par>
                                <p:cTn id="62" presetID="10" presetClass="entr" presetSubtype="0" fill="hold" grpId="0" nodeType="withEffect">
                                  <p:stCondLst>
                                    <p:cond delay="900"/>
                                  </p:stCondLst>
                                  <p:childTnLst>
                                    <p:set>
                                      <p:cBhvr>
                                        <p:cTn id="63" dur="1" fill="hold">
                                          <p:stCondLst>
                                            <p:cond delay="0"/>
                                          </p:stCondLst>
                                        </p:cTn>
                                        <p:tgtEl>
                                          <p:spTgt spid="24"/>
                                        </p:tgtEl>
                                        <p:attrNameLst>
                                          <p:attrName>style.visibility</p:attrName>
                                        </p:attrNameLst>
                                      </p:cBhvr>
                                      <p:to>
                                        <p:strVal val="visible"/>
                                      </p:to>
                                    </p:set>
                                    <p:animEffect transition="in" filter="fade">
                                      <p:cBhvr>
                                        <p:cTn id="64" dur="500"/>
                                        <p:tgtEl>
                                          <p:spTgt spid="24"/>
                                        </p:tgtEl>
                                      </p:cBhvr>
                                    </p:animEffect>
                                  </p:childTnLst>
                                </p:cTn>
                              </p:par>
                              <p:par>
                                <p:cTn id="65" presetID="10" presetClass="entr" presetSubtype="0" fill="hold" grpId="0" nodeType="withEffect">
                                  <p:stCondLst>
                                    <p:cond delay="900"/>
                                  </p:stCondLst>
                                  <p:childTnLst>
                                    <p:set>
                                      <p:cBhvr>
                                        <p:cTn id="66" dur="1" fill="hold">
                                          <p:stCondLst>
                                            <p:cond delay="0"/>
                                          </p:stCondLst>
                                        </p:cTn>
                                        <p:tgtEl>
                                          <p:spTgt spid="25"/>
                                        </p:tgtEl>
                                        <p:attrNameLst>
                                          <p:attrName>style.visibility</p:attrName>
                                        </p:attrNameLst>
                                      </p:cBhvr>
                                      <p:to>
                                        <p:strVal val="visible"/>
                                      </p:to>
                                    </p:set>
                                    <p:animEffect transition="in" filter="fade">
                                      <p:cBhvr>
                                        <p:cTn id="67" dur="500"/>
                                        <p:tgtEl>
                                          <p:spTgt spid="25"/>
                                        </p:tgtEl>
                                      </p:cBhvr>
                                    </p:animEffect>
                                  </p:childTnLst>
                                </p:cTn>
                              </p:par>
                              <p:par>
                                <p:cTn id="68" presetID="10" presetClass="entr" presetSubtype="0" fill="hold" grpId="0" nodeType="withEffect">
                                  <p:stCondLst>
                                    <p:cond delay="900"/>
                                  </p:stCondLst>
                                  <p:childTnLst>
                                    <p:set>
                                      <p:cBhvr>
                                        <p:cTn id="69" dur="1" fill="hold">
                                          <p:stCondLst>
                                            <p:cond delay="0"/>
                                          </p:stCondLst>
                                        </p:cTn>
                                        <p:tgtEl>
                                          <p:spTgt spid="26"/>
                                        </p:tgtEl>
                                        <p:attrNameLst>
                                          <p:attrName>style.visibility</p:attrName>
                                        </p:attrNameLst>
                                      </p:cBhvr>
                                      <p:to>
                                        <p:strVal val="visible"/>
                                      </p:to>
                                    </p:set>
                                    <p:animEffect transition="in" filter="fade">
                                      <p:cBhvr>
                                        <p:cTn id="70" dur="500"/>
                                        <p:tgtEl>
                                          <p:spTgt spid="26"/>
                                        </p:tgtEl>
                                      </p:cBhvr>
                                    </p:animEffect>
                                  </p:childTnLst>
                                </p:cTn>
                              </p:par>
                              <p:par>
                                <p:cTn id="71" presetID="10" presetClass="entr" presetSubtype="0" fill="hold" grpId="0" nodeType="withEffect">
                                  <p:stCondLst>
                                    <p:cond delay="900"/>
                                  </p:stCondLst>
                                  <p:childTnLst>
                                    <p:set>
                                      <p:cBhvr>
                                        <p:cTn id="72" dur="1" fill="hold">
                                          <p:stCondLst>
                                            <p:cond delay="0"/>
                                          </p:stCondLst>
                                        </p:cTn>
                                        <p:tgtEl>
                                          <p:spTgt spid="27"/>
                                        </p:tgtEl>
                                        <p:attrNameLst>
                                          <p:attrName>style.visibility</p:attrName>
                                        </p:attrNameLst>
                                      </p:cBhvr>
                                      <p:to>
                                        <p:strVal val="visible"/>
                                      </p:to>
                                    </p:set>
                                    <p:animEffect transition="in" filter="fade">
                                      <p:cBhvr>
                                        <p:cTn id="73" dur="500"/>
                                        <p:tgtEl>
                                          <p:spTgt spid="27"/>
                                        </p:tgtEl>
                                      </p:cBhvr>
                                    </p:animEffect>
                                  </p:childTnLst>
                                </p:cTn>
                              </p:par>
                              <p:par>
                                <p:cTn id="74" presetID="10" presetClass="entr" presetSubtype="0" fill="hold" grpId="0" nodeType="withEffect">
                                  <p:stCondLst>
                                    <p:cond delay="1080"/>
                                  </p:stCondLst>
                                  <p:childTnLst>
                                    <p:set>
                                      <p:cBhvr>
                                        <p:cTn id="75" dur="1" fill="hold">
                                          <p:stCondLst>
                                            <p:cond delay="0"/>
                                          </p:stCondLst>
                                        </p:cTn>
                                        <p:tgtEl>
                                          <p:spTgt spid="28"/>
                                        </p:tgtEl>
                                        <p:attrNameLst>
                                          <p:attrName>style.visibility</p:attrName>
                                        </p:attrNameLst>
                                      </p:cBhvr>
                                      <p:to>
                                        <p:strVal val="visible"/>
                                      </p:to>
                                    </p:set>
                                    <p:animEffect transition="in" filter="fade">
                                      <p:cBhvr>
                                        <p:cTn id="76" dur="500"/>
                                        <p:tgtEl>
                                          <p:spTgt spid="28"/>
                                        </p:tgtEl>
                                      </p:cBhvr>
                                    </p:animEffect>
                                  </p:childTnLst>
                                </p:cTn>
                              </p:par>
                              <p:par>
                                <p:cTn id="77" presetID="10" presetClass="entr" presetSubtype="0" fill="hold" grpId="0" nodeType="withEffect">
                                  <p:stCondLst>
                                    <p:cond delay="1080"/>
                                  </p:stCondLst>
                                  <p:childTnLst>
                                    <p:set>
                                      <p:cBhvr>
                                        <p:cTn id="78" dur="1" fill="hold">
                                          <p:stCondLst>
                                            <p:cond delay="0"/>
                                          </p:stCondLst>
                                        </p:cTn>
                                        <p:tgtEl>
                                          <p:spTgt spid="29"/>
                                        </p:tgtEl>
                                        <p:attrNameLst>
                                          <p:attrName>style.visibility</p:attrName>
                                        </p:attrNameLst>
                                      </p:cBhvr>
                                      <p:to>
                                        <p:strVal val="visible"/>
                                      </p:to>
                                    </p:set>
                                    <p:animEffect transition="in" filter="fade">
                                      <p:cBhvr>
                                        <p:cTn id="79" dur="500"/>
                                        <p:tgtEl>
                                          <p:spTgt spid="29"/>
                                        </p:tgtEl>
                                      </p:cBhvr>
                                    </p:animEffect>
                                  </p:childTnLst>
                                </p:cTn>
                              </p:par>
                              <p:par>
                                <p:cTn id="80" presetID="10" presetClass="entr" presetSubtype="0" fill="hold" grpId="0" nodeType="withEffect">
                                  <p:stCondLst>
                                    <p:cond delay="1080"/>
                                  </p:stCondLst>
                                  <p:childTnLst>
                                    <p:set>
                                      <p:cBhvr>
                                        <p:cTn id="81" dur="1" fill="hold">
                                          <p:stCondLst>
                                            <p:cond delay="0"/>
                                          </p:stCondLst>
                                        </p:cTn>
                                        <p:tgtEl>
                                          <p:spTgt spid="30"/>
                                        </p:tgtEl>
                                        <p:attrNameLst>
                                          <p:attrName>style.visibility</p:attrName>
                                        </p:attrNameLst>
                                      </p:cBhvr>
                                      <p:to>
                                        <p:strVal val="visible"/>
                                      </p:to>
                                    </p:set>
                                    <p:animEffect transition="in" filter="fade">
                                      <p:cBhvr>
                                        <p:cTn id="82" dur="500"/>
                                        <p:tgtEl>
                                          <p:spTgt spid="30"/>
                                        </p:tgtEl>
                                      </p:cBhvr>
                                    </p:animEffect>
                                  </p:childTnLst>
                                </p:cTn>
                              </p:par>
                              <p:par>
                                <p:cTn id="83" presetID="10" presetClass="entr" presetSubtype="0" fill="hold" grpId="0" nodeType="withEffect">
                                  <p:stCondLst>
                                    <p:cond delay="1260"/>
                                  </p:stCondLst>
                                  <p:childTnLst>
                                    <p:set>
                                      <p:cBhvr>
                                        <p:cTn id="84" dur="1" fill="hold">
                                          <p:stCondLst>
                                            <p:cond delay="0"/>
                                          </p:stCondLst>
                                        </p:cTn>
                                        <p:tgtEl>
                                          <p:spTgt spid="31"/>
                                        </p:tgtEl>
                                        <p:attrNameLst>
                                          <p:attrName>style.visibility</p:attrName>
                                        </p:attrNameLst>
                                      </p:cBhvr>
                                      <p:to>
                                        <p:strVal val="visible"/>
                                      </p:to>
                                    </p:set>
                                    <p:animEffect transition="in" filter="fade">
                                      <p:cBhvr>
                                        <p:cTn id="85" dur="500"/>
                                        <p:tgtEl>
                                          <p:spTgt spid="31"/>
                                        </p:tgtEl>
                                      </p:cBhvr>
                                    </p:animEffect>
                                  </p:childTnLst>
                                </p:cTn>
                              </p:par>
                              <p:par>
                                <p:cTn id="86" presetID="10" presetClass="entr" presetSubtype="0" fill="hold" grpId="0" nodeType="withEffect">
                                  <p:stCondLst>
                                    <p:cond delay="1260"/>
                                  </p:stCondLst>
                                  <p:childTnLst>
                                    <p:set>
                                      <p:cBhvr>
                                        <p:cTn id="87" dur="1" fill="hold">
                                          <p:stCondLst>
                                            <p:cond delay="0"/>
                                          </p:stCondLst>
                                        </p:cTn>
                                        <p:tgtEl>
                                          <p:spTgt spid="32"/>
                                        </p:tgtEl>
                                        <p:attrNameLst>
                                          <p:attrName>style.visibility</p:attrName>
                                        </p:attrNameLst>
                                      </p:cBhvr>
                                      <p:to>
                                        <p:strVal val="visible"/>
                                      </p:to>
                                    </p:set>
                                    <p:animEffect transition="in" filter="fade">
                                      <p:cBhvr>
                                        <p:cTn id="88"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tmp/claude-0/-home-user-hosting/7c832a48-0979-56aa-9fdf-7d53efb9dc7a/scratchpad/build/imgd/logo-white.png">    </p:cNvPr>
          <p:cNvPicPr>
            <a:picLocks noChangeAspect="1"/>
          </p:cNvPicPr>
          <p:nvPr/>
        </p:nvPicPr>
        <p:blipFill>
          <a:blip r:embed="rId2"/>
          <a:stretch>
            <a:fillRect/>
          </a:stretch>
        </p:blipFill>
        <p:spPr>
          <a:xfrm>
            <a:off x="10414000" y="355600"/>
            <a:ext cx="1270000" cy="304800"/>
          </a:xfrm>
          <a:prstGeom prst="rect">
            <a:avLst/>
          </a:prstGeom>
        </p:spPr>
      </p:pic>
      <p:sp>
        <p:nvSpPr>
          <p:cNvPr id="3" name="Text 0"/>
          <p:cNvSpPr/>
          <p:nvPr/>
        </p:nvSpPr>
        <p:spPr>
          <a:xfrm>
            <a:off x="177800" y="6134100"/>
            <a:ext cx="1270000" cy="571500"/>
          </a:xfrm>
          <a:prstGeom prst="rect">
            <a:avLst/>
          </a:prstGeom>
          <a:noFill/>
          <a:ln/>
        </p:spPr>
        <p:txBody>
          <a:bodyPr wrap="square" lIns="0" tIns="0" rIns="0" bIns="0" rtlCol="0" anchor="ctr"/>
          <a:lstStyle/>
          <a:p>
            <a:pPr indent="0" marL="0">
              <a:buNone/>
            </a:pPr>
            <a:r>
              <a:rPr lang="en-US" sz="3550" b="1" dirty="0">
                <a:solidFill>
                  <a:srgbClr val="3F8FF2">
                    <a:alpha val="30000"/>
                  </a:srgbClr>
                </a:solidFill>
                <a:latin typeface="Plus Jakarta Sans" pitchFamily="34" charset="0"/>
                <a:ea typeface="Plus Jakarta Sans" pitchFamily="34" charset="-122"/>
                <a:cs typeface="Plus Jakarta Sans" pitchFamily="34" charset="-120"/>
              </a:rPr>
              <a:t>06</a:t>
            </a:r>
            <a:endParaRPr lang="en-US" sz="3550" dirty="0"/>
          </a:p>
        </p:txBody>
      </p:sp>
      <p:sp>
        <p:nvSpPr>
          <p:cNvPr id="4" name="Text 1"/>
          <p:cNvSpPr txBox="1"/>
          <p:nvPr/>
        </p:nvSpPr>
        <p:spPr>
          <a:xfrm>
            <a:off x="6604000" y="6477000"/>
            <a:ext cx="5080000" cy="152400"/>
          </a:xfrm>
          <a:prstGeom prst="rect">
            <a:avLst/>
          </a:prstGeom>
          <a:noFill/>
          <a:ln/>
        </p:spPr>
        <p:txBody>
          <a:bodyPr wrap="square" lIns="0" tIns="0" rIns="0" bIns="0" rtlCol="0" anchor="t"/>
          <a:lstStyle/>
          <a:p>
            <a:pPr algn="r" indent="0" marL="0">
              <a:lnSpc>
                <a:spcPct val="112000"/>
              </a:lnSpc>
              <a:buNone/>
            </a:pPr>
            <a:r>
              <a:rPr lang="en-US" sz="750" dirty="0">
                <a:solidFill>
                  <a:srgbClr val="8C93A3"/>
                </a:solidFill>
                <a:latin typeface="Plus Jakarta Sans" pitchFamily="34" charset="0"/>
                <a:ea typeface="Plus Jakarta Sans" pitchFamily="34" charset="-122"/>
                <a:cs typeface="Plus Jakarta Sans" pitchFamily="34" charset="-120"/>
              </a:rPr>
              <a:t>Partner-Confidential · NDA · Programme description only; not a contract</a:t>
            </a:r>
            <a:endParaRPr lang="en-US" sz="750" dirty="0"/>
          </a:p>
        </p:txBody>
      </p:sp>
      <p:pic>
        <p:nvPicPr>
          <p:cNvPr id="5" name="anim-1-1" descr="/tmp/claude-0/-home-user-hosting/7c832a48-0979-56aa-9fdf-7d53efb9dc7a/scratchpad/build/imgd/pointer.png">    </p:cNvPr>
          <p:cNvPicPr>
            <a:picLocks noChangeAspect="1"/>
          </p:cNvPicPr>
          <p:nvPr/>
        </p:nvPicPr>
        <p:blipFill>
          <a:blip r:embed="rId3"/>
          <a:stretch>
            <a:fillRect/>
          </a:stretch>
        </p:blipFill>
        <p:spPr>
          <a:xfrm>
            <a:off x="508000" y="285750"/>
            <a:ext cx="100964" cy="203200"/>
          </a:xfrm>
          <a:prstGeom prst="rect">
            <a:avLst/>
          </a:prstGeom>
        </p:spPr>
      </p:pic>
      <p:sp>
        <p:nvSpPr>
          <p:cNvPr id="6" name="anim-1-2"/>
          <p:cNvSpPr txBox="1"/>
          <p:nvPr/>
        </p:nvSpPr>
        <p:spPr>
          <a:xfrm>
            <a:off x="673100" y="304800"/>
            <a:ext cx="8890000" cy="190500"/>
          </a:xfrm>
          <a:prstGeom prst="rect">
            <a:avLst/>
          </a:prstGeom>
          <a:noFill/>
          <a:ln/>
        </p:spPr>
        <p:txBody>
          <a:bodyPr wrap="square" lIns="0" tIns="0" rIns="0" bIns="0" rtlCol="0" anchor="t"/>
          <a:lstStyle/>
          <a:p>
            <a:pPr algn="l" indent="0" marL="0">
              <a:lnSpc>
                <a:spcPct val="112000"/>
              </a:lnSpc>
              <a:buNone/>
            </a:pPr>
            <a:r>
              <a:rPr lang="en-US" sz="1000" spc="200" kern="0" dirty="0">
                <a:solidFill>
                  <a:srgbClr val="15B6FF"/>
                </a:solidFill>
                <a:latin typeface="Plus Jakarta Sans SemiBold" pitchFamily="34" charset="0"/>
                <a:ea typeface="Plus Jakarta Sans SemiBold" pitchFamily="34" charset="-122"/>
                <a:cs typeface="Plus Jakarta Sans SemiBold" pitchFamily="34" charset="-120"/>
              </a:rPr>
              <a:t>PARTNER ECOSYSTEM ROLES</a:t>
            </a:r>
            <a:endParaRPr lang="en-US" sz="1000" dirty="0"/>
          </a:p>
        </p:txBody>
      </p:sp>
      <p:sp>
        <p:nvSpPr>
          <p:cNvPr id="7" name="anim-1-3"/>
          <p:cNvSpPr txBox="1"/>
          <p:nvPr/>
        </p:nvSpPr>
        <p:spPr>
          <a:xfrm>
            <a:off x="508000" y="558800"/>
            <a:ext cx="9652000" cy="406400"/>
          </a:xfrm>
          <a:prstGeom prst="rect">
            <a:avLst/>
          </a:prstGeom>
          <a:noFill/>
          <a:ln/>
        </p:spPr>
        <p:txBody>
          <a:bodyPr wrap="square" lIns="0" tIns="0" rIns="0" bIns="0" rtlCol="0" anchor="ctr"/>
          <a:lstStyle/>
          <a:p>
            <a:pPr algn="l" indent="0" marL="0">
              <a:lnSpc>
                <a:spcPct val="112000"/>
              </a:lnSpc>
              <a:buNone/>
            </a:pPr>
            <a:r>
              <a:rPr lang="en-US" sz="2000" b="1" dirty="0">
                <a:solidFill>
                  <a:srgbClr val="FFFFFF"/>
                </a:solidFill>
                <a:latin typeface="Plus Jakarta Sans" pitchFamily="34" charset="0"/>
                <a:ea typeface="Plus Jakarta Sans" pitchFamily="34" charset="-122"/>
                <a:cs typeface="Plus Jakarta Sans" pitchFamily="34" charset="-120"/>
              </a:rPr>
              <a:t>Find your place: </a:t>
            </a:r>
            <a:pPr algn="l" indent="0" marL="0">
              <a:lnSpc>
                <a:spcPct val="112000"/>
              </a:lnSpc>
              <a:buNone/>
            </a:pPr>
            <a:r>
              <a:rPr lang="en-US" sz="2000" b="1" i="1" dirty="0">
                <a:solidFill>
                  <a:srgbClr val="15B6FF"/>
                </a:solidFill>
                <a:latin typeface="Plus Jakarta Sans Light" pitchFamily="34" charset="0"/>
                <a:ea typeface="Plus Jakarta Sans Light" pitchFamily="34" charset="-122"/>
                <a:cs typeface="Plus Jakarta Sans Light" pitchFamily="34" charset="-120"/>
              </a:rPr>
              <a:t>one partner can play several roles</a:t>
            </a:r>
            <a:endParaRPr lang="en-US" sz="2000" dirty="0"/>
          </a:p>
        </p:txBody>
      </p:sp>
      <p:sp>
        <p:nvSpPr>
          <p:cNvPr id="8" name="anim-2-4"/>
          <p:cNvSpPr/>
          <p:nvPr/>
        </p:nvSpPr>
        <p:spPr>
          <a:xfrm>
            <a:off x="508000" y="1308100"/>
            <a:ext cx="2679700" cy="2044700"/>
          </a:xfrm>
          <a:prstGeom prst="roundRect">
            <a:avLst>
              <a:gd name="adj" fmla="val 9938"/>
            </a:avLst>
          </a:prstGeom>
          <a:solidFill>
            <a:srgbClr val="FFFFFF">
              <a:alpha val="5000"/>
            </a:srgbClr>
          </a:solidFill>
          <a:ln w="9525">
            <a:solidFill>
              <a:srgbClr val="FFFFFF">
                <a:alpha val="12000"/>
              </a:srgbClr>
            </a:solidFill>
            <a:prstDash val="solid"/>
          </a:ln>
        </p:spPr>
      </p:sp>
      <p:sp>
        <p:nvSpPr>
          <p:cNvPr id="9" name="anim-2-5"/>
          <p:cNvSpPr txBox="1"/>
          <p:nvPr/>
        </p:nvSpPr>
        <p:spPr>
          <a:xfrm>
            <a:off x="660400" y="1447800"/>
            <a:ext cx="2374900" cy="215900"/>
          </a:xfrm>
          <a:prstGeom prst="rect">
            <a:avLst/>
          </a:prstGeom>
          <a:noFill/>
          <a:ln/>
        </p:spPr>
        <p:txBody>
          <a:bodyPr wrap="square" lIns="0" tIns="0" rIns="0" bIns="0" rtlCol="0" anchor="t"/>
          <a:lstStyle/>
          <a:p>
            <a:pPr algn="l" indent="0" marL="0">
              <a:lnSpc>
                <a:spcPct val="112000"/>
              </a:lnSpc>
              <a:buNone/>
            </a:pPr>
            <a:r>
              <a:rPr lang="en-US" sz="1100" dirty="0">
                <a:solidFill>
                  <a:srgbClr val="15B6FF"/>
                </a:solidFill>
                <a:latin typeface="Plus Jakarta Sans Light" pitchFamily="34" charset="0"/>
                <a:ea typeface="Plus Jakarta Sans Light" pitchFamily="34" charset="-122"/>
                <a:cs typeface="Plus Jakarta Sans Light" pitchFamily="34" charset="-120"/>
              </a:rPr>
              <a:t>01  </a:t>
            </a:r>
            <a:pPr algn="l" indent="0" marL="0">
              <a:lnSpc>
                <a:spcPct val="112000"/>
              </a:lnSpc>
              <a:buNone/>
            </a:pPr>
            <a:r>
              <a:rPr lang="en-US" sz="1100" b="1" dirty="0">
                <a:solidFill>
                  <a:srgbClr val="FFFFFF"/>
                </a:solidFill>
                <a:latin typeface="Plus Jakarta Sans" pitchFamily="34" charset="0"/>
                <a:ea typeface="Plus Jakarta Sans" pitchFamily="34" charset="-122"/>
                <a:cs typeface="Plus Jakarta Sans" pitchFamily="34" charset="-120"/>
              </a:rPr>
              <a:t>Referral / Influencer</a:t>
            </a:r>
            <a:endParaRPr lang="en-US" sz="1100" dirty="0"/>
          </a:p>
        </p:txBody>
      </p:sp>
      <p:sp>
        <p:nvSpPr>
          <p:cNvPr id="10" name="anim-2-6"/>
          <p:cNvSpPr txBox="1"/>
          <p:nvPr/>
        </p:nvSpPr>
        <p:spPr>
          <a:xfrm>
            <a:off x="660400" y="1714500"/>
            <a:ext cx="2374900" cy="457200"/>
          </a:xfrm>
          <a:prstGeom prst="rect">
            <a:avLst/>
          </a:prstGeom>
          <a:noFill/>
          <a:ln/>
        </p:spPr>
        <p:txBody>
          <a:bodyPr wrap="square" lIns="0" tIns="0" rIns="0" bIns="0" rtlCol="0" anchor="t"/>
          <a:lstStyle/>
          <a:p>
            <a:pPr algn="l" indent="0" marL="0">
              <a:lnSpc>
                <a:spcPct val="112000"/>
              </a:lnSpc>
              <a:buNone/>
            </a:pPr>
            <a:r>
              <a:rPr lang="en-US" sz="850" dirty="0">
                <a:solidFill>
                  <a:srgbClr val="C3C8D1"/>
                </a:solidFill>
                <a:latin typeface="Plus Jakarta Sans" pitchFamily="34" charset="0"/>
                <a:ea typeface="Plus Jakarta Sans" pitchFamily="34" charset="-122"/>
                <a:cs typeface="Plus Jakarta Sans" pitchFamily="34" charset="-120"/>
              </a:rPr>
              <a:t>Introduces qualified opportunities; does not drive the sale or delivery.</a:t>
            </a:r>
            <a:endParaRPr lang="en-US" sz="850" dirty="0"/>
          </a:p>
        </p:txBody>
      </p:sp>
      <p:sp>
        <p:nvSpPr>
          <p:cNvPr id="11" name="anim-2-7"/>
          <p:cNvSpPr txBox="1"/>
          <p:nvPr/>
        </p:nvSpPr>
        <p:spPr>
          <a:xfrm>
            <a:off x="660400" y="2324100"/>
            <a:ext cx="2374900" cy="139700"/>
          </a:xfrm>
          <a:prstGeom prst="rect">
            <a:avLst/>
          </a:prstGeom>
          <a:noFill/>
          <a:ln/>
        </p:spPr>
        <p:txBody>
          <a:bodyPr wrap="square" lIns="0" tIns="0" rIns="0" bIns="0" rtlCol="0" anchor="t"/>
          <a:lstStyle/>
          <a:p>
            <a:pPr algn="l" indent="0" marL="0">
              <a:lnSpc>
                <a:spcPct val="112000"/>
              </a:lnSpc>
              <a:buNone/>
            </a:pPr>
            <a:r>
              <a:rPr lang="en-US" sz="700" spc="200" kern="0" dirty="0">
                <a:solidFill>
                  <a:srgbClr val="15B6FF"/>
                </a:solidFill>
                <a:latin typeface="Plus Jakarta Sans SemiBold" pitchFamily="34" charset="0"/>
                <a:ea typeface="Plus Jakarta Sans SemiBold" pitchFamily="34" charset="-122"/>
                <a:cs typeface="Plus Jakarta Sans SemiBold" pitchFamily="34" charset="-120"/>
              </a:rPr>
              <a:t>HOW YOU EARN</a:t>
            </a:r>
            <a:endParaRPr lang="en-US" sz="700" dirty="0"/>
          </a:p>
        </p:txBody>
      </p:sp>
      <p:sp>
        <p:nvSpPr>
          <p:cNvPr id="12" name="anim-2-8"/>
          <p:cNvSpPr txBox="1"/>
          <p:nvPr/>
        </p:nvSpPr>
        <p:spPr>
          <a:xfrm>
            <a:off x="660400" y="2489200"/>
            <a:ext cx="2374900" cy="762000"/>
          </a:xfrm>
          <a:prstGeom prst="rect">
            <a:avLst/>
          </a:prstGeom>
          <a:noFill/>
          <a:ln/>
        </p:spPr>
        <p:txBody>
          <a:bodyPr wrap="square" lIns="0" tIns="0" rIns="0" bIns="0" rtlCol="0" anchor="t"/>
          <a:lstStyle/>
          <a:p>
            <a:pPr algn="l" indent="0" marL="0">
              <a:lnSpc>
                <a:spcPct val="112000"/>
              </a:lnSpc>
              <a:buNone/>
            </a:pPr>
            <a:r>
              <a:rPr lang="en-US" sz="850" dirty="0">
                <a:solidFill>
                  <a:srgbClr val="FFFFFF"/>
                </a:solidFill>
                <a:latin typeface="Plus Jakarta Sans" pitchFamily="34" charset="0"/>
                <a:ea typeface="Plus Jakarta Sans" pitchFamily="34" charset="-122"/>
                <a:cs typeface="Plus Jakarta Sans" pitchFamily="34" charset="-120"/>
              </a:rPr>
              <a:t>One-time fee if pre-approved, registered before engagement and tied to a qualified opportunity; paid after customer payment.</a:t>
            </a:r>
            <a:endParaRPr lang="en-US" sz="850" dirty="0"/>
          </a:p>
        </p:txBody>
      </p:sp>
      <p:sp>
        <p:nvSpPr>
          <p:cNvPr id="13" name="anim-2-9"/>
          <p:cNvSpPr/>
          <p:nvPr/>
        </p:nvSpPr>
        <p:spPr>
          <a:xfrm>
            <a:off x="3340100" y="1308100"/>
            <a:ext cx="2679700" cy="2044700"/>
          </a:xfrm>
          <a:prstGeom prst="roundRect">
            <a:avLst>
              <a:gd name="adj" fmla="val 9938"/>
            </a:avLst>
          </a:prstGeom>
          <a:solidFill>
            <a:srgbClr val="FFFFFF">
              <a:alpha val="5000"/>
            </a:srgbClr>
          </a:solidFill>
          <a:ln w="9525">
            <a:solidFill>
              <a:srgbClr val="FFFFFF">
                <a:alpha val="12000"/>
              </a:srgbClr>
            </a:solidFill>
            <a:prstDash val="solid"/>
          </a:ln>
        </p:spPr>
      </p:sp>
      <p:sp>
        <p:nvSpPr>
          <p:cNvPr id="14" name="anim-2-10"/>
          <p:cNvSpPr txBox="1"/>
          <p:nvPr/>
        </p:nvSpPr>
        <p:spPr>
          <a:xfrm>
            <a:off x="3492500" y="1447800"/>
            <a:ext cx="2374900" cy="215900"/>
          </a:xfrm>
          <a:prstGeom prst="rect">
            <a:avLst/>
          </a:prstGeom>
          <a:noFill/>
          <a:ln/>
        </p:spPr>
        <p:txBody>
          <a:bodyPr wrap="square" lIns="0" tIns="0" rIns="0" bIns="0" rtlCol="0" anchor="t"/>
          <a:lstStyle/>
          <a:p>
            <a:pPr algn="l" indent="0" marL="0">
              <a:lnSpc>
                <a:spcPct val="112000"/>
              </a:lnSpc>
              <a:buNone/>
            </a:pPr>
            <a:r>
              <a:rPr lang="en-US" sz="1100" dirty="0">
                <a:solidFill>
                  <a:srgbClr val="15B6FF"/>
                </a:solidFill>
                <a:latin typeface="Plus Jakarta Sans Light" pitchFamily="34" charset="0"/>
                <a:ea typeface="Plus Jakarta Sans Light" pitchFamily="34" charset="-122"/>
                <a:cs typeface="Plus Jakarta Sans Light" pitchFamily="34" charset="-120"/>
              </a:rPr>
              <a:t>02  </a:t>
            </a:r>
            <a:pPr algn="l" indent="0" marL="0">
              <a:lnSpc>
                <a:spcPct val="112000"/>
              </a:lnSpc>
              <a:buNone/>
            </a:pPr>
            <a:r>
              <a:rPr lang="en-US" sz="1100" b="1" dirty="0">
                <a:solidFill>
                  <a:srgbClr val="FFFFFF"/>
                </a:solidFill>
                <a:latin typeface="Plus Jakarta Sans" pitchFamily="34" charset="0"/>
                <a:ea typeface="Plus Jakarta Sans" pitchFamily="34" charset="-122"/>
                <a:cs typeface="Plus Jakarta Sans" pitchFamily="34" charset="-120"/>
              </a:rPr>
              <a:t>Reseller / VAR</a:t>
            </a:r>
            <a:endParaRPr lang="en-US" sz="1100" dirty="0"/>
          </a:p>
        </p:txBody>
      </p:sp>
      <p:sp>
        <p:nvSpPr>
          <p:cNvPr id="15" name="anim-2-11"/>
          <p:cNvSpPr txBox="1"/>
          <p:nvPr/>
        </p:nvSpPr>
        <p:spPr>
          <a:xfrm>
            <a:off x="3492500" y="1714500"/>
            <a:ext cx="2374900" cy="457200"/>
          </a:xfrm>
          <a:prstGeom prst="rect">
            <a:avLst/>
          </a:prstGeom>
          <a:noFill/>
          <a:ln/>
        </p:spPr>
        <p:txBody>
          <a:bodyPr wrap="square" lIns="0" tIns="0" rIns="0" bIns="0" rtlCol="0" anchor="t"/>
          <a:lstStyle/>
          <a:p>
            <a:pPr algn="l" indent="0" marL="0">
              <a:lnSpc>
                <a:spcPct val="112000"/>
              </a:lnSpc>
              <a:buNone/>
            </a:pPr>
            <a:r>
              <a:rPr lang="en-US" sz="850" dirty="0">
                <a:solidFill>
                  <a:srgbClr val="C3C8D1"/>
                </a:solidFill>
                <a:latin typeface="Plus Jakarta Sans" pitchFamily="34" charset="0"/>
                <a:ea typeface="Plus Jakarta Sans" pitchFamily="34" charset="-122"/>
                <a:cs typeface="Plus Jakarta Sans" pitchFamily="34" charset="-120"/>
              </a:rPr>
              <a:t>Sources, registers, develops and actively drives opportunities.</a:t>
            </a:r>
            <a:endParaRPr lang="en-US" sz="850" dirty="0"/>
          </a:p>
        </p:txBody>
      </p:sp>
      <p:sp>
        <p:nvSpPr>
          <p:cNvPr id="16" name="anim-2-12"/>
          <p:cNvSpPr txBox="1"/>
          <p:nvPr/>
        </p:nvSpPr>
        <p:spPr>
          <a:xfrm>
            <a:off x="3492500" y="2324100"/>
            <a:ext cx="2374900" cy="139700"/>
          </a:xfrm>
          <a:prstGeom prst="rect">
            <a:avLst/>
          </a:prstGeom>
          <a:noFill/>
          <a:ln/>
        </p:spPr>
        <p:txBody>
          <a:bodyPr wrap="square" lIns="0" tIns="0" rIns="0" bIns="0" rtlCol="0" anchor="t"/>
          <a:lstStyle/>
          <a:p>
            <a:pPr algn="l" indent="0" marL="0">
              <a:lnSpc>
                <a:spcPct val="112000"/>
              </a:lnSpc>
              <a:buNone/>
            </a:pPr>
            <a:r>
              <a:rPr lang="en-US" sz="700" spc="200" kern="0" dirty="0">
                <a:solidFill>
                  <a:srgbClr val="15B6FF"/>
                </a:solidFill>
                <a:latin typeface="Plus Jakarta Sans SemiBold" pitchFamily="34" charset="0"/>
                <a:ea typeface="Plus Jakarta Sans SemiBold" pitchFamily="34" charset="-122"/>
                <a:cs typeface="Plus Jakarta Sans SemiBold" pitchFamily="34" charset="-120"/>
              </a:rPr>
              <a:t>HOW YOU EARN</a:t>
            </a:r>
            <a:endParaRPr lang="en-US" sz="700" dirty="0"/>
          </a:p>
        </p:txBody>
      </p:sp>
      <p:sp>
        <p:nvSpPr>
          <p:cNvPr id="17" name="anim-2-13"/>
          <p:cNvSpPr txBox="1"/>
          <p:nvPr/>
        </p:nvSpPr>
        <p:spPr>
          <a:xfrm>
            <a:off x="3492500" y="2489200"/>
            <a:ext cx="2374900" cy="762000"/>
          </a:xfrm>
          <a:prstGeom prst="rect">
            <a:avLst/>
          </a:prstGeom>
          <a:noFill/>
          <a:ln/>
        </p:spPr>
        <p:txBody>
          <a:bodyPr wrap="square" lIns="0" tIns="0" rIns="0" bIns="0" rtlCol="0" anchor="t"/>
          <a:lstStyle/>
          <a:p>
            <a:pPr algn="l" indent="0" marL="0">
              <a:lnSpc>
                <a:spcPct val="112000"/>
              </a:lnSpc>
              <a:buNone/>
            </a:pPr>
            <a:r>
              <a:rPr lang="en-US" sz="850" dirty="0">
                <a:solidFill>
                  <a:srgbClr val="FFFFFF"/>
                </a:solidFill>
                <a:latin typeface="Plus Jakarta Sans" pitchFamily="34" charset="0"/>
                <a:ea typeface="Plus Jakarta Sans" pitchFamily="34" charset="-122"/>
                <a:cs typeface="Plus Jakarta Sans" pitchFamily="34" charset="-120"/>
              </a:rPr>
              <a:t>New-business, expansion and renewal incentives if assigned and compliant.</a:t>
            </a:r>
            <a:endParaRPr lang="en-US" sz="850" dirty="0"/>
          </a:p>
        </p:txBody>
      </p:sp>
      <p:sp>
        <p:nvSpPr>
          <p:cNvPr id="18" name="anim-2-14"/>
          <p:cNvSpPr/>
          <p:nvPr/>
        </p:nvSpPr>
        <p:spPr>
          <a:xfrm>
            <a:off x="6172200" y="1308100"/>
            <a:ext cx="2679700" cy="2044700"/>
          </a:xfrm>
          <a:prstGeom prst="roundRect">
            <a:avLst>
              <a:gd name="adj" fmla="val 9938"/>
            </a:avLst>
          </a:prstGeom>
          <a:solidFill>
            <a:srgbClr val="FFFFFF">
              <a:alpha val="5000"/>
            </a:srgbClr>
          </a:solidFill>
          <a:ln w="9525">
            <a:solidFill>
              <a:srgbClr val="FFFFFF">
                <a:alpha val="12000"/>
              </a:srgbClr>
            </a:solidFill>
            <a:prstDash val="solid"/>
          </a:ln>
        </p:spPr>
      </p:sp>
      <p:sp>
        <p:nvSpPr>
          <p:cNvPr id="19" name="anim-2-15"/>
          <p:cNvSpPr txBox="1"/>
          <p:nvPr/>
        </p:nvSpPr>
        <p:spPr>
          <a:xfrm>
            <a:off x="6324600" y="1447800"/>
            <a:ext cx="2374900" cy="215900"/>
          </a:xfrm>
          <a:prstGeom prst="rect">
            <a:avLst/>
          </a:prstGeom>
          <a:noFill/>
          <a:ln/>
        </p:spPr>
        <p:txBody>
          <a:bodyPr wrap="square" lIns="0" tIns="0" rIns="0" bIns="0" rtlCol="0" anchor="t"/>
          <a:lstStyle/>
          <a:p>
            <a:pPr algn="l" indent="0" marL="0">
              <a:lnSpc>
                <a:spcPct val="112000"/>
              </a:lnSpc>
              <a:buNone/>
            </a:pPr>
            <a:r>
              <a:rPr lang="en-US" sz="1100" dirty="0">
                <a:solidFill>
                  <a:srgbClr val="15B6FF"/>
                </a:solidFill>
                <a:latin typeface="Plus Jakarta Sans Light" pitchFamily="34" charset="0"/>
                <a:ea typeface="Plus Jakarta Sans Light" pitchFamily="34" charset="-122"/>
                <a:cs typeface="Plus Jakarta Sans Light" pitchFamily="34" charset="-120"/>
              </a:rPr>
              <a:t>03  </a:t>
            </a:r>
            <a:pPr algn="l" indent="0" marL="0">
              <a:lnSpc>
                <a:spcPct val="112000"/>
              </a:lnSpc>
              <a:buNone/>
            </a:pPr>
            <a:r>
              <a:rPr lang="en-US" sz="1100" b="1" dirty="0">
                <a:solidFill>
                  <a:srgbClr val="FFFFFF"/>
                </a:solidFill>
                <a:latin typeface="Plus Jakarta Sans" pitchFamily="34" charset="0"/>
                <a:ea typeface="Plus Jakarta Sans" pitchFamily="34" charset="-122"/>
                <a:cs typeface="Plus Jakarta Sans" pitchFamily="34" charset="-120"/>
              </a:rPr>
              <a:t>Solution / Implementation</a:t>
            </a:r>
            <a:endParaRPr lang="en-US" sz="1100" dirty="0"/>
          </a:p>
        </p:txBody>
      </p:sp>
      <p:sp>
        <p:nvSpPr>
          <p:cNvPr id="20" name="anim-2-16"/>
          <p:cNvSpPr txBox="1"/>
          <p:nvPr/>
        </p:nvSpPr>
        <p:spPr>
          <a:xfrm>
            <a:off x="6324600" y="1714500"/>
            <a:ext cx="2374900" cy="457200"/>
          </a:xfrm>
          <a:prstGeom prst="rect">
            <a:avLst/>
          </a:prstGeom>
          <a:noFill/>
          <a:ln/>
        </p:spPr>
        <p:txBody>
          <a:bodyPr wrap="square" lIns="0" tIns="0" rIns="0" bIns="0" rtlCol="0" anchor="t"/>
          <a:lstStyle/>
          <a:p>
            <a:pPr algn="l" indent="0" marL="0">
              <a:lnSpc>
                <a:spcPct val="112000"/>
              </a:lnSpc>
              <a:buNone/>
            </a:pPr>
            <a:r>
              <a:rPr lang="en-US" sz="850" dirty="0">
                <a:solidFill>
                  <a:srgbClr val="C3C8D1"/>
                </a:solidFill>
                <a:latin typeface="Plus Jakarta Sans" pitchFamily="34" charset="0"/>
                <a:ea typeface="Plus Jakarta Sans" pitchFamily="34" charset="-122"/>
                <a:cs typeface="Plus Jakarta Sans" pitchFamily="34" charset="-120"/>
              </a:rPr>
              <a:t>Implements, configures, integrates, localises, trains and supports.</a:t>
            </a:r>
            <a:endParaRPr lang="en-US" sz="850" dirty="0"/>
          </a:p>
        </p:txBody>
      </p:sp>
      <p:sp>
        <p:nvSpPr>
          <p:cNvPr id="21" name="anim-2-17"/>
          <p:cNvSpPr txBox="1"/>
          <p:nvPr/>
        </p:nvSpPr>
        <p:spPr>
          <a:xfrm>
            <a:off x="6324600" y="2324100"/>
            <a:ext cx="2374900" cy="139700"/>
          </a:xfrm>
          <a:prstGeom prst="rect">
            <a:avLst/>
          </a:prstGeom>
          <a:noFill/>
          <a:ln/>
        </p:spPr>
        <p:txBody>
          <a:bodyPr wrap="square" lIns="0" tIns="0" rIns="0" bIns="0" rtlCol="0" anchor="t"/>
          <a:lstStyle/>
          <a:p>
            <a:pPr algn="l" indent="0" marL="0">
              <a:lnSpc>
                <a:spcPct val="112000"/>
              </a:lnSpc>
              <a:buNone/>
            </a:pPr>
            <a:r>
              <a:rPr lang="en-US" sz="700" spc="200" kern="0" dirty="0">
                <a:solidFill>
                  <a:srgbClr val="15B6FF"/>
                </a:solidFill>
                <a:latin typeface="Plus Jakarta Sans SemiBold" pitchFamily="34" charset="0"/>
                <a:ea typeface="Plus Jakarta Sans SemiBold" pitchFamily="34" charset="-122"/>
                <a:cs typeface="Plus Jakarta Sans SemiBold" pitchFamily="34" charset="-120"/>
              </a:rPr>
              <a:t>HOW YOU EARN</a:t>
            </a:r>
            <a:endParaRPr lang="en-US" sz="700" dirty="0"/>
          </a:p>
        </p:txBody>
      </p:sp>
      <p:sp>
        <p:nvSpPr>
          <p:cNvPr id="22" name="anim-2-18"/>
          <p:cNvSpPr txBox="1"/>
          <p:nvPr/>
        </p:nvSpPr>
        <p:spPr>
          <a:xfrm>
            <a:off x="6324600" y="2489200"/>
            <a:ext cx="2374900" cy="762000"/>
          </a:xfrm>
          <a:prstGeom prst="rect">
            <a:avLst/>
          </a:prstGeom>
          <a:noFill/>
          <a:ln/>
        </p:spPr>
        <p:txBody>
          <a:bodyPr wrap="square" lIns="0" tIns="0" rIns="0" bIns="0" rtlCol="0" anchor="t"/>
          <a:lstStyle/>
          <a:p>
            <a:pPr algn="l" indent="0" marL="0">
              <a:lnSpc>
                <a:spcPct val="112000"/>
              </a:lnSpc>
              <a:buNone/>
            </a:pPr>
            <a:r>
              <a:rPr lang="en-US" sz="850" dirty="0">
                <a:solidFill>
                  <a:srgbClr val="FFFFFF"/>
                </a:solidFill>
                <a:latin typeface="Plus Jakarta Sans" pitchFamily="34" charset="0"/>
                <a:ea typeface="Plus Jakarta Sans" pitchFamily="34" charset="-122"/>
                <a:cs typeface="Plus Jakarta Sans" pitchFamily="34" charset="-120"/>
              </a:rPr>
              <a:t>Services revenue; may earn an approved influence fee or success rebate where documented.</a:t>
            </a:r>
            <a:endParaRPr lang="en-US" sz="850" dirty="0"/>
          </a:p>
        </p:txBody>
      </p:sp>
      <p:sp>
        <p:nvSpPr>
          <p:cNvPr id="23" name="anim-2-19"/>
          <p:cNvSpPr/>
          <p:nvPr/>
        </p:nvSpPr>
        <p:spPr>
          <a:xfrm>
            <a:off x="9004300" y="1308100"/>
            <a:ext cx="2679700" cy="2044700"/>
          </a:xfrm>
          <a:prstGeom prst="roundRect">
            <a:avLst>
              <a:gd name="adj" fmla="val 9938"/>
            </a:avLst>
          </a:prstGeom>
          <a:solidFill>
            <a:srgbClr val="FFFFFF">
              <a:alpha val="5000"/>
            </a:srgbClr>
          </a:solidFill>
          <a:ln w="9525">
            <a:solidFill>
              <a:srgbClr val="FFFFFF">
                <a:alpha val="12000"/>
              </a:srgbClr>
            </a:solidFill>
            <a:prstDash val="solid"/>
          </a:ln>
        </p:spPr>
      </p:sp>
      <p:sp>
        <p:nvSpPr>
          <p:cNvPr id="24" name="anim-2-20"/>
          <p:cNvSpPr txBox="1"/>
          <p:nvPr/>
        </p:nvSpPr>
        <p:spPr>
          <a:xfrm>
            <a:off x="9156700" y="1447800"/>
            <a:ext cx="2374900" cy="215900"/>
          </a:xfrm>
          <a:prstGeom prst="rect">
            <a:avLst/>
          </a:prstGeom>
          <a:noFill/>
          <a:ln/>
        </p:spPr>
        <p:txBody>
          <a:bodyPr wrap="square" lIns="0" tIns="0" rIns="0" bIns="0" rtlCol="0" anchor="t"/>
          <a:lstStyle/>
          <a:p>
            <a:pPr algn="l" indent="0" marL="0">
              <a:lnSpc>
                <a:spcPct val="112000"/>
              </a:lnSpc>
              <a:buNone/>
            </a:pPr>
            <a:r>
              <a:rPr lang="en-US" sz="1100" dirty="0">
                <a:solidFill>
                  <a:srgbClr val="15B6FF"/>
                </a:solidFill>
                <a:latin typeface="Plus Jakarta Sans Light" pitchFamily="34" charset="0"/>
                <a:ea typeface="Plus Jakarta Sans Light" pitchFamily="34" charset="-122"/>
                <a:cs typeface="Plus Jakarta Sans Light" pitchFamily="34" charset="-120"/>
              </a:rPr>
              <a:t>04  </a:t>
            </a:r>
            <a:pPr algn="l" indent="0" marL="0">
              <a:lnSpc>
                <a:spcPct val="112000"/>
              </a:lnSpc>
              <a:buNone/>
            </a:pPr>
            <a:r>
              <a:rPr lang="en-US" sz="1100" b="1" dirty="0">
                <a:solidFill>
                  <a:srgbClr val="FFFFFF"/>
                </a:solidFill>
                <a:latin typeface="Plus Jakarta Sans" pitchFamily="34" charset="0"/>
                <a:ea typeface="Plus Jakarta Sans" pitchFamily="34" charset="-122"/>
                <a:cs typeface="Plus Jakarta Sans" pitchFamily="34" charset="-120"/>
              </a:rPr>
              <a:t>Strategic Alliance</a:t>
            </a:r>
            <a:endParaRPr lang="en-US" sz="1100" dirty="0"/>
          </a:p>
        </p:txBody>
      </p:sp>
      <p:sp>
        <p:nvSpPr>
          <p:cNvPr id="25" name="anim-2-21"/>
          <p:cNvSpPr txBox="1"/>
          <p:nvPr/>
        </p:nvSpPr>
        <p:spPr>
          <a:xfrm>
            <a:off x="9156700" y="1714500"/>
            <a:ext cx="2374900" cy="457200"/>
          </a:xfrm>
          <a:prstGeom prst="rect">
            <a:avLst/>
          </a:prstGeom>
          <a:noFill/>
          <a:ln/>
        </p:spPr>
        <p:txBody>
          <a:bodyPr wrap="square" lIns="0" tIns="0" rIns="0" bIns="0" rtlCol="0" anchor="t"/>
          <a:lstStyle/>
          <a:p>
            <a:pPr algn="l" indent="0" marL="0">
              <a:lnSpc>
                <a:spcPct val="112000"/>
              </a:lnSpc>
              <a:buNone/>
            </a:pPr>
            <a:r>
              <a:rPr lang="en-US" sz="850" dirty="0">
                <a:solidFill>
                  <a:srgbClr val="C3C8D1"/>
                </a:solidFill>
                <a:latin typeface="Plus Jakarta Sans" pitchFamily="34" charset="0"/>
                <a:ea typeface="Plus Jakarta Sans" pitchFamily="34" charset="-122"/>
                <a:cs typeface="Plus Jakarta Sans" pitchFamily="34" charset="-120"/>
              </a:rPr>
              <a:t>Market access, executive alignment, co-sell and multi-country GTM.</a:t>
            </a:r>
            <a:endParaRPr lang="en-US" sz="850" dirty="0"/>
          </a:p>
        </p:txBody>
      </p:sp>
      <p:sp>
        <p:nvSpPr>
          <p:cNvPr id="26" name="anim-2-22"/>
          <p:cNvSpPr txBox="1"/>
          <p:nvPr/>
        </p:nvSpPr>
        <p:spPr>
          <a:xfrm>
            <a:off x="9156700" y="2324100"/>
            <a:ext cx="2374900" cy="139700"/>
          </a:xfrm>
          <a:prstGeom prst="rect">
            <a:avLst/>
          </a:prstGeom>
          <a:noFill/>
          <a:ln/>
        </p:spPr>
        <p:txBody>
          <a:bodyPr wrap="square" lIns="0" tIns="0" rIns="0" bIns="0" rtlCol="0" anchor="t"/>
          <a:lstStyle/>
          <a:p>
            <a:pPr algn="l" indent="0" marL="0">
              <a:lnSpc>
                <a:spcPct val="112000"/>
              </a:lnSpc>
              <a:buNone/>
            </a:pPr>
            <a:r>
              <a:rPr lang="en-US" sz="700" spc="200" kern="0" dirty="0">
                <a:solidFill>
                  <a:srgbClr val="15B6FF"/>
                </a:solidFill>
                <a:latin typeface="Plus Jakarta Sans SemiBold" pitchFamily="34" charset="0"/>
                <a:ea typeface="Plus Jakarta Sans SemiBold" pitchFamily="34" charset="-122"/>
                <a:cs typeface="Plus Jakarta Sans SemiBold" pitchFamily="34" charset="-120"/>
              </a:rPr>
              <a:t>HOW YOU EARN</a:t>
            </a:r>
            <a:endParaRPr lang="en-US" sz="700" dirty="0"/>
          </a:p>
        </p:txBody>
      </p:sp>
      <p:sp>
        <p:nvSpPr>
          <p:cNvPr id="27" name="anim-2-23"/>
          <p:cNvSpPr txBox="1"/>
          <p:nvPr/>
        </p:nvSpPr>
        <p:spPr>
          <a:xfrm>
            <a:off x="9156700" y="2489200"/>
            <a:ext cx="2374900" cy="762000"/>
          </a:xfrm>
          <a:prstGeom prst="rect">
            <a:avLst/>
          </a:prstGeom>
          <a:noFill/>
          <a:ln/>
        </p:spPr>
        <p:txBody>
          <a:bodyPr wrap="square" lIns="0" tIns="0" rIns="0" bIns="0" rtlCol="0" anchor="t"/>
          <a:lstStyle/>
          <a:p>
            <a:pPr algn="l" indent="0" marL="0">
              <a:lnSpc>
                <a:spcPct val="112000"/>
              </a:lnSpc>
              <a:buNone/>
            </a:pPr>
            <a:r>
              <a:rPr lang="en-US" sz="850" dirty="0">
                <a:solidFill>
                  <a:srgbClr val="FFFFFF"/>
                </a:solidFill>
                <a:latin typeface="Plus Jakarta Sans" pitchFamily="34" charset="0"/>
                <a:ea typeface="Plus Jakarta Sans" pitchFamily="34" charset="-122"/>
                <a:cs typeface="Plus Jakarta Sans" pitchFamily="34" charset="-120"/>
              </a:rPr>
              <a:t>Joint business planning, executive sponsorship and strategic alliance terms.</a:t>
            </a:r>
            <a:endParaRPr lang="en-US" sz="850" dirty="0"/>
          </a:p>
        </p:txBody>
      </p:sp>
      <p:sp>
        <p:nvSpPr>
          <p:cNvPr id="28" name="anim-3-24"/>
          <p:cNvSpPr/>
          <p:nvPr/>
        </p:nvSpPr>
        <p:spPr>
          <a:xfrm>
            <a:off x="508000" y="3492500"/>
            <a:ext cx="2679700" cy="2044700"/>
          </a:xfrm>
          <a:prstGeom prst="roundRect">
            <a:avLst>
              <a:gd name="adj" fmla="val 9938"/>
            </a:avLst>
          </a:prstGeom>
          <a:solidFill>
            <a:srgbClr val="FFFFFF">
              <a:alpha val="5000"/>
            </a:srgbClr>
          </a:solidFill>
          <a:ln w="9525">
            <a:solidFill>
              <a:srgbClr val="FFFFFF">
                <a:alpha val="12000"/>
              </a:srgbClr>
            </a:solidFill>
            <a:prstDash val="solid"/>
          </a:ln>
        </p:spPr>
      </p:sp>
      <p:sp>
        <p:nvSpPr>
          <p:cNvPr id="29" name="anim-3-25"/>
          <p:cNvSpPr txBox="1"/>
          <p:nvPr/>
        </p:nvSpPr>
        <p:spPr>
          <a:xfrm>
            <a:off x="660400" y="3632200"/>
            <a:ext cx="2374900" cy="215900"/>
          </a:xfrm>
          <a:prstGeom prst="rect">
            <a:avLst/>
          </a:prstGeom>
          <a:noFill/>
          <a:ln/>
        </p:spPr>
        <p:txBody>
          <a:bodyPr wrap="square" lIns="0" tIns="0" rIns="0" bIns="0" rtlCol="0" anchor="t"/>
          <a:lstStyle/>
          <a:p>
            <a:pPr algn="l" indent="0" marL="0">
              <a:lnSpc>
                <a:spcPct val="112000"/>
              </a:lnSpc>
              <a:buNone/>
            </a:pPr>
            <a:r>
              <a:rPr lang="en-US" sz="1100" dirty="0">
                <a:solidFill>
                  <a:srgbClr val="15B6FF"/>
                </a:solidFill>
                <a:latin typeface="Plus Jakarta Sans Light" pitchFamily="34" charset="0"/>
                <a:ea typeface="Plus Jakarta Sans Light" pitchFamily="34" charset="-122"/>
                <a:cs typeface="Plus Jakarta Sans Light" pitchFamily="34" charset="-120"/>
              </a:rPr>
              <a:t>05  </a:t>
            </a:r>
            <a:pPr algn="l" indent="0" marL="0">
              <a:lnSpc>
                <a:spcPct val="112000"/>
              </a:lnSpc>
              <a:buNone/>
            </a:pPr>
            <a:r>
              <a:rPr lang="en-US" sz="1100" b="1" dirty="0">
                <a:solidFill>
                  <a:srgbClr val="FFFFFF"/>
                </a:solidFill>
                <a:latin typeface="Plus Jakarta Sans" pitchFamily="34" charset="0"/>
                <a:ea typeface="Plus Jakarta Sans" pitchFamily="34" charset="-122"/>
                <a:cs typeface="Plus Jakarta Sans" pitchFamily="34" charset="-120"/>
              </a:rPr>
              <a:t>Technology / Platform (ISV)</a:t>
            </a:r>
            <a:endParaRPr lang="en-US" sz="1100" dirty="0"/>
          </a:p>
        </p:txBody>
      </p:sp>
      <p:sp>
        <p:nvSpPr>
          <p:cNvPr id="30" name="anim-3-26"/>
          <p:cNvSpPr txBox="1"/>
          <p:nvPr/>
        </p:nvSpPr>
        <p:spPr>
          <a:xfrm>
            <a:off x="660400" y="3898900"/>
            <a:ext cx="2374900" cy="457200"/>
          </a:xfrm>
          <a:prstGeom prst="rect">
            <a:avLst/>
          </a:prstGeom>
          <a:noFill/>
          <a:ln/>
        </p:spPr>
        <p:txBody>
          <a:bodyPr wrap="square" lIns="0" tIns="0" rIns="0" bIns="0" rtlCol="0" anchor="t"/>
          <a:lstStyle/>
          <a:p>
            <a:pPr algn="l" indent="0" marL="0">
              <a:lnSpc>
                <a:spcPct val="112000"/>
              </a:lnSpc>
              <a:buNone/>
            </a:pPr>
            <a:r>
              <a:rPr lang="en-US" sz="850" dirty="0">
                <a:solidFill>
                  <a:srgbClr val="C3C8D1"/>
                </a:solidFill>
                <a:latin typeface="Plus Jakarta Sans" pitchFamily="34" charset="0"/>
                <a:ea typeface="Plus Jakarta Sans" pitchFamily="34" charset="-122"/>
                <a:cs typeface="Plus Jakarta Sans" pitchFamily="34" charset="-120"/>
              </a:rPr>
              <a:t>Integrates or enhances deployment, data, cloud, security, workflow or marketplace.</a:t>
            </a:r>
            <a:endParaRPr lang="en-US" sz="850" dirty="0"/>
          </a:p>
        </p:txBody>
      </p:sp>
      <p:sp>
        <p:nvSpPr>
          <p:cNvPr id="31" name="anim-3-27"/>
          <p:cNvSpPr txBox="1"/>
          <p:nvPr/>
        </p:nvSpPr>
        <p:spPr>
          <a:xfrm>
            <a:off x="660400" y="4508500"/>
            <a:ext cx="2374900" cy="139700"/>
          </a:xfrm>
          <a:prstGeom prst="rect">
            <a:avLst/>
          </a:prstGeom>
          <a:noFill/>
          <a:ln/>
        </p:spPr>
        <p:txBody>
          <a:bodyPr wrap="square" lIns="0" tIns="0" rIns="0" bIns="0" rtlCol="0" anchor="t"/>
          <a:lstStyle/>
          <a:p>
            <a:pPr algn="l" indent="0" marL="0">
              <a:lnSpc>
                <a:spcPct val="112000"/>
              </a:lnSpc>
              <a:buNone/>
            </a:pPr>
            <a:r>
              <a:rPr lang="en-US" sz="700" spc="200" kern="0" dirty="0">
                <a:solidFill>
                  <a:srgbClr val="15B6FF"/>
                </a:solidFill>
                <a:latin typeface="Plus Jakarta Sans SemiBold" pitchFamily="34" charset="0"/>
                <a:ea typeface="Plus Jakarta Sans SemiBold" pitchFamily="34" charset="-122"/>
                <a:cs typeface="Plus Jakarta Sans SemiBold" pitchFamily="34" charset="-120"/>
              </a:rPr>
              <a:t>HOW YOU EARN</a:t>
            </a:r>
            <a:endParaRPr lang="en-US" sz="700" dirty="0"/>
          </a:p>
        </p:txBody>
      </p:sp>
      <p:sp>
        <p:nvSpPr>
          <p:cNvPr id="32" name="anim-3-28"/>
          <p:cNvSpPr txBox="1"/>
          <p:nvPr/>
        </p:nvSpPr>
        <p:spPr>
          <a:xfrm>
            <a:off x="660400" y="4673600"/>
            <a:ext cx="2374900" cy="762000"/>
          </a:xfrm>
          <a:prstGeom prst="rect">
            <a:avLst/>
          </a:prstGeom>
          <a:noFill/>
          <a:ln/>
        </p:spPr>
        <p:txBody>
          <a:bodyPr wrap="square" lIns="0" tIns="0" rIns="0" bIns="0" rtlCol="0" anchor="t"/>
          <a:lstStyle/>
          <a:p>
            <a:pPr algn="l" indent="0" marL="0">
              <a:lnSpc>
                <a:spcPct val="112000"/>
              </a:lnSpc>
              <a:buNone/>
            </a:pPr>
            <a:r>
              <a:rPr lang="en-US" sz="850" dirty="0">
                <a:solidFill>
                  <a:srgbClr val="FFFFFF"/>
                </a:solidFill>
                <a:latin typeface="Plus Jakarta Sans" pitchFamily="34" charset="0"/>
                <a:ea typeface="Plus Jakarta Sans" pitchFamily="34" charset="-122"/>
                <a:cs typeface="Plus Jakarta Sans" pitchFamily="34" charset="-120"/>
              </a:rPr>
              <a:t>Technology, marketplace, integration or revenue-share terms.</a:t>
            </a:r>
            <a:endParaRPr lang="en-US" sz="850" dirty="0"/>
          </a:p>
        </p:txBody>
      </p:sp>
      <p:sp>
        <p:nvSpPr>
          <p:cNvPr id="33" name="anim-3-29"/>
          <p:cNvSpPr/>
          <p:nvPr/>
        </p:nvSpPr>
        <p:spPr>
          <a:xfrm>
            <a:off x="3340100" y="3492500"/>
            <a:ext cx="2679700" cy="2044700"/>
          </a:xfrm>
          <a:prstGeom prst="roundRect">
            <a:avLst>
              <a:gd name="adj" fmla="val 9938"/>
            </a:avLst>
          </a:prstGeom>
          <a:solidFill>
            <a:srgbClr val="FFFFFF">
              <a:alpha val="5000"/>
            </a:srgbClr>
          </a:solidFill>
          <a:ln w="9525">
            <a:solidFill>
              <a:srgbClr val="FFFFFF">
                <a:alpha val="12000"/>
              </a:srgbClr>
            </a:solidFill>
            <a:prstDash val="solid"/>
          </a:ln>
        </p:spPr>
      </p:sp>
      <p:sp>
        <p:nvSpPr>
          <p:cNvPr id="34" name="anim-3-30"/>
          <p:cNvSpPr txBox="1"/>
          <p:nvPr/>
        </p:nvSpPr>
        <p:spPr>
          <a:xfrm>
            <a:off x="3492500" y="3632200"/>
            <a:ext cx="2374900" cy="215900"/>
          </a:xfrm>
          <a:prstGeom prst="rect">
            <a:avLst/>
          </a:prstGeom>
          <a:noFill/>
          <a:ln/>
        </p:spPr>
        <p:txBody>
          <a:bodyPr wrap="square" lIns="0" tIns="0" rIns="0" bIns="0" rtlCol="0" anchor="t"/>
          <a:lstStyle/>
          <a:p>
            <a:pPr algn="l" indent="0" marL="0">
              <a:lnSpc>
                <a:spcPct val="112000"/>
              </a:lnSpc>
              <a:buNone/>
            </a:pPr>
            <a:r>
              <a:rPr lang="en-US" sz="1100" dirty="0">
                <a:solidFill>
                  <a:srgbClr val="15B6FF"/>
                </a:solidFill>
                <a:latin typeface="Plus Jakarta Sans Light" pitchFamily="34" charset="0"/>
                <a:ea typeface="Plus Jakarta Sans Light" pitchFamily="34" charset="-122"/>
                <a:cs typeface="Plus Jakarta Sans Light" pitchFamily="34" charset="-120"/>
              </a:rPr>
              <a:t>06  </a:t>
            </a:r>
            <a:pPr algn="l" indent="0" marL="0">
              <a:lnSpc>
                <a:spcPct val="112000"/>
              </a:lnSpc>
              <a:buNone/>
            </a:pPr>
            <a:r>
              <a:rPr lang="en-US" sz="1100" b="1" dirty="0">
                <a:solidFill>
                  <a:srgbClr val="FFFFFF"/>
                </a:solidFill>
                <a:latin typeface="Plus Jakarta Sans" pitchFamily="34" charset="0"/>
                <a:ea typeface="Plus Jakarta Sans" pitchFamily="34" charset="-122"/>
                <a:cs typeface="Plus Jakarta Sans" pitchFamily="34" charset="-120"/>
              </a:rPr>
              <a:t>Managed Services</a:t>
            </a:r>
            <a:endParaRPr lang="en-US" sz="1100" dirty="0"/>
          </a:p>
        </p:txBody>
      </p:sp>
      <p:sp>
        <p:nvSpPr>
          <p:cNvPr id="35" name="anim-3-31"/>
          <p:cNvSpPr txBox="1"/>
          <p:nvPr/>
        </p:nvSpPr>
        <p:spPr>
          <a:xfrm>
            <a:off x="3492500" y="3898900"/>
            <a:ext cx="2374900" cy="457200"/>
          </a:xfrm>
          <a:prstGeom prst="rect">
            <a:avLst/>
          </a:prstGeom>
          <a:noFill/>
          <a:ln/>
        </p:spPr>
        <p:txBody>
          <a:bodyPr wrap="square" lIns="0" tIns="0" rIns="0" bIns="0" rtlCol="0" anchor="t"/>
          <a:lstStyle/>
          <a:p>
            <a:pPr algn="l" indent="0" marL="0">
              <a:lnSpc>
                <a:spcPct val="112000"/>
              </a:lnSpc>
              <a:buNone/>
            </a:pPr>
            <a:r>
              <a:rPr lang="en-US" sz="850" dirty="0">
                <a:solidFill>
                  <a:srgbClr val="C3C8D1"/>
                </a:solidFill>
                <a:latin typeface="Plus Jakarta Sans" pitchFamily="34" charset="0"/>
                <a:ea typeface="Plus Jakarta Sans" pitchFamily="34" charset="-122"/>
                <a:cs typeface="Plus Jakarta Sans" pitchFamily="34" charset="-120"/>
              </a:rPr>
              <a:t>Operates or supports customer environments around DignifyX solutions.</a:t>
            </a:r>
            <a:endParaRPr lang="en-US" sz="850" dirty="0"/>
          </a:p>
        </p:txBody>
      </p:sp>
      <p:sp>
        <p:nvSpPr>
          <p:cNvPr id="36" name="anim-3-32"/>
          <p:cNvSpPr txBox="1"/>
          <p:nvPr/>
        </p:nvSpPr>
        <p:spPr>
          <a:xfrm>
            <a:off x="3492500" y="4508500"/>
            <a:ext cx="2374900" cy="139700"/>
          </a:xfrm>
          <a:prstGeom prst="rect">
            <a:avLst/>
          </a:prstGeom>
          <a:noFill/>
          <a:ln/>
        </p:spPr>
        <p:txBody>
          <a:bodyPr wrap="square" lIns="0" tIns="0" rIns="0" bIns="0" rtlCol="0" anchor="t"/>
          <a:lstStyle/>
          <a:p>
            <a:pPr algn="l" indent="0" marL="0">
              <a:lnSpc>
                <a:spcPct val="112000"/>
              </a:lnSpc>
              <a:buNone/>
            </a:pPr>
            <a:r>
              <a:rPr lang="en-US" sz="700" spc="200" kern="0" dirty="0">
                <a:solidFill>
                  <a:srgbClr val="15B6FF"/>
                </a:solidFill>
                <a:latin typeface="Plus Jakarta Sans SemiBold" pitchFamily="34" charset="0"/>
                <a:ea typeface="Plus Jakarta Sans SemiBold" pitchFamily="34" charset="-122"/>
                <a:cs typeface="Plus Jakarta Sans SemiBold" pitchFamily="34" charset="-120"/>
              </a:rPr>
              <a:t>HOW YOU EARN</a:t>
            </a:r>
            <a:endParaRPr lang="en-US" sz="700" dirty="0"/>
          </a:p>
        </p:txBody>
      </p:sp>
      <p:sp>
        <p:nvSpPr>
          <p:cNvPr id="37" name="anim-3-33"/>
          <p:cNvSpPr txBox="1"/>
          <p:nvPr/>
        </p:nvSpPr>
        <p:spPr>
          <a:xfrm>
            <a:off x="3492500" y="4673600"/>
            <a:ext cx="2374900" cy="762000"/>
          </a:xfrm>
          <a:prstGeom prst="rect">
            <a:avLst/>
          </a:prstGeom>
          <a:noFill/>
          <a:ln/>
        </p:spPr>
        <p:txBody>
          <a:bodyPr wrap="square" lIns="0" tIns="0" rIns="0" bIns="0" rtlCol="0" anchor="t"/>
          <a:lstStyle/>
          <a:p>
            <a:pPr algn="l" indent="0" marL="0">
              <a:lnSpc>
                <a:spcPct val="112000"/>
              </a:lnSpc>
              <a:buNone/>
            </a:pPr>
            <a:r>
              <a:rPr lang="en-US" sz="850" dirty="0">
                <a:solidFill>
                  <a:srgbClr val="FFFFFF"/>
                </a:solidFill>
                <a:latin typeface="Plus Jakarta Sans" pitchFamily="34" charset="0"/>
                <a:ea typeface="Plus Jakarta Sans" pitchFamily="34" charset="-122"/>
                <a:cs typeface="Plus Jakarta Sans" pitchFamily="34" charset="-120"/>
              </a:rPr>
              <a:t>Services revenue plus eligible customer-success, renewal or managed-service incentives.</a:t>
            </a:r>
            <a:endParaRPr lang="en-US" sz="850" dirty="0"/>
          </a:p>
        </p:txBody>
      </p:sp>
      <p:sp>
        <p:nvSpPr>
          <p:cNvPr id="38" name="anim-3-34"/>
          <p:cNvSpPr/>
          <p:nvPr/>
        </p:nvSpPr>
        <p:spPr>
          <a:xfrm>
            <a:off x="6172200" y="3492500"/>
            <a:ext cx="2679700" cy="2044700"/>
          </a:xfrm>
          <a:prstGeom prst="roundRect">
            <a:avLst>
              <a:gd name="adj" fmla="val 9938"/>
            </a:avLst>
          </a:prstGeom>
          <a:solidFill>
            <a:srgbClr val="FFFFFF">
              <a:alpha val="5000"/>
            </a:srgbClr>
          </a:solidFill>
          <a:ln w="9525">
            <a:solidFill>
              <a:srgbClr val="FFFFFF">
                <a:alpha val="12000"/>
              </a:srgbClr>
            </a:solidFill>
            <a:prstDash val="solid"/>
          </a:ln>
        </p:spPr>
      </p:sp>
      <p:sp>
        <p:nvSpPr>
          <p:cNvPr id="39" name="anim-3-35"/>
          <p:cNvSpPr txBox="1"/>
          <p:nvPr/>
        </p:nvSpPr>
        <p:spPr>
          <a:xfrm>
            <a:off x="6324600" y="3632200"/>
            <a:ext cx="2374900" cy="215900"/>
          </a:xfrm>
          <a:prstGeom prst="rect">
            <a:avLst/>
          </a:prstGeom>
          <a:noFill/>
          <a:ln/>
        </p:spPr>
        <p:txBody>
          <a:bodyPr wrap="square" lIns="0" tIns="0" rIns="0" bIns="0" rtlCol="0" anchor="t"/>
          <a:lstStyle/>
          <a:p>
            <a:pPr algn="l" indent="0" marL="0">
              <a:lnSpc>
                <a:spcPct val="112000"/>
              </a:lnSpc>
              <a:buNone/>
            </a:pPr>
            <a:r>
              <a:rPr lang="en-US" sz="1100" dirty="0">
                <a:solidFill>
                  <a:srgbClr val="15B6FF"/>
                </a:solidFill>
                <a:latin typeface="Plus Jakarta Sans Light" pitchFamily="34" charset="0"/>
                <a:ea typeface="Plus Jakarta Sans Light" pitchFamily="34" charset="-122"/>
                <a:cs typeface="Plus Jakarta Sans Light" pitchFamily="34" charset="-120"/>
              </a:rPr>
              <a:t>07  </a:t>
            </a:r>
            <a:pPr algn="l" indent="0" marL="0">
              <a:lnSpc>
                <a:spcPct val="112000"/>
              </a:lnSpc>
              <a:buNone/>
            </a:pPr>
            <a:r>
              <a:rPr lang="en-US" sz="1100" b="1" dirty="0">
                <a:solidFill>
                  <a:srgbClr val="FFFFFF"/>
                </a:solidFill>
                <a:latin typeface="Plus Jakarta Sans" pitchFamily="34" charset="0"/>
                <a:ea typeface="Plus Jakarta Sans" pitchFamily="34" charset="-122"/>
                <a:cs typeface="Plus Jakarta Sans" pitchFamily="34" charset="-120"/>
              </a:rPr>
              <a:t>Regional Localisation</a:t>
            </a:r>
            <a:endParaRPr lang="en-US" sz="1100" dirty="0"/>
          </a:p>
        </p:txBody>
      </p:sp>
      <p:sp>
        <p:nvSpPr>
          <p:cNvPr id="40" name="anim-3-36"/>
          <p:cNvSpPr txBox="1"/>
          <p:nvPr/>
        </p:nvSpPr>
        <p:spPr>
          <a:xfrm>
            <a:off x="6324600" y="3898900"/>
            <a:ext cx="2374900" cy="457200"/>
          </a:xfrm>
          <a:prstGeom prst="rect">
            <a:avLst/>
          </a:prstGeom>
          <a:noFill/>
          <a:ln/>
        </p:spPr>
        <p:txBody>
          <a:bodyPr wrap="square" lIns="0" tIns="0" rIns="0" bIns="0" rtlCol="0" anchor="t"/>
          <a:lstStyle/>
          <a:p>
            <a:pPr algn="l" indent="0" marL="0">
              <a:lnSpc>
                <a:spcPct val="112000"/>
              </a:lnSpc>
              <a:buNone/>
            </a:pPr>
            <a:r>
              <a:rPr lang="en-US" sz="850" dirty="0">
                <a:solidFill>
                  <a:srgbClr val="C3C8D1"/>
                </a:solidFill>
                <a:latin typeface="Plus Jakarta Sans" pitchFamily="34" charset="0"/>
                <a:ea typeface="Plus Jakarta Sans" pitchFamily="34" charset="-122"/>
                <a:cs typeface="Plus Jakarta Sans" pitchFamily="34" charset="-120"/>
              </a:rPr>
              <a:t>Language, regulatory terminology, local enablement and readiness.</a:t>
            </a:r>
            <a:endParaRPr lang="en-US" sz="850" dirty="0"/>
          </a:p>
        </p:txBody>
      </p:sp>
      <p:sp>
        <p:nvSpPr>
          <p:cNvPr id="41" name="anim-3-37"/>
          <p:cNvSpPr txBox="1"/>
          <p:nvPr/>
        </p:nvSpPr>
        <p:spPr>
          <a:xfrm>
            <a:off x="6324600" y="4508500"/>
            <a:ext cx="2374900" cy="139700"/>
          </a:xfrm>
          <a:prstGeom prst="rect">
            <a:avLst/>
          </a:prstGeom>
          <a:noFill/>
          <a:ln/>
        </p:spPr>
        <p:txBody>
          <a:bodyPr wrap="square" lIns="0" tIns="0" rIns="0" bIns="0" rtlCol="0" anchor="t"/>
          <a:lstStyle/>
          <a:p>
            <a:pPr algn="l" indent="0" marL="0">
              <a:lnSpc>
                <a:spcPct val="112000"/>
              </a:lnSpc>
              <a:buNone/>
            </a:pPr>
            <a:r>
              <a:rPr lang="en-US" sz="700" spc="200" kern="0" dirty="0">
                <a:solidFill>
                  <a:srgbClr val="15B6FF"/>
                </a:solidFill>
                <a:latin typeface="Plus Jakarta Sans SemiBold" pitchFamily="34" charset="0"/>
                <a:ea typeface="Plus Jakarta Sans SemiBold" pitchFamily="34" charset="-122"/>
                <a:cs typeface="Plus Jakarta Sans SemiBold" pitchFamily="34" charset="-120"/>
              </a:rPr>
              <a:t>HOW YOU EARN</a:t>
            </a:r>
            <a:endParaRPr lang="en-US" sz="700" dirty="0"/>
          </a:p>
        </p:txBody>
      </p:sp>
      <p:sp>
        <p:nvSpPr>
          <p:cNvPr id="42" name="anim-3-38"/>
          <p:cNvSpPr txBox="1"/>
          <p:nvPr/>
        </p:nvSpPr>
        <p:spPr>
          <a:xfrm>
            <a:off x="6324600" y="4673600"/>
            <a:ext cx="2374900" cy="762000"/>
          </a:xfrm>
          <a:prstGeom prst="rect">
            <a:avLst/>
          </a:prstGeom>
          <a:noFill/>
          <a:ln/>
        </p:spPr>
        <p:txBody>
          <a:bodyPr wrap="square" lIns="0" tIns="0" rIns="0" bIns="0" rtlCol="0" anchor="t"/>
          <a:lstStyle/>
          <a:p>
            <a:pPr algn="l" indent="0" marL="0">
              <a:lnSpc>
                <a:spcPct val="112000"/>
              </a:lnSpc>
              <a:buNone/>
            </a:pPr>
            <a:r>
              <a:rPr lang="en-US" sz="850" dirty="0">
                <a:solidFill>
                  <a:srgbClr val="FFFFFF"/>
                </a:solidFill>
                <a:latin typeface="Plus Jakarta Sans" pitchFamily="34" charset="0"/>
                <a:ea typeface="Plus Jakarta Sans" pitchFamily="34" charset="-122"/>
                <a:cs typeface="Plus Jakarta Sans" pitchFamily="34" charset="-120"/>
              </a:rPr>
              <a:t>Localisation, enablement or country-specific partner terms.</a:t>
            </a:r>
            <a:endParaRPr lang="en-US" sz="850" dirty="0"/>
          </a:p>
        </p:txBody>
      </p:sp>
      <p:sp>
        <p:nvSpPr>
          <p:cNvPr id="43" name="anim-4-39"/>
          <p:cNvSpPr/>
          <p:nvPr/>
        </p:nvSpPr>
        <p:spPr>
          <a:xfrm>
            <a:off x="9004300" y="3492500"/>
            <a:ext cx="2679700" cy="2044700"/>
          </a:xfrm>
          <a:prstGeom prst="roundRect">
            <a:avLst>
              <a:gd name="adj" fmla="val 9938"/>
            </a:avLst>
          </a:prstGeom>
          <a:solidFill>
            <a:srgbClr val="194EFF"/>
          </a:solidFill>
          <a:ln w="9525">
            <a:solidFill>
              <a:srgbClr val="15B6FF">
                <a:alpha val="40000"/>
              </a:srgbClr>
            </a:solidFill>
            <a:prstDash val="solid"/>
          </a:ln>
        </p:spPr>
      </p:sp>
      <p:sp>
        <p:nvSpPr>
          <p:cNvPr id="44" name="anim-4-40"/>
          <p:cNvSpPr txBox="1"/>
          <p:nvPr/>
        </p:nvSpPr>
        <p:spPr>
          <a:xfrm>
            <a:off x="9182100" y="3721100"/>
            <a:ext cx="2324100" cy="1143000"/>
          </a:xfrm>
          <a:prstGeom prst="rect">
            <a:avLst/>
          </a:prstGeom>
          <a:noFill/>
          <a:ln/>
        </p:spPr>
        <p:txBody>
          <a:bodyPr wrap="square" lIns="0" tIns="0" rIns="0" bIns="0" rtlCol="0" anchor="t"/>
          <a:lstStyle/>
          <a:p>
            <a:pPr algn="l" indent="0" marL="0">
              <a:lnSpc>
                <a:spcPct val="120000"/>
              </a:lnSpc>
              <a:buNone/>
            </a:pPr>
            <a:r>
              <a:rPr lang="en-US" sz="1600" b="1" dirty="0">
                <a:solidFill>
                  <a:srgbClr val="FFFFFF"/>
                </a:solidFill>
                <a:latin typeface="Plus Jakarta Sans" pitchFamily="34" charset="0"/>
                <a:ea typeface="Plus Jakarta Sans" pitchFamily="34" charset="-122"/>
                <a:cs typeface="Plus Jakarta Sans" pitchFamily="34" charset="-120"/>
              </a:rPr>
              <a:t>DignifyX classifies the </a:t>
            </a:r>
            <a:pPr algn="l" indent="0" marL="0">
              <a:lnSpc>
                <a:spcPct val="120000"/>
              </a:lnSpc>
              <a:buNone/>
            </a:pPr>
            <a:r>
              <a:rPr lang="en-US" sz="1600" b="1" i="1" dirty="0">
                <a:solidFill>
                  <a:srgbClr val="FFFFFF"/>
                </a:solidFill>
                <a:latin typeface="Plus Jakarta Sans Light" pitchFamily="34" charset="0"/>
                <a:ea typeface="Plus Jakarta Sans Light" pitchFamily="34" charset="-122"/>
                <a:cs typeface="Plus Jakarta Sans Light" pitchFamily="34" charset="-120"/>
              </a:rPr>
              <a:t>engagement</a:t>
            </a:r>
            <a:pPr algn="l" indent="0" marL="0">
              <a:lnSpc>
                <a:spcPct val="120000"/>
              </a:lnSpc>
              <a:buNone/>
            </a:pPr>
            <a:r>
              <a:rPr lang="en-US" sz="1600" b="1" dirty="0">
                <a:solidFill>
                  <a:srgbClr val="FFFFFF"/>
                </a:solidFill>
                <a:latin typeface="Plus Jakarta Sans" pitchFamily="34" charset="0"/>
                <a:ea typeface="Plus Jakarta Sans" pitchFamily="34" charset="-122"/>
                <a:cs typeface="Plus Jakarta Sans" pitchFamily="34" charset="-120"/>
              </a:rPr>
              <a:t>, not the firm.</a:t>
            </a:r>
            <a:endParaRPr lang="en-US" sz="1600" dirty="0"/>
          </a:p>
        </p:txBody>
      </p:sp>
      <p:sp>
        <p:nvSpPr>
          <p:cNvPr id="45" name="anim-4-41"/>
          <p:cNvSpPr txBox="1"/>
          <p:nvPr/>
        </p:nvSpPr>
        <p:spPr>
          <a:xfrm>
            <a:off x="9182100" y="4991100"/>
            <a:ext cx="2324100" cy="381000"/>
          </a:xfrm>
          <a:prstGeom prst="rect">
            <a:avLst/>
          </a:prstGeom>
          <a:noFill/>
          <a:ln/>
        </p:spPr>
        <p:txBody>
          <a:bodyPr wrap="square" lIns="0" tIns="0" rIns="0" bIns="0" rtlCol="0" anchor="t"/>
          <a:lstStyle/>
          <a:p>
            <a:pPr algn="l" indent="0" marL="0">
              <a:lnSpc>
                <a:spcPct val="112000"/>
              </a:lnSpc>
              <a:buNone/>
            </a:pPr>
            <a:r>
              <a:rPr lang="en-US" sz="900" dirty="0">
                <a:solidFill>
                  <a:srgbClr val="FFFFFF"/>
                </a:solidFill>
                <a:latin typeface="Plus Jakarta Sans" pitchFamily="34" charset="0"/>
                <a:ea typeface="Plus Jakarta Sans" pitchFamily="34" charset="-122"/>
                <a:cs typeface="Plus Jakarta Sans" pitchFamily="34" charset="-120"/>
              </a:rPr>
              <a:t>Roles are set per opportunity in the deal record.</a:t>
            </a:r>
            <a:endParaRPr lang="en-US" sz="900" dirty="0"/>
          </a:p>
        </p:txBody>
      </p:sp>
      <p:sp>
        <p:nvSpPr>
          <p:cNvPr id="46" name="anim-9-42"/>
          <p:cNvSpPr/>
          <p:nvPr/>
        </p:nvSpPr>
        <p:spPr>
          <a:xfrm>
            <a:off x="508000" y="5664200"/>
            <a:ext cx="11176000" cy="406400"/>
          </a:xfrm>
          <a:prstGeom prst="roundRect">
            <a:avLst>
              <a:gd name="adj" fmla="val 50000"/>
            </a:avLst>
          </a:prstGeom>
          <a:solidFill>
            <a:srgbClr val="FFFFFF">
              <a:alpha val="4000"/>
            </a:srgbClr>
          </a:solidFill>
          <a:ln w="9525">
            <a:solidFill>
              <a:srgbClr val="FFFFFF">
                <a:alpha val="22000"/>
              </a:srgbClr>
            </a:solidFill>
            <a:prstDash val="solid"/>
          </a:ln>
        </p:spPr>
      </p:sp>
      <p:sp>
        <p:nvSpPr>
          <p:cNvPr id="47" name="anim-9-43"/>
          <p:cNvSpPr txBox="1"/>
          <p:nvPr/>
        </p:nvSpPr>
        <p:spPr>
          <a:xfrm>
            <a:off x="762000" y="5664200"/>
            <a:ext cx="2095500" cy="406400"/>
          </a:xfrm>
          <a:prstGeom prst="rect">
            <a:avLst/>
          </a:prstGeom>
          <a:noFill/>
          <a:ln/>
        </p:spPr>
        <p:txBody>
          <a:bodyPr wrap="square" lIns="0" tIns="0" rIns="0" bIns="0" rtlCol="0" anchor="ctr"/>
          <a:lstStyle/>
          <a:p>
            <a:pPr algn="l" indent="0" marL="0">
              <a:lnSpc>
                <a:spcPct val="112000"/>
              </a:lnSpc>
              <a:buNone/>
            </a:pPr>
            <a:r>
              <a:rPr lang="en-US" sz="1100" b="1" dirty="0">
                <a:solidFill>
                  <a:srgbClr val="15B6FF"/>
                </a:solidFill>
                <a:latin typeface="Plus Jakarta Sans" pitchFamily="34" charset="0"/>
                <a:ea typeface="Plus Jakarta Sans" pitchFamily="34" charset="-122"/>
                <a:cs typeface="Plus Jakarta Sans" pitchFamily="34" charset="-120"/>
              </a:rPr>
              <a:t>Your Role</a:t>
            </a:r>
            <a:endParaRPr lang="en-US" sz="1100" dirty="0"/>
          </a:p>
        </p:txBody>
      </p:sp>
      <p:sp>
        <p:nvSpPr>
          <p:cNvPr id="48" name="anim-9-44"/>
          <p:cNvSpPr txBox="1"/>
          <p:nvPr/>
        </p:nvSpPr>
        <p:spPr>
          <a:xfrm>
            <a:off x="2921000" y="5664200"/>
            <a:ext cx="8572500" cy="406400"/>
          </a:xfrm>
          <a:prstGeom prst="rect">
            <a:avLst/>
          </a:prstGeom>
          <a:noFill/>
          <a:ln/>
        </p:spPr>
        <p:txBody>
          <a:bodyPr wrap="square" lIns="0" tIns="0" rIns="0" bIns="0" rtlCol="0" anchor="ctr"/>
          <a:lstStyle/>
          <a:p>
            <a:pPr algn="l" indent="0" marL="0">
              <a:lnSpc>
                <a:spcPct val="112000"/>
              </a:lnSpc>
              <a:buNone/>
            </a:pPr>
            <a:r>
              <a:rPr lang="en-US" sz="1050" dirty="0">
                <a:solidFill>
                  <a:srgbClr val="FFFFFF"/>
                </a:solidFill>
                <a:latin typeface="Plus Jakarta Sans Medium" pitchFamily="34" charset="0"/>
                <a:ea typeface="Plus Jakarta Sans Medium" pitchFamily="34" charset="-122"/>
                <a:cs typeface="Plus Jakarta Sans Medium" pitchFamily="34" charset="-120"/>
              </a:rPr>
              <a:t>Choose the motions that fit your business; incentives follow the role you play on each deal.</a:t>
            </a:r>
            <a:endParaRPr lang="en-US" sz="105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500"/>
                                        <p:tgtEl>
                                          <p:spTgt spid="7"/>
                                        </p:tgtEl>
                                      </p:cBhvr>
                                    </p:animEffect>
                                  </p:childTnLst>
                                </p:cTn>
                              </p:par>
                              <p:par>
                                <p:cTn id="14" presetID="10" presetClass="entr" presetSubtype="0" fill="hold" grpId="0" nodeType="withEffect">
                                  <p:stCondLst>
                                    <p:cond delay="18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500"/>
                                        <p:tgtEl>
                                          <p:spTgt spid="8"/>
                                        </p:tgtEl>
                                      </p:cBhvr>
                                    </p:animEffect>
                                  </p:childTnLst>
                                </p:cTn>
                              </p:par>
                              <p:par>
                                <p:cTn id="17" presetID="10" presetClass="entr" presetSubtype="0" fill="hold" grpId="0" nodeType="withEffect">
                                  <p:stCondLst>
                                    <p:cond delay="18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500"/>
                                        <p:tgtEl>
                                          <p:spTgt spid="9"/>
                                        </p:tgtEl>
                                      </p:cBhvr>
                                    </p:animEffect>
                                  </p:childTnLst>
                                </p:cTn>
                              </p:par>
                              <p:par>
                                <p:cTn id="20" presetID="10" presetClass="entr" presetSubtype="0" fill="hold" grpId="0" nodeType="withEffect">
                                  <p:stCondLst>
                                    <p:cond delay="180"/>
                                  </p:stCondLst>
                                  <p:childTnLst>
                                    <p:set>
                                      <p:cBhvr>
                                        <p:cTn id="21" dur="1" fill="hold">
                                          <p:stCondLst>
                                            <p:cond delay="0"/>
                                          </p:stCondLst>
                                        </p:cTn>
                                        <p:tgtEl>
                                          <p:spTgt spid="10"/>
                                        </p:tgtEl>
                                        <p:attrNameLst>
                                          <p:attrName>style.visibility</p:attrName>
                                        </p:attrNameLst>
                                      </p:cBhvr>
                                      <p:to>
                                        <p:strVal val="visible"/>
                                      </p:to>
                                    </p:set>
                                    <p:animEffect transition="in" filter="fade">
                                      <p:cBhvr>
                                        <p:cTn id="22" dur="500"/>
                                        <p:tgtEl>
                                          <p:spTgt spid="10"/>
                                        </p:tgtEl>
                                      </p:cBhvr>
                                    </p:animEffect>
                                  </p:childTnLst>
                                </p:cTn>
                              </p:par>
                              <p:par>
                                <p:cTn id="23" presetID="10" presetClass="entr" presetSubtype="0" fill="hold" grpId="0" nodeType="withEffect">
                                  <p:stCondLst>
                                    <p:cond delay="180"/>
                                  </p:stCondLst>
                                  <p:childTnLst>
                                    <p:set>
                                      <p:cBhvr>
                                        <p:cTn id="24" dur="1" fill="hold">
                                          <p:stCondLst>
                                            <p:cond delay="0"/>
                                          </p:stCondLst>
                                        </p:cTn>
                                        <p:tgtEl>
                                          <p:spTgt spid="11"/>
                                        </p:tgtEl>
                                        <p:attrNameLst>
                                          <p:attrName>style.visibility</p:attrName>
                                        </p:attrNameLst>
                                      </p:cBhvr>
                                      <p:to>
                                        <p:strVal val="visible"/>
                                      </p:to>
                                    </p:set>
                                    <p:animEffect transition="in" filter="fade">
                                      <p:cBhvr>
                                        <p:cTn id="25" dur="500"/>
                                        <p:tgtEl>
                                          <p:spTgt spid="11"/>
                                        </p:tgtEl>
                                      </p:cBhvr>
                                    </p:animEffect>
                                  </p:childTnLst>
                                </p:cTn>
                              </p:par>
                              <p:par>
                                <p:cTn id="26" presetID="10" presetClass="entr" presetSubtype="0" fill="hold" grpId="0" nodeType="withEffect">
                                  <p:stCondLst>
                                    <p:cond delay="180"/>
                                  </p:stCondLst>
                                  <p:childTnLst>
                                    <p:set>
                                      <p:cBhvr>
                                        <p:cTn id="27" dur="1" fill="hold">
                                          <p:stCondLst>
                                            <p:cond delay="0"/>
                                          </p:stCondLst>
                                        </p:cTn>
                                        <p:tgtEl>
                                          <p:spTgt spid="12"/>
                                        </p:tgtEl>
                                        <p:attrNameLst>
                                          <p:attrName>style.visibility</p:attrName>
                                        </p:attrNameLst>
                                      </p:cBhvr>
                                      <p:to>
                                        <p:strVal val="visible"/>
                                      </p:to>
                                    </p:set>
                                    <p:animEffect transition="in" filter="fade">
                                      <p:cBhvr>
                                        <p:cTn id="28" dur="500"/>
                                        <p:tgtEl>
                                          <p:spTgt spid="12"/>
                                        </p:tgtEl>
                                      </p:cBhvr>
                                    </p:animEffect>
                                  </p:childTnLst>
                                </p:cTn>
                              </p:par>
                              <p:par>
                                <p:cTn id="29" presetID="10" presetClass="entr" presetSubtype="0" fill="hold" grpId="0" nodeType="withEffect">
                                  <p:stCondLst>
                                    <p:cond delay="180"/>
                                  </p:stCondLst>
                                  <p:childTnLst>
                                    <p:set>
                                      <p:cBhvr>
                                        <p:cTn id="30" dur="1" fill="hold">
                                          <p:stCondLst>
                                            <p:cond delay="0"/>
                                          </p:stCondLst>
                                        </p:cTn>
                                        <p:tgtEl>
                                          <p:spTgt spid="13"/>
                                        </p:tgtEl>
                                        <p:attrNameLst>
                                          <p:attrName>style.visibility</p:attrName>
                                        </p:attrNameLst>
                                      </p:cBhvr>
                                      <p:to>
                                        <p:strVal val="visible"/>
                                      </p:to>
                                    </p:set>
                                    <p:animEffect transition="in" filter="fade">
                                      <p:cBhvr>
                                        <p:cTn id="31" dur="500"/>
                                        <p:tgtEl>
                                          <p:spTgt spid="13"/>
                                        </p:tgtEl>
                                      </p:cBhvr>
                                    </p:animEffect>
                                  </p:childTnLst>
                                </p:cTn>
                              </p:par>
                              <p:par>
                                <p:cTn id="32" presetID="10" presetClass="entr" presetSubtype="0" fill="hold" grpId="0" nodeType="withEffect">
                                  <p:stCondLst>
                                    <p:cond delay="18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500"/>
                                        <p:tgtEl>
                                          <p:spTgt spid="14"/>
                                        </p:tgtEl>
                                      </p:cBhvr>
                                    </p:animEffect>
                                  </p:childTnLst>
                                </p:cTn>
                              </p:par>
                              <p:par>
                                <p:cTn id="35" presetID="10" presetClass="entr" presetSubtype="0" fill="hold" grpId="0" nodeType="withEffect">
                                  <p:stCondLst>
                                    <p:cond delay="180"/>
                                  </p:stCondLst>
                                  <p:childTnLst>
                                    <p:set>
                                      <p:cBhvr>
                                        <p:cTn id="36" dur="1" fill="hold">
                                          <p:stCondLst>
                                            <p:cond delay="0"/>
                                          </p:stCondLst>
                                        </p:cTn>
                                        <p:tgtEl>
                                          <p:spTgt spid="15"/>
                                        </p:tgtEl>
                                        <p:attrNameLst>
                                          <p:attrName>style.visibility</p:attrName>
                                        </p:attrNameLst>
                                      </p:cBhvr>
                                      <p:to>
                                        <p:strVal val="visible"/>
                                      </p:to>
                                    </p:set>
                                    <p:animEffect transition="in" filter="fade">
                                      <p:cBhvr>
                                        <p:cTn id="37" dur="500"/>
                                        <p:tgtEl>
                                          <p:spTgt spid="15"/>
                                        </p:tgtEl>
                                      </p:cBhvr>
                                    </p:animEffect>
                                  </p:childTnLst>
                                </p:cTn>
                              </p:par>
                              <p:par>
                                <p:cTn id="38" presetID="10" presetClass="entr" presetSubtype="0" fill="hold" grpId="0" nodeType="withEffect">
                                  <p:stCondLst>
                                    <p:cond delay="180"/>
                                  </p:stCondLst>
                                  <p:childTnLst>
                                    <p:set>
                                      <p:cBhvr>
                                        <p:cTn id="39" dur="1" fill="hold">
                                          <p:stCondLst>
                                            <p:cond delay="0"/>
                                          </p:stCondLst>
                                        </p:cTn>
                                        <p:tgtEl>
                                          <p:spTgt spid="16"/>
                                        </p:tgtEl>
                                        <p:attrNameLst>
                                          <p:attrName>style.visibility</p:attrName>
                                        </p:attrNameLst>
                                      </p:cBhvr>
                                      <p:to>
                                        <p:strVal val="visible"/>
                                      </p:to>
                                    </p:set>
                                    <p:animEffect transition="in" filter="fade">
                                      <p:cBhvr>
                                        <p:cTn id="40" dur="500"/>
                                        <p:tgtEl>
                                          <p:spTgt spid="16"/>
                                        </p:tgtEl>
                                      </p:cBhvr>
                                    </p:animEffect>
                                  </p:childTnLst>
                                </p:cTn>
                              </p:par>
                              <p:par>
                                <p:cTn id="41" presetID="10" presetClass="entr" presetSubtype="0" fill="hold" grpId="0" nodeType="withEffect">
                                  <p:stCondLst>
                                    <p:cond delay="180"/>
                                  </p:stCondLst>
                                  <p:childTnLst>
                                    <p:set>
                                      <p:cBhvr>
                                        <p:cTn id="42" dur="1" fill="hold">
                                          <p:stCondLst>
                                            <p:cond delay="0"/>
                                          </p:stCondLst>
                                        </p:cTn>
                                        <p:tgtEl>
                                          <p:spTgt spid="17"/>
                                        </p:tgtEl>
                                        <p:attrNameLst>
                                          <p:attrName>style.visibility</p:attrName>
                                        </p:attrNameLst>
                                      </p:cBhvr>
                                      <p:to>
                                        <p:strVal val="visible"/>
                                      </p:to>
                                    </p:set>
                                    <p:animEffect transition="in" filter="fade">
                                      <p:cBhvr>
                                        <p:cTn id="43" dur="500"/>
                                        <p:tgtEl>
                                          <p:spTgt spid="17"/>
                                        </p:tgtEl>
                                      </p:cBhvr>
                                    </p:animEffect>
                                  </p:childTnLst>
                                </p:cTn>
                              </p:par>
                              <p:par>
                                <p:cTn id="44" presetID="10" presetClass="entr" presetSubtype="0" fill="hold" grpId="0" nodeType="withEffect">
                                  <p:stCondLst>
                                    <p:cond delay="180"/>
                                  </p:stCondLst>
                                  <p:childTnLst>
                                    <p:set>
                                      <p:cBhvr>
                                        <p:cTn id="45" dur="1" fill="hold">
                                          <p:stCondLst>
                                            <p:cond delay="0"/>
                                          </p:stCondLst>
                                        </p:cTn>
                                        <p:tgtEl>
                                          <p:spTgt spid="18"/>
                                        </p:tgtEl>
                                        <p:attrNameLst>
                                          <p:attrName>style.visibility</p:attrName>
                                        </p:attrNameLst>
                                      </p:cBhvr>
                                      <p:to>
                                        <p:strVal val="visible"/>
                                      </p:to>
                                    </p:set>
                                    <p:animEffect transition="in" filter="fade">
                                      <p:cBhvr>
                                        <p:cTn id="46" dur="500"/>
                                        <p:tgtEl>
                                          <p:spTgt spid="18"/>
                                        </p:tgtEl>
                                      </p:cBhvr>
                                    </p:animEffect>
                                  </p:childTnLst>
                                </p:cTn>
                              </p:par>
                              <p:par>
                                <p:cTn id="47" presetID="10" presetClass="entr" presetSubtype="0" fill="hold" grpId="0" nodeType="withEffect">
                                  <p:stCondLst>
                                    <p:cond delay="180"/>
                                  </p:stCondLst>
                                  <p:childTnLst>
                                    <p:set>
                                      <p:cBhvr>
                                        <p:cTn id="48" dur="1" fill="hold">
                                          <p:stCondLst>
                                            <p:cond delay="0"/>
                                          </p:stCondLst>
                                        </p:cTn>
                                        <p:tgtEl>
                                          <p:spTgt spid="19"/>
                                        </p:tgtEl>
                                        <p:attrNameLst>
                                          <p:attrName>style.visibility</p:attrName>
                                        </p:attrNameLst>
                                      </p:cBhvr>
                                      <p:to>
                                        <p:strVal val="visible"/>
                                      </p:to>
                                    </p:set>
                                    <p:animEffect transition="in" filter="fade">
                                      <p:cBhvr>
                                        <p:cTn id="49" dur="500"/>
                                        <p:tgtEl>
                                          <p:spTgt spid="19"/>
                                        </p:tgtEl>
                                      </p:cBhvr>
                                    </p:animEffect>
                                  </p:childTnLst>
                                </p:cTn>
                              </p:par>
                              <p:par>
                                <p:cTn id="50" presetID="10" presetClass="entr" presetSubtype="0" fill="hold" grpId="0" nodeType="withEffect">
                                  <p:stCondLst>
                                    <p:cond delay="180"/>
                                  </p:stCondLst>
                                  <p:childTnLst>
                                    <p:set>
                                      <p:cBhvr>
                                        <p:cTn id="51" dur="1" fill="hold">
                                          <p:stCondLst>
                                            <p:cond delay="0"/>
                                          </p:stCondLst>
                                        </p:cTn>
                                        <p:tgtEl>
                                          <p:spTgt spid="20"/>
                                        </p:tgtEl>
                                        <p:attrNameLst>
                                          <p:attrName>style.visibility</p:attrName>
                                        </p:attrNameLst>
                                      </p:cBhvr>
                                      <p:to>
                                        <p:strVal val="visible"/>
                                      </p:to>
                                    </p:set>
                                    <p:animEffect transition="in" filter="fade">
                                      <p:cBhvr>
                                        <p:cTn id="52" dur="500"/>
                                        <p:tgtEl>
                                          <p:spTgt spid="20"/>
                                        </p:tgtEl>
                                      </p:cBhvr>
                                    </p:animEffect>
                                  </p:childTnLst>
                                </p:cTn>
                              </p:par>
                              <p:par>
                                <p:cTn id="53" presetID="10" presetClass="entr" presetSubtype="0" fill="hold" grpId="0" nodeType="withEffect">
                                  <p:stCondLst>
                                    <p:cond delay="180"/>
                                  </p:stCondLst>
                                  <p:childTnLst>
                                    <p:set>
                                      <p:cBhvr>
                                        <p:cTn id="54" dur="1" fill="hold">
                                          <p:stCondLst>
                                            <p:cond delay="0"/>
                                          </p:stCondLst>
                                        </p:cTn>
                                        <p:tgtEl>
                                          <p:spTgt spid="21"/>
                                        </p:tgtEl>
                                        <p:attrNameLst>
                                          <p:attrName>style.visibility</p:attrName>
                                        </p:attrNameLst>
                                      </p:cBhvr>
                                      <p:to>
                                        <p:strVal val="visible"/>
                                      </p:to>
                                    </p:set>
                                    <p:animEffect transition="in" filter="fade">
                                      <p:cBhvr>
                                        <p:cTn id="55" dur="500"/>
                                        <p:tgtEl>
                                          <p:spTgt spid="21"/>
                                        </p:tgtEl>
                                      </p:cBhvr>
                                    </p:animEffect>
                                  </p:childTnLst>
                                </p:cTn>
                              </p:par>
                              <p:par>
                                <p:cTn id="56" presetID="10" presetClass="entr" presetSubtype="0" fill="hold" grpId="0" nodeType="withEffect">
                                  <p:stCondLst>
                                    <p:cond delay="180"/>
                                  </p:stCondLst>
                                  <p:childTnLst>
                                    <p:set>
                                      <p:cBhvr>
                                        <p:cTn id="57" dur="1" fill="hold">
                                          <p:stCondLst>
                                            <p:cond delay="0"/>
                                          </p:stCondLst>
                                        </p:cTn>
                                        <p:tgtEl>
                                          <p:spTgt spid="22"/>
                                        </p:tgtEl>
                                        <p:attrNameLst>
                                          <p:attrName>style.visibility</p:attrName>
                                        </p:attrNameLst>
                                      </p:cBhvr>
                                      <p:to>
                                        <p:strVal val="visible"/>
                                      </p:to>
                                    </p:set>
                                    <p:animEffect transition="in" filter="fade">
                                      <p:cBhvr>
                                        <p:cTn id="58" dur="500"/>
                                        <p:tgtEl>
                                          <p:spTgt spid="22"/>
                                        </p:tgtEl>
                                      </p:cBhvr>
                                    </p:animEffect>
                                  </p:childTnLst>
                                </p:cTn>
                              </p:par>
                              <p:par>
                                <p:cTn id="59" presetID="10" presetClass="entr" presetSubtype="0" fill="hold" grpId="0" nodeType="withEffect">
                                  <p:stCondLst>
                                    <p:cond delay="180"/>
                                  </p:stCondLst>
                                  <p:childTnLst>
                                    <p:set>
                                      <p:cBhvr>
                                        <p:cTn id="60" dur="1" fill="hold">
                                          <p:stCondLst>
                                            <p:cond delay="0"/>
                                          </p:stCondLst>
                                        </p:cTn>
                                        <p:tgtEl>
                                          <p:spTgt spid="23"/>
                                        </p:tgtEl>
                                        <p:attrNameLst>
                                          <p:attrName>style.visibility</p:attrName>
                                        </p:attrNameLst>
                                      </p:cBhvr>
                                      <p:to>
                                        <p:strVal val="visible"/>
                                      </p:to>
                                    </p:set>
                                    <p:animEffect transition="in" filter="fade">
                                      <p:cBhvr>
                                        <p:cTn id="61" dur="500"/>
                                        <p:tgtEl>
                                          <p:spTgt spid="23"/>
                                        </p:tgtEl>
                                      </p:cBhvr>
                                    </p:animEffect>
                                  </p:childTnLst>
                                </p:cTn>
                              </p:par>
                              <p:par>
                                <p:cTn id="62" presetID="10" presetClass="entr" presetSubtype="0" fill="hold" grpId="0" nodeType="withEffect">
                                  <p:stCondLst>
                                    <p:cond delay="180"/>
                                  </p:stCondLst>
                                  <p:childTnLst>
                                    <p:set>
                                      <p:cBhvr>
                                        <p:cTn id="63" dur="1" fill="hold">
                                          <p:stCondLst>
                                            <p:cond delay="0"/>
                                          </p:stCondLst>
                                        </p:cTn>
                                        <p:tgtEl>
                                          <p:spTgt spid="24"/>
                                        </p:tgtEl>
                                        <p:attrNameLst>
                                          <p:attrName>style.visibility</p:attrName>
                                        </p:attrNameLst>
                                      </p:cBhvr>
                                      <p:to>
                                        <p:strVal val="visible"/>
                                      </p:to>
                                    </p:set>
                                    <p:animEffect transition="in" filter="fade">
                                      <p:cBhvr>
                                        <p:cTn id="64" dur="500"/>
                                        <p:tgtEl>
                                          <p:spTgt spid="24"/>
                                        </p:tgtEl>
                                      </p:cBhvr>
                                    </p:animEffect>
                                  </p:childTnLst>
                                </p:cTn>
                              </p:par>
                              <p:par>
                                <p:cTn id="65" presetID="10" presetClass="entr" presetSubtype="0" fill="hold" grpId="0" nodeType="withEffect">
                                  <p:stCondLst>
                                    <p:cond delay="180"/>
                                  </p:stCondLst>
                                  <p:childTnLst>
                                    <p:set>
                                      <p:cBhvr>
                                        <p:cTn id="66" dur="1" fill="hold">
                                          <p:stCondLst>
                                            <p:cond delay="0"/>
                                          </p:stCondLst>
                                        </p:cTn>
                                        <p:tgtEl>
                                          <p:spTgt spid="25"/>
                                        </p:tgtEl>
                                        <p:attrNameLst>
                                          <p:attrName>style.visibility</p:attrName>
                                        </p:attrNameLst>
                                      </p:cBhvr>
                                      <p:to>
                                        <p:strVal val="visible"/>
                                      </p:to>
                                    </p:set>
                                    <p:animEffect transition="in" filter="fade">
                                      <p:cBhvr>
                                        <p:cTn id="67" dur="500"/>
                                        <p:tgtEl>
                                          <p:spTgt spid="25"/>
                                        </p:tgtEl>
                                      </p:cBhvr>
                                    </p:animEffect>
                                  </p:childTnLst>
                                </p:cTn>
                              </p:par>
                              <p:par>
                                <p:cTn id="68" presetID="10" presetClass="entr" presetSubtype="0" fill="hold" grpId="0" nodeType="withEffect">
                                  <p:stCondLst>
                                    <p:cond delay="180"/>
                                  </p:stCondLst>
                                  <p:childTnLst>
                                    <p:set>
                                      <p:cBhvr>
                                        <p:cTn id="69" dur="1" fill="hold">
                                          <p:stCondLst>
                                            <p:cond delay="0"/>
                                          </p:stCondLst>
                                        </p:cTn>
                                        <p:tgtEl>
                                          <p:spTgt spid="26"/>
                                        </p:tgtEl>
                                        <p:attrNameLst>
                                          <p:attrName>style.visibility</p:attrName>
                                        </p:attrNameLst>
                                      </p:cBhvr>
                                      <p:to>
                                        <p:strVal val="visible"/>
                                      </p:to>
                                    </p:set>
                                    <p:animEffect transition="in" filter="fade">
                                      <p:cBhvr>
                                        <p:cTn id="70" dur="500"/>
                                        <p:tgtEl>
                                          <p:spTgt spid="26"/>
                                        </p:tgtEl>
                                      </p:cBhvr>
                                    </p:animEffect>
                                  </p:childTnLst>
                                </p:cTn>
                              </p:par>
                              <p:par>
                                <p:cTn id="71" presetID="10" presetClass="entr" presetSubtype="0" fill="hold" grpId="0" nodeType="withEffect">
                                  <p:stCondLst>
                                    <p:cond delay="180"/>
                                  </p:stCondLst>
                                  <p:childTnLst>
                                    <p:set>
                                      <p:cBhvr>
                                        <p:cTn id="72" dur="1" fill="hold">
                                          <p:stCondLst>
                                            <p:cond delay="0"/>
                                          </p:stCondLst>
                                        </p:cTn>
                                        <p:tgtEl>
                                          <p:spTgt spid="27"/>
                                        </p:tgtEl>
                                        <p:attrNameLst>
                                          <p:attrName>style.visibility</p:attrName>
                                        </p:attrNameLst>
                                      </p:cBhvr>
                                      <p:to>
                                        <p:strVal val="visible"/>
                                      </p:to>
                                    </p:set>
                                    <p:animEffect transition="in" filter="fade">
                                      <p:cBhvr>
                                        <p:cTn id="73" dur="500"/>
                                        <p:tgtEl>
                                          <p:spTgt spid="27"/>
                                        </p:tgtEl>
                                      </p:cBhvr>
                                    </p:animEffect>
                                  </p:childTnLst>
                                </p:cTn>
                              </p:par>
                              <p:par>
                                <p:cTn id="74" presetID="10" presetClass="entr" presetSubtype="0" fill="hold" grpId="0" nodeType="withEffect">
                                  <p:stCondLst>
                                    <p:cond delay="360"/>
                                  </p:stCondLst>
                                  <p:childTnLst>
                                    <p:set>
                                      <p:cBhvr>
                                        <p:cTn id="75" dur="1" fill="hold">
                                          <p:stCondLst>
                                            <p:cond delay="0"/>
                                          </p:stCondLst>
                                        </p:cTn>
                                        <p:tgtEl>
                                          <p:spTgt spid="28"/>
                                        </p:tgtEl>
                                        <p:attrNameLst>
                                          <p:attrName>style.visibility</p:attrName>
                                        </p:attrNameLst>
                                      </p:cBhvr>
                                      <p:to>
                                        <p:strVal val="visible"/>
                                      </p:to>
                                    </p:set>
                                    <p:animEffect transition="in" filter="fade">
                                      <p:cBhvr>
                                        <p:cTn id="76" dur="500"/>
                                        <p:tgtEl>
                                          <p:spTgt spid="28"/>
                                        </p:tgtEl>
                                      </p:cBhvr>
                                    </p:animEffect>
                                  </p:childTnLst>
                                </p:cTn>
                              </p:par>
                              <p:par>
                                <p:cTn id="77" presetID="10" presetClass="entr" presetSubtype="0" fill="hold" grpId="0" nodeType="withEffect">
                                  <p:stCondLst>
                                    <p:cond delay="360"/>
                                  </p:stCondLst>
                                  <p:childTnLst>
                                    <p:set>
                                      <p:cBhvr>
                                        <p:cTn id="78" dur="1" fill="hold">
                                          <p:stCondLst>
                                            <p:cond delay="0"/>
                                          </p:stCondLst>
                                        </p:cTn>
                                        <p:tgtEl>
                                          <p:spTgt spid="29"/>
                                        </p:tgtEl>
                                        <p:attrNameLst>
                                          <p:attrName>style.visibility</p:attrName>
                                        </p:attrNameLst>
                                      </p:cBhvr>
                                      <p:to>
                                        <p:strVal val="visible"/>
                                      </p:to>
                                    </p:set>
                                    <p:animEffect transition="in" filter="fade">
                                      <p:cBhvr>
                                        <p:cTn id="79" dur="500"/>
                                        <p:tgtEl>
                                          <p:spTgt spid="29"/>
                                        </p:tgtEl>
                                      </p:cBhvr>
                                    </p:animEffect>
                                  </p:childTnLst>
                                </p:cTn>
                              </p:par>
                              <p:par>
                                <p:cTn id="80" presetID="10" presetClass="entr" presetSubtype="0" fill="hold" grpId="0" nodeType="withEffect">
                                  <p:stCondLst>
                                    <p:cond delay="360"/>
                                  </p:stCondLst>
                                  <p:childTnLst>
                                    <p:set>
                                      <p:cBhvr>
                                        <p:cTn id="81" dur="1" fill="hold">
                                          <p:stCondLst>
                                            <p:cond delay="0"/>
                                          </p:stCondLst>
                                        </p:cTn>
                                        <p:tgtEl>
                                          <p:spTgt spid="30"/>
                                        </p:tgtEl>
                                        <p:attrNameLst>
                                          <p:attrName>style.visibility</p:attrName>
                                        </p:attrNameLst>
                                      </p:cBhvr>
                                      <p:to>
                                        <p:strVal val="visible"/>
                                      </p:to>
                                    </p:set>
                                    <p:animEffect transition="in" filter="fade">
                                      <p:cBhvr>
                                        <p:cTn id="82" dur="500"/>
                                        <p:tgtEl>
                                          <p:spTgt spid="30"/>
                                        </p:tgtEl>
                                      </p:cBhvr>
                                    </p:animEffect>
                                  </p:childTnLst>
                                </p:cTn>
                              </p:par>
                              <p:par>
                                <p:cTn id="83" presetID="10" presetClass="entr" presetSubtype="0" fill="hold" grpId="0" nodeType="withEffect">
                                  <p:stCondLst>
                                    <p:cond delay="360"/>
                                  </p:stCondLst>
                                  <p:childTnLst>
                                    <p:set>
                                      <p:cBhvr>
                                        <p:cTn id="84" dur="1" fill="hold">
                                          <p:stCondLst>
                                            <p:cond delay="0"/>
                                          </p:stCondLst>
                                        </p:cTn>
                                        <p:tgtEl>
                                          <p:spTgt spid="31"/>
                                        </p:tgtEl>
                                        <p:attrNameLst>
                                          <p:attrName>style.visibility</p:attrName>
                                        </p:attrNameLst>
                                      </p:cBhvr>
                                      <p:to>
                                        <p:strVal val="visible"/>
                                      </p:to>
                                    </p:set>
                                    <p:animEffect transition="in" filter="fade">
                                      <p:cBhvr>
                                        <p:cTn id="85" dur="500"/>
                                        <p:tgtEl>
                                          <p:spTgt spid="31"/>
                                        </p:tgtEl>
                                      </p:cBhvr>
                                    </p:animEffect>
                                  </p:childTnLst>
                                </p:cTn>
                              </p:par>
                              <p:par>
                                <p:cTn id="86" presetID="10" presetClass="entr" presetSubtype="0" fill="hold" grpId="0" nodeType="withEffect">
                                  <p:stCondLst>
                                    <p:cond delay="360"/>
                                  </p:stCondLst>
                                  <p:childTnLst>
                                    <p:set>
                                      <p:cBhvr>
                                        <p:cTn id="87" dur="1" fill="hold">
                                          <p:stCondLst>
                                            <p:cond delay="0"/>
                                          </p:stCondLst>
                                        </p:cTn>
                                        <p:tgtEl>
                                          <p:spTgt spid="32"/>
                                        </p:tgtEl>
                                        <p:attrNameLst>
                                          <p:attrName>style.visibility</p:attrName>
                                        </p:attrNameLst>
                                      </p:cBhvr>
                                      <p:to>
                                        <p:strVal val="visible"/>
                                      </p:to>
                                    </p:set>
                                    <p:animEffect transition="in" filter="fade">
                                      <p:cBhvr>
                                        <p:cTn id="88" dur="500"/>
                                        <p:tgtEl>
                                          <p:spTgt spid="32"/>
                                        </p:tgtEl>
                                      </p:cBhvr>
                                    </p:animEffect>
                                  </p:childTnLst>
                                </p:cTn>
                              </p:par>
                              <p:par>
                                <p:cTn id="89" presetID="10" presetClass="entr" presetSubtype="0" fill="hold" grpId="0" nodeType="withEffect">
                                  <p:stCondLst>
                                    <p:cond delay="360"/>
                                  </p:stCondLst>
                                  <p:childTnLst>
                                    <p:set>
                                      <p:cBhvr>
                                        <p:cTn id="90" dur="1" fill="hold">
                                          <p:stCondLst>
                                            <p:cond delay="0"/>
                                          </p:stCondLst>
                                        </p:cTn>
                                        <p:tgtEl>
                                          <p:spTgt spid="33"/>
                                        </p:tgtEl>
                                        <p:attrNameLst>
                                          <p:attrName>style.visibility</p:attrName>
                                        </p:attrNameLst>
                                      </p:cBhvr>
                                      <p:to>
                                        <p:strVal val="visible"/>
                                      </p:to>
                                    </p:set>
                                    <p:animEffect transition="in" filter="fade">
                                      <p:cBhvr>
                                        <p:cTn id="91" dur="500"/>
                                        <p:tgtEl>
                                          <p:spTgt spid="33"/>
                                        </p:tgtEl>
                                      </p:cBhvr>
                                    </p:animEffect>
                                  </p:childTnLst>
                                </p:cTn>
                              </p:par>
                              <p:par>
                                <p:cTn id="92" presetID="10" presetClass="entr" presetSubtype="0" fill="hold" grpId="0" nodeType="withEffect">
                                  <p:stCondLst>
                                    <p:cond delay="360"/>
                                  </p:stCondLst>
                                  <p:childTnLst>
                                    <p:set>
                                      <p:cBhvr>
                                        <p:cTn id="93" dur="1" fill="hold">
                                          <p:stCondLst>
                                            <p:cond delay="0"/>
                                          </p:stCondLst>
                                        </p:cTn>
                                        <p:tgtEl>
                                          <p:spTgt spid="34"/>
                                        </p:tgtEl>
                                        <p:attrNameLst>
                                          <p:attrName>style.visibility</p:attrName>
                                        </p:attrNameLst>
                                      </p:cBhvr>
                                      <p:to>
                                        <p:strVal val="visible"/>
                                      </p:to>
                                    </p:set>
                                    <p:animEffect transition="in" filter="fade">
                                      <p:cBhvr>
                                        <p:cTn id="94" dur="500"/>
                                        <p:tgtEl>
                                          <p:spTgt spid="34"/>
                                        </p:tgtEl>
                                      </p:cBhvr>
                                    </p:animEffect>
                                  </p:childTnLst>
                                </p:cTn>
                              </p:par>
                              <p:par>
                                <p:cTn id="95" presetID="10" presetClass="entr" presetSubtype="0" fill="hold" grpId="0" nodeType="withEffect">
                                  <p:stCondLst>
                                    <p:cond delay="360"/>
                                  </p:stCondLst>
                                  <p:childTnLst>
                                    <p:set>
                                      <p:cBhvr>
                                        <p:cTn id="96" dur="1" fill="hold">
                                          <p:stCondLst>
                                            <p:cond delay="0"/>
                                          </p:stCondLst>
                                        </p:cTn>
                                        <p:tgtEl>
                                          <p:spTgt spid="35"/>
                                        </p:tgtEl>
                                        <p:attrNameLst>
                                          <p:attrName>style.visibility</p:attrName>
                                        </p:attrNameLst>
                                      </p:cBhvr>
                                      <p:to>
                                        <p:strVal val="visible"/>
                                      </p:to>
                                    </p:set>
                                    <p:animEffect transition="in" filter="fade">
                                      <p:cBhvr>
                                        <p:cTn id="97" dur="500"/>
                                        <p:tgtEl>
                                          <p:spTgt spid="35"/>
                                        </p:tgtEl>
                                      </p:cBhvr>
                                    </p:animEffect>
                                  </p:childTnLst>
                                </p:cTn>
                              </p:par>
                              <p:par>
                                <p:cTn id="98" presetID="10" presetClass="entr" presetSubtype="0" fill="hold" grpId="0" nodeType="withEffect">
                                  <p:stCondLst>
                                    <p:cond delay="360"/>
                                  </p:stCondLst>
                                  <p:childTnLst>
                                    <p:set>
                                      <p:cBhvr>
                                        <p:cTn id="99" dur="1" fill="hold">
                                          <p:stCondLst>
                                            <p:cond delay="0"/>
                                          </p:stCondLst>
                                        </p:cTn>
                                        <p:tgtEl>
                                          <p:spTgt spid="36"/>
                                        </p:tgtEl>
                                        <p:attrNameLst>
                                          <p:attrName>style.visibility</p:attrName>
                                        </p:attrNameLst>
                                      </p:cBhvr>
                                      <p:to>
                                        <p:strVal val="visible"/>
                                      </p:to>
                                    </p:set>
                                    <p:animEffect transition="in" filter="fade">
                                      <p:cBhvr>
                                        <p:cTn id="100" dur="500"/>
                                        <p:tgtEl>
                                          <p:spTgt spid="36"/>
                                        </p:tgtEl>
                                      </p:cBhvr>
                                    </p:animEffect>
                                  </p:childTnLst>
                                </p:cTn>
                              </p:par>
                              <p:par>
                                <p:cTn id="101" presetID="10" presetClass="entr" presetSubtype="0" fill="hold" grpId="0" nodeType="withEffect">
                                  <p:stCondLst>
                                    <p:cond delay="360"/>
                                  </p:stCondLst>
                                  <p:childTnLst>
                                    <p:set>
                                      <p:cBhvr>
                                        <p:cTn id="102" dur="1" fill="hold">
                                          <p:stCondLst>
                                            <p:cond delay="0"/>
                                          </p:stCondLst>
                                        </p:cTn>
                                        <p:tgtEl>
                                          <p:spTgt spid="37"/>
                                        </p:tgtEl>
                                        <p:attrNameLst>
                                          <p:attrName>style.visibility</p:attrName>
                                        </p:attrNameLst>
                                      </p:cBhvr>
                                      <p:to>
                                        <p:strVal val="visible"/>
                                      </p:to>
                                    </p:set>
                                    <p:animEffect transition="in" filter="fade">
                                      <p:cBhvr>
                                        <p:cTn id="103" dur="500"/>
                                        <p:tgtEl>
                                          <p:spTgt spid="37"/>
                                        </p:tgtEl>
                                      </p:cBhvr>
                                    </p:animEffect>
                                  </p:childTnLst>
                                </p:cTn>
                              </p:par>
                              <p:par>
                                <p:cTn id="104" presetID="10" presetClass="entr" presetSubtype="0" fill="hold" grpId="0" nodeType="withEffect">
                                  <p:stCondLst>
                                    <p:cond delay="360"/>
                                  </p:stCondLst>
                                  <p:childTnLst>
                                    <p:set>
                                      <p:cBhvr>
                                        <p:cTn id="105" dur="1" fill="hold">
                                          <p:stCondLst>
                                            <p:cond delay="0"/>
                                          </p:stCondLst>
                                        </p:cTn>
                                        <p:tgtEl>
                                          <p:spTgt spid="38"/>
                                        </p:tgtEl>
                                        <p:attrNameLst>
                                          <p:attrName>style.visibility</p:attrName>
                                        </p:attrNameLst>
                                      </p:cBhvr>
                                      <p:to>
                                        <p:strVal val="visible"/>
                                      </p:to>
                                    </p:set>
                                    <p:animEffect transition="in" filter="fade">
                                      <p:cBhvr>
                                        <p:cTn id="106" dur="500"/>
                                        <p:tgtEl>
                                          <p:spTgt spid="38"/>
                                        </p:tgtEl>
                                      </p:cBhvr>
                                    </p:animEffect>
                                  </p:childTnLst>
                                </p:cTn>
                              </p:par>
                              <p:par>
                                <p:cTn id="107" presetID="10" presetClass="entr" presetSubtype="0" fill="hold" grpId="0" nodeType="withEffect">
                                  <p:stCondLst>
                                    <p:cond delay="360"/>
                                  </p:stCondLst>
                                  <p:childTnLst>
                                    <p:set>
                                      <p:cBhvr>
                                        <p:cTn id="108" dur="1" fill="hold">
                                          <p:stCondLst>
                                            <p:cond delay="0"/>
                                          </p:stCondLst>
                                        </p:cTn>
                                        <p:tgtEl>
                                          <p:spTgt spid="39"/>
                                        </p:tgtEl>
                                        <p:attrNameLst>
                                          <p:attrName>style.visibility</p:attrName>
                                        </p:attrNameLst>
                                      </p:cBhvr>
                                      <p:to>
                                        <p:strVal val="visible"/>
                                      </p:to>
                                    </p:set>
                                    <p:animEffect transition="in" filter="fade">
                                      <p:cBhvr>
                                        <p:cTn id="109" dur="500"/>
                                        <p:tgtEl>
                                          <p:spTgt spid="39"/>
                                        </p:tgtEl>
                                      </p:cBhvr>
                                    </p:animEffect>
                                  </p:childTnLst>
                                </p:cTn>
                              </p:par>
                              <p:par>
                                <p:cTn id="110" presetID="10" presetClass="entr" presetSubtype="0" fill="hold" grpId="0" nodeType="withEffect">
                                  <p:stCondLst>
                                    <p:cond delay="360"/>
                                  </p:stCondLst>
                                  <p:childTnLst>
                                    <p:set>
                                      <p:cBhvr>
                                        <p:cTn id="111" dur="1" fill="hold">
                                          <p:stCondLst>
                                            <p:cond delay="0"/>
                                          </p:stCondLst>
                                        </p:cTn>
                                        <p:tgtEl>
                                          <p:spTgt spid="40"/>
                                        </p:tgtEl>
                                        <p:attrNameLst>
                                          <p:attrName>style.visibility</p:attrName>
                                        </p:attrNameLst>
                                      </p:cBhvr>
                                      <p:to>
                                        <p:strVal val="visible"/>
                                      </p:to>
                                    </p:set>
                                    <p:animEffect transition="in" filter="fade">
                                      <p:cBhvr>
                                        <p:cTn id="112" dur="500"/>
                                        <p:tgtEl>
                                          <p:spTgt spid="40"/>
                                        </p:tgtEl>
                                      </p:cBhvr>
                                    </p:animEffect>
                                  </p:childTnLst>
                                </p:cTn>
                              </p:par>
                              <p:par>
                                <p:cTn id="113" presetID="10" presetClass="entr" presetSubtype="0" fill="hold" grpId="0" nodeType="withEffect">
                                  <p:stCondLst>
                                    <p:cond delay="360"/>
                                  </p:stCondLst>
                                  <p:childTnLst>
                                    <p:set>
                                      <p:cBhvr>
                                        <p:cTn id="114" dur="1" fill="hold">
                                          <p:stCondLst>
                                            <p:cond delay="0"/>
                                          </p:stCondLst>
                                        </p:cTn>
                                        <p:tgtEl>
                                          <p:spTgt spid="41"/>
                                        </p:tgtEl>
                                        <p:attrNameLst>
                                          <p:attrName>style.visibility</p:attrName>
                                        </p:attrNameLst>
                                      </p:cBhvr>
                                      <p:to>
                                        <p:strVal val="visible"/>
                                      </p:to>
                                    </p:set>
                                    <p:animEffect transition="in" filter="fade">
                                      <p:cBhvr>
                                        <p:cTn id="115" dur="500"/>
                                        <p:tgtEl>
                                          <p:spTgt spid="41"/>
                                        </p:tgtEl>
                                      </p:cBhvr>
                                    </p:animEffect>
                                  </p:childTnLst>
                                </p:cTn>
                              </p:par>
                              <p:par>
                                <p:cTn id="116" presetID="10" presetClass="entr" presetSubtype="0" fill="hold" grpId="0" nodeType="withEffect">
                                  <p:stCondLst>
                                    <p:cond delay="360"/>
                                  </p:stCondLst>
                                  <p:childTnLst>
                                    <p:set>
                                      <p:cBhvr>
                                        <p:cTn id="117" dur="1" fill="hold">
                                          <p:stCondLst>
                                            <p:cond delay="0"/>
                                          </p:stCondLst>
                                        </p:cTn>
                                        <p:tgtEl>
                                          <p:spTgt spid="42"/>
                                        </p:tgtEl>
                                        <p:attrNameLst>
                                          <p:attrName>style.visibility</p:attrName>
                                        </p:attrNameLst>
                                      </p:cBhvr>
                                      <p:to>
                                        <p:strVal val="visible"/>
                                      </p:to>
                                    </p:set>
                                    <p:animEffect transition="in" filter="fade">
                                      <p:cBhvr>
                                        <p:cTn id="118" dur="500"/>
                                        <p:tgtEl>
                                          <p:spTgt spid="42"/>
                                        </p:tgtEl>
                                      </p:cBhvr>
                                    </p:animEffect>
                                  </p:childTnLst>
                                </p:cTn>
                              </p:par>
                              <p:par>
                                <p:cTn id="119" presetID="10" presetClass="entr" presetSubtype="0" fill="hold" grpId="0" nodeType="withEffect">
                                  <p:stCondLst>
                                    <p:cond delay="540"/>
                                  </p:stCondLst>
                                  <p:childTnLst>
                                    <p:set>
                                      <p:cBhvr>
                                        <p:cTn id="120" dur="1" fill="hold">
                                          <p:stCondLst>
                                            <p:cond delay="0"/>
                                          </p:stCondLst>
                                        </p:cTn>
                                        <p:tgtEl>
                                          <p:spTgt spid="43"/>
                                        </p:tgtEl>
                                        <p:attrNameLst>
                                          <p:attrName>style.visibility</p:attrName>
                                        </p:attrNameLst>
                                      </p:cBhvr>
                                      <p:to>
                                        <p:strVal val="visible"/>
                                      </p:to>
                                    </p:set>
                                    <p:animEffect transition="in" filter="fade">
                                      <p:cBhvr>
                                        <p:cTn id="121" dur="500"/>
                                        <p:tgtEl>
                                          <p:spTgt spid="43"/>
                                        </p:tgtEl>
                                      </p:cBhvr>
                                    </p:animEffect>
                                  </p:childTnLst>
                                </p:cTn>
                              </p:par>
                              <p:par>
                                <p:cTn id="122" presetID="10" presetClass="entr" presetSubtype="0" fill="hold" grpId="0" nodeType="withEffect">
                                  <p:stCondLst>
                                    <p:cond delay="540"/>
                                  </p:stCondLst>
                                  <p:childTnLst>
                                    <p:set>
                                      <p:cBhvr>
                                        <p:cTn id="123" dur="1" fill="hold">
                                          <p:stCondLst>
                                            <p:cond delay="0"/>
                                          </p:stCondLst>
                                        </p:cTn>
                                        <p:tgtEl>
                                          <p:spTgt spid="44"/>
                                        </p:tgtEl>
                                        <p:attrNameLst>
                                          <p:attrName>style.visibility</p:attrName>
                                        </p:attrNameLst>
                                      </p:cBhvr>
                                      <p:to>
                                        <p:strVal val="visible"/>
                                      </p:to>
                                    </p:set>
                                    <p:animEffect transition="in" filter="fade">
                                      <p:cBhvr>
                                        <p:cTn id="124" dur="500"/>
                                        <p:tgtEl>
                                          <p:spTgt spid="44"/>
                                        </p:tgtEl>
                                      </p:cBhvr>
                                    </p:animEffect>
                                  </p:childTnLst>
                                </p:cTn>
                              </p:par>
                              <p:par>
                                <p:cTn id="125" presetID="10" presetClass="entr" presetSubtype="0" fill="hold" grpId="0" nodeType="withEffect">
                                  <p:stCondLst>
                                    <p:cond delay="540"/>
                                  </p:stCondLst>
                                  <p:childTnLst>
                                    <p:set>
                                      <p:cBhvr>
                                        <p:cTn id="126" dur="1" fill="hold">
                                          <p:stCondLst>
                                            <p:cond delay="0"/>
                                          </p:stCondLst>
                                        </p:cTn>
                                        <p:tgtEl>
                                          <p:spTgt spid="45"/>
                                        </p:tgtEl>
                                        <p:attrNameLst>
                                          <p:attrName>style.visibility</p:attrName>
                                        </p:attrNameLst>
                                      </p:cBhvr>
                                      <p:to>
                                        <p:strVal val="visible"/>
                                      </p:to>
                                    </p:set>
                                    <p:animEffect transition="in" filter="fade">
                                      <p:cBhvr>
                                        <p:cTn id="127" dur="500"/>
                                        <p:tgtEl>
                                          <p:spTgt spid="45"/>
                                        </p:tgtEl>
                                      </p:cBhvr>
                                    </p:animEffect>
                                  </p:childTnLst>
                                </p:cTn>
                              </p:par>
                              <p:par>
                                <p:cTn id="128" presetID="10" presetClass="entr" presetSubtype="0" fill="hold" grpId="0" nodeType="withEffect">
                                  <p:stCondLst>
                                    <p:cond delay="720"/>
                                  </p:stCondLst>
                                  <p:childTnLst>
                                    <p:set>
                                      <p:cBhvr>
                                        <p:cTn id="129" dur="1" fill="hold">
                                          <p:stCondLst>
                                            <p:cond delay="0"/>
                                          </p:stCondLst>
                                        </p:cTn>
                                        <p:tgtEl>
                                          <p:spTgt spid="46"/>
                                        </p:tgtEl>
                                        <p:attrNameLst>
                                          <p:attrName>style.visibility</p:attrName>
                                        </p:attrNameLst>
                                      </p:cBhvr>
                                      <p:to>
                                        <p:strVal val="visible"/>
                                      </p:to>
                                    </p:set>
                                    <p:animEffect transition="in" filter="fade">
                                      <p:cBhvr>
                                        <p:cTn id="130" dur="500"/>
                                        <p:tgtEl>
                                          <p:spTgt spid="46"/>
                                        </p:tgtEl>
                                      </p:cBhvr>
                                    </p:animEffect>
                                  </p:childTnLst>
                                </p:cTn>
                              </p:par>
                              <p:par>
                                <p:cTn id="131" presetID="10" presetClass="entr" presetSubtype="0" fill="hold" grpId="0" nodeType="withEffect">
                                  <p:stCondLst>
                                    <p:cond delay="720"/>
                                  </p:stCondLst>
                                  <p:childTnLst>
                                    <p:set>
                                      <p:cBhvr>
                                        <p:cTn id="132" dur="1" fill="hold">
                                          <p:stCondLst>
                                            <p:cond delay="0"/>
                                          </p:stCondLst>
                                        </p:cTn>
                                        <p:tgtEl>
                                          <p:spTgt spid="47"/>
                                        </p:tgtEl>
                                        <p:attrNameLst>
                                          <p:attrName>style.visibility</p:attrName>
                                        </p:attrNameLst>
                                      </p:cBhvr>
                                      <p:to>
                                        <p:strVal val="visible"/>
                                      </p:to>
                                    </p:set>
                                    <p:animEffect transition="in" filter="fade">
                                      <p:cBhvr>
                                        <p:cTn id="133" dur="500"/>
                                        <p:tgtEl>
                                          <p:spTgt spid="47"/>
                                        </p:tgtEl>
                                      </p:cBhvr>
                                    </p:animEffect>
                                  </p:childTnLst>
                                </p:cTn>
                              </p:par>
                              <p:par>
                                <p:cTn id="134" presetID="10" presetClass="entr" presetSubtype="0" fill="hold" grpId="0" nodeType="withEffect">
                                  <p:stCondLst>
                                    <p:cond delay="720"/>
                                  </p:stCondLst>
                                  <p:childTnLst>
                                    <p:set>
                                      <p:cBhvr>
                                        <p:cTn id="135" dur="1" fill="hold">
                                          <p:stCondLst>
                                            <p:cond delay="0"/>
                                          </p:stCondLst>
                                        </p:cTn>
                                        <p:tgtEl>
                                          <p:spTgt spid="48"/>
                                        </p:tgtEl>
                                        <p:attrNameLst>
                                          <p:attrName>style.visibility</p:attrName>
                                        </p:attrNameLst>
                                      </p:cBhvr>
                                      <p:to>
                                        <p:strVal val="visible"/>
                                      </p:to>
                                    </p:set>
                                    <p:animEffect transition="in" filter="fade">
                                      <p:cBhvr>
                                        <p:cTn id="136" dur="500"/>
                                        <p:tgtEl>
                                          <p:spTgt spid="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P spid="44" grpId="0" animBg="1"/>
      <p:bldP spid="45" grpId="0" animBg="1"/>
      <p:bldP spid="46" grpId="0" animBg="1"/>
      <p:bldP spid="47" grpId="0" animBg="1"/>
      <p:bldP spid="48"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tmp/claude-0/-home-user-hosting/7c832a48-0979-56aa-9fdf-7d53efb9dc7a/scratchpad/build/imgd/logo-white.png">    </p:cNvPr>
          <p:cNvPicPr>
            <a:picLocks noChangeAspect="1"/>
          </p:cNvPicPr>
          <p:nvPr/>
        </p:nvPicPr>
        <p:blipFill>
          <a:blip r:embed="rId2"/>
          <a:stretch>
            <a:fillRect/>
          </a:stretch>
        </p:blipFill>
        <p:spPr>
          <a:xfrm>
            <a:off x="10414000" y="355600"/>
            <a:ext cx="1270000" cy="304800"/>
          </a:xfrm>
          <a:prstGeom prst="rect">
            <a:avLst/>
          </a:prstGeom>
        </p:spPr>
      </p:pic>
      <p:sp>
        <p:nvSpPr>
          <p:cNvPr id="3" name="Text 0"/>
          <p:cNvSpPr/>
          <p:nvPr/>
        </p:nvSpPr>
        <p:spPr>
          <a:xfrm>
            <a:off x="177800" y="6134100"/>
            <a:ext cx="1270000" cy="571500"/>
          </a:xfrm>
          <a:prstGeom prst="rect">
            <a:avLst/>
          </a:prstGeom>
          <a:noFill/>
          <a:ln/>
        </p:spPr>
        <p:txBody>
          <a:bodyPr wrap="square" lIns="0" tIns="0" rIns="0" bIns="0" rtlCol="0" anchor="ctr"/>
          <a:lstStyle/>
          <a:p>
            <a:pPr indent="0" marL="0">
              <a:buNone/>
            </a:pPr>
            <a:r>
              <a:rPr lang="en-US" sz="3550" b="1" dirty="0">
                <a:solidFill>
                  <a:srgbClr val="3F8FF2">
                    <a:alpha val="30000"/>
                  </a:srgbClr>
                </a:solidFill>
                <a:latin typeface="Plus Jakarta Sans" pitchFamily="34" charset="0"/>
                <a:ea typeface="Plus Jakarta Sans" pitchFamily="34" charset="-122"/>
                <a:cs typeface="Plus Jakarta Sans" pitchFamily="34" charset="-120"/>
              </a:rPr>
              <a:t>07</a:t>
            </a:r>
            <a:endParaRPr lang="en-US" sz="3550" dirty="0"/>
          </a:p>
        </p:txBody>
      </p:sp>
      <p:sp>
        <p:nvSpPr>
          <p:cNvPr id="4" name="Text 1"/>
          <p:cNvSpPr txBox="1"/>
          <p:nvPr/>
        </p:nvSpPr>
        <p:spPr>
          <a:xfrm>
            <a:off x="6604000" y="6477000"/>
            <a:ext cx="5080000" cy="152400"/>
          </a:xfrm>
          <a:prstGeom prst="rect">
            <a:avLst/>
          </a:prstGeom>
          <a:noFill/>
          <a:ln/>
        </p:spPr>
        <p:txBody>
          <a:bodyPr wrap="square" lIns="0" tIns="0" rIns="0" bIns="0" rtlCol="0" anchor="t"/>
          <a:lstStyle/>
          <a:p>
            <a:pPr algn="r" indent="0" marL="0">
              <a:lnSpc>
                <a:spcPct val="112000"/>
              </a:lnSpc>
              <a:buNone/>
            </a:pPr>
            <a:r>
              <a:rPr lang="en-US" sz="750" dirty="0">
                <a:solidFill>
                  <a:srgbClr val="8C93A3"/>
                </a:solidFill>
                <a:latin typeface="Plus Jakarta Sans" pitchFamily="34" charset="0"/>
                <a:ea typeface="Plus Jakarta Sans" pitchFamily="34" charset="-122"/>
                <a:cs typeface="Plus Jakarta Sans" pitchFamily="34" charset="-120"/>
              </a:rPr>
              <a:t>Partner-Confidential · NDA · Programme description only; not a contract</a:t>
            </a:r>
            <a:endParaRPr lang="en-US" sz="750" dirty="0"/>
          </a:p>
        </p:txBody>
      </p:sp>
      <p:pic>
        <p:nvPicPr>
          <p:cNvPr id="5" name="anim-1-1" descr="/tmp/claude-0/-home-user-hosting/7c832a48-0979-56aa-9fdf-7d53efb9dc7a/scratchpad/build/imgd/pointer.png">    </p:cNvPr>
          <p:cNvPicPr>
            <a:picLocks noChangeAspect="1"/>
          </p:cNvPicPr>
          <p:nvPr/>
        </p:nvPicPr>
        <p:blipFill>
          <a:blip r:embed="rId3"/>
          <a:stretch>
            <a:fillRect/>
          </a:stretch>
        </p:blipFill>
        <p:spPr>
          <a:xfrm>
            <a:off x="508000" y="285750"/>
            <a:ext cx="100964" cy="203200"/>
          </a:xfrm>
          <a:prstGeom prst="rect">
            <a:avLst/>
          </a:prstGeom>
        </p:spPr>
      </p:pic>
      <p:sp>
        <p:nvSpPr>
          <p:cNvPr id="6" name="anim-1-2"/>
          <p:cNvSpPr txBox="1"/>
          <p:nvPr/>
        </p:nvSpPr>
        <p:spPr>
          <a:xfrm>
            <a:off x="673100" y="304800"/>
            <a:ext cx="8890000" cy="190500"/>
          </a:xfrm>
          <a:prstGeom prst="rect">
            <a:avLst/>
          </a:prstGeom>
          <a:noFill/>
          <a:ln/>
        </p:spPr>
        <p:txBody>
          <a:bodyPr wrap="square" lIns="0" tIns="0" rIns="0" bIns="0" rtlCol="0" anchor="t"/>
          <a:lstStyle/>
          <a:p>
            <a:pPr algn="l" indent="0" marL="0">
              <a:lnSpc>
                <a:spcPct val="112000"/>
              </a:lnSpc>
              <a:buNone/>
            </a:pPr>
            <a:r>
              <a:rPr lang="en-US" sz="1000" spc="200" kern="0" dirty="0">
                <a:solidFill>
                  <a:srgbClr val="15B6FF"/>
                </a:solidFill>
                <a:latin typeface="Plus Jakarta Sans SemiBold" pitchFamily="34" charset="0"/>
                <a:ea typeface="Plus Jakarta Sans SemiBold" pitchFamily="34" charset="-122"/>
                <a:cs typeface="Plus Jakarta Sans SemiBold" pitchFamily="34" charset="-120"/>
              </a:rPr>
              <a:t>PARTNER LEVELS &amp; PROGRESSION</a:t>
            </a:r>
            <a:endParaRPr lang="en-US" sz="1000" dirty="0"/>
          </a:p>
        </p:txBody>
      </p:sp>
      <p:sp>
        <p:nvSpPr>
          <p:cNvPr id="7" name="anim-1-3"/>
          <p:cNvSpPr txBox="1"/>
          <p:nvPr/>
        </p:nvSpPr>
        <p:spPr>
          <a:xfrm>
            <a:off x="508000" y="558800"/>
            <a:ext cx="9652000" cy="406400"/>
          </a:xfrm>
          <a:prstGeom prst="rect">
            <a:avLst/>
          </a:prstGeom>
          <a:noFill/>
          <a:ln/>
        </p:spPr>
        <p:txBody>
          <a:bodyPr wrap="square" lIns="0" tIns="0" rIns="0" bIns="0" rtlCol="0" anchor="ctr"/>
          <a:lstStyle/>
          <a:p>
            <a:pPr algn="l" indent="0" marL="0">
              <a:lnSpc>
                <a:spcPct val="112000"/>
              </a:lnSpc>
              <a:buNone/>
            </a:pPr>
            <a:r>
              <a:rPr lang="en-US" sz="2000" b="1" dirty="0">
                <a:solidFill>
                  <a:srgbClr val="FFFFFF"/>
                </a:solidFill>
                <a:latin typeface="Plus Jakarta Sans" pitchFamily="34" charset="0"/>
                <a:ea typeface="Plus Jakarta Sans" pitchFamily="34" charset="-122"/>
                <a:cs typeface="Plus Jakarta Sans" pitchFamily="34" charset="-120"/>
              </a:rPr>
              <a:t>Five levels. One clear path </a:t>
            </a:r>
            <a:pPr algn="l" indent="0" marL="0">
              <a:lnSpc>
                <a:spcPct val="112000"/>
              </a:lnSpc>
              <a:buNone/>
            </a:pPr>
            <a:r>
              <a:rPr lang="en-US" sz="2000" b="1" i="1" dirty="0">
                <a:solidFill>
                  <a:srgbClr val="15B6FF"/>
                </a:solidFill>
                <a:latin typeface="Plus Jakarta Sans Light" pitchFamily="34" charset="0"/>
                <a:ea typeface="Plus Jakarta Sans Light" pitchFamily="34" charset="-122"/>
                <a:cs typeface="Plus Jakarta Sans Light" pitchFamily="34" charset="-120"/>
              </a:rPr>
              <a:t>upward</a:t>
            </a:r>
            <a:endParaRPr lang="en-US" sz="2000" dirty="0"/>
          </a:p>
        </p:txBody>
      </p:sp>
      <p:sp>
        <p:nvSpPr>
          <p:cNvPr id="8" name="anim-2-4"/>
          <p:cNvSpPr/>
          <p:nvPr/>
        </p:nvSpPr>
        <p:spPr>
          <a:xfrm>
            <a:off x="508000" y="1308100"/>
            <a:ext cx="2113280" cy="4203700"/>
          </a:xfrm>
          <a:prstGeom prst="roundRect">
            <a:avLst>
              <a:gd name="adj" fmla="val 9615"/>
            </a:avLst>
          </a:prstGeom>
          <a:solidFill>
            <a:srgbClr val="FFFFFF">
              <a:alpha val="5000"/>
            </a:srgbClr>
          </a:solidFill>
          <a:ln w="9525">
            <a:solidFill>
              <a:srgbClr val="FFFFFF">
                <a:alpha val="12000"/>
              </a:srgbClr>
            </a:solidFill>
            <a:prstDash val="solid"/>
          </a:ln>
        </p:spPr>
      </p:sp>
      <p:sp>
        <p:nvSpPr>
          <p:cNvPr id="9" name="anim-2-5"/>
          <p:cNvSpPr txBox="1"/>
          <p:nvPr/>
        </p:nvSpPr>
        <p:spPr>
          <a:xfrm>
            <a:off x="685800" y="1447800"/>
            <a:ext cx="1757680" cy="139700"/>
          </a:xfrm>
          <a:prstGeom prst="rect">
            <a:avLst/>
          </a:prstGeom>
          <a:noFill/>
          <a:ln/>
        </p:spPr>
        <p:txBody>
          <a:bodyPr wrap="square" lIns="0" tIns="0" rIns="0" bIns="0" rtlCol="0" anchor="t"/>
          <a:lstStyle/>
          <a:p>
            <a:pPr algn="l" indent="0" marL="0">
              <a:lnSpc>
                <a:spcPct val="112000"/>
              </a:lnSpc>
              <a:buNone/>
            </a:pPr>
            <a:r>
              <a:rPr lang="en-US" sz="750" spc="200" kern="0" dirty="0">
                <a:solidFill>
                  <a:srgbClr val="15B6FF"/>
                </a:solidFill>
                <a:latin typeface="Plus Jakarta Sans SemiBold" pitchFamily="34" charset="0"/>
                <a:ea typeface="Plus Jakarta Sans SemiBold" pitchFamily="34" charset="-122"/>
                <a:cs typeface="Plus Jakarta Sans SemiBold" pitchFamily="34" charset="-120"/>
              </a:rPr>
              <a:t>LEVEL 01</a:t>
            </a:r>
            <a:endParaRPr lang="en-US" sz="750" dirty="0"/>
          </a:p>
        </p:txBody>
      </p:sp>
      <p:sp>
        <p:nvSpPr>
          <p:cNvPr id="10" name="anim-2-6"/>
          <p:cNvSpPr txBox="1"/>
          <p:nvPr/>
        </p:nvSpPr>
        <p:spPr>
          <a:xfrm>
            <a:off x="685800" y="1612900"/>
            <a:ext cx="1757680" cy="304800"/>
          </a:xfrm>
          <a:prstGeom prst="rect">
            <a:avLst/>
          </a:prstGeom>
          <a:noFill/>
          <a:ln/>
        </p:spPr>
        <p:txBody>
          <a:bodyPr wrap="square" lIns="0" tIns="0" rIns="0" bIns="0" rtlCol="0" anchor="t"/>
          <a:lstStyle/>
          <a:p>
            <a:pPr algn="l" indent="0" marL="0">
              <a:lnSpc>
                <a:spcPct val="112000"/>
              </a:lnSpc>
              <a:buNone/>
            </a:pPr>
            <a:r>
              <a:rPr lang="en-US" sz="1700" b="1" dirty="0">
                <a:solidFill>
                  <a:srgbClr val="FFFFFF"/>
                </a:solidFill>
                <a:latin typeface="Plus Jakarta Sans" pitchFamily="34" charset="0"/>
                <a:ea typeface="Plus Jakarta Sans" pitchFamily="34" charset="-122"/>
                <a:cs typeface="Plus Jakarta Sans" pitchFamily="34" charset="-120"/>
              </a:rPr>
              <a:t>Registered</a:t>
            </a:r>
            <a:endParaRPr lang="en-US" sz="1700" dirty="0"/>
          </a:p>
        </p:txBody>
      </p:sp>
      <p:sp>
        <p:nvSpPr>
          <p:cNvPr id="11" name="anim-2-7"/>
          <p:cNvSpPr txBox="1"/>
          <p:nvPr/>
        </p:nvSpPr>
        <p:spPr>
          <a:xfrm>
            <a:off x="685800" y="2159000"/>
            <a:ext cx="1757680" cy="190500"/>
          </a:xfrm>
          <a:prstGeom prst="rect">
            <a:avLst/>
          </a:prstGeom>
          <a:noFill/>
          <a:ln/>
        </p:spPr>
        <p:txBody>
          <a:bodyPr wrap="square" lIns="0" tIns="0" rIns="0" bIns="0" rtlCol="0" anchor="t"/>
          <a:lstStyle/>
          <a:p>
            <a:pPr algn="l" indent="0" marL="0">
              <a:lnSpc>
                <a:spcPct val="112000"/>
              </a:lnSpc>
              <a:buNone/>
            </a:pPr>
            <a:r>
              <a:rPr lang="en-US" sz="900" dirty="0">
                <a:solidFill>
                  <a:srgbClr val="C3C8D1"/>
                </a:solidFill>
                <a:latin typeface="Plus Jakarta Sans SemiBold" pitchFamily="34" charset="0"/>
                <a:ea typeface="Plus Jakarta Sans SemiBold" pitchFamily="34" charset="-122"/>
                <a:cs typeface="Plus Jakarta Sans SemiBold" pitchFamily="34" charset="-120"/>
              </a:rPr>
              <a:t>$0 – $99,999 ARR</a:t>
            </a:r>
            <a:endParaRPr lang="en-US" sz="900" dirty="0"/>
          </a:p>
        </p:txBody>
      </p:sp>
      <p:sp>
        <p:nvSpPr>
          <p:cNvPr id="12" name="anim-2-8"/>
          <p:cNvSpPr txBox="1"/>
          <p:nvPr/>
        </p:nvSpPr>
        <p:spPr>
          <a:xfrm>
            <a:off x="685800" y="2400300"/>
            <a:ext cx="1757680" cy="762000"/>
          </a:xfrm>
          <a:prstGeom prst="rect">
            <a:avLst/>
          </a:prstGeom>
          <a:noFill/>
          <a:ln/>
        </p:spPr>
        <p:txBody>
          <a:bodyPr wrap="square" lIns="0" tIns="0" rIns="0" bIns="0" rtlCol="0" anchor="b"/>
          <a:lstStyle/>
          <a:p>
            <a:pPr algn="l" indent="0" marL="0">
              <a:lnSpc>
                <a:spcPct val="112000"/>
              </a:lnSpc>
              <a:buNone/>
            </a:pPr>
            <a:r>
              <a:rPr lang="en-US" sz="5000" b="1" dirty="0">
                <a:solidFill>
                  <a:srgbClr val="FFFFFF"/>
                </a:solidFill>
                <a:latin typeface="Plus Jakarta Sans" pitchFamily="34" charset="0"/>
                <a:ea typeface="Plus Jakarta Sans" pitchFamily="34" charset="-122"/>
                <a:cs typeface="Plus Jakarta Sans" pitchFamily="34" charset="-120"/>
              </a:rPr>
              <a:t>20</a:t>
            </a:r>
            <a:pPr algn="l" indent="0" marL="0">
              <a:lnSpc>
                <a:spcPct val="112000"/>
              </a:lnSpc>
              <a:buNone/>
            </a:pPr>
            <a:r>
              <a:rPr lang="en-US" sz="2200" b="1" dirty="0">
                <a:solidFill>
                  <a:srgbClr val="15B6FF"/>
                </a:solidFill>
                <a:latin typeface="Plus Jakarta Sans" pitchFamily="34" charset="0"/>
                <a:ea typeface="Plus Jakarta Sans" pitchFamily="34" charset="-122"/>
                <a:cs typeface="Plus Jakarta Sans" pitchFamily="34" charset="-120"/>
              </a:rPr>
              <a:t>%</a:t>
            </a:r>
            <a:endParaRPr lang="en-US" sz="5000" dirty="0"/>
          </a:p>
        </p:txBody>
      </p:sp>
      <p:sp>
        <p:nvSpPr>
          <p:cNvPr id="13" name="anim-2-9"/>
          <p:cNvSpPr txBox="1"/>
          <p:nvPr/>
        </p:nvSpPr>
        <p:spPr>
          <a:xfrm>
            <a:off x="685800" y="3200400"/>
            <a:ext cx="1757680" cy="177800"/>
          </a:xfrm>
          <a:prstGeom prst="rect">
            <a:avLst/>
          </a:prstGeom>
          <a:noFill/>
          <a:ln/>
        </p:spPr>
        <p:txBody>
          <a:bodyPr wrap="square" lIns="0" tIns="0" rIns="0" bIns="0" rtlCol="0" anchor="t"/>
          <a:lstStyle/>
          <a:p>
            <a:pPr algn="l" indent="0" marL="0">
              <a:lnSpc>
                <a:spcPct val="112000"/>
              </a:lnSpc>
              <a:buNone/>
            </a:pPr>
            <a:r>
              <a:rPr lang="en-US" sz="900" dirty="0">
                <a:solidFill>
                  <a:srgbClr val="C3C8D1"/>
                </a:solidFill>
                <a:latin typeface="Plus Jakarta Sans" pitchFamily="34" charset="0"/>
                <a:ea typeface="Plus Jakarta Sans" pitchFamily="34" charset="-122"/>
                <a:cs typeface="Plus Jakarta Sans" pitchFamily="34" charset="-120"/>
              </a:rPr>
              <a:t>sourced commission</a:t>
            </a:r>
            <a:endParaRPr lang="en-US" sz="900" dirty="0"/>
          </a:p>
        </p:txBody>
      </p:sp>
      <p:sp>
        <p:nvSpPr>
          <p:cNvPr id="14" name="anim-2-10"/>
          <p:cNvSpPr txBox="1"/>
          <p:nvPr/>
        </p:nvSpPr>
        <p:spPr>
          <a:xfrm>
            <a:off x="685800" y="3556000"/>
            <a:ext cx="1757680" cy="952500"/>
          </a:xfrm>
          <a:prstGeom prst="rect">
            <a:avLst/>
          </a:prstGeom>
          <a:noFill/>
          <a:ln/>
        </p:spPr>
        <p:txBody>
          <a:bodyPr wrap="square" lIns="0" tIns="0" rIns="0" bIns="0" rtlCol="0" anchor="t"/>
          <a:lstStyle/>
          <a:p>
            <a:pPr algn="l" indent="0" marL="0">
              <a:lnSpc>
                <a:spcPct val="120000"/>
              </a:lnSpc>
              <a:buNone/>
            </a:pPr>
            <a:r>
              <a:rPr lang="en-US" sz="900" dirty="0">
                <a:solidFill>
                  <a:srgbClr val="C3C8D1"/>
                </a:solidFill>
                <a:latin typeface="Plus Jakarta Sans" pitchFamily="34" charset="0"/>
                <a:ea typeface="Plus Jakarta Sans" pitchFamily="34" charset="-122"/>
                <a:cs typeface="Plus Jakarta Sans" pitchFamily="34" charset="-120"/>
              </a:rPr>
              <a:t>Newly onboarded; basic enablement. Validate fit and seriousness.</a:t>
            </a:r>
            <a:endParaRPr lang="en-US" sz="900" dirty="0"/>
          </a:p>
        </p:txBody>
      </p:sp>
      <p:sp>
        <p:nvSpPr>
          <p:cNvPr id="15" name="anim-2-11"/>
          <p:cNvSpPr/>
          <p:nvPr/>
        </p:nvSpPr>
        <p:spPr>
          <a:xfrm>
            <a:off x="685800" y="5245100"/>
            <a:ext cx="1757680" cy="152400"/>
          </a:xfrm>
          <a:prstGeom prst="roundRect">
            <a:avLst>
              <a:gd name="adj" fmla="val 33333"/>
            </a:avLst>
          </a:prstGeom>
          <a:solidFill>
            <a:srgbClr val="194EFF">
              <a:alpha val="30000"/>
            </a:srgbClr>
          </a:solidFill>
          <a:ln/>
        </p:spPr>
      </p:sp>
      <p:sp>
        <p:nvSpPr>
          <p:cNvPr id="16" name="anim-3-12"/>
          <p:cNvSpPr/>
          <p:nvPr/>
        </p:nvSpPr>
        <p:spPr>
          <a:xfrm>
            <a:off x="2773680" y="1308100"/>
            <a:ext cx="2113280" cy="4203700"/>
          </a:xfrm>
          <a:prstGeom prst="roundRect">
            <a:avLst>
              <a:gd name="adj" fmla="val 9615"/>
            </a:avLst>
          </a:prstGeom>
          <a:solidFill>
            <a:srgbClr val="FFFFFF">
              <a:alpha val="5000"/>
            </a:srgbClr>
          </a:solidFill>
          <a:ln w="9525">
            <a:solidFill>
              <a:srgbClr val="FFFFFF">
                <a:alpha val="12000"/>
              </a:srgbClr>
            </a:solidFill>
            <a:prstDash val="solid"/>
          </a:ln>
        </p:spPr>
      </p:sp>
      <p:sp>
        <p:nvSpPr>
          <p:cNvPr id="17" name="anim-3-13"/>
          <p:cNvSpPr txBox="1"/>
          <p:nvPr/>
        </p:nvSpPr>
        <p:spPr>
          <a:xfrm>
            <a:off x="2951480" y="1447800"/>
            <a:ext cx="1757680" cy="139700"/>
          </a:xfrm>
          <a:prstGeom prst="rect">
            <a:avLst/>
          </a:prstGeom>
          <a:noFill/>
          <a:ln/>
        </p:spPr>
        <p:txBody>
          <a:bodyPr wrap="square" lIns="0" tIns="0" rIns="0" bIns="0" rtlCol="0" anchor="t"/>
          <a:lstStyle/>
          <a:p>
            <a:pPr algn="l" indent="0" marL="0">
              <a:lnSpc>
                <a:spcPct val="112000"/>
              </a:lnSpc>
              <a:buNone/>
            </a:pPr>
            <a:r>
              <a:rPr lang="en-US" sz="750" spc="200" kern="0" dirty="0">
                <a:solidFill>
                  <a:srgbClr val="15B6FF"/>
                </a:solidFill>
                <a:latin typeface="Plus Jakarta Sans SemiBold" pitchFamily="34" charset="0"/>
                <a:ea typeface="Plus Jakarta Sans SemiBold" pitchFamily="34" charset="-122"/>
                <a:cs typeface="Plus Jakarta Sans SemiBold" pitchFamily="34" charset="-120"/>
              </a:rPr>
              <a:t>LEVEL 02</a:t>
            </a:r>
            <a:endParaRPr lang="en-US" sz="750" dirty="0"/>
          </a:p>
        </p:txBody>
      </p:sp>
      <p:sp>
        <p:nvSpPr>
          <p:cNvPr id="18" name="anim-3-14"/>
          <p:cNvSpPr txBox="1"/>
          <p:nvPr/>
        </p:nvSpPr>
        <p:spPr>
          <a:xfrm>
            <a:off x="2951480" y="1612900"/>
            <a:ext cx="1757680" cy="304800"/>
          </a:xfrm>
          <a:prstGeom prst="rect">
            <a:avLst/>
          </a:prstGeom>
          <a:noFill/>
          <a:ln/>
        </p:spPr>
        <p:txBody>
          <a:bodyPr wrap="square" lIns="0" tIns="0" rIns="0" bIns="0" rtlCol="0" anchor="t"/>
          <a:lstStyle/>
          <a:p>
            <a:pPr algn="l" indent="0" marL="0">
              <a:lnSpc>
                <a:spcPct val="112000"/>
              </a:lnSpc>
              <a:buNone/>
            </a:pPr>
            <a:r>
              <a:rPr lang="en-US" sz="1700" b="1" dirty="0">
                <a:solidFill>
                  <a:srgbClr val="FFFFFF"/>
                </a:solidFill>
                <a:latin typeface="Plus Jakarta Sans" pitchFamily="34" charset="0"/>
                <a:ea typeface="Plus Jakarta Sans" pitchFamily="34" charset="-122"/>
                <a:cs typeface="Plus Jakarta Sans" pitchFamily="34" charset="-120"/>
              </a:rPr>
              <a:t>Silver</a:t>
            </a:r>
            <a:endParaRPr lang="en-US" sz="1700" dirty="0"/>
          </a:p>
        </p:txBody>
      </p:sp>
      <p:sp>
        <p:nvSpPr>
          <p:cNvPr id="19" name="anim-3-15"/>
          <p:cNvSpPr txBox="1"/>
          <p:nvPr/>
        </p:nvSpPr>
        <p:spPr>
          <a:xfrm>
            <a:off x="2951480" y="2159000"/>
            <a:ext cx="1757680" cy="190500"/>
          </a:xfrm>
          <a:prstGeom prst="rect">
            <a:avLst/>
          </a:prstGeom>
          <a:noFill/>
          <a:ln/>
        </p:spPr>
        <p:txBody>
          <a:bodyPr wrap="square" lIns="0" tIns="0" rIns="0" bIns="0" rtlCol="0" anchor="t"/>
          <a:lstStyle/>
          <a:p>
            <a:pPr algn="l" indent="0" marL="0">
              <a:lnSpc>
                <a:spcPct val="112000"/>
              </a:lnSpc>
              <a:buNone/>
            </a:pPr>
            <a:r>
              <a:rPr lang="en-US" sz="900" dirty="0">
                <a:solidFill>
                  <a:srgbClr val="C3C8D1"/>
                </a:solidFill>
                <a:latin typeface="Plus Jakarta Sans SemiBold" pitchFamily="34" charset="0"/>
                <a:ea typeface="Plus Jakarta Sans SemiBold" pitchFamily="34" charset="-122"/>
                <a:cs typeface="Plus Jakarta Sans SemiBold" pitchFamily="34" charset="-120"/>
              </a:rPr>
              <a:t>$100K – $299,999 ARR</a:t>
            </a:r>
            <a:endParaRPr lang="en-US" sz="900" dirty="0"/>
          </a:p>
        </p:txBody>
      </p:sp>
      <p:sp>
        <p:nvSpPr>
          <p:cNvPr id="20" name="anim-3-16"/>
          <p:cNvSpPr txBox="1"/>
          <p:nvPr/>
        </p:nvSpPr>
        <p:spPr>
          <a:xfrm>
            <a:off x="2951480" y="2400300"/>
            <a:ext cx="1757680" cy="762000"/>
          </a:xfrm>
          <a:prstGeom prst="rect">
            <a:avLst/>
          </a:prstGeom>
          <a:noFill/>
          <a:ln/>
        </p:spPr>
        <p:txBody>
          <a:bodyPr wrap="square" lIns="0" tIns="0" rIns="0" bIns="0" rtlCol="0" anchor="b"/>
          <a:lstStyle/>
          <a:p>
            <a:pPr algn="l" indent="0" marL="0">
              <a:lnSpc>
                <a:spcPct val="112000"/>
              </a:lnSpc>
              <a:buNone/>
            </a:pPr>
            <a:r>
              <a:rPr lang="en-US" sz="5000" b="1" dirty="0">
                <a:solidFill>
                  <a:srgbClr val="FFFFFF"/>
                </a:solidFill>
                <a:latin typeface="Plus Jakarta Sans" pitchFamily="34" charset="0"/>
                <a:ea typeface="Plus Jakarta Sans" pitchFamily="34" charset="-122"/>
                <a:cs typeface="Plus Jakarta Sans" pitchFamily="34" charset="-120"/>
              </a:rPr>
              <a:t>25</a:t>
            </a:r>
            <a:pPr algn="l" indent="0" marL="0">
              <a:lnSpc>
                <a:spcPct val="112000"/>
              </a:lnSpc>
              <a:buNone/>
            </a:pPr>
            <a:r>
              <a:rPr lang="en-US" sz="2200" b="1" dirty="0">
                <a:solidFill>
                  <a:srgbClr val="15B6FF"/>
                </a:solidFill>
                <a:latin typeface="Plus Jakarta Sans" pitchFamily="34" charset="0"/>
                <a:ea typeface="Plus Jakarta Sans" pitchFamily="34" charset="-122"/>
                <a:cs typeface="Plus Jakarta Sans" pitchFamily="34" charset="-120"/>
              </a:rPr>
              <a:t>%</a:t>
            </a:r>
            <a:endParaRPr lang="en-US" sz="5000" dirty="0"/>
          </a:p>
        </p:txBody>
      </p:sp>
      <p:sp>
        <p:nvSpPr>
          <p:cNvPr id="21" name="anim-3-17"/>
          <p:cNvSpPr txBox="1"/>
          <p:nvPr/>
        </p:nvSpPr>
        <p:spPr>
          <a:xfrm>
            <a:off x="2951480" y="3200400"/>
            <a:ext cx="1757680" cy="177800"/>
          </a:xfrm>
          <a:prstGeom prst="rect">
            <a:avLst/>
          </a:prstGeom>
          <a:noFill/>
          <a:ln/>
        </p:spPr>
        <p:txBody>
          <a:bodyPr wrap="square" lIns="0" tIns="0" rIns="0" bIns="0" rtlCol="0" anchor="t"/>
          <a:lstStyle/>
          <a:p>
            <a:pPr algn="l" indent="0" marL="0">
              <a:lnSpc>
                <a:spcPct val="112000"/>
              </a:lnSpc>
              <a:buNone/>
            </a:pPr>
            <a:r>
              <a:rPr lang="en-US" sz="900" dirty="0">
                <a:solidFill>
                  <a:srgbClr val="C3C8D1"/>
                </a:solidFill>
                <a:latin typeface="Plus Jakarta Sans" pitchFamily="34" charset="0"/>
                <a:ea typeface="Plus Jakarta Sans" pitchFamily="34" charset="-122"/>
                <a:cs typeface="Plus Jakarta Sans" pitchFamily="34" charset="-120"/>
              </a:rPr>
              <a:t>sourced commission</a:t>
            </a:r>
            <a:endParaRPr lang="en-US" sz="900" dirty="0"/>
          </a:p>
        </p:txBody>
      </p:sp>
      <p:sp>
        <p:nvSpPr>
          <p:cNvPr id="22" name="anim-3-18"/>
          <p:cNvSpPr txBox="1"/>
          <p:nvPr/>
        </p:nvSpPr>
        <p:spPr>
          <a:xfrm>
            <a:off x="2951480" y="3556000"/>
            <a:ext cx="1757680" cy="952500"/>
          </a:xfrm>
          <a:prstGeom prst="rect">
            <a:avLst/>
          </a:prstGeom>
          <a:noFill/>
          <a:ln/>
        </p:spPr>
        <p:txBody>
          <a:bodyPr wrap="square" lIns="0" tIns="0" rIns="0" bIns="0" rtlCol="0" anchor="t"/>
          <a:lstStyle/>
          <a:p>
            <a:pPr algn="l" indent="0" marL="0">
              <a:lnSpc>
                <a:spcPct val="120000"/>
              </a:lnSpc>
              <a:buNone/>
            </a:pPr>
            <a:r>
              <a:rPr lang="en-US" sz="900" dirty="0">
                <a:solidFill>
                  <a:srgbClr val="C3C8D1"/>
                </a:solidFill>
                <a:latin typeface="Plus Jakarta Sans" pitchFamily="34" charset="0"/>
                <a:ea typeface="Plus Jakarta Sans" pitchFamily="34" charset="-122"/>
                <a:cs typeface="Plus Jakarta Sans" pitchFamily="34" charset="-120"/>
              </a:rPr>
              <a:t>Trained resources, early pipeline. Build a repeatable motion and first wins.</a:t>
            </a:r>
            <a:endParaRPr lang="en-US" sz="900" dirty="0"/>
          </a:p>
        </p:txBody>
      </p:sp>
      <p:sp>
        <p:nvSpPr>
          <p:cNvPr id="23" name="anim-3-19"/>
          <p:cNvSpPr/>
          <p:nvPr/>
        </p:nvSpPr>
        <p:spPr>
          <a:xfrm>
            <a:off x="2951480" y="5092700"/>
            <a:ext cx="1757680" cy="304800"/>
          </a:xfrm>
          <a:prstGeom prst="roundRect">
            <a:avLst>
              <a:gd name="adj" fmla="val 16667"/>
            </a:avLst>
          </a:prstGeom>
          <a:solidFill>
            <a:srgbClr val="194EFF">
              <a:alpha val="42000"/>
            </a:srgbClr>
          </a:solidFill>
          <a:ln/>
        </p:spPr>
      </p:sp>
      <p:sp>
        <p:nvSpPr>
          <p:cNvPr id="24" name="anim-4-20"/>
          <p:cNvSpPr/>
          <p:nvPr/>
        </p:nvSpPr>
        <p:spPr>
          <a:xfrm>
            <a:off x="5039360" y="1308100"/>
            <a:ext cx="2113280" cy="4203700"/>
          </a:xfrm>
          <a:prstGeom prst="roundRect">
            <a:avLst>
              <a:gd name="adj" fmla="val 9615"/>
            </a:avLst>
          </a:prstGeom>
          <a:solidFill>
            <a:srgbClr val="FFFFFF">
              <a:alpha val="5000"/>
            </a:srgbClr>
          </a:solidFill>
          <a:ln w="9525">
            <a:solidFill>
              <a:srgbClr val="FFFFFF">
                <a:alpha val="12000"/>
              </a:srgbClr>
            </a:solidFill>
            <a:prstDash val="solid"/>
          </a:ln>
        </p:spPr>
      </p:sp>
      <p:sp>
        <p:nvSpPr>
          <p:cNvPr id="25" name="anim-4-21"/>
          <p:cNvSpPr txBox="1"/>
          <p:nvPr/>
        </p:nvSpPr>
        <p:spPr>
          <a:xfrm>
            <a:off x="5217160" y="1447800"/>
            <a:ext cx="1757680" cy="139700"/>
          </a:xfrm>
          <a:prstGeom prst="rect">
            <a:avLst/>
          </a:prstGeom>
          <a:noFill/>
          <a:ln/>
        </p:spPr>
        <p:txBody>
          <a:bodyPr wrap="square" lIns="0" tIns="0" rIns="0" bIns="0" rtlCol="0" anchor="t"/>
          <a:lstStyle/>
          <a:p>
            <a:pPr algn="l" indent="0" marL="0">
              <a:lnSpc>
                <a:spcPct val="112000"/>
              </a:lnSpc>
              <a:buNone/>
            </a:pPr>
            <a:r>
              <a:rPr lang="en-US" sz="750" spc="200" kern="0" dirty="0">
                <a:solidFill>
                  <a:srgbClr val="15B6FF"/>
                </a:solidFill>
                <a:latin typeface="Plus Jakarta Sans SemiBold" pitchFamily="34" charset="0"/>
                <a:ea typeface="Plus Jakarta Sans SemiBold" pitchFamily="34" charset="-122"/>
                <a:cs typeface="Plus Jakarta Sans SemiBold" pitchFamily="34" charset="-120"/>
              </a:rPr>
              <a:t>LEVEL 03</a:t>
            </a:r>
            <a:endParaRPr lang="en-US" sz="750" dirty="0"/>
          </a:p>
        </p:txBody>
      </p:sp>
      <p:sp>
        <p:nvSpPr>
          <p:cNvPr id="26" name="anim-4-22"/>
          <p:cNvSpPr txBox="1"/>
          <p:nvPr/>
        </p:nvSpPr>
        <p:spPr>
          <a:xfrm>
            <a:off x="5217160" y="1612900"/>
            <a:ext cx="1757680" cy="304800"/>
          </a:xfrm>
          <a:prstGeom prst="rect">
            <a:avLst/>
          </a:prstGeom>
          <a:noFill/>
          <a:ln/>
        </p:spPr>
        <p:txBody>
          <a:bodyPr wrap="square" lIns="0" tIns="0" rIns="0" bIns="0" rtlCol="0" anchor="t"/>
          <a:lstStyle/>
          <a:p>
            <a:pPr algn="l" indent="0" marL="0">
              <a:lnSpc>
                <a:spcPct val="112000"/>
              </a:lnSpc>
              <a:buNone/>
            </a:pPr>
            <a:r>
              <a:rPr lang="en-US" sz="1700" b="1" dirty="0">
                <a:solidFill>
                  <a:srgbClr val="FFFFFF"/>
                </a:solidFill>
                <a:latin typeface="Plus Jakarta Sans" pitchFamily="34" charset="0"/>
                <a:ea typeface="Plus Jakarta Sans" pitchFamily="34" charset="-122"/>
                <a:cs typeface="Plus Jakarta Sans" pitchFamily="34" charset="-120"/>
              </a:rPr>
              <a:t>Gold</a:t>
            </a:r>
            <a:endParaRPr lang="en-US" sz="1700" dirty="0"/>
          </a:p>
        </p:txBody>
      </p:sp>
      <p:sp>
        <p:nvSpPr>
          <p:cNvPr id="27" name="anim-4-23"/>
          <p:cNvSpPr txBox="1"/>
          <p:nvPr/>
        </p:nvSpPr>
        <p:spPr>
          <a:xfrm>
            <a:off x="5217160" y="2159000"/>
            <a:ext cx="1757680" cy="190500"/>
          </a:xfrm>
          <a:prstGeom prst="rect">
            <a:avLst/>
          </a:prstGeom>
          <a:noFill/>
          <a:ln/>
        </p:spPr>
        <p:txBody>
          <a:bodyPr wrap="square" lIns="0" tIns="0" rIns="0" bIns="0" rtlCol="0" anchor="t"/>
          <a:lstStyle/>
          <a:p>
            <a:pPr algn="l" indent="0" marL="0">
              <a:lnSpc>
                <a:spcPct val="112000"/>
              </a:lnSpc>
              <a:buNone/>
            </a:pPr>
            <a:r>
              <a:rPr lang="en-US" sz="900" dirty="0">
                <a:solidFill>
                  <a:srgbClr val="C3C8D1"/>
                </a:solidFill>
                <a:latin typeface="Plus Jakarta Sans SemiBold" pitchFamily="34" charset="0"/>
                <a:ea typeface="Plus Jakarta Sans SemiBold" pitchFamily="34" charset="-122"/>
                <a:cs typeface="Plus Jakarta Sans SemiBold" pitchFamily="34" charset="-120"/>
              </a:rPr>
              <a:t>$300K – $749,999 ARR</a:t>
            </a:r>
            <a:endParaRPr lang="en-US" sz="900" dirty="0"/>
          </a:p>
        </p:txBody>
      </p:sp>
      <p:sp>
        <p:nvSpPr>
          <p:cNvPr id="28" name="anim-4-24"/>
          <p:cNvSpPr txBox="1"/>
          <p:nvPr/>
        </p:nvSpPr>
        <p:spPr>
          <a:xfrm>
            <a:off x="5217160" y="2400300"/>
            <a:ext cx="1757680" cy="762000"/>
          </a:xfrm>
          <a:prstGeom prst="rect">
            <a:avLst/>
          </a:prstGeom>
          <a:noFill/>
          <a:ln/>
        </p:spPr>
        <p:txBody>
          <a:bodyPr wrap="square" lIns="0" tIns="0" rIns="0" bIns="0" rtlCol="0" anchor="b"/>
          <a:lstStyle/>
          <a:p>
            <a:pPr algn="l" indent="0" marL="0">
              <a:lnSpc>
                <a:spcPct val="112000"/>
              </a:lnSpc>
              <a:buNone/>
            </a:pPr>
            <a:r>
              <a:rPr lang="en-US" sz="5000" b="1" dirty="0">
                <a:solidFill>
                  <a:srgbClr val="FFFFFF"/>
                </a:solidFill>
                <a:latin typeface="Plus Jakarta Sans" pitchFamily="34" charset="0"/>
                <a:ea typeface="Plus Jakarta Sans" pitchFamily="34" charset="-122"/>
                <a:cs typeface="Plus Jakarta Sans" pitchFamily="34" charset="-120"/>
              </a:rPr>
              <a:t>30</a:t>
            </a:r>
            <a:pPr algn="l" indent="0" marL="0">
              <a:lnSpc>
                <a:spcPct val="112000"/>
              </a:lnSpc>
              <a:buNone/>
            </a:pPr>
            <a:r>
              <a:rPr lang="en-US" sz="2200" b="1" dirty="0">
                <a:solidFill>
                  <a:srgbClr val="15B6FF"/>
                </a:solidFill>
                <a:latin typeface="Plus Jakarta Sans" pitchFamily="34" charset="0"/>
                <a:ea typeface="Plus Jakarta Sans" pitchFamily="34" charset="-122"/>
                <a:cs typeface="Plus Jakarta Sans" pitchFamily="34" charset="-120"/>
              </a:rPr>
              <a:t>%</a:t>
            </a:r>
            <a:endParaRPr lang="en-US" sz="5000" dirty="0"/>
          </a:p>
        </p:txBody>
      </p:sp>
      <p:sp>
        <p:nvSpPr>
          <p:cNvPr id="29" name="anim-4-25"/>
          <p:cNvSpPr txBox="1"/>
          <p:nvPr/>
        </p:nvSpPr>
        <p:spPr>
          <a:xfrm>
            <a:off x="5217160" y="3200400"/>
            <a:ext cx="1757680" cy="177800"/>
          </a:xfrm>
          <a:prstGeom prst="rect">
            <a:avLst/>
          </a:prstGeom>
          <a:noFill/>
          <a:ln/>
        </p:spPr>
        <p:txBody>
          <a:bodyPr wrap="square" lIns="0" tIns="0" rIns="0" bIns="0" rtlCol="0" anchor="t"/>
          <a:lstStyle/>
          <a:p>
            <a:pPr algn="l" indent="0" marL="0">
              <a:lnSpc>
                <a:spcPct val="112000"/>
              </a:lnSpc>
              <a:buNone/>
            </a:pPr>
            <a:r>
              <a:rPr lang="en-US" sz="900" dirty="0">
                <a:solidFill>
                  <a:srgbClr val="C3C8D1"/>
                </a:solidFill>
                <a:latin typeface="Plus Jakarta Sans" pitchFamily="34" charset="0"/>
                <a:ea typeface="Plus Jakarta Sans" pitchFamily="34" charset="-122"/>
                <a:cs typeface="Plus Jakarta Sans" pitchFamily="34" charset="-120"/>
              </a:rPr>
              <a:t>sourced commission</a:t>
            </a:r>
            <a:endParaRPr lang="en-US" sz="900" dirty="0"/>
          </a:p>
        </p:txBody>
      </p:sp>
      <p:sp>
        <p:nvSpPr>
          <p:cNvPr id="30" name="anim-4-26"/>
          <p:cNvSpPr txBox="1"/>
          <p:nvPr/>
        </p:nvSpPr>
        <p:spPr>
          <a:xfrm>
            <a:off x="5217160" y="3556000"/>
            <a:ext cx="1757680" cy="952500"/>
          </a:xfrm>
          <a:prstGeom prst="rect">
            <a:avLst/>
          </a:prstGeom>
          <a:noFill/>
          <a:ln/>
        </p:spPr>
        <p:txBody>
          <a:bodyPr wrap="square" lIns="0" tIns="0" rIns="0" bIns="0" rtlCol="0" anchor="t"/>
          <a:lstStyle/>
          <a:p>
            <a:pPr algn="l" indent="0" marL="0">
              <a:lnSpc>
                <a:spcPct val="120000"/>
              </a:lnSpc>
              <a:buNone/>
            </a:pPr>
            <a:r>
              <a:rPr lang="en-US" sz="900" dirty="0">
                <a:solidFill>
                  <a:srgbClr val="C3C8D1"/>
                </a:solidFill>
                <a:latin typeface="Plus Jakarta Sans" pitchFamily="34" charset="0"/>
                <a:ea typeface="Plus Jakarta Sans" pitchFamily="34" charset="-122"/>
                <a:cs typeface="Plus Jakarta Sans" pitchFamily="34" charset="-120"/>
              </a:rPr>
              <a:t>Closed business, certified resources. Scale partner-led pipeline and delivery.</a:t>
            </a:r>
            <a:endParaRPr lang="en-US" sz="900" dirty="0"/>
          </a:p>
        </p:txBody>
      </p:sp>
      <p:sp>
        <p:nvSpPr>
          <p:cNvPr id="31" name="anim-4-27"/>
          <p:cNvSpPr/>
          <p:nvPr/>
        </p:nvSpPr>
        <p:spPr>
          <a:xfrm>
            <a:off x="5217160" y="4940300"/>
            <a:ext cx="1757680" cy="457200"/>
          </a:xfrm>
          <a:prstGeom prst="roundRect">
            <a:avLst>
              <a:gd name="adj" fmla="val 11111"/>
            </a:avLst>
          </a:prstGeom>
          <a:solidFill>
            <a:srgbClr val="194EFF">
              <a:alpha val="54000"/>
            </a:srgbClr>
          </a:solidFill>
          <a:ln/>
        </p:spPr>
      </p:sp>
      <p:sp>
        <p:nvSpPr>
          <p:cNvPr id="32" name="anim-5-28"/>
          <p:cNvSpPr/>
          <p:nvPr/>
        </p:nvSpPr>
        <p:spPr>
          <a:xfrm>
            <a:off x="7305040" y="1308100"/>
            <a:ext cx="2113280" cy="4203700"/>
          </a:xfrm>
          <a:prstGeom prst="roundRect">
            <a:avLst>
              <a:gd name="adj" fmla="val 9615"/>
            </a:avLst>
          </a:prstGeom>
          <a:solidFill>
            <a:srgbClr val="FFFFFF">
              <a:alpha val="5000"/>
            </a:srgbClr>
          </a:solidFill>
          <a:ln w="9525">
            <a:solidFill>
              <a:srgbClr val="FFFFFF">
                <a:alpha val="12000"/>
              </a:srgbClr>
            </a:solidFill>
            <a:prstDash val="solid"/>
          </a:ln>
        </p:spPr>
      </p:sp>
      <p:sp>
        <p:nvSpPr>
          <p:cNvPr id="33" name="anim-5-29"/>
          <p:cNvSpPr txBox="1"/>
          <p:nvPr/>
        </p:nvSpPr>
        <p:spPr>
          <a:xfrm>
            <a:off x="7482840" y="1447800"/>
            <a:ext cx="1757680" cy="139700"/>
          </a:xfrm>
          <a:prstGeom prst="rect">
            <a:avLst/>
          </a:prstGeom>
          <a:noFill/>
          <a:ln/>
        </p:spPr>
        <p:txBody>
          <a:bodyPr wrap="square" lIns="0" tIns="0" rIns="0" bIns="0" rtlCol="0" anchor="t"/>
          <a:lstStyle/>
          <a:p>
            <a:pPr algn="l" indent="0" marL="0">
              <a:lnSpc>
                <a:spcPct val="112000"/>
              </a:lnSpc>
              <a:buNone/>
            </a:pPr>
            <a:r>
              <a:rPr lang="en-US" sz="750" spc="200" kern="0" dirty="0">
                <a:solidFill>
                  <a:srgbClr val="15B6FF"/>
                </a:solidFill>
                <a:latin typeface="Plus Jakarta Sans SemiBold" pitchFamily="34" charset="0"/>
                <a:ea typeface="Plus Jakarta Sans SemiBold" pitchFamily="34" charset="-122"/>
                <a:cs typeface="Plus Jakarta Sans SemiBold" pitchFamily="34" charset="-120"/>
              </a:rPr>
              <a:t>LEVEL 04</a:t>
            </a:r>
            <a:endParaRPr lang="en-US" sz="750" dirty="0"/>
          </a:p>
        </p:txBody>
      </p:sp>
      <p:sp>
        <p:nvSpPr>
          <p:cNvPr id="34" name="anim-5-30"/>
          <p:cNvSpPr txBox="1"/>
          <p:nvPr/>
        </p:nvSpPr>
        <p:spPr>
          <a:xfrm>
            <a:off x="7482840" y="1612900"/>
            <a:ext cx="1757680" cy="304800"/>
          </a:xfrm>
          <a:prstGeom prst="rect">
            <a:avLst/>
          </a:prstGeom>
          <a:noFill/>
          <a:ln/>
        </p:spPr>
        <p:txBody>
          <a:bodyPr wrap="square" lIns="0" tIns="0" rIns="0" bIns="0" rtlCol="0" anchor="t"/>
          <a:lstStyle/>
          <a:p>
            <a:pPr algn="l" indent="0" marL="0">
              <a:lnSpc>
                <a:spcPct val="112000"/>
              </a:lnSpc>
              <a:buNone/>
            </a:pPr>
            <a:r>
              <a:rPr lang="en-US" sz="1700" b="1" dirty="0">
                <a:solidFill>
                  <a:srgbClr val="FFFFFF"/>
                </a:solidFill>
                <a:latin typeface="Plus Jakarta Sans" pitchFamily="34" charset="0"/>
                <a:ea typeface="Plus Jakarta Sans" pitchFamily="34" charset="-122"/>
                <a:cs typeface="Plus Jakarta Sans" pitchFamily="34" charset="-120"/>
              </a:rPr>
              <a:t>Platinum</a:t>
            </a:r>
            <a:endParaRPr lang="en-US" sz="1700" dirty="0"/>
          </a:p>
        </p:txBody>
      </p:sp>
      <p:sp>
        <p:nvSpPr>
          <p:cNvPr id="35" name="anim-5-31"/>
          <p:cNvSpPr txBox="1"/>
          <p:nvPr/>
        </p:nvSpPr>
        <p:spPr>
          <a:xfrm>
            <a:off x="7482840" y="2159000"/>
            <a:ext cx="1757680" cy="190500"/>
          </a:xfrm>
          <a:prstGeom prst="rect">
            <a:avLst/>
          </a:prstGeom>
          <a:noFill/>
          <a:ln/>
        </p:spPr>
        <p:txBody>
          <a:bodyPr wrap="square" lIns="0" tIns="0" rIns="0" bIns="0" rtlCol="0" anchor="t"/>
          <a:lstStyle/>
          <a:p>
            <a:pPr algn="l" indent="0" marL="0">
              <a:lnSpc>
                <a:spcPct val="112000"/>
              </a:lnSpc>
              <a:buNone/>
            </a:pPr>
            <a:r>
              <a:rPr lang="en-US" sz="900" dirty="0">
                <a:solidFill>
                  <a:srgbClr val="C3C8D1"/>
                </a:solidFill>
                <a:latin typeface="Plus Jakarta Sans SemiBold" pitchFamily="34" charset="0"/>
                <a:ea typeface="Plus Jakarta Sans SemiBold" pitchFamily="34" charset="-122"/>
                <a:cs typeface="Plus Jakarta Sans SemiBold" pitchFamily="34" charset="-120"/>
              </a:rPr>
              <a:t>$750K – $1,499,999 ARR</a:t>
            </a:r>
            <a:endParaRPr lang="en-US" sz="900" dirty="0"/>
          </a:p>
        </p:txBody>
      </p:sp>
      <p:sp>
        <p:nvSpPr>
          <p:cNvPr id="36" name="anim-5-32"/>
          <p:cNvSpPr txBox="1"/>
          <p:nvPr/>
        </p:nvSpPr>
        <p:spPr>
          <a:xfrm>
            <a:off x="7482840" y="2400300"/>
            <a:ext cx="1757680" cy="762000"/>
          </a:xfrm>
          <a:prstGeom prst="rect">
            <a:avLst/>
          </a:prstGeom>
          <a:noFill/>
          <a:ln/>
        </p:spPr>
        <p:txBody>
          <a:bodyPr wrap="square" lIns="0" tIns="0" rIns="0" bIns="0" rtlCol="0" anchor="b"/>
          <a:lstStyle/>
          <a:p>
            <a:pPr algn="l" indent="0" marL="0">
              <a:lnSpc>
                <a:spcPct val="112000"/>
              </a:lnSpc>
              <a:buNone/>
            </a:pPr>
            <a:r>
              <a:rPr lang="en-US" sz="5000" b="1" dirty="0">
                <a:solidFill>
                  <a:srgbClr val="FFFFFF"/>
                </a:solidFill>
                <a:latin typeface="Plus Jakarta Sans" pitchFamily="34" charset="0"/>
                <a:ea typeface="Plus Jakarta Sans" pitchFamily="34" charset="-122"/>
                <a:cs typeface="Plus Jakarta Sans" pitchFamily="34" charset="-120"/>
              </a:rPr>
              <a:t>35</a:t>
            </a:r>
            <a:pPr algn="l" indent="0" marL="0">
              <a:lnSpc>
                <a:spcPct val="112000"/>
              </a:lnSpc>
              <a:buNone/>
            </a:pPr>
            <a:r>
              <a:rPr lang="en-US" sz="2200" b="1" dirty="0">
                <a:solidFill>
                  <a:srgbClr val="15B6FF"/>
                </a:solidFill>
                <a:latin typeface="Plus Jakarta Sans" pitchFamily="34" charset="0"/>
                <a:ea typeface="Plus Jakarta Sans" pitchFamily="34" charset="-122"/>
                <a:cs typeface="Plus Jakarta Sans" pitchFamily="34" charset="-120"/>
              </a:rPr>
              <a:t>%</a:t>
            </a:r>
            <a:endParaRPr lang="en-US" sz="5000" dirty="0"/>
          </a:p>
        </p:txBody>
      </p:sp>
      <p:sp>
        <p:nvSpPr>
          <p:cNvPr id="37" name="anim-5-33"/>
          <p:cNvSpPr txBox="1"/>
          <p:nvPr/>
        </p:nvSpPr>
        <p:spPr>
          <a:xfrm>
            <a:off x="7482840" y="3200400"/>
            <a:ext cx="1757680" cy="177800"/>
          </a:xfrm>
          <a:prstGeom prst="rect">
            <a:avLst/>
          </a:prstGeom>
          <a:noFill/>
          <a:ln/>
        </p:spPr>
        <p:txBody>
          <a:bodyPr wrap="square" lIns="0" tIns="0" rIns="0" bIns="0" rtlCol="0" anchor="t"/>
          <a:lstStyle/>
          <a:p>
            <a:pPr algn="l" indent="0" marL="0">
              <a:lnSpc>
                <a:spcPct val="112000"/>
              </a:lnSpc>
              <a:buNone/>
            </a:pPr>
            <a:r>
              <a:rPr lang="en-US" sz="900" dirty="0">
                <a:solidFill>
                  <a:srgbClr val="C3C8D1"/>
                </a:solidFill>
                <a:latin typeface="Plus Jakarta Sans" pitchFamily="34" charset="0"/>
                <a:ea typeface="Plus Jakarta Sans" pitchFamily="34" charset="-122"/>
                <a:cs typeface="Plus Jakarta Sans" pitchFamily="34" charset="-120"/>
              </a:rPr>
              <a:t>sourced commission</a:t>
            </a:r>
            <a:endParaRPr lang="en-US" sz="900" dirty="0"/>
          </a:p>
        </p:txBody>
      </p:sp>
      <p:sp>
        <p:nvSpPr>
          <p:cNvPr id="38" name="anim-5-34"/>
          <p:cNvSpPr txBox="1"/>
          <p:nvPr/>
        </p:nvSpPr>
        <p:spPr>
          <a:xfrm>
            <a:off x="7482840" y="3556000"/>
            <a:ext cx="1757680" cy="952500"/>
          </a:xfrm>
          <a:prstGeom prst="rect">
            <a:avLst/>
          </a:prstGeom>
          <a:noFill/>
          <a:ln/>
        </p:spPr>
        <p:txBody>
          <a:bodyPr wrap="square" lIns="0" tIns="0" rIns="0" bIns="0" rtlCol="0" anchor="t"/>
          <a:lstStyle/>
          <a:p>
            <a:pPr algn="l" indent="0" marL="0">
              <a:lnSpc>
                <a:spcPct val="120000"/>
              </a:lnSpc>
              <a:buNone/>
            </a:pPr>
            <a:r>
              <a:rPr lang="en-US" sz="900" dirty="0">
                <a:solidFill>
                  <a:srgbClr val="C3C8D1"/>
                </a:solidFill>
                <a:latin typeface="Plus Jakarta Sans" pitchFamily="34" charset="0"/>
                <a:ea typeface="Plus Jakarta Sans" pitchFamily="34" charset="-122"/>
                <a:cs typeface="Plus Jakarta Sans" pitchFamily="34" charset="-120"/>
              </a:rPr>
              <a:t>Repeatable GTM, executive alignment. Invest in joint GTM and sponsorship.</a:t>
            </a:r>
            <a:endParaRPr lang="en-US" sz="900" dirty="0"/>
          </a:p>
        </p:txBody>
      </p:sp>
      <p:sp>
        <p:nvSpPr>
          <p:cNvPr id="39" name="anim-5-35"/>
          <p:cNvSpPr/>
          <p:nvPr/>
        </p:nvSpPr>
        <p:spPr>
          <a:xfrm>
            <a:off x="7482840" y="4787900"/>
            <a:ext cx="1757680" cy="609600"/>
          </a:xfrm>
          <a:prstGeom prst="roundRect">
            <a:avLst>
              <a:gd name="adj" fmla="val 8333"/>
            </a:avLst>
          </a:prstGeom>
          <a:solidFill>
            <a:srgbClr val="194EFF">
              <a:alpha val="66000"/>
            </a:srgbClr>
          </a:solidFill>
          <a:ln/>
        </p:spPr>
      </p:sp>
      <p:sp>
        <p:nvSpPr>
          <p:cNvPr id="40" name="anim-6-36"/>
          <p:cNvSpPr/>
          <p:nvPr/>
        </p:nvSpPr>
        <p:spPr>
          <a:xfrm>
            <a:off x="9570720" y="1308100"/>
            <a:ext cx="2113280" cy="4203700"/>
          </a:xfrm>
          <a:prstGeom prst="roundRect">
            <a:avLst>
              <a:gd name="adj" fmla="val 9615"/>
            </a:avLst>
          </a:prstGeom>
          <a:solidFill>
            <a:srgbClr val="194EFF">
              <a:alpha val="30000"/>
            </a:srgbClr>
          </a:solidFill>
          <a:ln w="15875">
            <a:solidFill>
              <a:srgbClr val="194EFF"/>
            </a:solidFill>
            <a:prstDash val="solid"/>
          </a:ln>
        </p:spPr>
      </p:sp>
      <p:sp>
        <p:nvSpPr>
          <p:cNvPr id="41" name="anim-6-37"/>
          <p:cNvSpPr/>
          <p:nvPr/>
        </p:nvSpPr>
        <p:spPr>
          <a:xfrm>
            <a:off x="9570720" y="1308100"/>
            <a:ext cx="2113280" cy="711200"/>
          </a:xfrm>
          <a:prstGeom prst="roundRect">
            <a:avLst>
              <a:gd name="adj" fmla="val 28571"/>
            </a:avLst>
          </a:prstGeom>
          <a:solidFill>
            <a:srgbClr val="194EFF"/>
          </a:solidFill>
          <a:ln/>
        </p:spPr>
      </p:sp>
      <p:sp>
        <p:nvSpPr>
          <p:cNvPr id="42" name="anim-6-38"/>
          <p:cNvSpPr txBox="1"/>
          <p:nvPr/>
        </p:nvSpPr>
        <p:spPr>
          <a:xfrm>
            <a:off x="9748520" y="1447800"/>
            <a:ext cx="1757680" cy="139700"/>
          </a:xfrm>
          <a:prstGeom prst="rect">
            <a:avLst/>
          </a:prstGeom>
          <a:noFill/>
          <a:ln/>
        </p:spPr>
        <p:txBody>
          <a:bodyPr wrap="square" lIns="0" tIns="0" rIns="0" bIns="0" rtlCol="0" anchor="t"/>
          <a:lstStyle/>
          <a:p>
            <a:pPr algn="l" indent="0" marL="0">
              <a:lnSpc>
                <a:spcPct val="112000"/>
              </a:lnSpc>
              <a:buNone/>
            </a:pPr>
            <a:r>
              <a:rPr lang="en-US" sz="750" spc="200" kern="0" dirty="0">
                <a:solidFill>
                  <a:srgbClr val="FFFFFF"/>
                </a:solidFill>
                <a:latin typeface="Plus Jakarta Sans SemiBold" pitchFamily="34" charset="0"/>
                <a:ea typeface="Plus Jakarta Sans SemiBold" pitchFamily="34" charset="-122"/>
                <a:cs typeface="Plus Jakarta Sans SemiBold" pitchFamily="34" charset="-120"/>
              </a:rPr>
              <a:t>LEVEL 05</a:t>
            </a:r>
            <a:endParaRPr lang="en-US" sz="750" dirty="0"/>
          </a:p>
        </p:txBody>
      </p:sp>
      <p:sp>
        <p:nvSpPr>
          <p:cNvPr id="43" name="anim-6-39"/>
          <p:cNvSpPr txBox="1"/>
          <p:nvPr/>
        </p:nvSpPr>
        <p:spPr>
          <a:xfrm>
            <a:off x="9748520" y="1612900"/>
            <a:ext cx="1757680" cy="304800"/>
          </a:xfrm>
          <a:prstGeom prst="rect">
            <a:avLst/>
          </a:prstGeom>
          <a:noFill/>
          <a:ln/>
        </p:spPr>
        <p:txBody>
          <a:bodyPr wrap="square" lIns="0" tIns="0" rIns="0" bIns="0" rtlCol="0" anchor="t"/>
          <a:lstStyle/>
          <a:p>
            <a:pPr algn="l" indent="0" marL="0">
              <a:lnSpc>
                <a:spcPct val="112000"/>
              </a:lnSpc>
              <a:buNone/>
            </a:pPr>
            <a:r>
              <a:rPr lang="en-US" sz="1700" b="1" dirty="0">
                <a:solidFill>
                  <a:srgbClr val="FFFFFF"/>
                </a:solidFill>
                <a:latin typeface="Plus Jakarta Sans" pitchFamily="34" charset="0"/>
                <a:ea typeface="Plus Jakarta Sans" pitchFamily="34" charset="-122"/>
                <a:cs typeface="Plus Jakarta Sans" pitchFamily="34" charset="-120"/>
              </a:rPr>
              <a:t>Elite</a:t>
            </a:r>
            <a:endParaRPr lang="en-US" sz="1700" dirty="0"/>
          </a:p>
        </p:txBody>
      </p:sp>
      <p:sp>
        <p:nvSpPr>
          <p:cNvPr id="44" name="anim-6-40"/>
          <p:cNvSpPr txBox="1"/>
          <p:nvPr/>
        </p:nvSpPr>
        <p:spPr>
          <a:xfrm>
            <a:off x="9748520" y="2159000"/>
            <a:ext cx="1757680" cy="190500"/>
          </a:xfrm>
          <a:prstGeom prst="rect">
            <a:avLst/>
          </a:prstGeom>
          <a:noFill/>
          <a:ln/>
        </p:spPr>
        <p:txBody>
          <a:bodyPr wrap="square" lIns="0" tIns="0" rIns="0" bIns="0" rtlCol="0" anchor="t"/>
          <a:lstStyle/>
          <a:p>
            <a:pPr algn="l" indent="0" marL="0">
              <a:lnSpc>
                <a:spcPct val="112000"/>
              </a:lnSpc>
              <a:buNone/>
            </a:pPr>
            <a:r>
              <a:rPr lang="en-US" sz="900" dirty="0">
                <a:solidFill>
                  <a:srgbClr val="C3C8D1"/>
                </a:solidFill>
                <a:latin typeface="Plus Jakarta Sans SemiBold" pitchFamily="34" charset="0"/>
                <a:ea typeface="Plus Jakarta Sans SemiBold" pitchFamily="34" charset="-122"/>
                <a:cs typeface="Plus Jakarta Sans SemiBold" pitchFamily="34" charset="-120"/>
              </a:rPr>
              <a:t>$1.5M+ ARR</a:t>
            </a:r>
            <a:endParaRPr lang="en-US" sz="900" dirty="0"/>
          </a:p>
        </p:txBody>
      </p:sp>
      <p:pic>
        <p:nvPicPr>
          <p:cNvPr id="45" name="anim-6-41" descr="/tmp/claude-0/-home-user-hosting/7c832a48-0979-56aa-9fdf-7d53efb9dc7a/scratchpad/build/imgd/pointer.png">    </p:cNvPr>
          <p:cNvPicPr>
            <a:picLocks noChangeAspect="1"/>
          </p:cNvPicPr>
          <p:nvPr/>
        </p:nvPicPr>
        <p:blipFill>
          <a:blip r:embed="rId4"/>
          <a:stretch>
            <a:fillRect/>
          </a:stretch>
        </p:blipFill>
        <p:spPr>
          <a:xfrm>
            <a:off x="9735820" y="2654300"/>
            <a:ext cx="176686" cy="355600"/>
          </a:xfrm>
          <a:prstGeom prst="rect">
            <a:avLst/>
          </a:prstGeom>
        </p:spPr>
      </p:pic>
      <p:sp>
        <p:nvSpPr>
          <p:cNvPr id="46" name="anim-6-42"/>
          <p:cNvSpPr txBox="1"/>
          <p:nvPr/>
        </p:nvSpPr>
        <p:spPr>
          <a:xfrm>
            <a:off x="9964420" y="2400300"/>
            <a:ext cx="1541780" cy="762000"/>
          </a:xfrm>
          <a:prstGeom prst="rect">
            <a:avLst/>
          </a:prstGeom>
          <a:noFill/>
          <a:ln/>
        </p:spPr>
        <p:txBody>
          <a:bodyPr wrap="square" lIns="0" tIns="0" rIns="0" bIns="0" rtlCol="0" anchor="b"/>
          <a:lstStyle/>
          <a:p>
            <a:pPr algn="l" indent="0" marL="0">
              <a:lnSpc>
                <a:spcPct val="112000"/>
              </a:lnSpc>
              <a:buNone/>
            </a:pPr>
            <a:r>
              <a:rPr lang="en-US" sz="5000" b="1" dirty="0">
                <a:solidFill>
                  <a:srgbClr val="FFFFFF"/>
                </a:solidFill>
                <a:latin typeface="Plus Jakarta Sans" pitchFamily="34" charset="0"/>
                <a:ea typeface="Plus Jakarta Sans" pitchFamily="34" charset="-122"/>
                <a:cs typeface="Plus Jakarta Sans" pitchFamily="34" charset="-120"/>
              </a:rPr>
              <a:t>40</a:t>
            </a:r>
            <a:pPr algn="l" indent="0" marL="0">
              <a:lnSpc>
                <a:spcPct val="112000"/>
              </a:lnSpc>
              <a:buNone/>
            </a:pPr>
            <a:r>
              <a:rPr lang="en-US" sz="2200" b="1" dirty="0">
                <a:solidFill>
                  <a:srgbClr val="15B6FF"/>
                </a:solidFill>
                <a:latin typeface="Plus Jakarta Sans" pitchFamily="34" charset="0"/>
                <a:ea typeface="Plus Jakarta Sans" pitchFamily="34" charset="-122"/>
                <a:cs typeface="Plus Jakarta Sans" pitchFamily="34" charset="-120"/>
              </a:rPr>
              <a:t>%</a:t>
            </a:r>
            <a:endParaRPr lang="en-US" sz="5000" dirty="0"/>
          </a:p>
        </p:txBody>
      </p:sp>
      <p:sp>
        <p:nvSpPr>
          <p:cNvPr id="47" name="anim-6-43"/>
          <p:cNvSpPr txBox="1"/>
          <p:nvPr/>
        </p:nvSpPr>
        <p:spPr>
          <a:xfrm>
            <a:off x="9748520" y="3200400"/>
            <a:ext cx="1757680" cy="177800"/>
          </a:xfrm>
          <a:prstGeom prst="rect">
            <a:avLst/>
          </a:prstGeom>
          <a:noFill/>
          <a:ln/>
        </p:spPr>
        <p:txBody>
          <a:bodyPr wrap="square" lIns="0" tIns="0" rIns="0" bIns="0" rtlCol="0" anchor="t"/>
          <a:lstStyle/>
          <a:p>
            <a:pPr algn="l" indent="0" marL="0">
              <a:lnSpc>
                <a:spcPct val="112000"/>
              </a:lnSpc>
              <a:buNone/>
            </a:pPr>
            <a:r>
              <a:rPr lang="en-US" sz="900" dirty="0">
                <a:solidFill>
                  <a:srgbClr val="C3C8D1"/>
                </a:solidFill>
                <a:latin typeface="Plus Jakarta Sans" pitchFamily="34" charset="0"/>
                <a:ea typeface="Plus Jakarta Sans" pitchFamily="34" charset="-122"/>
                <a:cs typeface="Plus Jakarta Sans" pitchFamily="34" charset="-120"/>
              </a:rPr>
              <a:t>sourced commission</a:t>
            </a:r>
            <a:endParaRPr lang="en-US" sz="900" dirty="0"/>
          </a:p>
        </p:txBody>
      </p:sp>
      <p:sp>
        <p:nvSpPr>
          <p:cNvPr id="48" name="anim-6-44"/>
          <p:cNvSpPr txBox="1"/>
          <p:nvPr/>
        </p:nvSpPr>
        <p:spPr>
          <a:xfrm>
            <a:off x="9748520" y="3556000"/>
            <a:ext cx="1757680" cy="952500"/>
          </a:xfrm>
          <a:prstGeom prst="rect">
            <a:avLst/>
          </a:prstGeom>
          <a:noFill/>
          <a:ln/>
        </p:spPr>
        <p:txBody>
          <a:bodyPr wrap="square" lIns="0" tIns="0" rIns="0" bIns="0" rtlCol="0" anchor="t"/>
          <a:lstStyle/>
          <a:p>
            <a:pPr algn="l" indent="0" marL="0">
              <a:lnSpc>
                <a:spcPct val="120000"/>
              </a:lnSpc>
              <a:buNone/>
            </a:pPr>
            <a:r>
              <a:rPr lang="en-US" sz="900" dirty="0">
                <a:solidFill>
                  <a:srgbClr val="C3C8D1"/>
                </a:solidFill>
                <a:latin typeface="Plus Jakarta Sans" pitchFamily="34" charset="0"/>
                <a:ea typeface="Plus Jakarta Sans" pitchFamily="34" charset="-122"/>
                <a:cs typeface="Plus Jakarta Sans" pitchFamily="34" charset="-120"/>
              </a:rPr>
              <a:t>Multi-country reach, certified practice. Co-create category and lighthouse deals.</a:t>
            </a:r>
            <a:endParaRPr lang="en-US" sz="900" dirty="0"/>
          </a:p>
        </p:txBody>
      </p:sp>
      <p:sp>
        <p:nvSpPr>
          <p:cNvPr id="49" name="anim-6-45"/>
          <p:cNvSpPr/>
          <p:nvPr/>
        </p:nvSpPr>
        <p:spPr>
          <a:xfrm>
            <a:off x="9748520" y="4635500"/>
            <a:ext cx="1757680" cy="762000"/>
          </a:xfrm>
          <a:prstGeom prst="roundRect">
            <a:avLst>
              <a:gd name="adj" fmla="val 6667"/>
            </a:avLst>
          </a:prstGeom>
          <a:solidFill>
            <a:srgbClr val="15B6FF"/>
          </a:solidFill>
          <a:ln/>
        </p:spPr>
      </p:sp>
      <p:sp>
        <p:nvSpPr>
          <p:cNvPr id="50" name="anim-9-46"/>
          <p:cNvSpPr/>
          <p:nvPr/>
        </p:nvSpPr>
        <p:spPr>
          <a:xfrm>
            <a:off x="508000" y="5664200"/>
            <a:ext cx="11176000" cy="406400"/>
          </a:xfrm>
          <a:prstGeom prst="roundRect">
            <a:avLst>
              <a:gd name="adj" fmla="val 50000"/>
            </a:avLst>
          </a:prstGeom>
          <a:solidFill>
            <a:srgbClr val="FFFFFF">
              <a:alpha val="4000"/>
            </a:srgbClr>
          </a:solidFill>
          <a:ln w="9525">
            <a:solidFill>
              <a:srgbClr val="FFFFFF">
                <a:alpha val="22000"/>
              </a:srgbClr>
            </a:solidFill>
            <a:prstDash val="solid"/>
          </a:ln>
        </p:spPr>
      </p:sp>
      <p:sp>
        <p:nvSpPr>
          <p:cNvPr id="51" name="anim-9-47"/>
          <p:cNvSpPr txBox="1"/>
          <p:nvPr/>
        </p:nvSpPr>
        <p:spPr>
          <a:xfrm>
            <a:off x="762000" y="5664200"/>
            <a:ext cx="2095500" cy="406400"/>
          </a:xfrm>
          <a:prstGeom prst="rect">
            <a:avLst/>
          </a:prstGeom>
          <a:noFill/>
          <a:ln/>
        </p:spPr>
        <p:txBody>
          <a:bodyPr wrap="square" lIns="0" tIns="0" rIns="0" bIns="0" rtlCol="0" anchor="ctr"/>
          <a:lstStyle/>
          <a:p>
            <a:pPr algn="l" indent="0" marL="0">
              <a:lnSpc>
                <a:spcPct val="112000"/>
              </a:lnSpc>
              <a:buNone/>
            </a:pPr>
            <a:r>
              <a:rPr lang="en-US" sz="1100" b="1" dirty="0">
                <a:solidFill>
                  <a:srgbClr val="15B6FF"/>
                </a:solidFill>
                <a:latin typeface="Plus Jakarta Sans" pitchFamily="34" charset="0"/>
                <a:ea typeface="Plus Jakarta Sans" pitchFamily="34" charset="-122"/>
                <a:cs typeface="Plus Jakarta Sans" pitchFamily="34" charset="-120"/>
              </a:rPr>
              <a:t>How Levels Move</a:t>
            </a:r>
            <a:endParaRPr lang="en-US" sz="1100" dirty="0"/>
          </a:p>
        </p:txBody>
      </p:sp>
      <p:sp>
        <p:nvSpPr>
          <p:cNvPr id="52" name="anim-9-48"/>
          <p:cNvSpPr txBox="1"/>
          <p:nvPr/>
        </p:nvSpPr>
        <p:spPr>
          <a:xfrm>
            <a:off x="2921000" y="5664200"/>
            <a:ext cx="8572500" cy="406400"/>
          </a:xfrm>
          <a:prstGeom prst="rect">
            <a:avLst/>
          </a:prstGeom>
          <a:noFill/>
          <a:ln/>
        </p:spPr>
        <p:txBody>
          <a:bodyPr wrap="square" lIns="0" tIns="0" rIns="0" bIns="0" rtlCol="0" anchor="ctr"/>
          <a:lstStyle/>
          <a:p>
            <a:pPr algn="l" indent="0" marL="0">
              <a:lnSpc>
                <a:spcPct val="112000"/>
              </a:lnSpc>
              <a:buNone/>
            </a:pPr>
            <a:r>
              <a:rPr lang="en-US" sz="950" dirty="0">
                <a:solidFill>
                  <a:srgbClr val="FFFFFF"/>
                </a:solidFill>
                <a:latin typeface="Plus Jakarta Sans Medium" pitchFamily="34" charset="0"/>
                <a:ea typeface="Plus Jakarta Sans Medium" pitchFamily="34" charset="-122"/>
                <a:cs typeface="Plus Jakarta Sans Medium" pitchFamily="34" charset="-120"/>
              </a:rPr>
              <a:t>Levels can rise during the year (reviewed up to twice a year). ARR Bookings = eligible recurring value ÷ contract duration (03-year $300,000 = $100,000 ARR).</a:t>
            </a:r>
            <a:endParaRPr lang="en-US" sz="95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500"/>
                                        <p:tgtEl>
                                          <p:spTgt spid="7"/>
                                        </p:tgtEl>
                                      </p:cBhvr>
                                    </p:animEffect>
                                  </p:childTnLst>
                                </p:cTn>
                              </p:par>
                              <p:par>
                                <p:cTn id="14" presetID="10" presetClass="entr" presetSubtype="0" fill="hold" grpId="0" nodeType="withEffect">
                                  <p:stCondLst>
                                    <p:cond delay="18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500"/>
                                        <p:tgtEl>
                                          <p:spTgt spid="8"/>
                                        </p:tgtEl>
                                      </p:cBhvr>
                                    </p:animEffect>
                                  </p:childTnLst>
                                </p:cTn>
                              </p:par>
                              <p:par>
                                <p:cTn id="17" presetID="10" presetClass="entr" presetSubtype="0" fill="hold" grpId="0" nodeType="withEffect">
                                  <p:stCondLst>
                                    <p:cond delay="18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500"/>
                                        <p:tgtEl>
                                          <p:spTgt spid="9"/>
                                        </p:tgtEl>
                                      </p:cBhvr>
                                    </p:animEffect>
                                  </p:childTnLst>
                                </p:cTn>
                              </p:par>
                              <p:par>
                                <p:cTn id="20" presetID="10" presetClass="entr" presetSubtype="0" fill="hold" grpId="0" nodeType="withEffect">
                                  <p:stCondLst>
                                    <p:cond delay="180"/>
                                  </p:stCondLst>
                                  <p:childTnLst>
                                    <p:set>
                                      <p:cBhvr>
                                        <p:cTn id="21" dur="1" fill="hold">
                                          <p:stCondLst>
                                            <p:cond delay="0"/>
                                          </p:stCondLst>
                                        </p:cTn>
                                        <p:tgtEl>
                                          <p:spTgt spid="10"/>
                                        </p:tgtEl>
                                        <p:attrNameLst>
                                          <p:attrName>style.visibility</p:attrName>
                                        </p:attrNameLst>
                                      </p:cBhvr>
                                      <p:to>
                                        <p:strVal val="visible"/>
                                      </p:to>
                                    </p:set>
                                    <p:animEffect transition="in" filter="fade">
                                      <p:cBhvr>
                                        <p:cTn id="22" dur="500"/>
                                        <p:tgtEl>
                                          <p:spTgt spid="10"/>
                                        </p:tgtEl>
                                      </p:cBhvr>
                                    </p:animEffect>
                                  </p:childTnLst>
                                </p:cTn>
                              </p:par>
                              <p:par>
                                <p:cTn id="23" presetID="10" presetClass="entr" presetSubtype="0" fill="hold" grpId="0" nodeType="withEffect">
                                  <p:stCondLst>
                                    <p:cond delay="180"/>
                                  </p:stCondLst>
                                  <p:childTnLst>
                                    <p:set>
                                      <p:cBhvr>
                                        <p:cTn id="24" dur="1" fill="hold">
                                          <p:stCondLst>
                                            <p:cond delay="0"/>
                                          </p:stCondLst>
                                        </p:cTn>
                                        <p:tgtEl>
                                          <p:spTgt spid="11"/>
                                        </p:tgtEl>
                                        <p:attrNameLst>
                                          <p:attrName>style.visibility</p:attrName>
                                        </p:attrNameLst>
                                      </p:cBhvr>
                                      <p:to>
                                        <p:strVal val="visible"/>
                                      </p:to>
                                    </p:set>
                                    <p:animEffect transition="in" filter="fade">
                                      <p:cBhvr>
                                        <p:cTn id="25" dur="500"/>
                                        <p:tgtEl>
                                          <p:spTgt spid="11"/>
                                        </p:tgtEl>
                                      </p:cBhvr>
                                    </p:animEffect>
                                  </p:childTnLst>
                                </p:cTn>
                              </p:par>
                              <p:par>
                                <p:cTn id="26" presetID="10" presetClass="entr" presetSubtype="0" fill="hold" grpId="0" nodeType="withEffect">
                                  <p:stCondLst>
                                    <p:cond delay="180"/>
                                  </p:stCondLst>
                                  <p:childTnLst>
                                    <p:set>
                                      <p:cBhvr>
                                        <p:cTn id="27" dur="1" fill="hold">
                                          <p:stCondLst>
                                            <p:cond delay="0"/>
                                          </p:stCondLst>
                                        </p:cTn>
                                        <p:tgtEl>
                                          <p:spTgt spid="12"/>
                                        </p:tgtEl>
                                        <p:attrNameLst>
                                          <p:attrName>style.visibility</p:attrName>
                                        </p:attrNameLst>
                                      </p:cBhvr>
                                      <p:to>
                                        <p:strVal val="visible"/>
                                      </p:to>
                                    </p:set>
                                    <p:animEffect transition="in" filter="fade">
                                      <p:cBhvr>
                                        <p:cTn id="28" dur="500"/>
                                        <p:tgtEl>
                                          <p:spTgt spid="12"/>
                                        </p:tgtEl>
                                      </p:cBhvr>
                                    </p:animEffect>
                                  </p:childTnLst>
                                </p:cTn>
                              </p:par>
                              <p:par>
                                <p:cTn id="29" presetID="10" presetClass="entr" presetSubtype="0" fill="hold" grpId="0" nodeType="withEffect">
                                  <p:stCondLst>
                                    <p:cond delay="180"/>
                                  </p:stCondLst>
                                  <p:childTnLst>
                                    <p:set>
                                      <p:cBhvr>
                                        <p:cTn id="30" dur="1" fill="hold">
                                          <p:stCondLst>
                                            <p:cond delay="0"/>
                                          </p:stCondLst>
                                        </p:cTn>
                                        <p:tgtEl>
                                          <p:spTgt spid="13"/>
                                        </p:tgtEl>
                                        <p:attrNameLst>
                                          <p:attrName>style.visibility</p:attrName>
                                        </p:attrNameLst>
                                      </p:cBhvr>
                                      <p:to>
                                        <p:strVal val="visible"/>
                                      </p:to>
                                    </p:set>
                                    <p:animEffect transition="in" filter="fade">
                                      <p:cBhvr>
                                        <p:cTn id="31" dur="500"/>
                                        <p:tgtEl>
                                          <p:spTgt spid="13"/>
                                        </p:tgtEl>
                                      </p:cBhvr>
                                    </p:animEffect>
                                  </p:childTnLst>
                                </p:cTn>
                              </p:par>
                              <p:par>
                                <p:cTn id="32" presetID="10" presetClass="entr" presetSubtype="0" fill="hold" grpId="0" nodeType="withEffect">
                                  <p:stCondLst>
                                    <p:cond delay="18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500"/>
                                        <p:tgtEl>
                                          <p:spTgt spid="14"/>
                                        </p:tgtEl>
                                      </p:cBhvr>
                                    </p:animEffect>
                                  </p:childTnLst>
                                </p:cTn>
                              </p:par>
                              <p:par>
                                <p:cTn id="35" presetID="10" presetClass="entr" presetSubtype="0" fill="hold" grpId="0" nodeType="withEffect">
                                  <p:stCondLst>
                                    <p:cond delay="180"/>
                                  </p:stCondLst>
                                  <p:childTnLst>
                                    <p:set>
                                      <p:cBhvr>
                                        <p:cTn id="36" dur="1" fill="hold">
                                          <p:stCondLst>
                                            <p:cond delay="0"/>
                                          </p:stCondLst>
                                        </p:cTn>
                                        <p:tgtEl>
                                          <p:spTgt spid="15"/>
                                        </p:tgtEl>
                                        <p:attrNameLst>
                                          <p:attrName>style.visibility</p:attrName>
                                        </p:attrNameLst>
                                      </p:cBhvr>
                                      <p:to>
                                        <p:strVal val="visible"/>
                                      </p:to>
                                    </p:set>
                                    <p:animEffect transition="in" filter="fade">
                                      <p:cBhvr>
                                        <p:cTn id="37" dur="500"/>
                                        <p:tgtEl>
                                          <p:spTgt spid="15"/>
                                        </p:tgtEl>
                                      </p:cBhvr>
                                    </p:animEffect>
                                  </p:childTnLst>
                                </p:cTn>
                              </p:par>
                              <p:par>
                                <p:cTn id="38" presetID="10" presetClass="entr" presetSubtype="0" fill="hold" grpId="0" nodeType="withEffect">
                                  <p:stCondLst>
                                    <p:cond delay="360"/>
                                  </p:stCondLst>
                                  <p:childTnLst>
                                    <p:set>
                                      <p:cBhvr>
                                        <p:cTn id="39" dur="1" fill="hold">
                                          <p:stCondLst>
                                            <p:cond delay="0"/>
                                          </p:stCondLst>
                                        </p:cTn>
                                        <p:tgtEl>
                                          <p:spTgt spid="16"/>
                                        </p:tgtEl>
                                        <p:attrNameLst>
                                          <p:attrName>style.visibility</p:attrName>
                                        </p:attrNameLst>
                                      </p:cBhvr>
                                      <p:to>
                                        <p:strVal val="visible"/>
                                      </p:to>
                                    </p:set>
                                    <p:animEffect transition="in" filter="fade">
                                      <p:cBhvr>
                                        <p:cTn id="40" dur="500"/>
                                        <p:tgtEl>
                                          <p:spTgt spid="16"/>
                                        </p:tgtEl>
                                      </p:cBhvr>
                                    </p:animEffect>
                                  </p:childTnLst>
                                </p:cTn>
                              </p:par>
                              <p:par>
                                <p:cTn id="41" presetID="10" presetClass="entr" presetSubtype="0" fill="hold" grpId="0" nodeType="withEffect">
                                  <p:stCondLst>
                                    <p:cond delay="360"/>
                                  </p:stCondLst>
                                  <p:childTnLst>
                                    <p:set>
                                      <p:cBhvr>
                                        <p:cTn id="42" dur="1" fill="hold">
                                          <p:stCondLst>
                                            <p:cond delay="0"/>
                                          </p:stCondLst>
                                        </p:cTn>
                                        <p:tgtEl>
                                          <p:spTgt spid="17"/>
                                        </p:tgtEl>
                                        <p:attrNameLst>
                                          <p:attrName>style.visibility</p:attrName>
                                        </p:attrNameLst>
                                      </p:cBhvr>
                                      <p:to>
                                        <p:strVal val="visible"/>
                                      </p:to>
                                    </p:set>
                                    <p:animEffect transition="in" filter="fade">
                                      <p:cBhvr>
                                        <p:cTn id="43" dur="500"/>
                                        <p:tgtEl>
                                          <p:spTgt spid="17"/>
                                        </p:tgtEl>
                                      </p:cBhvr>
                                    </p:animEffect>
                                  </p:childTnLst>
                                </p:cTn>
                              </p:par>
                              <p:par>
                                <p:cTn id="44" presetID="10" presetClass="entr" presetSubtype="0" fill="hold" grpId="0" nodeType="withEffect">
                                  <p:stCondLst>
                                    <p:cond delay="360"/>
                                  </p:stCondLst>
                                  <p:childTnLst>
                                    <p:set>
                                      <p:cBhvr>
                                        <p:cTn id="45" dur="1" fill="hold">
                                          <p:stCondLst>
                                            <p:cond delay="0"/>
                                          </p:stCondLst>
                                        </p:cTn>
                                        <p:tgtEl>
                                          <p:spTgt spid="18"/>
                                        </p:tgtEl>
                                        <p:attrNameLst>
                                          <p:attrName>style.visibility</p:attrName>
                                        </p:attrNameLst>
                                      </p:cBhvr>
                                      <p:to>
                                        <p:strVal val="visible"/>
                                      </p:to>
                                    </p:set>
                                    <p:animEffect transition="in" filter="fade">
                                      <p:cBhvr>
                                        <p:cTn id="46" dur="500"/>
                                        <p:tgtEl>
                                          <p:spTgt spid="18"/>
                                        </p:tgtEl>
                                      </p:cBhvr>
                                    </p:animEffect>
                                  </p:childTnLst>
                                </p:cTn>
                              </p:par>
                              <p:par>
                                <p:cTn id="47" presetID="10" presetClass="entr" presetSubtype="0" fill="hold" grpId="0" nodeType="withEffect">
                                  <p:stCondLst>
                                    <p:cond delay="360"/>
                                  </p:stCondLst>
                                  <p:childTnLst>
                                    <p:set>
                                      <p:cBhvr>
                                        <p:cTn id="48" dur="1" fill="hold">
                                          <p:stCondLst>
                                            <p:cond delay="0"/>
                                          </p:stCondLst>
                                        </p:cTn>
                                        <p:tgtEl>
                                          <p:spTgt spid="19"/>
                                        </p:tgtEl>
                                        <p:attrNameLst>
                                          <p:attrName>style.visibility</p:attrName>
                                        </p:attrNameLst>
                                      </p:cBhvr>
                                      <p:to>
                                        <p:strVal val="visible"/>
                                      </p:to>
                                    </p:set>
                                    <p:animEffect transition="in" filter="fade">
                                      <p:cBhvr>
                                        <p:cTn id="49" dur="500"/>
                                        <p:tgtEl>
                                          <p:spTgt spid="19"/>
                                        </p:tgtEl>
                                      </p:cBhvr>
                                    </p:animEffect>
                                  </p:childTnLst>
                                </p:cTn>
                              </p:par>
                              <p:par>
                                <p:cTn id="50" presetID="10" presetClass="entr" presetSubtype="0" fill="hold" grpId="0" nodeType="withEffect">
                                  <p:stCondLst>
                                    <p:cond delay="360"/>
                                  </p:stCondLst>
                                  <p:childTnLst>
                                    <p:set>
                                      <p:cBhvr>
                                        <p:cTn id="51" dur="1" fill="hold">
                                          <p:stCondLst>
                                            <p:cond delay="0"/>
                                          </p:stCondLst>
                                        </p:cTn>
                                        <p:tgtEl>
                                          <p:spTgt spid="20"/>
                                        </p:tgtEl>
                                        <p:attrNameLst>
                                          <p:attrName>style.visibility</p:attrName>
                                        </p:attrNameLst>
                                      </p:cBhvr>
                                      <p:to>
                                        <p:strVal val="visible"/>
                                      </p:to>
                                    </p:set>
                                    <p:animEffect transition="in" filter="fade">
                                      <p:cBhvr>
                                        <p:cTn id="52" dur="500"/>
                                        <p:tgtEl>
                                          <p:spTgt spid="20"/>
                                        </p:tgtEl>
                                      </p:cBhvr>
                                    </p:animEffect>
                                  </p:childTnLst>
                                </p:cTn>
                              </p:par>
                              <p:par>
                                <p:cTn id="53" presetID="10" presetClass="entr" presetSubtype="0" fill="hold" grpId="0" nodeType="withEffect">
                                  <p:stCondLst>
                                    <p:cond delay="360"/>
                                  </p:stCondLst>
                                  <p:childTnLst>
                                    <p:set>
                                      <p:cBhvr>
                                        <p:cTn id="54" dur="1" fill="hold">
                                          <p:stCondLst>
                                            <p:cond delay="0"/>
                                          </p:stCondLst>
                                        </p:cTn>
                                        <p:tgtEl>
                                          <p:spTgt spid="21"/>
                                        </p:tgtEl>
                                        <p:attrNameLst>
                                          <p:attrName>style.visibility</p:attrName>
                                        </p:attrNameLst>
                                      </p:cBhvr>
                                      <p:to>
                                        <p:strVal val="visible"/>
                                      </p:to>
                                    </p:set>
                                    <p:animEffect transition="in" filter="fade">
                                      <p:cBhvr>
                                        <p:cTn id="55" dur="500"/>
                                        <p:tgtEl>
                                          <p:spTgt spid="21"/>
                                        </p:tgtEl>
                                      </p:cBhvr>
                                    </p:animEffect>
                                  </p:childTnLst>
                                </p:cTn>
                              </p:par>
                              <p:par>
                                <p:cTn id="56" presetID="10" presetClass="entr" presetSubtype="0" fill="hold" grpId="0" nodeType="withEffect">
                                  <p:stCondLst>
                                    <p:cond delay="360"/>
                                  </p:stCondLst>
                                  <p:childTnLst>
                                    <p:set>
                                      <p:cBhvr>
                                        <p:cTn id="57" dur="1" fill="hold">
                                          <p:stCondLst>
                                            <p:cond delay="0"/>
                                          </p:stCondLst>
                                        </p:cTn>
                                        <p:tgtEl>
                                          <p:spTgt spid="22"/>
                                        </p:tgtEl>
                                        <p:attrNameLst>
                                          <p:attrName>style.visibility</p:attrName>
                                        </p:attrNameLst>
                                      </p:cBhvr>
                                      <p:to>
                                        <p:strVal val="visible"/>
                                      </p:to>
                                    </p:set>
                                    <p:animEffect transition="in" filter="fade">
                                      <p:cBhvr>
                                        <p:cTn id="58" dur="500"/>
                                        <p:tgtEl>
                                          <p:spTgt spid="22"/>
                                        </p:tgtEl>
                                      </p:cBhvr>
                                    </p:animEffect>
                                  </p:childTnLst>
                                </p:cTn>
                              </p:par>
                              <p:par>
                                <p:cTn id="59" presetID="10" presetClass="entr" presetSubtype="0" fill="hold" grpId="0" nodeType="withEffect">
                                  <p:stCondLst>
                                    <p:cond delay="360"/>
                                  </p:stCondLst>
                                  <p:childTnLst>
                                    <p:set>
                                      <p:cBhvr>
                                        <p:cTn id="60" dur="1" fill="hold">
                                          <p:stCondLst>
                                            <p:cond delay="0"/>
                                          </p:stCondLst>
                                        </p:cTn>
                                        <p:tgtEl>
                                          <p:spTgt spid="23"/>
                                        </p:tgtEl>
                                        <p:attrNameLst>
                                          <p:attrName>style.visibility</p:attrName>
                                        </p:attrNameLst>
                                      </p:cBhvr>
                                      <p:to>
                                        <p:strVal val="visible"/>
                                      </p:to>
                                    </p:set>
                                    <p:animEffect transition="in" filter="fade">
                                      <p:cBhvr>
                                        <p:cTn id="61" dur="500"/>
                                        <p:tgtEl>
                                          <p:spTgt spid="23"/>
                                        </p:tgtEl>
                                      </p:cBhvr>
                                    </p:animEffect>
                                  </p:childTnLst>
                                </p:cTn>
                              </p:par>
                              <p:par>
                                <p:cTn id="62" presetID="10" presetClass="entr" presetSubtype="0" fill="hold" grpId="0" nodeType="withEffect">
                                  <p:stCondLst>
                                    <p:cond delay="540"/>
                                  </p:stCondLst>
                                  <p:childTnLst>
                                    <p:set>
                                      <p:cBhvr>
                                        <p:cTn id="63" dur="1" fill="hold">
                                          <p:stCondLst>
                                            <p:cond delay="0"/>
                                          </p:stCondLst>
                                        </p:cTn>
                                        <p:tgtEl>
                                          <p:spTgt spid="24"/>
                                        </p:tgtEl>
                                        <p:attrNameLst>
                                          <p:attrName>style.visibility</p:attrName>
                                        </p:attrNameLst>
                                      </p:cBhvr>
                                      <p:to>
                                        <p:strVal val="visible"/>
                                      </p:to>
                                    </p:set>
                                    <p:animEffect transition="in" filter="fade">
                                      <p:cBhvr>
                                        <p:cTn id="64" dur="500"/>
                                        <p:tgtEl>
                                          <p:spTgt spid="24"/>
                                        </p:tgtEl>
                                      </p:cBhvr>
                                    </p:animEffect>
                                  </p:childTnLst>
                                </p:cTn>
                              </p:par>
                              <p:par>
                                <p:cTn id="65" presetID="10" presetClass="entr" presetSubtype="0" fill="hold" grpId="0" nodeType="withEffect">
                                  <p:stCondLst>
                                    <p:cond delay="540"/>
                                  </p:stCondLst>
                                  <p:childTnLst>
                                    <p:set>
                                      <p:cBhvr>
                                        <p:cTn id="66" dur="1" fill="hold">
                                          <p:stCondLst>
                                            <p:cond delay="0"/>
                                          </p:stCondLst>
                                        </p:cTn>
                                        <p:tgtEl>
                                          <p:spTgt spid="25"/>
                                        </p:tgtEl>
                                        <p:attrNameLst>
                                          <p:attrName>style.visibility</p:attrName>
                                        </p:attrNameLst>
                                      </p:cBhvr>
                                      <p:to>
                                        <p:strVal val="visible"/>
                                      </p:to>
                                    </p:set>
                                    <p:animEffect transition="in" filter="fade">
                                      <p:cBhvr>
                                        <p:cTn id="67" dur="500"/>
                                        <p:tgtEl>
                                          <p:spTgt spid="25"/>
                                        </p:tgtEl>
                                      </p:cBhvr>
                                    </p:animEffect>
                                  </p:childTnLst>
                                </p:cTn>
                              </p:par>
                              <p:par>
                                <p:cTn id="68" presetID="10" presetClass="entr" presetSubtype="0" fill="hold" grpId="0" nodeType="withEffect">
                                  <p:stCondLst>
                                    <p:cond delay="540"/>
                                  </p:stCondLst>
                                  <p:childTnLst>
                                    <p:set>
                                      <p:cBhvr>
                                        <p:cTn id="69" dur="1" fill="hold">
                                          <p:stCondLst>
                                            <p:cond delay="0"/>
                                          </p:stCondLst>
                                        </p:cTn>
                                        <p:tgtEl>
                                          <p:spTgt spid="26"/>
                                        </p:tgtEl>
                                        <p:attrNameLst>
                                          <p:attrName>style.visibility</p:attrName>
                                        </p:attrNameLst>
                                      </p:cBhvr>
                                      <p:to>
                                        <p:strVal val="visible"/>
                                      </p:to>
                                    </p:set>
                                    <p:animEffect transition="in" filter="fade">
                                      <p:cBhvr>
                                        <p:cTn id="70" dur="500"/>
                                        <p:tgtEl>
                                          <p:spTgt spid="26"/>
                                        </p:tgtEl>
                                      </p:cBhvr>
                                    </p:animEffect>
                                  </p:childTnLst>
                                </p:cTn>
                              </p:par>
                              <p:par>
                                <p:cTn id="71" presetID="10" presetClass="entr" presetSubtype="0" fill="hold" grpId="0" nodeType="withEffect">
                                  <p:stCondLst>
                                    <p:cond delay="540"/>
                                  </p:stCondLst>
                                  <p:childTnLst>
                                    <p:set>
                                      <p:cBhvr>
                                        <p:cTn id="72" dur="1" fill="hold">
                                          <p:stCondLst>
                                            <p:cond delay="0"/>
                                          </p:stCondLst>
                                        </p:cTn>
                                        <p:tgtEl>
                                          <p:spTgt spid="27"/>
                                        </p:tgtEl>
                                        <p:attrNameLst>
                                          <p:attrName>style.visibility</p:attrName>
                                        </p:attrNameLst>
                                      </p:cBhvr>
                                      <p:to>
                                        <p:strVal val="visible"/>
                                      </p:to>
                                    </p:set>
                                    <p:animEffect transition="in" filter="fade">
                                      <p:cBhvr>
                                        <p:cTn id="73" dur="500"/>
                                        <p:tgtEl>
                                          <p:spTgt spid="27"/>
                                        </p:tgtEl>
                                      </p:cBhvr>
                                    </p:animEffect>
                                  </p:childTnLst>
                                </p:cTn>
                              </p:par>
                              <p:par>
                                <p:cTn id="74" presetID="10" presetClass="entr" presetSubtype="0" fill="hold" grpId="0" nodeType="withEffect">
                                  <p:stCondLst>
                                    <p:cond delay="540"/>
                                  </p:stCondLst>
                                  <p:childTnLst>
                                    <p:set>
                                      <p:cBhvr>
                                        <p:cTn id="75" dur="1" fill="hold">
                                          <p:stCondLst>
                                            <p:cond delay="0"/>
                                          </p:stCondLst>
                                        </p:cTn>
                                        <p:tgtEl>
                                          <p:spTgt spid="28"/>
                                        </p:tgtEl>
                                        <p:attrNameLst>
                                          <p:attrName>style.visibility</p:attrName>
                                        </p:attrNameLst>
                                      </p:cBhvr>
                                      <p:to>
                                        <p:strVal val="visible"/>
                                      </p:to>
                                    </p:set>
                                    <p:animEffect transition="in" filter="fade">
                                      <p:cBhvr>
                                        <p:cTn id="76" dur="500"/>
                                        <p:tgtEl>
                                          <p:spTgt spid="28"/>
                                        </p:tgtEl>
                                      </p:cBhvr>
                                    </p:animEffect>
                                  </p:childTnLst>
                                </p:cTn>
                              </p:par>
                              <p:par>
                                <p:cTn id="77" presetID="10" presetClass="entr" presetSubtype="0" fill="hold" grpId="0" nodeType="withEffect">
                                  <p:stCondLst>
                                    <p:cond delay="540"/>
                                  </p:stCondLst>
                                  <p:childTnLst>
                                    <p:set>
                                      <p:cBhvr>
                                        <p:cTn id="78" dur="1" fill="hold">
                                          <p:stCondLst>
                                            <p:cond delay="0"/>
                                          </p:stCondLst>
                                        </p:cTn>
                                        <p:tgtEl>
                                          <p:spTgt spid="29"/>
                                        </p:tgtEl>
                                        <p:attrNameLst>
                                          <p:attrName>style.visibility</p:attrName>
                                        </p:attrNameLst>
                                      </p:cBhvr>
                                      <p:to>
                                        <p:strVal val="visible"/>
                                      </p:to>
                                    </p:set>
                                    <p:animEffect transition="in" filter="fade">
                                      <p:cBhvr>
                                        <p:cTn id="79" dur="500"/>
                                        <p:tgtEl>
                                          <p:spTgt spid="29"/>
                                        </p:tgtEl>
                                      </p:cBhvr>
                                    </p:animEffect>
                                  </p:childTnLst>
                                </p:cTn>
                              </p:par>
                              <p:par>
                                <p:cTn id="80" presetID="10" presetClass="entr" presetSubtype="0" fill="hold" grpId="0" nodeType="withEffect">
                                  <p:stCondLst>
                                    <p:cond delay="540"/>
                                  </p:stCondLst>
                                  <p:childTnLst>
                                    <p:set>
                                      <p:cBhvr>
                                        <p:cTn id="81" dur="1" fill="hold">
                                          <p:stCondLst>
                                            <p:cond delay="0"/>
                                          </p:stCondLst>
                                        </p:cTn>
                                        <p:tgtEl>
                                          <p:spTgt spid="30"/>
                                        </p:tgtEl>
                                        <p:attrNameLst>
                                          <p:attrName>style.visibility</p:attrName>
                                        </p:attrNameLst>
                                      </p:cBhvr>
                                      <p:to>
                                        <p:strVal val="visible"/>
                                      </p:to>
                                    </p:set>
                                    <p:animEffect transition="in" filter="fade">
                                      <p:cBhvr>
                                        <p:cTn id="82" dur="500"/>
                                        <p:tgtEl>
                                          <p:spTgt spid="30"/>
                                        </p:tgtEl>
                                      </p:cBhvr>
                                    </p:animEffect>
                                  </p:childTnLst>
                                </p:cTn>
                              </p:par>
                              <p:par>
                                <p:cTn id="83" presetID="10" presetClass="entr" presetSubtype="0" fill="hold" grpId="0" nodeType="withEffect">
                                  <p:stCondLst>
                                    <p:cond delay="540"/>
                                  </p:stCondLst>
                                  <p:childTnLst>
                                    <p:set>
                                      <p:cBhvr>
                                        <p:cTn id="84" dur="1" fill="hold">
                                          <p:stCondLst>
                                            <p:cond delay="0"/>
                                          </p:stCondLst>
                                        </p:cTn>
                                        <p:tgtEl>
                                          <p:spTgt spid="31"/>
                                        </p:tgtEl>
                                        <p:attrNameLst>
                                          <p:attrName>style.visibility</p:attrName>
                                        </p:attrNameLst>
                                      </p:cBhvr>
                                      <p:to>
                                        <p:strVal val="visible"/>
                                      </p:to>
                                    </p:set>
                                    <p:animEffect transition="in" filter="fade">
                                      <p:cBhvr>
                                        <p:cTn id="85" dur="500"/>
                                        <p:tgtEl>
                                          <p:spTgt spid="31"/>
                                        </p:tgtEl>
                                      </p:cBhvr>
                                    </p:animEffect>
                                  </p:childTnLst>
                                </p:cTn>
                              </p:par>
                              <p:par>
                                <p:cTn id="86" presetID="10" presetClass="entr" presetSubtype="0" fill="hold" grpId="0" nodeType="withEffect">
                                  <p:stCondLst>
                                    <p:cond delay="720"/>
                                  </p:stCondLst>
                                  <p:childTnLst>
                                    <p:set>
                                      <p:cBhvr>
                                        <p:cTn id="87" dur="1" fill="hold">
                                          <p:stCondLst>
                                            <p:cond delay="0"/>
                                          </p:stCondLst>
                                        </p:cTn>
                                        <p:tgtEl>
                                          <p:spTgt spid="32"/>
                                        </p:tgtEl>
                                        <p:attrNameLst>
                                          <p:attrName>style.visibility</p:attrName>
                                        </p:attrNameLst>
                                      </p:cBhvr>
                                      <p:to>
                                        <p:strVal val="visible"/>
                                      </p:to>
                                    </p:set>
                                    <p:animEffect transition="in" filter="fade">
                                      <p:cBhvr>
                                        <p:cTn id="88" dur="500"/>
                                        <p:tgtEl>
                                          <p:spTgt spid="32"/>
                                        </p:tgtEl>
                                      </p:cBhvr>
                                    </p:animEffect>
                                  </p:childTnLst>
                                </p:cTn>
                              </p:par>
                              <p:par>
                                <p:cTn id="89" presetID="10" presetClass="entr" presetSubtype="0" fill="hold" grpId="0" nodeType="withEffect">
                                  <p:stCondLst>
                                    <p:cond delay="720"/>
                                  </p:stCondLst>
                                  <p:childTnLst>
                                    <p:set>
                                      <p:cBhvr>
                                        <p:cTn id="90" dur="1" fill="hold">
                                          <p:stCondLst>
                                            <p:cond delay="0"/>
                                          </p:stCondLst>
                                        </p:cTn>
                                        <p:tgtEl>
                                          <p:spTgt spid="33"/>
                                        </p:tgtEl>
                                        <p:attrNameLst>
                                          <p:attrName>style.visibility</p:attrName>
                                        </p:attrNameLst>
                                      </p:cBhvr>
                                      <p:to>
                                        <p:strVal val="visible"/>
                                      </p:to>
                                    </p:set>
                                    <p:animEffect transition="in" filter="fade">
                                      <p:cBhvr>
                                        <p:cTn id="91" dur="500"/>
                                        <p:tgtEl>
                                          <p:spTgt spid="33"/>
                                        </p:tgtEl>
                                      </p:cBhvr>
                                    </p:animEffect>
                                  </p:childTnLst>
                                </p:cTn>
                              </p:par>
                              <p:par>
                                <p:cTn id="92" presetID="10" presetClass="entr" presetSubtype="0" fill="hold" grpId="0" nodeType="withEffect">
                                  <p:stCondLst>
                                    <p:cond delay="720"/>
                                  </p:stCondLst>
                                  <p:childTnLst>
                                    <p:set>
                                      <p:cBhvr>
                                        <p:cTn id="93" dur="1" fill="hold">
                                          <p:stCondLst>
                                            <p:cond delay="0"/>
                                          </p:stCondLst>
                                        </p:cTn>
                                        <p:tgtEl>
                                          <p:spTgt spid="34"/>
                                        </p:tgtEl>
                                        <p:attrNameLst>
                                          <p:attrName>style.visibility</p:attrName>
                                        </p:attrNameLst>
                                      </p:cBhvr>
                                      <p:to>
                                        <p:strVal val="visible"/>
                                      </p:to>
                                    </p:set>
                                    <p:animEffect transition="in" filter="fade">
                                      <p:cBhvr>
                                        <p:cTn id="94" dur="500"/>
                                        <p:tgtEl>
                                          <p:spTgt spid="34"/>
                                        </p:tgtEl>
                                      </p:cBhvr>
                                    </p:animEffect>
                                  </p:childTnLst>
                                </p:cTn>
                              </p:par>
                              <p:par>
                                <p:cTn id="95" presetID="10" presetClass="entr" presetSubtype="0" fill="hold" grpId="0" nodeType="withEffect">
                                  <p:stCondLst>
                                    <p:cond delay="720"/>
                                  </p:stCondLst>
                                  <p:childTnLst>
                                    <p:set>
                                      <p:cBhvr>
                                        <p:cTn id="96" dur="1" fill="hold">
                                          <p:stCondLst>
                                            <p:cond delay="0"/>
                                          </p:stCondLst>
                                        </p:cTn>
                                        <p:tgtEl>
                                          <p:spTgt spid="35"/>
                                        </p:tgtEl>
                                        <p:attrNameLst>
                                          <p:attrName>style.visibility</p:attrName>
                                        </p:attrNameLst>
                                      </p:cBhvr>
                                      <p:to>
                                        <p:strVal val="visible"/>
                                      </p:to>
                                    </p:set>
                                    <p:animEffect transition="in" filter="fade">
                                      <p:cBhvr>
                                        <p:cTn id="97" dur="500"/>
                                        <p:tgtEl>
                                          <p:spTgt spid="35"/>
                                        </p:tgtEl>
                                      </p:cBhvr>
                                    </p:animEffect>
                                  </p:childTnLst>
                                </p:cTn>
                              </p:par>
                              <p:par>
                                <p:cTn id="98" presetID="10" presetClass="entr" presetSubtype="0" fill="hold" grpId="0" nodeType="withEffect">
                                  <p:stCondLst>
                                    <p:cond delay="720"/>
                                  </p:stCondLst>
                                  <p:childTnLst>
                                    <p:set>
                                      <p:cBhvr>
                                        <p:cTn id="99" dur="1" fill="hold">
                                          <p:stCondLst>
                                            <p:cond delay="0"/>
                                          </p:stCondLst>
                                        </p:cTn>
                                        <p:tgtEl>
                                          <p:spTgt spid="36"/>
                                        </p:tgtEl>
                                        <p:attrNameLst>
                                          <p:attrName>style.visibility</p:attrName>
                                        </p:attrNameLst>
                                      </p:cBhvr>
                                      <p:to>
                                        <p:strVal val="visible"/>
                                      </p:to>
                                    </p:set>
                                    <p:animEffect transition="in" filter="fade">
                                      <p:cBhvr>
                                        <p:cTn id="100" dur="500"/>
                                        <p:tgtEl>
                                          <p:spTgt spid="36"/>
                                        </p:tgtEl>
                                      </p:cBhvr>
                                    </p:animEffect>
                                  </p:childTnLst>
                                </p:cTn>
                              </p:par>
                              <p:par>
                                <p:cTn id="101" presetID="10" presetClass="entr" presetSubtype="0" fill="hold" grpId="0" nodeType="withEffect">
                                  <p:stCondLst>
                                    <p:cond delay="720"/>
                                  </p:stCondLst>
                                  <p:childTnLst>
                                    <p:set>
                                      <p:cBhvr>
                                        <p:cTn id="102" dur="1" fill="hold">
                                          <p:stCondLst>
                                            <p:cond delay="0"/>
                                          </p:stCondLst>
                                        </p:cTn>
                                        <p:tgtEl>
                                          <p:spTgt spid="37"/>
                                        </p:tgtEl>
                                        <p:attrNameLst>
                                          <p:attrName>style.visibility</p:attrName>
                                        </p:attrNameLst>
                                      </p:cBhvr>
                                      <p:to>
                                        <p:strVal val="visible"/>
                                      </p:to>
                                    </p:set>
                                    <p:animEffect transition="in" filter="fade">
                                      <p:cBhvr>
                                        <p:cTn id="103" dur="500"/>
                                        <p:tgtEl>
                                          <p:spTgt spid="37"/>
                                        </p:tgtEl>
                                      </p:cBhvr>
                                    </p:animEffect>
                                  </p:childTnLst>
                                </p:cTn>
                              </p:par>
                              <p:par>
                                <p:cTn id="104" presetID="10" presetClass="entr" presetSubtype="0" fill="hold" grpId="0" nodeType="withEffect">
                                  <p:stCondLst>
                                    <p:cond delay="720"/>
                                  </p:stCondLst>
                                  <p:childTnLst>
                                    <p:set>
                                      <p:cBhvr>
                                        <p:cTn id="105" dur="1" fill="hold">
                                          <p:stCondLst>
                                            <p:cond delay="0"/>
                                          </p:stCondLst>
                                        </p:cTn>
                                        <p:tgtEl>
                                          <p:spTgt spid="38"/>
                                        </p:tgtEl>
                                        <p:attrNameLst>
                                          <p:attrName>style.visibility</p:attrName>
                                        </p:attrNameLst>
                                      </p:cBhvr>
                                      <p:to>
                                        <p:strVal val="visible"/>
                                      </p:to>
                                    </p:set>
                                    <p:animEffect transition="in" filter="fade">
                                      <p:cBhvr>
                                        <p:cTn id="106" dur="500"/>
                                        <p:tgtEl>
                                          <p:spTgt spid="38"/>
                                        </p:tgtEl>
                                      </p:cBhvr>
                                    </p:animEffect>
                                  </p:childTnLst>
                                </p:cTn>
                              </p:par>
                              <p:par>
                                <p:cTn id="107" presetID="10" presetClass="entr" presetSubtype="0" fill="hold" grpId="0" nodeType="withEffect">
                                  <p:stCondLst>
                                    <p:cond delay="720"/>
                                  </p:stCondLst>
                                  <p:childTnLst>
                                    <p:set>
                                      <p:cBhvr>
                                        <p:cTn id="108" dur="1" fill="hold">
                                          <p:stCondLst>
                                            <p:cond delay="0"/>
                                          </p:stCondLst>
                                        </p:cTn>
                                        <p:tgtEl>
                                          <p:spTgt spid="39"/>
                                        </p:tgtEl>
                                        <p:attrNameLst>
                                          <p:attrName>style.visibility</p:attrName>
                                        </p:attrNameLst>
                                      </p:cBhvr>
                                      <p:to>
                                        <p:strVal val="visible"/>
                                      </p:to>
                                    </p:set>
                                    <p:animEffect transition="in" filter="fade">
                                      <p:cBhvr>
                                        <p:cTn id="109" dur="500"/>
                                        <p:tgtEl>
                                          <p:spTgt spid="39"/>
                                        </p:tgtEl>
                                      </p:cBhvr>
                                    </p:animEffect>
                                  </p:childTnLst>
                                </p:cTn>
                              </p:par>
                              <p:par>
                                <p:cTn id="110" presetID="10" presetClass="entr" presetSubtype="0" fill="hold" grpId="0" nodeType="withEffect">
                                  <p:stCondLst>
                                    <p:cond delay="900"/>
                                  </p:stCondLst>
                                  <p:childTnLst>
                                    <p:set>
                                      <p:cBhvr>
                                        <p:cTn id="111" dur="1" fill="hold">
                                          <p:stCondLst>
                                            <p:cond delay="0"/>
                                          </p:stCondLst>
                                        </p:cTn>
                                        <p:tgtEl>
                                          <p:spTgt spid="40"/>
                                        </p:tgtEl>
                                        <p:attrNameLst>
                                          <p:attrName>style.visibility</p:attrName>
                                        </p:attrNameLst>
                                      </p:cBhvr>
                                      <p:to>
                                        <p:strVal val="visible"/>
                                      </p:to>
                                    </p:set>
                                    <p:animEffect transition="in" filter="fade">
                                      <p:cBhvr>
                                        <p:cTn id="112" dur="500"/>
                                        <p:tgtEl>
                                          <p:spTgt spid="40"/>
                                        </p:tgtEl>
                                      </p:cBhvr>
                                    </p:animEffect>
                                  </p:childTnLst>
                                </p:cTn>
                              </p:par>
                              <p:par>
                                <p:cTn id="113" presetID="10" presetClass="entr" presetSubtype="0" fill="hold" grpId="0" nodeType="withEffect">
                                  <p:stCondLst>
                                    <p:cond delay="900"/>
                                  </p:stCondLst>
                                  <p:childTnLst>
                                    <p:set>
                                      <p:cBhvr>
                                        <p:cTn id="114" dur="1" fill="hold">
                                          <p:stCondLst>
                                            <p:cond delay="0"/>
                                          </p:stCondLst>
                                        </p:cTn>
                                        <p:tgtEl>
                                          <p:spTgt spid="41"/>
                                        </p:tgtEl>
                                        <p:attrNameLst>
                                          <p:attrName>style.visibility</p:attrName>
                                        </p:attrNameLst>
                                      </p:cBhvr>
                                      <p:to>
                                        <p:strVal val="visible"/>
                                      </p:to>
                                    </p:set>
                                    <p:animEffect transition="in" filter="fade">
                                      <p:cBhvr>
                                        <p:cTn id="115" dur="500"/>
                                        <p:tgtEl>
                                          <p:spTgt spid="41"/>
                                        </p:tgtEl>
                                      </p:cBhvr>
                                    </p:animEffect>
                                  </p:childTnLst>
                                </p:cTn>
                              </p:par>
                              <p:par>
                                <p:cTn id="116" presetID="10" presetClass="entr" presetSubtype="0" fill="hold" grpId="0" nodeType="withEffect">
                                  <p:stCondLst>
                                    <p:cond delay="900"/>
                                  </p:stCondLst>
                                  <p:childTnLst>
                                    <p:set>
                                      <p:cBhvr>
                                        <p:cTn id="117" dur="1" fill="hold">
                                          <p:stCondLst>
                                            <p:cond delay="0"/>
                                          </p:stCondLst>
                                        </p:cTn>
                                        <p:tgtEl>
                                          <p:spTgt spid="42"/>
                                        </p:tgtEl>
                                        <p:attrNameLst>
                                          <p:attrName>style.visibility</p:attrName>
                                        </p:attrNameLst>
                                      </p:cBhvr>
                                      <p:to>
                                        <p:strVal val="visible"/>
                                      </p:to>
                                    </p:set>
                                    <p:animEffect transition="in" filter="fade">
                                      <p:cBhvr>
                                        <p:cTn id="118" dur="500"/>
                                        <p:tgtEl>
                                          <p:spTgt spid="42"/>
                                        </p:tgtEl>
                                      </p:cBhvr>
                                    </p:animEffect>
                                  </p:childTnLst>
                                </p:cTn>
                              </p:par>
                              <p:par>
                                <p:cTn id="119" presetID="10" presetClass="entr" presetSubtype="0" fill="hold" grpId="0" nodeType="withEffect">
                                  <p:stCondLst>
                                    <p:cond delay="900"/>
                                  </p:stCondLst>
                                  <p:childTnLst>
                                    <p:set>
                                      <p:cBhvr>
                                        <p:cTn id="120" dur="1" fill="hold">
                                          <p:stCondLst>
                                            <p:cond delay="0"/>
                                          </p:stCondLst>
                                        </p:cTn>
                                        <p:tgtEl>
                                          <p:spTgt spid="43"/>
                                        </p:tgtEl>
                                        <p:attrNameLst>
                                          <p:attrName>style.visibility</p:attrName>
                                        </p:attrNameLst>
                                      </p:cBhvr>
                                      <p:to>
                                        <p:strVal val="visible"/>
                                      </p:to>
                                    </p:set>
                                    <p:animEffect transition="in" filter="fade">
                                      <p:cBhvr>
                                        <p:cTn id="121" dur="500"/>
                                        <p:tgtEl>
                                          <p:spTgt spid="43"/>
                                        </p:tgtEl>
                                      </p:cBhvr>
                                    </p:animEffect>
                                  </p:childTnLst>
                                </p:cTn>
                              </p:par>
                              <p:par>
                                <p:cTn id="122" presetID="10" presetClass="entr" presetSubtype="0" fill="hold" grpId="0" nodeType="withEffect">
                                  <p:stCondLst>
                                    <p:cond delay="900"/>
                                  </p:stCondLst>
                                  <p:childTnLst>
                                    <p:set>
                                      <p:cBhvr>
                                        <p:cTn id="123" dur="1" fill="hold">
                                          <p:stCondLst>
                                            <p:cond delay="0"/>
                                          </p:stCondLst>
                                        </p:cTn>
                                        <p:tgtEl>
                                          <p:spTgt spid="44"/>
                                        </p:tgtEl>
                                        <p:attrNameLst>
                                          <p:attrName>style.visibility</p:attrName>
                                        </p:attrNameLst>
                                      </p:cBhvr>
                                      <p:to>
                                        <p:strVal val="visible"/>
                                      </p:to>
                                    </p:set>
                                    <p:animEffect transition="in" filter="fade">
                                      <p:cBhvr>
                                        <p:cTn id="124" dur="500"/>
                                        <p:tgtEl>
                                          <p:spTgt spid="44"/>
                                        </p:tgtEl>
                                      </p:cBhvr>
                                    </p:animEffect>
                                  </p:childTnLst>
                                </p:cTn>
                              </p:par>
                              <p:par>
                                <p:cTn id="125" presetID="10" presetClass="entr" presetSubtype="0" fill="hold" grpId="0" nodeType="withEffect">
                                  <p:stCondLst>
                                    <p:cond delay="900"/>
                                  </p:stCondLst>
                                  <p:childTnLst>
                                    <p:set>
                                      <p:cBhvr>
                                        <p:cTn id="126" dur="1" fill="hold">
                                          <p:stCondLst>
                                            <p:cond delay="0"/>
                                          </p:stCondLst>
                                        </p:cTn>
                                        <p:tgtEl>
                                          <p:spTgt spid="45"/>
                                        </p:tgtEl>
                                        <p:attrNameLst>
                                          <p:attrName>style.visibility</p:attrName>
                                        </p:attrNameLst>
                                      </p:cBhvr>
                                      <p:to>
                                        <p:strVal val="visible"/>
                                      </p:to>
                                    </p:set>
                                    <p:animEffect transition="in" filter="fade">
                                      <p:cBhvr>
                                        <p:cTn id="127" dur="500"/>
                                        <p:tgtEl>
                                          <p:spTgt spid="45"/>
                                        </p:tgtEl>
                                      </p:cBhvr>
                                    </p:animEffect>
                                  </p:childTnLst>
                                </p:cTn>
                              </p:par>
                              <p:par>
                                <p:cTn id="128" presetID="10" presetClass="entr" presetSubtype="0" fill="hold" grpId="0" nodeType="withEffect">
                                  <p:stCondLst>
                                    <p:cond delay="900"/>
                                  </p:stCondLst>
                                  <p:childTnLst>
                                    <p:set>
                                      <p:cBhvr>
                                        <p:cTn id="129" dur="1" fill="hold">
                                          <p:stCondLst>
                                            <p:cond delay="0"/>
                                          </p:stCondLst>
                                        </p:cTn>
                                        <p:tgtEl>
                                          <p:spTgt spid="46"/>
                                        </p:tgtEl>
                                        <p:attrNameLst>
                                          <p:attrName>style.visibility</p:attrName>
                                        </p:attrNameLst>
                                      </p:cBhvr>
                                      <p:to>
                                        <p:strVal val="visible"/>
                                      </p:to>
                                    </p:set>
                                    <p:animEffect transition="in" filter="fade">
                                      <p:cBhvr>
                                        <p:cTn id="130" dur="500"/>
                                        <p:tgtEl>
                                          <p:spTgt spid="46"/>
                                        </p:tgtEl>
                                      </p:cBhvr>
                                    </p:animEffect>
                                  </p:childTnLst>
                                </p:cTn>
                              </p:par>
                              <p:par>
                                <p:cTn id="131" presetID="10" presetClass="entr" presetSubtype="0" fill="hold" grpId="0" nodeType="withEffect">
                                  <p:stCondLst>
                                    <p:cond delay="900"/>
                                  </p:stCondLst>
                                  <p:childTnLst>
                                    <p:set>
                                      <p:cBhvr>
                                        <p:cTn id="132" dur="1" fill="hold">
                                          <p:stCondLst>
                                            <p:cond delay="0"/>
                                          </p:stCondLst>
                                        </p:cTn>
                                        <p:tgtEl>
                                          <p:spTgt spid="47"/>
                                        </p:tgtEl>
                                        <p:attrNameLst>
                                          <p:attrName>style.visibility</p:attrName>
                                        </p:attrNameLst>
                                      </p:cBhvr>
                                      <p:to>
                                        <p:strVal val="visible"/>
                                      </p:to>
                                    </p:set>
                                    <p:animEffect transition="in" filter="fade">
                                      <p:cBhvr>
                                        <p:cTn id="133" dur="500"/>
                                        <p:tgtEl>
                                          <p:spTgt spid="47"/>
                                        </p:tgtEl>
                                      </p:cBhvr>
                                    </p:animEffect>
                                  </p:childTnLst>
                                </p:cTn>
                              </p:par>
                              <p:par>
                                <p:cTn id="134" presetID="10" presetClass="entr" presetSubtype="0" fill="hold" grpId="0" nodeType="withEffect">
                                  <p:stCondLst>
                                    <p:cond delay="900"/>
                                  </p:stCondLst>
                                  <p:childTnLst>
                                    <p:set>
                                      <p:cBhvr>
                                        <p:cTn id="135" dur="1" fill="hold">
                                          <p:stCondLst>
                                            <p:cond delay="0"/>
                                          </p:stCondLst>
                                        </p:cTn>
                                        <p:tgtEl>
                                          <p:spTgt spid="48"/>
                                        </p:tgtEl>
                                        <p:attrNameLst>
                                          <p:attrName>style.visibility</p:attrName>
                                        </p:attrNameLst>
                                      </p:cBhvr>
                                      <p:to>
                                        <p:strVal val="visible"/>
                                      </p:to>
                                    </p:set>
                                    <p:animEffect transition="in" filter="fade">
                                      <p:cBhvr>
                                        <p:cTn id="136" dur="500"/>
                                        <p:tgtEl>
                                          <p:spTgt spid="48"/>
                                        </p:tgtEl>
                                      </p:cBhvr>
                                    </p:animEffect>
                                  </p:childTnLst>
                                </p:cTn>
                              </p:par>
                              <p:par>
                                <p:cTn id="137" presetID="10" presetClass="entr" presetSubtype="0" fill="hold" grpId="0" nodeType="withEffect">
                                  <p:stCondLst>
                                    <p:cond delay="900"/>
                                  </p:stCondLst>
                                  <p:childTnLst>
                                    <p:set>
                                      <p:cBhvr>
                                        <p:cTn id="138" dur="1" fill="hold">
                                          <p:stCondLst>
                                            <p:cond delay="0"/>
                                          </p:stCondLst>
                                        </p:cTn>
                                        <p:tgtEl>
                                          <p:spTgt spid="49"/>
                                        </p:tgtEl>
                                        <p:attrNameLst>
                                          <p:attrName>style.visibility</p:attrName>
                                        </p:attrNameLst>
                                      </p:cBhvr>
                                      <p:to>
                                        <p:strVal val="visible"/>
                                      </p:to>
                                    </p:set>
                                    <p:animEffect transition="in" filter="fade">
                                      <p:cBhvr>
                                        <p:cTn id="139" dur="500"/>
                                        <p:tgtEl>
                                          <p:spTgt spid="49"/>
                                        </p:tgtEl>
                                      </p:cBhvr>
                                    </p:animEffect>
                                  </p:childTnLst>
                                </p:cTn>
                              </p:par>
                              <p:par>
                                <p:cTn id="140" presetID="10" presetClass="entr" presetSubtype="0" fill="hold" grpId="0" nodeType="withEffect">
                                  <p:stCondLst>
                                    <p:cond delay="1080"/>
                                  </p:stCondLst>
                                  <p:childTnLst>
                                    <p:set>
                                      <p:cBhvr>
                                        <p:cTn id="141" dur="1" fill="hold">
                                          <p:stCondLst>
                                            <p:cond delay="0"/>
                                          </p:stCondLst>
                                        </p:cTn>
                                        <p:tgtEl>
                                          <p:spTgt spid="50"/>
                                        </p:tgtEl>
                                        <p:attrNameLst>
                                          <p:attrName>style.visibility</p:attrName>
                                        </p:attrNameLst>
                                      </p:cBhvr>
                                      <p:to>
                                        <p:strVal val="visible"/>
                                      </p:to>
                                    </p:set>
                                    <p:animEffect transition="in" filter="fade">
                                      <p:cBhvr>
                                        <p:cTn id="142" dur="500"/>
                                        <p:tgtEl>
                                          <p:spTgt spid="50"/>
                                        </p:tgtEl>
                                      </p:cBhvr>
                                    </p:animEffect>
                                  </p:childTnLst>
                                </p:cTn>
                              </p:par>
                              <p:par>
                                <p:cTn id="143" presetID="10" presetClass="entr" presetSubtype="0" fill="hold" grpId="0" nodeType="withEffect">
                                  <p:stCondLst>
                                    <p:cond delay="1080"/>
                                  </p:stCondLst>
                                  <p:childTnLst>
                                    <p:set>
                                      <p:cBhvr>
                                        <p:cTn id="144" dur="1" fill="hold">
                                          <p:stCondLst>
                                            <p:cond delay="0"/>
                                          </p:stCondLst>
                                        </p:cTn>
                                        <p:tgtEl>
                                          <p:spTgt spid="51"/>
                                        </p:tgtEl>
                                        <p:attrNameLst>
                                          <p:attrName>style.visibility</p:attrName>
                                        </p:attrNameLst>
                                      </p:cBhvr>
                                      <p:to>
                                        <p:strVal val="visible"/>
                                      </p:to>
                                    </p:set>
                                    <p:animEffect transition="in" filter="fade">
                                      <p:cBhvr>
                                        <p:cTn id="145" dur="500"/>
                                        <p:tgtEl>
                                          <p:spTgt spid="51"/>
                                        </p:tgtEl>
                                      </p:cBhvr>
                                    </p:animEffect>
                                  </p:childTnLst>
                                </p:cTn>
                              </p:par>
                              <p:par>
                                <p:cTn id="146" presetID="10" presetClass="entr" presetSubtype="0" fill="hold" grpId="0" nodeType="withEffect">
                                  <p:stCondLst>
                                    <p:cond delay="1080"/>
                                  </p:stCondLst>
                                  <p:childTnLst>
                                    <p:set>
                                      <p:cBhvr>
                                        <p:cTn id="147" dur="1" fill="hold">
                                          <p:stCondLst>
                                            <p:cond delay="0"/>
                                          </p:stCondLst>
                                        </p:cTn>
                                        <p:tgtEl>
                                          <p:spTgt spid="52"/>
                                        </p:tgtEl>
                                        <p:attrNameLst>
                                          <p:attrName>style.visibility</p:attrName>
                                        </p:attrNameLst>
                                      </p:cBhvr>
                                      <p:to>
                                        <p:strVal val="visible"/>
                                      </p:to>
                                    </p:set>
                                    <p:animEffect transition="in" filter="fade">
                                      <p:cBhvr>
                                        <p:cTn id="148" dur="500"/>
                                        <p:tgtEl>
                                          <p:spTgt spid="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P spid="44" grpId="0" animBg="1"/>
      <p:bldP spid="46" grpId="0" animBg="1"/>
      <p:bldP spid="47" grpId="0" animBg="1"/>
      <p:bldP spid="48" grpId="0" animBg="1"/>
      <p:bldP spid="49" grpId="0" animBg="1"/>
      <p:bldP spid="50" grpId="0" animBg="1"/>
      <p:bldP spid="51" grpId="0" animBg="1"/>
      <p:bldP spid="52"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pic>
        <p:nvPicPr>
          <p:cNvPr id="2" name="anim-1-1" descr="/tmp/claude-0/-home-user-hosting/7c832a48-0979-56aa-9fdf-7d53efb9dc7a/scratchpad/build/img/chev-grad.png">    </p:cNvPr>
          <p:cNvPicPr>
            <a:picLocks noChangeAspect="1"/>
          </p:cNvPicPr>
          <p:nvPr/>
        </p:nvPicPr>
        <p:blipFill>
          <a:blip r:embed="rId1"/>
          <a:stretch>
            <a:fillRect/>
          </a:stretch>
        </p:blipFill>
        <p:spPr>
          <a:xfrm>
            <a:off x="-3048000" y="-1536700"/>
            <a:ext cx="6235700" cy="9937750"/>
          </a:xfrm>
          <a:prstGeom prst="rect">
            <a:avLst/>
          </a:prstGeom>
        </p:spPr>
      </p:pic>
      <p:pic>
        <p:nvPicPr>
          <p:cNvPr id="3" name="anim-1-2" descr="/tmp/claude-0/-home-user-hosting/7c832a48-0979-56aa-9fdf-7d53efb9dc7a/scratchpad/build/img/chev-grad.png">    </p:cNvPr>
          <p:cNvPicPr>
            <a:picLocks noChangeAspect="1"/>
          </p:cNvPicPr>
          <p:nvPr/>
        </p:nvPicPr>
        <p:blipFill>
          <a:blip r:embed="rId2">
            <a:alphaModFix amt="10000"/>
          </a:blip>
          <a:stretch>
            <a:fillRect/>
          </a:stretch>
        </p:blipFill>
        <p:spPr>
          <a:xfrm>
            <a:off x="-196850" y="-1536700"/>
            <a:ext cx="6235700" cy="9937750"/>
          </a:xfrm>
          <a:prstGeom prst="rect">
            <a:avLst/>
          </a:prstGeom>
        </p:spPr>
      </p:pic>
      <p:pic>
        <p:nvPicPr>
          <p:cNvPr id="4" name="anim-1-3" descr="/tmp/claude-0/-home-user-hosting/7c832a48-0979-56aa-9fdf-7d53efb9dc7a/scratchpad/build/img/chev-surf.png">    </p:cNvPr>
          <p:cNvPicPr>
            <a:picLocks noChangeAspect="1"/>
          </p:cNvPicPr>
          <p:nvPr/>
        </p:nvPicPr>
        <p:blipFill>
          <a:blip r:embed="rId3"/>
          <a:stretch>
            <a:fillRect/>
          </a:stretch>
        </p:blipFill>
        <p:spPr>
          <a:xfrm>
            <a:off x="2660650" y="-1536700"/>
            <a:ext cx="6235700" cy="9937750"/>
          </a:xfrm>
          <a:prstGeom prst="rect">
            <a:avLst/>
          </a:prstGeom>
        </p:spPr>
      </p:pic>
      <p:pic>
        <p:nvPicPr>
          <p:cNvPr id="5" name="anim-1-4" descr="/tmp/claude-0/-home-user-hosting/7c832a48-0979-56aa-9fdf-7d53efb9dc7a/scratchpad/build/img/chev-surf.png">    </p:cNvPr>
          <p:cNvPicPr>
            <a:picLocks noChangeAspect="1"/>
          </p:cNvPicPr>
          <p:nvPr/>
        </p:nvPicPr>
        <p:blipFill>
          <a:blip r:embed="rId4"/>
          <a:stretch>
            <a:fillRect/>
          </a:stretch>
        </p:blipFill>
        <p:spPr>
          <a:xfrm>
            <a:off x="5518150" y="-1536700"/>
            <a:ext cx="6235700" cy="9937750"/>
          </a:xfrm>
          <a:prstGeom prst="rect">
            <a:avLst/>
          </a:prstGeom>
        </p:spPr>
      </p:pic>
      <p:sp>
        <p:nvSpPr>
          <p:cNvPr id="6" name="anim-2-5"/>
          <p:cNvSpPr/>
          <p:nvPr/>
        </p:nvSpPr>
        <p:spPr>
          <a:xfrm>
            <a:off x="2292350" y="2717800"/>
            <a:ext cx="7607300" cy="1428750"/>
          </a:xfrm>
          <a:prstGeom prst="rect">
            <a:avLst/>
          </a:prstGeom>
          <a:solidFill>
            <a:srgbClr val="FFFFFF"/>
          </a:solidFill>
          <a:ln/>
        </p:spPr>
      </p:sp>
      <p:pic>
        <p:nvPicPr>
          <p:cNvPr id="7" name="anim-2-6" descr="/tmp/claude-0/-home-user-hosting/7c832a48-0979-56aa-9fdf-7d53efb9dc7a/scratchpad/build/img/pointer.png">    </p:cNvPr>
          <p:cNvPicPr>
            <a:picLocks noChangeAspect="1"/>
          </p:cNvPicPr>
          <p:nvPr/>
        </p:nvPicPr>
        <p:blipFill>
          <a:blip r:embed="rId5"/>
          <a:stretch>
            <a:fillRect/>
          </a:stretch>
        </p:blipFill>
        <p:spPr>
          <a:xfrm>
            <a:off x="5537200" y="2806700"/>
            <a:ext cx="107274" cy="215900"/>
          </a:xfrm>
          <a:prstGeom prst="rect">
            <a:avLst/>
          </a:prstGeom>
        </p:spPr>
      </p:pic>
      <p:sp>
        <p:nvSpPr>
          <p:cNvPr id="8" name="anim-2-7"/>
          <p:cNvSpPr txBox="1"/>
          <p:nvPr/>
        </p:nvSpPr>
        <p:spPr>
          <a:xfrm>
            <a:off x="5721350" y="2819400"/>
            <a:ext cx="1187450" cy="209550"/>
          </a:xfrm>
          <a:prstGeom prst="rect">
            <a:avLst/>
          </a:prstGeom>
          <a:noFill/>
          <a:ln/>
        </p:spPr>
        <p:txBody>
          <a:bodyPr wrap="square" lIns="0" tIns="0" rIns="0" bIns="0" rtlCol="0" anchor="t"/>
          <a:lstStyle/>
          <a:p>
            <a:pPr algn="l" indent="0" marL="0">
              <a:lnSpc>
                <a:spcPct val="112000"/>
              </a:lnSpc>
              <a:buNone/>
            </a:pPr>
            <a:r>
              <a:rPr lang="en-US" sz="1300" b="1" spc="400" kern="0" dirty="0">
                <a:solidFill>
                  <a:srgbClr val="194EFF"/>
                </a:solidFill>
                <a:latin typeface="Plus Jakarta Sans" pitchFamily="34" charset="0"/>
                <a:ea typeface="Plus Jakarta Sans" pitchFamily="34" charset="-122"/>
                <a:cs typeface="Plus Jakarta Sans" pitchFamily="34" charset="-120"/>
              </a:rPr>
              <a:t>PART 02</a:t>
            </a:r>
            <a:endParaRPr lang="en-US" sz="1300" dirty="0"/>
          </a:p>
        </p:txBody>
      </p:sp>
      <p:sp>
        <p:nvSpPr>
          <p:cNvPr id="9" name="anim-2-8"/>
          <p:cNvSpPr txBox="1"/>
          <p:nvPr/>
        </p:nvSpPr>
        <p:spPr>
          <a:xfrm>
            <a:off x="2393950" y="3175000"/>
            <a:ext cx="7404100" cy="635000"/>
          </a:xfrm>
          <a:prstGeom prst="rect">
            <a:avLst/>
          </a:prstGeom>
          <a:noFill/>
          <a:ln/>
        </p:spPr>
        <p:txBody>
          <a:bodyPr wrap="square" lIns="0" tIns="0" rIns="0" bIns="0" rtlCol="0" anchor="ctr"/>
          <a:lstStyle/>
          <a:p>
            <a:pPr algn="ctr" indent="0" marL="0">
              <a:lnSpc>
                <a:spcPct val="112000"/>
              </a:lnSpc>
              <a:buNone/>
            </a:pPr>
            <a:r>
              <a:rPr lang="en-US" sz="4000" b="1" dirty="0">
                <a:solidFill>
                  <a:srgbClr val="13151C"/>
                </a:solidFill>
                <a:latin typeface="Plus Jakarta Sans" pitchFamily="34" charset="0"/>
                <a:ea typeface="Plus Jakarta Sans" pitchFamily="34" charset="-122"/>
                <a:cs typeface="Plus Jakarta Sans" pitchFamily="34" charset="-120"/>
              </a:rPr>
              <a:t>COMMERCIALS &amp; REWARDS</a:t>
            </a:r>
            <a:endParaRPr lang="en-US" sz="4000" dirty="0"/>
          </a:p>
        </p:txBody>
      </p:sp>
      <p:sp>
        <p:nvSpPr>
          <p:cNvPr id="10" name="anim-2-9"/>
          <p:cNvSpPr/>
          <p:nvPr/>
        </p:nvSpPr>
        <p:spPr>
          <a:xfrm>
            <a:off x="5410200" y="3994150"/>
            <a:ext cx="1371600" cy="50800"/>
          </a:xfrm>
          <a:prstGeom prst="roundRect">
            <a:avLst>
              <a:gd name="adj" fmla="val 37500"/>
            </a:avLst>
          </a:prstGeom>
          <a:solidFill>
            <a:srgbClr val="194EFF"/>
          </a:solidFill>
          <a:ln/>
        </p:spPr>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500"/>
                                        <p:tgtEl>
                                          <p:spTgt spid="3"/>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4"/>
                                        </p:tgtEl>
                                        <p:attrNameLst>
                                          <p:attrName>style.visibility</p:attrName>
                                        </p:attrNameLst>
                                      </p:cBhvr>
                                      <p:to>
                                        <p:strVal val="visible"/>
                                      </p:to>
                                    </p:set>
                                    <p:animEffect transition="in" filter="fade">
                                      <p:cBhvr>
                                        <p:cTn id="13" dur="500"/>
                                        <p:tgtEl>
                                          <p:spTgt spid="4"/>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5"/>
                                        </p:tgtEl>
                                        <p:attrNameLst>
                                          <p:attrName>style.visibility</p:attrName>
                                        </p:attrNameLst>
                                      </p:cBhvr>
                                      <p:to>
                                        <p:strVal val="visible"/>
                                      </p:to>
                                    </p:set>
                                    <p:animEffect transition="in" filter="fade">
                                      <p:cBhvr>
                                        <p:cTn id="16" dur="500"/>
                                        <p:tgtEl>
                                          <p:spTgt spid="5"/>
                                        </p:tgtEl>
                                      </p:cBhvr>
                                    </p:animEffect>
                                  </p:childTnLst>
                                </p:cTn>
                              </p:par>
                              <p:par>
                                <p:cTn id="17" presetID="10" presetClass="entr" presetSubtype="0" fill="hold" grpId="0" nodeType="withEffect">
                                  <p:stCondLst>
                                    <p:cond delay="180"/>
                                  </p:stCondLst>
                                  <p:childTnLst>
                                    <p:set>
                                      <p:cBhvr>
                                        <p:cTn id="18" dur="1" fill="hold">
                                          <p:stCondLst>
                                            <p:cond delay="0"/>
                                          </p:stCondLst>
                                        </p:cTn>
                                        <p:tgtEl>
                                          <p:spTgt spid="6"/>
                                        </p:tgtEl>
                                        <p:attrNameLst>
                                          <p:attrName>style.visibility</p:attrName>
                                        </p:attrNameLst>
                                      </p:cBhvr>
                                      <p:to>
                                        <p:strVal val="visible"/>
                                      </p:to>
                                    </p:set>
                                    <p:animEffect transition="in" filter="fade">
                                      <p:cBhvr>
                                        <p:cTn id="19" dur="500"/>
                                        <p:tgtEl>
                                          <p:spTgt spid="6"/>
                                        </p:tgtEl>
                                      </p:cBhvr>
                                    </p:animEffect>
                                  </p:childTnLst>
                                </p:cTn>
                              </p:par>
                              <p:par>
                                <p:cTn id="20" presetID="10" presetClass="entr" presetSubtype="0" fill="hold" grpId="0" nodeType="withEffect">
                                  <p:stCondLst>
                                    <p:cond delay="180"/>
                                  </p:stCondLst>
                                  <p:childTnLst>
                                    <p:set>
                                      <p:cBhvr>
                                        <p:cTn id="21" dur="1" fill="hold">
                                          <p:stCondLst>
                                            <p:cond delay="0"/>
                                          </p:stCondLst>
                                        </p:cTn>
                                        <p:tgtEl>
                                          <p:spTgt spid="7"/>
                                        </p:tgtEl>
                                        <p:attrNameLst>
                                          <p:attrName>style.visibility</p:attrName>
                                        </p:attrNameLst>
                                      </p:cBhvr>
                                      <p:to>
                                        <p:strVal val="visible"/>
                                      </p:to>
                                    </p:set>
                                    <p:animEffect transition="in" filter="fade">
                                      <p:cBhvr>
                                        <p:cTn id="22" dur="500"/>
                                        <p:tgtEl>
                                          <p:spTgt spid="7"/>
                                        </p:tgtEl>
                                      </p:cBhvr>
                                    </p:animEffect>
                                  </p:childTnLst>
                                </p:cTn>
                              </p:par>
                              <p:par>
                                <p:cTn id="23" presetID="10" presetClass="entr" presetSubtype="0" fill="hold" grpId="0" nodeType="withEffect">
                                  <p:stCondLst>
                                    <p:cond delay="180"/>
                                  </p:stCondLst>
                                  <p:childTnLst>
                                    <p:set>
                                      <p:cBhvr>
                                        <p:cTn id="24" dur="1" fill="hold">
                                          <p:stCondLst>
                                            <p:cond delay="0"/>
                                          </p:stCondLst>
                                        </p:cTn>
                                        <p:tgtEl>
                                          <p:spTgt spid="8"/>
                                        </p:tgtEl>
                                        <p:attrNameLst>
                                          <p:attrName>style.visibility</p:attrName>
                                        </p:attrNameLst>
                                      </p:cBhvr>
                                      <p:to>
                                        <p:strVal val="visible"/>
                                      </p:to>
                                    </p:set>
                                    <p:animEffect transition="in" filter="fade">
                                      <p:cBhvr>
                                        <p:cTn id="25" dur="500"/>
                                        <p:tgtEl>
                                          <p:spTgt spid="8"/>
                                        </p:tgtEl>
                                      </p:cBhvr>
                                    </p:animEffect>
                                  </p:childTnLst>
                                </p:cTn>
                              </p:par>
                              <p:par>
                                <p:cTn id="26" presetID="10" presetClass="entr" presetSubtype="0" fill="hold" grpId="0" nodeType="withEffect">
                                  <p:stCondLst>
                                    <p:cond delay="180"/>
                                  </p:stCondLst>
                                  <p:childTnLst>
                                    <p:set>
                                      <p:cBhvr>
                                        <p:cTn id="27" dur="1" fill="hold">
                                          <p:stCondLst>
                                            <p:cond delay="0"/>
                                          </p:stCondLst>
                                        </p:cTn>
                                        <p:tgtEl>
                                          <p:spTgt spid="9"/>
                                        </p:tgtEl>
                                        <p:attrNameLst>
                                          <p:attrName>style.visibility</p:attrName>
                                        </p:attrNameLst>
                                      </p:cBhvr>
                                      <p:to>
                                        <p:strVal val="visible"/>
                                      </p:to>
                                    </p:set>
                                    <p:animEffect transition="in" filter="fade">
                                      <p:cBhvr>
                                        <p:cTn id="28" dur="500"/>
                                        <p:tgtEl>
                                          <p:spTgt spid="9"/>
                                        </p:tgtEl>
                                      </p:cBhvr>
                                    </p:animEffect>
                                  </p:childTnLst>
                                </p:cTn>
                              </p:par>
                              <p:par>
                                <p:cTn id="29" presetID="10" presetClass="entr" presetSubtype="0" fill="hold" grpId="0" nodeType="withEffect">
                                  <p:stCondLst>
                                    <p:cond delay="180"/>
                                  </p:stCondLst>
                                  <p:childTnLst>
                                    <p:set>
                                      <p:cBhvr>
                                        <p:cTn id="30" dur="1" fill="hold">
                                          <p:stCondLst>
                                            <p:cond delay="0"/>
                                          </p:stCondLst>
                                        </p:cTn>
                                        <p:tgtEl>
                                          <p:spTgt spid="10"/>
                                        </p:tgtEl>
                                        <p:attrNameLst>
                                          <p:attrName>style.visibility</p:attrName>
                                        </p:attrNameLst>
                                      </p:cBhvr>
                                      <p:to>
                                        <p:strVal val="visible"/>
                                      </p:to>
                                    </p:set>
                                    <p:animEffect transition="in" filter="fade">
                                      <p:cBhvr>
                                        <p:cTn id="31"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8" grpId="0" animBg="1"/>
      <p:bldP spid="9" grpId="0" animBg="1"/>
      <p:bldP spid="10"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pic>
        <p:nvPicPr>
          <p:cNvPr id="2" name="anim-1-1" descr="/tmp/claude-0/-home-user-hosting/7c832a48-0979-56aa-9fdf-7d53efb9dc7a/scratchpad/build/img/pointer.png">    </p:cNvPr>
          <p:cNvPicPr>
            <a:picLocks noChangeAspect="1"/>
          </p:cNvPicPr>
          <p:nvPr/>
        </p:nvPicPr>
        <p:blipFill>
          <a:blip r:embed="rId1"/>
          <a:stretch>
            <a:fillRect/>
          </a:stretch>
        </p:blipFill>
        <p:spPr>
          <a:xfrm>
            <a:off x="304800" y="241300"/>
            <a:ext cx="107274" cy="215900"/>
          </a:xfrm>
          <a:prstGeom prst="rect">
            <a:avLst/>
          </a:prstGeom>
        </p:spPr>
      </p:pic>
      <p:sp>
        <p:nvSpPr>
          <p:cNvPr id="3" name="anim-1-2"/>
          <p:cNvSpPr txBox="1"/>
          <p:nvPr/>
        </p:nvSpPr>
        <p:spPr>
          <a:xfrm>
            <a:off x="482600" y="254000"/>
            <a:ext cx="10160000" cy="215900"/>
          </a:xfrm>
          <a:prstGeom prst="rect">
            <a:avLst/>
          </a:prstGeom>
          <a:noFill/>
          <a:ln/>
        </p:spPr>
        <p:txBody>
          <a:bodyPr wrap="square" lIns="0" tIns="0" rIns="0" bIns="0" rtlCol="0" anchor="t"/>
          <a:lstStyle/>
          <a:p>
            <a:pPr algn="l" indent="0" marL="0">
              <a:lnSpc>
                <a:spcPct val="112000"/>
              </a:lnSpc>
              <a:buNone/>
            </a:pPr>
            <a:r>
              <a:rPr lang="en-US" sz="1200" b="1" spc="100" kern="0" dirty="0">
                <a:solidFill>
                  <a:srgbClr val="194EFF"/>
                </a:solidFill>
                <a:latin typeface="Plus Jakarta Sans" pitchFamily="34" charset="0"/>
                <a:ea typeface="Plus Jakarta Sans" pitchFamily="34" charset="-122"/>
                <a:cs typeface="Plus Jakarta Sans" pitchFamily="34" charset="-120"/>
              </a:rPr>
              <a:t>BENEFITS MATRIX</a:t>
            </a:r>
            <a:endParaRPr lang="en-US" sz="1200" dirty="0"/>
          </a:p>
        </p:txBody>
      </p:sp>
      <p:sp>
        <p:nvSpPr>
          <p:cNvPr id="4" name="anim-1-3"/>
          <p:cNvSpPr txBox="1"/>
          <p:nvPr/>
        </p:nvSpPr>
        <p:spPr>
          <a:xfrm>
            <a:off x="304800" y="546100"/>
            <a:ext cx="11582400" cy="406400"/>
          </a:xfrm>
          <a:prstGeom prst="rect">
            <a:avLst/>
          </a:prstGeom>
          <a:noFill/>
          <a:ln/>
        </p:spPr>
        <p:txBody>
          <a:bodyPr wrap="square" lIns="0" tIns="0" rIns="0" bIns="0" rtlCol="0" anchor="ctr"/>
          <a:lstStyle/>
          <a:p>
            <a:pPr algn="l" indent="0" marL="0">
              <a:lnSpc>
                <a:spcPct val="112000"/>
              </a:lnSpc>
              <a:buNone/>
            </a:pPr>
            <a:r>
              <a:rPr lang="en-US" sz="2000" b="1" dirty="0">
                <a:solidFill>
                  <a:srgbClr val="13151C"/>
                </a:solidFill>
                <a:latin typeface="Plus Jakarta Sans" pitchFamily="34" charset="0"/>
                <a:ea typeface="Plus Jakarta Sans" pitchFamily="34" charset="-122"/>
                <a:cs typeface="Plus Jakarta Sans" pitchFamily="34" charset="-120"/>
              </a:rPr>
              <a:t>Everything you unlock, </a:t>
            </a:r>
            <a:pPr algn="l" indent="0" marL="0">
              <a:lnSpc>
                <a:spcPct val="112000"/>
              </a:lnSpc>
              <a:buNone/>
            </a:pPr>
            <a:r>
              <a:rPr lang="en-US" sz="2000" b="1" dirty="0">
                <a:solidFill>
                  <a:srgbClr val="194EFF"/>
                </a:solidFill>
                <a:latin typeface="Plus Jakarta Sans" pitchFamily="34" charset="0"/>
                <a:ea typeface="Plus Jakarta Sans" pitchFamily="34" charset="-122"/>
                <a:cs typeface="Plus Jakarta Sans" pitchFamily="34" charset="-120"/>
              </a:rPr>
              <a:t>level by level</a:t>
            </a:r>
            <a:endParaRPr lang="en-US" sz="2000" dirty="0"/>
          </a:p>
        </p:txBody>
      </p:sp>
      <p:sp>
        <p:nvSpPr>
          <p:cNvPr id="5" name="anim-1-4"/>
          <p:cNvSpPr/>
          <p:nvPr/>
        </p:nvSpPr>
        <p:spPr>
          <a:xfrm>
            <a:off x="0" y="1244600"/>
            <a:ext cx="12192000" cy="6350"/>
          </a:xfrm>
          <a:prstGeom prst="rect">
            <a:avLst/>
          </a:prstGeom>
          <a:solidFill>
            <a:srgbClr val="CDD0D9"/>
          </a:solidFill>
          <a:ln/>
        </p:spPr>
      </p:sp>
      <p:graphicFrame>
        <p:nvGraphicFramePr>
          <p:cNvPr id="10" name="anim-2-5"/>
          <p:cNvGraphicFramePr>
            <a:graphicFrameLocks noGrp="1"/>
          </p:cNvGraphicFramePr>
          <p:nvPr>
            <p:extLst>
              <p:ext uri="{D42A27DB-BD31-4B8C-83A1-F6EECF244321}">
                <p14:modId xmlns:p14="http://schemas.microsoft.com/office/powerpoint/2010/main" val="1579011935"/>
              </p:ext>
            </p:extLst>
          </p:nvPr>
        </p:nvGraphicFramePr>
        <p:xfrm>
          <a:off x="304800" y="1409700"/>
          <a:ext cx="11582400" cy="914400"/>
        </p:xfrm>
        <a:graphic>
          <a:graphicData uri="http://schemas.openxmlformats.org/drawingml/2006/table">
            <a:tbl>
              <a:tblPr/>
              <a:tblGrid>
                <a:gridCol w="3200400"/>
                <a:gridCol w="1676400"/>
                <a:gridCol w="1676400"/>
                <a:gridCol w="1676400"/>
                <a:gridCol w="1676400"/>
                <a:gridCol w="1676400"/>
              </a:tblGrid>
              <a:tr h="330200">
                <a:tc>
                  <a:txBody>
                    <a:bodyPr/>
                    <a:lstStyle/>
                    <a:p>
                      <a:pPr algn="l" indent="0" marL="0">
                        <a:buNone/>
                      </a:pPr>
                      <a:r>
                        <a:rPr lang="en-US" sz="850" dirty="0">
                          <a:solidFill>
                            <a:srgbClr val="194EFF"/>
                          </a:solidFill>
                          <a:latin typeface="Plus Jakarta Sans SemiBold" pitchFamily="34" charset="0"/>
                          <a:ea typeface="Plus Jakarta Sans SemiBold" pitchFamily="34" charset="-122"/>
                          <a:cs typeface="Plus Jakarta Sans SemiBold" pitchFamily="34" charset="-120"/>
                        </a:rPr>
                        <a:t>Benefit / requirement</a:t>
                      </a:r>
                      <a:endParaRPr lang="en-US" sz="850" dirty="0">
                        <a:latin typeface="Plus Jakarta Sans SemiBold" charset="0"/>
                        <a:ea typeface="Plus Jakarta Sans SemiBold" charset="0"/>
                        <a:cs typeface="Plus Jakarta Sans SemiBold" charset="0"/>
                      </a:endParaRPr>
                    </a:p>
                  </a:txBody>
                  <a:tcPr marL="101600" marR="101600" marT="38100" marB="38100" anchor="ctr">
                    <a:lnL w="0" cap="flat" cmpd="sng" algn="ctr">
                      <a:noFill/>
                    </a:lnL>
                    <a:lnR w="0" cap="flat" cmpd="sng" algn="ctr">
                      <a:noFill/>
                    </a:lnR>
                    <a:lnT w="9525" cap="flat" cmpd="sng" algn="ctr">
                      <a:solidFill>
                        <a:srgbClr val="CDD0D9"/>
                      </a:solidFill>
                      <a:prstDash val="solid"/>
                      <a:round/>
                      <a:headEnd type="none" w="med" len="med"/>
                      <a:tailEnd type="none" w="med" len="med"/>
                    </a:lnT>
                    <a:lnB w="9525" cap="flat" cmpd="sng" algn="ctr">
                      <a:solidFill>
                        <a:srgbClr val="CDD0D9"/>
                      </a:solidFill>
                      <a:prstDash val="solid"/>
                      <a:round/>
                      <a:headEnd type="none" w="med" len="med"/>
                      <a:tailEnd type="none" w="med" len="med"/>
                    </a:lnB>
                    <a:solidFill>
                      <a:srgbClr val="EDF1FF"/>
                    </a:solidFill>
                  </a:tcPr>
                </a:tc>
                <a:tc>
                  <a:txBody>
                    <a:bodyPr/>
                    <a:lstStyle/>
                    <a:p>
                      <a:pPr algn="ctr" indent="0" marL="0">
                        <a:buNone/>
                      </a:pPr>
                      <a:r>
                        <a:rPr lang="en-US" sz="850" dirty="0">
                          <a:solidFill>
                            <a:srgbClr val="194EFF"/>
                          </a:solidFill>
                          <a:latin typeface="Plus Jakarta Sans SemiBold" pitchFamily="34" charset="0"/>
                          <a:ea typeface="Plus Jakarta Sans SemiBold" pitchFamily="34" charset="-122"/>
                          <a:cs typeface="Plus Jakarta Sans SemiBold" pitchFamily="34" charset="-120"/>
                        </a:rPr>
                        <a:t>Registered</a:t>
                      </a:r>
                      <a:endParaRPr lang="en-US" sz="850" dirty="0">
                        <a:latin typeface="Plus Jakarta Sans SemiBold" charset="0"/>
                        <a:ea typeface="Plus Jakarta Sans SemiBold" charset="0"/>
                        <a:cs typeface="Plus Jakarta Sans SemiBold" charset="0"/>
                      </a:endParaRPr>
                    </a:p>
                  </a:txBody>
                  <a:tcPr marL="101600" marR="101600" marT="38100" marB="38100" anchor="ctr">
                    <a:lnL w="0" cap="flat" cmpd="sng" algn="ctr">
                      <a:noFill/>
                    </a:lnL>
                    <a:lnR w="0" cap="flat" cmpd="sng" algn="ctr">
                      <a:noFill/>
                    </a:lnR>
                    <a:lnT w="9525" cap="flat" cmpd="sng" algn="ctr">
                      <a:solidFill>
                        <a:srgbClr val="CDD0D9"/>
                      </a:solidFill>
                      <a:prstDash val="solid"/>
                      <a:round/>
                      <a:headEnd type="none" w="med" len="med"/>
                      <a:tailEnd type="none" w="med" len="med"/>
                    </a:lnT>
                    <a:lnB w="9525" cap="flat" cmpd="sng" algn="ctr">
                      <a:solidFill>
                        <a:srgbClr val="CDD0D9"/>
                      </a:solidFill>
                      <a:prstDash val="solid"/>
                      <a:round/>
                      <a:headEnd type="none" w="med" len="med"/>
                      <a:tailEnd type="none" w="med" len="med"/>
                    </a:lnB>
                    <a:solidFill>
                      <a:srgbClr val="EDF1FF"/>
                    </a:solidFill>
                  </a:tcPr>
                </a:tc>
                <a:tc>
                  <a:txBody>
                    <a:bodyPr/>
                    <a:lstStyle/>
                    <a:p>
                      <a:pPr algn="ctr" indent="0" marL="0">
                        <a:buNone/>
                      </a:pPr>
                      <a:r>
                        <a:rPr lang="en-US" sz="850" dirty="0">
                          <a:solidFill>
                            <a:srgbClr val="194EFF"/>
                          </a:solidFill>
                          <a:latin typeface="Plus Jakarta Sans SemiBold" pitchFamily="34" charset="0"/>
                          <a:ea typeface="Plus Jakarta Sans SemiBold" pitchFamily="34" charset="-122"/>
                          <a:cs typeface="Plus Jakarta Sans SemiBold" pitchFamily="34" charset="-120"/>
                        </a:rPr>
                        <a:t>Silver</a:t>
                      </a:r>
                      <a:endParaRPr lang="en-US" sz="850" dirty="0">
                        <a:latin typeface="Plus Jakarta Sans SemiBold" charset="0"/>
                        <a:ea typeface="Plus Jakarta Sans SemiBold" charset="0"/>
                        <a:cs typeface="Plus Jakarta Sans SemiBold" charset="0"/>
                      </a:endParaRPr>
                    </a:p>
                  </a:txBody>
                  <a:tcPr marL="101600" marR="101600" marT="38100" marB="38100" anchor="ctr">
                    <a:lnL w="0" cap="flat" cmpd="sng" algn="ctr">
                      <a:noFill/>
                    </a:lnL>
                    <a:lnR w="0" cap="flat" cmpd="sng" algn="ctr">
                      <a:noFill/>
                    </a:lnR>
                    <a:lnT w="9525" cap="flat" cmpd="sng" algn="ctr">
                      <a:solidFill>
                        <a:srgbClr val="CDD0D9"/>
                      </a:solidFill>
                      <a:prstDash val="solid"/>
                      <a:round/>
                      <a:headEnd type="none" w="med" len="med"/>
                      <a:tailEnd type="none" w="med" len="med"/>
                    </a:lnT>
                    <a:lnB w="9525" cap="flat" cmpd="sng" algn="ctr">
                      <a:solidFill>
                        <a:srgbClr val="CDD0D9"/>
                      </a:solidFill>
                      <a:prstDash val="solid"/>
                      <a:round/>
                      <a:headEnd type="none" w="med" len="med"/>
                      <a:tailEnd type="none" w="med" len="med"/>
                    </a:lnB>
                    <a:solidFill>
                      <a:srgbClr val="EDF1FF"/>
                    </a:solidFill>
                  </a:tcPr>
                </a:tc>
                <a:tc>
                  <a:txBody>
                    <a:bodyPr/>
                    <a:lstStyle/>
                    <a:p>
                      <a:pPr algn="ctr" indent="0" marL="0">
                        <a:buNone/>
                      </a:pPr>
                      <a:r>
                        <a:rPr lang="en-US" sz="850" dirty="0">
                          <a:solidFill>
                            <a:srgbClr val="194EFF"/>
                          </a:solidFill>
                          <a:latin typeface="Plus Jakarta Sans SemiBold" pitchFamily="34" charset="0"/>
                          <a:ea typeface="Plus Jakarta Sans SemiBold" pitchFamily="34" charset="-122"/>
                          <a:cs typeface="Plus Jakarta Sans SemiBold" pitchFamily="34" charset="-120"/>
                        </a:rPr>
                        <a:t>Gold</a:t>
                      </a:r>
                      <a:endParaRPr lang="en-US" sz="850" dirty="0">
                        <a:latin typeface="Plus Jakarta Sans SemiBold" charset="0"/>
                        <a:ea typeface="Plus Jakarta Sans SemiBold" charset="0"/>
                        <a:cs typeface="Plus Jakarta Sans SemiBold" charset="0"/>
                      </a:endParaRPr>
                    </a:p>
                  </a:txBody>
                  <a:tcPr marL="101600" marR="101600" marT="38100" marB="38100" anchor="ctr">
                    <a:lnL w="0" cap="flat" cmpd="sng" algn="ctr">
                      <a:noFill/>
                    </a:lnL>
                    <a:lnR w="0" cap="flat" cmpd="sng" algn="ctr">
                      <a:noFill/>
                    </a:lnR>
                    <a:lnT w="9525" cap="flat" cmpd="sng" algn="ctr">
                      <a:solidFill>
                        <a:srgbClr val="CDD0D9"/>
                      </a:solidFill>
                      <a:prstDash val="solid"/>
                      <a:round/>
                      <a:headEnd type="none" w="med" len="med"/>
                      <a:tailEnd type="none" w="med" len="med"/>
                    </a:lnT>
                    <a:lnB w="9525" cap="flat" cmpd="sng" algn="ctr">
                      <a:solidFill>
                        <a:srgbClr val="CDD0D9"/>
                      </a:solidFill>
                      <a:prstDash val="solid"/>
                      <a:round/>
                      <a:headEnd type="none" w="med" len="med"/>
                      <a:tailEnd type="none" w="med" len="med"/>
                    </a:lnB>
                    <a:solidFill>
                      <a:srgbClr val="EDF1FF"/>
                    </a:solidFill>
                  </a:tcPr>
                </a:tc>
                <a:tc>
                  <a:txBody>
                    <a:bodyPr/>
                    <a:lstStyle/>
                    <a:p>
                      <a:pPr algn="ctr" indent="0" marL="0">
                        <a:buNone/>
                      </a:pPr>
                      <a:r>
                        <a:rPr lang="en-US" sz="850" dirty="0">
                          <a:solidFill>
                            <a:srgbClr val="194EFF"/>
                          </a:solidFill>
                          <a:latin typeface="Plus Jakarta Sans SemiBold" pitchFamily="34" charset="0"/>
                          <a:ea typeface="Plus Jakarta Sans SemiBold" pitchFamily="34" charset="-122"/>
                          <a:cs typeface="Plus Jakarta Sans SemiBold" pitchFamily="34" charset="-120"/>
                        </a:rPr>
                        <a:t>Platinum</a:t>
                      </a:r>
                      <a:endParaRPr lang="en-US" sz="850" dirty="0">
                        <a:latin typeface="Plus Jakarta Sans SemiBold" charset="0"/>
                        <a:ea typeface="Plus Jakarta Sans SemiBold" charset="0"/>
                        <a:cs typeface="Plus Jakarta Sans SemiBold" charset="0"/>
                      </a:endParaRPr>
                    </a:p>
                  </a:txBody>
                  <a:tcPr marL="101600" marR="101600" marT="38100" marB="38100" anchor="ctr">
                    <a:lnL w="0" cap="flat" cmpd="sng" algn="ctr">
                      <a:noFill/>
                    </a:lnL>
                    <a:lnR w="0" cap="flat" cmpd="sng" algn="ctr">
                      <a:noFill/>
                    </a:lnR>
                    <a:lnT w="9525" cap="flat" cmpd="sng" algn="ctr">
                      <a:solidFill>
                        <a:srgbClr val="CDD0D9"/>
                      </a:solidFill>
                      <a:prstDash val="solid"/>
                      <a:round/>
                      <a:headEnd type="none" w="med" len="med"/>
                      <a:tailEnd type="none" w="med" len="med"/>
                    </a:lnT>
                    <a:lnB w="9525" cap="flat" cmpd="sng" algn="ctr">
                      <a:solidFill>
                        <a:srgbClr val="CDD0D9"/>
                      </a:solidFill>
                      <a:prstDash val="solid"/>
                      <a:round/>
                      <a:headEnd type="none" w="med" len="med"/>
                      <a:tailEnd type="none" w="med" len="med"/>
                    </a:lnB>
                    <a:solidFill>
                      <a:srgbClr val="EDF1FF"/>
                    </a:solidFill>
                  </a:tcPr>
                </a:tc>
                <a:tc>
                  <a:txBody>
                    <a:bodyPr/>
                    <a:lstStyle/>
                    <a:p>
                      <a:pPr algn="ctr" indent="0" marL="0">
                        <a:buNone/>
                      </a:pPr>
                      <a:r>
                        <a:rPr lang="en-US" sz="850" dirty="0">
                          <a:solidFill>
                            <a:srgbClr val="FFFFFF"/>
                          </a:solidFill>
                          <a:latin typeface="Plus Jakarta Sans SemiBold" pitchFamily="34" charset="0"/>
                          <a:ea typeface="Plus Jakarta Sans SemiBold" pitchFamily="34" charset="-122"/>
                          <a:cs typeface="Plus Jakarta Sans SemiBold" pitchFamily="34" charset="-120"/>
                        </a:rPr>
                        <a:t>Elite</a:t>
                      </a:r>
                      <a:endParaRPr lang="en-US" sz="850" dirty="0">
                        <a:latin typeface="Plus Jakarta Sans SemiBold" charset="0"/>
                        <a:ea typeface="Plus Jakarta Sans SemiBold" charset="0"/>
                        <a:cs typeface="Plus Jakarta Sans SemiBold" charset="0"/>
                      </a:endParaRPr>
                    </a:p>
                  </a:txBody>
                  <a:tcPr marL="101600" marR="101600" marT="38100" marB="38100" anchor="ctr">
                    <a:lnL w="0" cap="flat" cmpd="sng" algn="ctr">
                      <a:noFill/>
                    </a:lnL>
                    <a:lnR w="0" cap="flat" cmpd="sng" algn="ctr">
                      <a:noFill/>
                    </a:lnR>
                    <a:lnT w="9525" cap="flat" cmpd="sng" algn="ctr">
                      <a:solidFill>
                        <a:srgbClr val="CDD0D9"/>
                      </a:solidFill>
                      <a:prstDash val="solid"/>
                      <a:round/>
                      <a:headEnd type="none" w="med" len="med"/>
                      <a:tailEnd type="none" w="med" len="med"/>
                    </a:lnT>
                    <a:lnB w="9525" cap="flat" cmpd="sng" algn="ctr">
                      <a:solidFill>
                        <a:srgbClr val="CDD0D9"/>
                      </a:solidFill>
                      <a:prstDash val="solid"/>
                      <a:round/>
                      <a:headEnd type="none" w="med" len="med"/>
                      <a:tailEnd type="none" w="med" len="med"/>
                    </a:lnB>
                    <a:solidFill>
                      <a:srgbClr val="194EFF"/>
                    </a:solidFill>
                  </a:tcPr>
                </a:tc>
              </a:tr>
              <a:tr h="330200">
                <a:tc>
                  <a:txBody>
                    <a:bodyPr/>
                    <a:lstStyle/>
                    <a:p>
                      <a:pPr algn="l" indent="0" marL="0">
                        <a:buNone/>
                      </a:pPr>
                      <a:r>
                        <a:rPr lang="en-US" sz="950" dirty="0">
                          <a:solidFill>
                            <a:srgbClr val="13151C"/>
                          </a:solidFill>
                          <a:latin typeface="Plus Jakarta Sans SemiBold" pitchFamily="34" charset="0"/>
                          <a:ea typeface="Plus Jakarta Sans SemiBold" pitchFamily="34" charset="-122"/>
                          <a:cs typeface="Plus Jakarta Sans SemiBold" pitchFamily="34" charset="-120"/>
                        </a:rPr>
                        <a:t>Partner-sourced commission</a:t>
                      </a:r>
                      <a:endParaRPr lang="en-US" sz="950" dirty="0">
                        <a:latin typeface="Plus Jakarta Sans SemiBold" charset="0"/>
                        <a:ea typeface="Plus Jakarta Sans SemiBold" charset="0"/>
                        <a:cs typeface="Plus Jakarta Sans SemiBold" charset="0"/>
                      </a:endParaRPr>
                    </a:p>
                  </a:txBody>
                  <a:tcPr marL="101600" marR="101600" marT="38100" marB="38100" anchor="ctr">
                    <a:lnL w="0" cap="flat" cmpd="sng" algn="ctr">
                      <a:noFill/>
                    </a:lnL>
                    <a:lnR w="0" cap="flat" cmpd="sng" algn="ctr">
                      <a:noFill/>
                    </a:lnR>
                    <a:lnT w="9525" cap="flat" cmpd="sng" algn="ctr">
                      <a:solidFill>
                        <a:srgbClr val="CDD0D9"/>
                      </a:solidFill>
                      <a:prstDash val="solid"/>
                      <a:round/>
                      <a:headEnd type="none" w="med" len="med"/>
                      <a:tailEnd type="none" w="med" len="med"/>
                    </a:lnT>
                    <a:lnB w="9525" cap="flat" cmpd="sng" algn="ctr">
                      <a:solidFill>
                        <a:srgbClr val="CDD0D9"/>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13151C"/>
                          </a:solidFill>
                          <a:latin typeface="Plus Jakarta Sans" pitchFamily="34" charset="0"/>
                          <a:ea typeface="Plus Jakarta Sans" pitchFamily="34" charset="-122"/>
                          <a:cs typeface="Plus Jakarta Sans" pitchFamily="34" charset="-120"/>
                        </a:rPr>
                        <a:t>20%</a:t>
                      </a:r>
                      <a:endParaRPr lang="en-US" sz="95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CDD0D9"/>
                      </a:solidFill>
                      <a:prstDash val="solid"/>
                      <a:round/>
                      <a:headEnd type="none" w="med" len="med"/>
                      <a:tailEnd type="none" w="med" len="med"/>
                    </a:lnT>
                    <a:lnB w="9525" cap="flat" cmpd="sng" algn="ctr">
                      <a:solidFill>
                        <a:srgbClr val="CDD0D9"/>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13151C"/>
                          </a:solidFill>
                          <a:latin typeface="Plus Jakarta Sans" pitchFamily="34" charset="0"/>
                          <a:ea typeface="Plus Jakarta Sans" pitchFamily="34" charset="-122"/>
                          <a:cs typeface="Plus Jakarta Sans" pitchFamily="34" charset="-120"/>
                        </a:rPr>
                        <a:t>25%</a:t>
                      </a:r>
                      <a:endParaRPr lang="en-US" sz="95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CDD0D9"/>
                      </a:solidFill>
                      <a:prstDash val="solid"/>
                      <a:round/>
                      <a:headEnd type="none" w="med" len="med"/>
                      <a:tailEnd type="none" w="med" len="med"/>
                    </a:lnT>
                    <a:lnB w="9525" cap="flat" cmpd="sng" algn="ctr">
                      <a:solidFill>
                        <a:srgbClr val="CDD0D9"/>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13151C"/>
                          </a:solidFill>
                          <a:latin typeface="Plus Jakarta Sans" pitchFamily="34" charset="0"/>
                          <a:ea typeface="Plus Jakarta Sans" pitchFamily="34" charset="-122"/>
                          <a:cs typeface="Plus Jakarta Sans" pitchFamily="34" charset="-120"/>
                        </a:rPr>
                        <a:t>30%</a:t>
                      </a:r>
                      <a:endParaRPr lang="en-US" sz="95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CDD0D9"/>
                      </a:solidFill>
                      <a:prstDash val="solid"/>
                      <a:round/>
                      <a:headEnd type="none" w="med" len="med"/>
                      <a:tailEnd type="none" w="med" len="med"/>
                    </a:lnT>
                    <a:lnB w="9525" cap="flat" cmpd="sng" algn="ctr">
                      <a:solidFill>
                        <a:srgbClr val="CDD0D9"/>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13151C"/>
                          </a:solidFill>
                          <a:latin typeface="Plus Jakarta Sans" pitchFamily="34" charset="0"/>
                          <a:ea typeface="Plus Jakarta Sans" pitchFamily="34" charset="-122"/>
                          <a:cs typeface="Plus Jakarta Sans" pitchFamily="34" charset="-120"/>
                        </a:rPr>
                        <a:t>35%</a:t>
                      </a:r>
                      <a:endParaRPr lang="en-US" sz="95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CDD0D9"/>
                      </a:solidFill>
                      <a:prstDash val="solid"/>
                      <a:round/>
                      <a:headEnd type="none" w="med" len="med"/>
                      <a:tailEnd type="none" w="med" len="med"/>
                    </a:lnT>
                    <a:lnB w="9525" cap="flat" cmpd="sng" algn="ctr">
                      <a:solidFill>
                        <a:srgbClr val="CDD0D9"/>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194EFF"/>
                          </a:solidFill>
                          <a:latin typeface="Plus Jakarta Sans" pitchFamily="34" charset="0"/>
                          <a:ea typeface="Plus Jakarta Sans" pitchFamily="34" charset="-122"/>
                          <a:cs typeface="Plus Jakarta Sans" pitchFamily="34" charset="-120"/>
                        </a:rPr>
                        <a:t>40%</a:t>
                      </a:r>
                      <a:endParaRPr lang="en-US" sz="95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CDD0D9"/>
                      </a:solidFill>
                      <a:prstDash val="solid"/>
                      <a:round/>
                      <a:headEnd type="none" w="med" len="med"/>
                      <a:tailEnd type="none" w="med" len="med"/>
                    </a:lnT>
                    <a:lnB w="9525" cap="flat" cmpd="sng" algn="ctr">
                      <a:solidFill>
                        <a:srgbClr val="CDD0D9"/>
                      </a:solidFill>
                      <a:prstDash val="solid"/>
                      <a:round/>
                      <a:headEnd type="none" w="med" len="med"/>
                      <a:tailEnd type="none" w="med" len="med"/>
                    </a:lnB>
                    <a:solidFill>
                      <a:srgbClr val="FFFFFF"/>
                    </a:solidFill>
                  </a:tcPr>
                </a:tc>
              </a:tr>
              <a:tr h="330200">
                <a:tc>
                  <a:txBody>
                    <a:bodyPr/>
                    <a:lstStyle/>
                    <a:p>
                      <a:pPr algn="l" indent="0" marL="0">
                        <a:buNone/>
                      </a:pPr>
                      <a:r>
                        <a:rPr lang="en-US" sz="950" dirty="0">
                          <a:solidFill>
                            <a:srgbClr val="13151C"/>
                          </a:solidFill>
                          <a:latin typeface="Plus Jakarta Sans SemiBold" pitchFamily="34" charset="0"/>
                          <a:ea typeface="Plus Jakarta Sans SemiBold" pitchFamily="34" charset="-122"/>
                          <a:cs typeface="Plus Jakarta Sans SemiBold" pitchFamily="34" charset="-120"/>
                        </a:rPr>
                        <a:t>Partner-driven commission</a:t>
                      </a:r>
                      <a:endParaRPr lang="en-US" sz="950" dirty="0">
                        <a:latin typeface="Plus Jakarta Sans SemiBold" charset="0"/>
                        <a:ea typeface="Plus Jakarta Sans SemiBold" charset="0"/>
                        <a:cs typeface="Plus Jakarta Sans SemiBold" charset="0"/>
                      </a:endParaRPr>
                    </a:p>
                  </a:txBody>
                  <a:tcPr marL="101600" marR="101600" marT="38100" marB="38100" anchor="ctr">
                    <a:lnL w="0" cap="flat" cmpd="sng" algn="ctr">
                      <a:noFill/>
                    </a:lnL>
                    <a:lnR w="0" cap="flat" cmpd="sng" algn="ctr">
                      <a:noFill/>
                    </a:lnR>
                    <a:lnT w="9525" cap="flat" cmpd="sng" algn="ctr">
                      <a:solidFill>
                        <a:srgbClr val="CDD0D9"/>
                      </a:solidFill>
                      <a:prstDash val="solid"/>
                      <a:round/>
                      <a:headEnd type="none" w="med" len="med"/>
                      <a:tailEnd type="none" w="med" len="med"/>
                    </a:lnT>
                    <a:lnB w="9525" cap="flat" cmpd="sng" algn="ctr">
                      <a:solidFill>
                        <a:srgbClr val="CDD0D9"/>
                      </a:solidFill>
                      <a:prstDash val="solid"/>
                      <a:round/>
                      <a:headEnd type="none" w="med" len="med"/>
                      <a:tailEnd type="none" w="med" len="med"/>
                    </a:lnB>
                    <a:solidFill>
                      <a:srgbClr val="F7FBFD"/>
                    </a:solidFill>
                  </a:tcPr>
                </a:tc>
                <a:tc>
                  <a:txBody>
                    <a:bodyPr/>
                    <a:lstStyle/>
                    <a:p>
                      <a:pPr algn="ctr" indent="0" marL="0">
                        <a:buNone/>
                      </a:pPr>
                      <a:r>
                        <a:rPr lang="en-US" sz="950" dirty="0">
                          <a:solidFill>
                            <a:srgbClr val="13151C"/>
                          </a:solidFill>
                          <a:latin typeface="Plus Jakarta Sans" pitchFamily="34" charset="0"/>
                          <a:ea typeface="Plus Jakarta Sans" pitchFamily="34" charset="-122"/>
                          <a:cs typeface="Plus Jakarta Sans" pitchFamily="34" charset="-120"/>
                        </a:rPr>
                        <a:t>10%</a:t>
                      </a:r>
                      <a:endParaRPr lang="en-US" sz="95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CDD0D9"/>
                      </a:solidFill>
                      <a:prstDash val="solid"/>
                      <a:round/>
                      <a:headEnd type="none" w="med" len="med"/>
                      <a:tailEnd type="none" w="med" len="med"/>
                    </a:lnT>
                    <a:lnB w="9525" cap="flat" cmpd="sng" algn="ctr">
                      <a:solidFill>
                        <a:srgbClr val="CDD0D9"/>
                      </a:solidFill>
                      <a:prstDash val="solid"/>
                      <a:round/>
                      <a:headEnd type="none" w="med" len="med"/>
                      <a:tailEnd type="none" w="med" len="med"/>
                    </a:lnB>
                    <a:solidFill>
                      <a:srgbClr val="F7FBFD"/>
                    </a:solidFill>
                  </a:tcPr>
                </a:tc>
                <a:tc>
                  <a:txBody>
                    <a:bodyPr/>
                    <a:lstStyle/>
                    <a:p>
                      <a:pPr algn="ctr" indent="0" marL="0">
                        <a:buNone/>
                      </a:pPr>
                      <a:r>
                        <a:rPr lang="en-US" sz="950" dirty="0">
                          <a:solidFill>
                            <a:srgbClr val="13151C"/>
                          </a:solidFill>
                          <a:latin typeface="Plus Jakarta Sans" pitchFamily="34" charset="0"/>
                          <a:ea typeface="Plus Jakarta Sans" pitchFamily="34" charset="-122"/>
                          <a:cs typeface="Plus Jakarta Sans" pitchFamily="34" charset="-120"/>
                        </a:rPr>
                        <a:t>12.5%</a:t>
                      </a:r>
                      <a:endParaRPr lang="en-US" sz="95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CDD0D9"/>
                      </a:solidFill>
                      <a:prstDash val="solid"/>
                      <a:round/>
                      <a:headEnd type="none" w="med" len="med"/>
                      <a:tailEnd type="none" w="med" len="med"/>
                    </a:lnT>
                    <a:lnB w="9525" cap="flat" cmpd="sng" algn="ctr">
                      <a:solidFill>
                        <a:srgbClr val="CDD0D9"/>
                      </a:solidFill>
                      <a:prstDash val="solid"/>
                      <a:round/>
                      <a:headEnd type="none" w="med" len="med"/>
                      <a:tailEnd type="none" w="med" len="med"/>
                    </a:lnB>
                    <a:solidFill>
                      <a:srgbClr val="F7FBFD"/>
                    </a:solidFill>
                  </a:tcPr>
                </a:tc>
                <a:tc>
                  <a:txBody>
                    <a:bodyPr/>
                    <a:lstStyle/>
                    <a:p>
                      <a:pPr algn="ctr" indent="0" marL="0">
                        <a:buNone/>
                      </a:pPr>
                      <a:r>
                        <a:rPr lang="en-US" sz="950" dirty="0">
                          <a:solidFill>
                            <a:srgbClr val="13151C"/>
                          </a:solidFill>
                          <a:latin typeface="Plus Jakarta Sans" pitchFamily="34" charset="0"/>
                          <a:ea typeface="Plus Jakarta Sans" pitchFamily="34" charset="-122"/>
                          <a:cs typeface="Plus Jakarta Sans" pitchFamily="34" charset="-120"/>
                        </a:rPr>
                        <a:t>15%</a:t>
                      </a:r>
                      <a:endParaRPr lang="en-US" sz="95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CDD0D9"/>
                      </a:solidFill>
                      <a:prstDash val="solid"/>
                      <a:round/>
                      <a:headEnd type="none" w="med" len="med"/>
                      <a:tailEnd type="none" w="med" len="med"/>
                    </a:lnT>
                    <a:lnB w="9525" cap="flat" cmpd="sng" algn="ctr">
                      <a:solidFill>
                        <a:srgbClr val="CDD0D9"/>
                      </a:solidFill>
                      <a:prstDash val="solid"/>
                      <a:round/>
                      <a:headEnd type="none" w="med" len="med"/>
                      <a:tailEnd type="none" w="med" len="med"/>
                    </a:lnB>
                    <a:solidFill>
                      <a:srgbClr val="F7FBFD"/>
                    </a:solidFill>
                  </a:tcPr>
                </a:tc>
                <a:tc>
                  <a:txBody>
                    <a:bodyPr/>
                    <a:lstStyle/>
                    <a:p>
                      <a:pPr algn="ctr" indent="0" marL="0">
                        <a:buNone/>
                      </a:pPr>
                      <a:r>
                        <a:rPr lang="en-US" sz="950" dirty="0">
                          <a:solidFill>
                            <a:srgbClr val="13151C"/>
                          </a:solidFill>
                          <a:latin typeface="Plus Jakarta Sans" pitchFamily="34" charset="0"/>
                          <a:ea typeface="Plus Jakarta Sans" pitchFamily="34" charset="-122"/>
                          <a:cs typeface="Plus Jakarta Sans" pitchFamily="34" charset="-120"/>
                        </a:rPr>
                        <a:t>17.5%</a:t>
                      </a:r>
                      <a:endParaRPr lang="en-US" sz="95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CDD0D9"/>
                      </a:solidFill>
                      <a:prstDash val="solid"/>
                      <a:round/>
                      <a:headEnd type="none" w="med" len="med"/>
                      <a:tailEnd type="none" w="med" len="med"/>
                    </a:lnT>
                    <a:lnB w="9525" cap="flat" cmpd="sng" algn="ctr">
                      <a:solidFill>
                        <a:srgbClr val="CDD0D9"/>
                      </a:solidFill>
                      <a:prstDash val="solid"/>
                      <a:round/>
                      <a:headEnd type="none" w="med" len="med"/>
                      <a:tailEnd type="none" w="med" len="med"/>
                    </a:lnB>
                    <a:solidFill>
                      <a:srgbClr val="F7FBFD"/>
                    </a:solidFill>
                  </a:tcPr>
                </a:tc>
                <a:tc>
                  <a:txBody>
                    <a:bodyPr/>
                    <a:lstStyle/>
                    <a:p>
                      <a:pPr algn="ctr" indent="0" marL="0">
                        <a:buNone/>
                      </a:pPr>
                      <a:r>
                        <a:rPr lang="en-US" sz="950" b="1" dirty="0">
                          <a:solidFill>
                            <a:srgbClr val="194EFF"/>
                          </a:solidFill>
                          <a:latin typeface="Plus Jakarta Sans" pitchFamily="34" charset="0"/>
                          <a:ea typeface="Plus Jakarta Sans" pitchFamily="34" charset="-122"/>
                          <a:cs typeface="Plus Jakarta Sans" pitchFamily="34" charset="-120"/>
                        </a:rPr>
                        <a:t>20%</a:t>
                      </a:r>
                      <a:endParaRPr lang="en-US" sz="95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CDD0D9"/>
                      </a:solidFill>
                      <a:prstDash val="solid"/>
                      <a:round/>
                      <a:headEnd type="none" w="med" len="med"/>
                      <a:tailEnd type="none" w="med" len="med"/>
                    </a:lnT>
                    <a:lnB w="9525" cap="flat" cmpd="sng" algn="ctr">
                      <a:solidFill>
                        <a:srgbClr val="CDD0D9"/>
                      </a:solidFill>
                      <a:prstDash val="solid"/>
                      <a:round/>
                      <a:headEnd type="none" w="med" len="med"/>
                      <a:tailEnd type="none" w="med" len="med"/>
                    </a:lnB>
                    <a:solidFill>
                      <a:srgbClr val="F7FBFD"/>
                    </a:solidFill>
                  </a:tcPr>
                </a:tc>
              </a:tr>
              <a:tr h="330200">
                <a:tc>
                  <a:txBody>
                    <a:bodyPr/>
                    <a:lstStyle/>
                    <a:p>
                      <a:pPr algn="l" indent="0" marL="0">
                        <a:buNone/>
                      </a:pPr>
                      <a:r>
                        <a:rPr lang="en-US" sz="950" dirty="0">
                          <a:solidFill>
                            <a:srgbClr val="13151C"/>
                          </a:solidFill>
                          <a:latin typeface="Plus Jakarta Sans SemiBold" pitchFamily="34" charset="0"/>
                          <a:ea typeface="Plus Jakarta Sans SemiBold" pitchFamily="34" charset="-122"/>
                          <a:cs typeface="Plus Jakarta Sans SemiBold" pitchFamily="34" charset="-120"/>
                        </a:rPr>
                        <a:t>Post-expiry renewal commission</a:t>
                      </a:r>
                      <a:endParaRPr lang="en-US" sz="950" dirty="0">
                        <a:latin typeface="Plus Jakarta Sans SemiBold" charset="0"/>
                        <a:ea typeface="Plus Jakarta Sans SemiBold" charset="0"/>
                        <a:cs typeface="Plus Jakarta Sans SemiBold" charset="0"/>
                      </a:endParaRPr>
                    </a:p>
                  </a:txBody>
                  <a:tcPr marL="101600" marR="101600" marT="38100" marB="38100" anchor="ctr">
                    <a:lnL w="0" cap="flat" cmpd="sng" algn="ctr">
                      <a:noFill/>
                    </a:lnL>
                    <a:lnR w="0" cap="flat" cmpd="sng" algn="ctr">
                      <a:noFill/>
                    </a:lnR>
                    <a:lnT w="9525" cap="flat" cmpd="sng" algn="ctr">
                      <a:solidFill>
                        <a:srgbClr val="CDD0D9"/>
                      </a:solidFill>
                      <a:prstDash val="solid"/>
                      <a:round/>
                      <a:headEnd type="none" w="med" len="med"/>
                      <a:tailEnd type="none" w="med" len="med"/>
                    </a:lnT>
                    <a:lnB w="9525" cap="flat" cmpd="sng" algn="ctr">
                      <a:solidFill>
                        <a:srgbClr val="CDD0D9"/>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13151C"/>
                          </a:solidFill>
                          <a:latin typeface="Plus Jakarta Sans" pitchFamily="34" charset="0"/>
                          <a:ea typeface="Plus Jakarta Sans" pitchFamily="34" charset="-122"/>
                          <a:cs typeface="Plus Jakarta Sans" pitchFamily="34" charset="-120"/>
                        </a:rPr>
                        <a:t>05%</a:t>
                      </a:r>
                      <a:endParaRPr lang="en-US" sz="95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CDD0D9"/>
                      </a:solidFill>
                      <a:prstDash val="solid"/>
                      <a:round/>
                      <a:headEnd type="none" w="med" len="med"/>
                      <a:tailEnd type="none" w="med" len="med"/>
                    </a:lnT>
                    <a:lnB w="9525" cap="flat" cmpd="sng" algn="ctr">
                      <a:solidFill>
                        <a:srgbClr val="CDD0D9"/>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13151C"/>
                          </a:solidFill>
                          <a:latin typeface="Plus Jakarta Sans" pitchFamily="34" charset="0"/>
                          <a:ea typeface="Plus Jakarta Sans" pitchFamily="34" charset="-122"/>
                          <a:cs typeface="Plus Jakarta Sans" pitchFamily="34" charset="-120"/>
                        </a:rPr>
                        <a:t>7.5%</a:t>
                      </a:r>
                      <a:endParaRPr lang="en-US" sz="95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CDD0D9"/>
                      </a:solidFill>
                      <a:prstDash val="solid"/>
                      <a:round/>
                      <a:headEnd type="none" w="med" len="med"/>
                      <a:tailEnd type="none" w="med" len="med"/>
                    </a:lnT>
                    <a:lnB w="9525" cap="flat" cmpd="sng" algn="ctr">
                      <a:solidFill>
                        <a:srgbClr val="CDD0D9"/>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13151C"/>
                          </a:solidFill>
                          <a:latin typeface="Plus Jakarta Sans" pitchFamily="34" charset="0"/>
                          <a:ea typeface="Plus Jakarta Sans" pitchFamily="34" charset="-122"/>
                          <a:cs typeface="Plus Jakarta Sans" pitchFamily="34" charset="-120"/>
                        </a:rPr>
                        <a:t>10%</a:t>
                      </a:r>
                      <a:endParaRPr lang="en-US" sz="95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CDD0D9"/>
                      </a:solidFill>
                      <a:prstDash val="solid"/>
                      <a:round/>
                      <a:headEnd type="none" w="med" len="med"/>
                      <a:tailEnd type="none" w="med" len="med"/>
                    </a:lnT>
                    <a:lnB w="9525" cap="flat" cmpd="sng" algn="ctr">
                      <a:solidFill>
                        <a:srgbClr val="CDD0D9"/>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13151C"/>
                          </a:solidFill>
                          <a:latin typeface="Plus Jakarta Sans" pitchFamily="34" charset="0"/>
                          <a:ea typeface="Plus Jakarta Sans" pitchFamily="34" charset="-122"/>
                          <a:cs typeface="Plus Jakarta Sans" pitchFamily="34" charset="-120"/>
                        </a:rPr>
                        <a:t>12.5%</a:t>
                      </a:r>
                      <a:endParaRPr lang="en-US" sz="95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CDD0D9"/>
                      </a:solidFill>
                      <a:prstDash val="solid"/>
                      <a:round/>
                      <a:headEnd type="none" w="med" len="med"/>
                      <a:tailEnd type="none" w="med" len="med"/>
                    </a:lnT>
                    <a:lnB w="9525" cap="flat" cmpd="sng" algn="ctr">
                      <a:solidFill>
                        <a:srgbClr val="CDD0D9"/>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194EFF"/>
                          </a:solidFill>
                          <a:latin typeface="Plus Jakarta Sans" pitchFamily="34" charset="0"/>
                          <a:ea typeface="Plus Jakarta Sans" pitchFamily="34" charset="-122"/>
                          <a:cs typeface="Plus Jakarta Sans" pitchFamily="34" charset="-120"/>
                        </a:rPr>
                        <a:t>15%</a:t>
                      </a:r>
                      <a:endParaRPr lang="en-US" sz="95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CDD0D9"/>
                      </a:solidFill>
                      <a:prstDash val="solid"/>
                      <a:round/>
                      <a:headEnd type="none" w="med" len="med"/>
                      <a:tailEnd type="none" w="med" len="med"/>
                    </a:lnT>
                    <a:lnB w="9525" cap="flat" cmpd="sng" algn="ctr">
                      <a:solidFill>
                        <a:srgbClr val="CDD0D9"/>
                      </a:solidFill>
                      <a:prstDash val="solid"/>
                      <a:round/>
                      <a:headEnd type="none" w="med" len="med"/>
                      <a:tailEnd type="none" w="med" len="med"/>
                    </a:lnB>
                    <a:solidFill>
                      <a:srgbClr val="FFFFFF"/>
                    </a:solidFill>
                  </a:tcPr>
                </a:tc>
              </a:tr>
              <a:tr h="330200">
                <a:tc>
                  <a:txBody>
                    <a:bodyPr/>
                    <a:lstStyle/>
                    <a:p>
                      <a:pPr algn="l" indent="0" marL="0">
                        <a:buNone/>
                      </a:pPr>
                      <a:r>
                        <a:rPr lang="en-US" sz="950" dirty="0">
                          <a:solidFill>
                            <a:srgbClr val="13151C"/>
                          </a:solidFill>
                          <a:latin typeface="Plus Jakarta Sans SemiBold" pitchFamily="34" charset="0"/>
                          <a:ea typeface="Plus Jakarta Sans SemiBold" pitchFamily="34" charset="-122"/>
                          <a:cs typeface="Plus Jakarta Sans SemiBold" pitchFamily="34" charset="-120"/>
                        </a:rPr>
                        <a:t>Annual co-marketing fund</a:t>
                      </a:r>
                      <a:endParaRPr lang="en-US" sz="950" dirty="0">
                        <a:latin typeface="Plus Jakarta Sans SemiBold" charset="0"/>
                        <a:ea typeface="Plus Jakarta Sans SemiBold" charset="0"/>
                        <a:cs typeface="Plus Jakarta Sans SemiBold" charset="0"/>
                      </a:endParaRPr>
                    </a:p>
                  </a:txBody>
                  <a:tcPr marL="101600" marR="101600" marT="38100" marB="38100" anchor="ctr">
                    <a:lnL w="0" cap="flat" cmpd="sng" algn="ctr">
                      <a:noFill/>
                    </a:lnL>
                    <a:lnR w="0" cap="flat" cmpd="sng" algn="ctr">
                      <a:noFill/>
                    </a:lnR>
                    <a:lnT w="9525" cap="flat" cmpd="sng" algn="ctr">
                      <a:solidFill>
                        <a:srgbClr val="CDD0D9"/>
                      </a:solidFill>
                      <a:prstDash val="solid"/>
                      <a:round/>
                      <a:headEnd type="none" w="med" len="med"/>
                      <a:tailEnd type="none" w="med" len="med"/>
                    </a:lnT>
                    <a:lnB w="9525" cap="flat" cmpd="sng" algn="ctr">
                      <a:solidFill>
                        <a:srgbClr val="CDD0D9"/>
                      </a:solidFill>
                      <a:prstDash val="solid"/>
                      <a:round/>
                      <a:headEnd type="none" w="med" len="med"/>
                      <a:tailEnd type="none" w="med" len="med"/>
                    </a:lnB>
                    <a:solidFill>
                      <a:srgbClr val="F7FBFD"/>
                    </a:solidFill>
                  </a:tcPr>
                </a:tc>
                <a:tc>
                  <a:txBody>
                    <a:bodyPr/>
                    <a:lstStyle/>
                    <a:p>
                      <a:pPr algn="ctr" indent="0" marL="0">
                        <a:buNone/>
                      </a:pPr>
                      <a:r>
                        <a:rPr lang="en-US" sz="950" dirty="0">
                          <a:solidFill>
                            <a:srgbClr val="13151C"/>
                          </a:solidFill>
                          <a:latin typeface="Plus Jakarta Sans" pitchFamily="34" charset="0"/>
                          <a:ea typeface="Plus Jakarta Sans" pitchFamily="34" charset="-122"/>
                          <a:cs typeface="Plus Jakarta Sans" pitchFamily="34" charset="-120"/>
                        </a:rPr>
                        <a:t>Not eligible</a:t>
                      </a:r>
                      <a:endParaRPr lang="en-US" sz="95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CDD0D9"/>
                      </a:solidFill>
                      <a:prstDash val="solid"/>
                      <a:round/>
                      <a:headEnd type="none" w="med" len="med"/>
                      <a:tailEnd type="none" w="med" len="med"/>
                    </a:lnT>
                    <a:lnB w="9525" cap="flat" cmpd="sng" algn="ctr">
                      <a:solidFill>
                        <a:srgbClr val="CDD0D9"/>
                      </a:solidFill>
                      <a:prstDash val="solid"/>
                      <a:round/>
                      <a:headEnd type="none" w="med" len="med"/>
                      <a:tailEnd type="none" w="med" len="med"/>
                    </a:lnB>
                    <a:solidFill>
                      <a:srgbClr val="F7FBFD"/>
                    </a:solidFill>
                  </a:tcPr>
                </a:tc>
                <a:tc>
                  <a:txBody>
                    <a:bodyPr/>
                    <a:lstStyle/>
                    <a:p>
                      <a:pPr algn="ctr" indent="0" marL="0">
                        <a:buNone/>
                      </a:pPr>
                      <a:r>
                        <a:rPr lang="en-US" sz="950" dirty="0">
                          <a:solidFill>
                            <a:srgbClr val="13151C"/>
                          </a:solidFill>
                          <a:latin typeface="Plus Jakarta Sans" pitchFamily="34" charset="0"/>
                          <a:ea typeface="Plus Jakarta Sans" pitchFamily="34" charset="-122"/>
                          <a:cs typeface="Plus Jakarta Sans" pitchFamily="34" charset="-120"/>
                        </a:rPr>
                        <a:t>Up to $2,500</a:t>
                      </a:r>
                      <a:endParaRPr lang="en-US" sz="95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CDD0D9"/>
                      </a:solidFill>
                      <a:prstDash val="solid"/>
                      <a:round/>
                      <a:headEnd type="none" w="med" len="med"/>
                      <a:tailEnd type="none" w="med" len="med"/>
                    </a:lnT>
                    <a:lnB w="9525" cap="flat" cmpd="sng" algn="ctr">
                      <a:solidFill>
                        <a:srgbClr val="CDD0D9"/>
                      </a:solidFill>
                      <a:prstDash val="solid"/>
                      <a:round/>
                      <a:headEnd type="none" w="med" len="med"/>
                      <a:tailEnd type="none" w="med" len="med"/>
                    </a:lnB>
                    <a:solidFill>
                      <a:srgbClr val="F7FBFD"/>
                    </a:solidFill>
                  </a:tcPr>
                </a:tc>
                <a:tc>
                  <a:txBody>
                    <a:bodyPr/>
                    <a:lstStyle/>
                    <a:p>
                      <a:pPr algn="ctr" indent="0" marL="0">
                        <a:buNone/>
                      </a:pPr>
                      <a:r>
                        <a:rPr lang="en-US" sz="950" dirty="0">
                          <a:solidFill>
                            <a:srgbClr val="13151C"/>
                          </a:solidFill>
                          <a:latin typeface="Plus Jakarta Sans" pitchFamily="34" charset="0"/>
                          <a:ea typeface="Plus Jakarta Sans" pitchFamily="34" charset="-122"/>
                          <a:cs typeface="Plus Jakarta Sans" pitchFamily="34" charset="-120"/>
                        </a:rPr>
                        <a:t>Up to $7,500</a:t>
                      </a:r>
                      <a:endParaRPr lang="en-US" sz="95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CDD0D9"/>
                      </a:solidFill>
                      <a:prstDash val="solid"/>
                      <a:round/>
                      <a:headEnd type="none" w="med" len="med"/>
                      <a:tailEnd type="none" w="med" len="med"/>
                    </a:lnT>
                    <a:lnB w="9525" cap="flat" cmpd="sng" algn="ctr">
                      <a:solidFill>
                        <a:srgbClr val="CDD0D9"/>
                      </a:solidFill>
                      <a:prstDash val="solid"/>
                      <a:round/>
                      <a:headEnd type="none" w="med" len="med"/>
                      <a:tailEnd type="none" w="med" len="med"/>
                    </a:lnB>
                    <a:solidFill>
                      <a:srgbClr val="F7FBFD"/>
                    </a:solidFill>
                  </a:tcPr>
                </a:tc>
                <a:tc>
                  <a:txBody>
                    <a:bodyPr/>
                    <a:lstStyle/>
                    <a:p>
                      <a:pPr algn="ctr" indent="0" marL="0">
                        <a:buNone/>
                      </a:pPr>
                      <a:r>
                        <a:rPr lang="en-US" sz="950" dirty="0">
                          <a:solidFill>
                            <a:srgbClr val="13151C"/>
                          </a:solidFill>
                          <a:latin typeface="Plus Jakarta Sans" pitchFamily="34" charset="0"/>
                          <a:ea typeface="Plus Jakarta Sans" pitchFamily="34" charset="-122"/>
                          <a:cs typeface="Plus Jakarta Sans" pitchFamily="34" charset="-120"/>
                        </a:rPr>
                        <a:t>Up to $15,000</a:t>
                      </a:r>
                      <a:endParaRPr lang="en-US" sz="95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CDD0D9"/>
                      </a:solidFill>
                      <a:prstDash val="solid"/>
                      <a:round/>
                      <a:headEnd type="none" w="med" len="med"/>
                      <a:tailEnd type="none" w="med" len="med"/>
                    </a:lnT>
                    <a:lnB w="9525" cap="flat" cmpd="sng" algn="ctr">
                      <a:solidFill>
                        <a:srgbClr val="CDD0D9"/>
                      </a:solidFill>
                      <a:prstDash val="solid"/>
                      <a:round/>
                      <a:headEnd type="none" w="med" len="med"/>
                      <a:tailEnd type="none" w="med" len="med"/>
                    </a:lnB>
                    <a:solidFill>
                      <a:srgbClr val="F7FBFD"/>
                    </a:solidFill>
                  </a:tcPr>
                </a:tc>
                <a:tc>
                  <a:txBody>
                    <a:bodyPr/>
                    <a:lstStyle/>
                    <a:p>
                      <a:pPr algn="ctr" indent="0" marL="0">
                        <a:buNone/>
                      </a:pPr>
                      <a:r>
                        <a:rPr lang="en-US" sz="950" b="1" dirty="0">
                          <a:solidFill>
                            <a:srgbClr val="194EFF"/>
                          </a:solidFill>
                          <a:latin typeface="Plus Jakarta Sans" pitchFamily="34" charset="0"/>
                          <a:ea typeface="Plus Jakarta Sans" pitchFamily="34" charset="-122"/>
                          <a:cs typeface="Plus Jakarta Sans" pitchFamily="34" charset="-120"/>
                        </a:rPr>
                        <a:t>Up to $30,000</a:t>
                      </a:r>
                      <a:endParaRPr lang="en-US" sz="95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CDD0D9"/>
                      </a:solidFill>
                      <a:prstDash val="solid"/>
                      <a:round/>
                      <a:headEnd type="none" w="med" len="med"/>
                      <a:tailEnd type="none" w="med" len="med"/>
                    </a:lnT>
                    <a:lnB w="9525" cap="flat" cmpd="sng" algn="ctr">
                      <a:solidFill>
                        <a:srgbClr val="CDD0D9"/>
                      </a:solidFill>
                      <a:prstDash val="solid"/>
                      <a:round/>
                      <a:headEnd type="none" w="med" len="med"/>
                      <a:tailEnd type="none" w="med" len="med"/>
                    </a:lnB>
                    <a:solidFill>
                      <a:srgbClr val="F7FBFD"/>
                    </a:solidFill>
                  </a:tcPr>
                </a:tc>
              </a:tr>
              <a:tr h="330200">
                <a:tc>
                  <a:txBody>
                    <a:bodyPr/>
                    <a:lstStyle/>
                    <a:p>
                      <a:pPr algn="l" indent="0" marL="0">
                        <a:buNone/>
                      </a:pPr>
                      <a:r>
                        <a:rPr lang="en-US" sz="950" dirty="0">
                          <a:solidFill>
                            <a:srgbClr val="13151C"/>
                          </a:solidFill>
                          <a:latin typeface="Plus Jakarta Sans SemiBold" pitchFamily="34" charset="0"/>
                          <a:ea typeface="Plus Jakarta Sans SemiBold" pitchFamily="34" charset="-122"/>
                          <a:cs typeface="Plus Jakarta Sans SemiBold" pitchFamily="34" charset="-120"/>
                        </a:rPr>
                        <a:t>Annual promotion fund</a:t>
                      </a:r>
                      <a:endParaRPr lang="en-US" sz="950" dirty="0">
                        <a:latin typeface="Plus Jakarta Sans SemiBold" charset="0"/>
                        <a:ea typeface="Plus Jakarta Sans SemiBold" charset="0"/>
                        <a:cs typeface="Plus Jakarta Sans SemiBold" charset="0"/>
                      </a:endParaRPr>
                    </a:p>
                  </a:txBody>
                  <a:tcPr marL="101600" marR="101600" marT="38100" marB="38100" anchor="ctr">
                    <a:lnL w="0" cap="flat" cmpd="sng" algn="ctr">
                      <a:noFill/>
                    </a:lnL>
                    <a:lnR w="0" cap="flat" cmpd="sng" algn="ctr">
                      <a:noFill/>
                    </a:lnR>
                    <a:lnT w="9525" cap="flat" cmpd="sng" algn="ctr">
                      <a:solidFill>
                        <a:srgbClr val="CDD0D9"/>
                      </a:solidFill>
                      <a:prstDash val="solid"/>
                      <a:round/>
                      <a:headEnd type="none" w="med" len="med"/>
                      <a:tailEnd type="none" w="med" len="med"/>
                    </a:lnT>
                    <a:lnB w="9525" cap="flat" cmpd="sng" algn="ctr">
                      <a:solidFill>
                        <a:srgbClr val="CDD0D9"/>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13151C"/>
                          </a:solidFill>
                          <a:latin typeface="Plus Jakarta Sans" pitchFamily="34" charset="0"/>
                          <a:ea typeface="Plus Jakarta Sans" pitchFamily="34" charset="-122"/>
                          <a:cs typeface="Plus Jakarta Sans" pitchFamily="34" charset="-120"/>
                        </a:rPr>
                        <a:t>$0</a:t>
                      </a:r>
                      <a:endParaRPr lang="en-US" sz="95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CDD0D9"/>
                      </a:solidFill>
                      <a:prstDash val="solid"/>
                      <a:round/>
                      <a:headEnd type="none" w="med" len="med"/>
                      <a:tailEnd type="none" w="med" len="med"/>
                    </a:lnT>
                    <a:lnB w="9525" cap="flat" cmpd="sng" algn="ctr">
                      <a:solidFill>
                        <a:srgbClr val="CDD0D9"/>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13151C"/>
                          </a:solidFill>
                          <a:latin typeface="Plus Jakarta Sans" pitchFamily="34" charset="0"/>
                          <a:ea typeface="Plus Jakarta Sans" pitchFamily="34" charset="-122"/>
                          <a:cs typeface="Plus Jakarta Sans" pitchFamily="34" charset="-120"/>
                        </a:rPr>
                        <a:t>$1,000</a:t>
                      </a:r>
                      <a:endParaRPr lang="en-US" sz="95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CDD0D9"/>
                      </a:solidFill>
                      <a:prstDash val="solid"/>
                      <a:round/>
                      <a:headEnd type="none" w="med" len="med"/>
                      <a:tailEnd type="none" w="med" len="med"/>
                    </a:lnT>
                    <a:lnB w="9525" cap="flat" cmpd="sng" algn="ctr">
                      <a:solidFill>
                        <a:srgbClr val="CDD0D9"/>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13151C"/>
                          </a:solidFill>
                          <a:latin typeface="Plus Jakarta Sans" pitchFamily="34" charset="0"/>
                          <a:ea typeface="Plus Jakarta Sans" pitchFamily="34" charset="-122"/>
                          <a:cs typeface="Plus Jakarta Sans" pitchFamily="34" charset="-120"/>
                        </a:rPr>
                        <a:t>$3,000</a:t>
                      </a:r>
                      <a:endParaRPr lang="en-US" sz="95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CDD0D9"/>
                      </a:solidFill>
                      <a:prstDash val="solid"/>
                      <a:round/>
                      <a:headEnd type="none" w="med" len="med"/>
                      <a:tailEnd type="none" w="med" len="med"/>
                    </a:lnT>
                    <a:lnB w="9525" cap="flat" cmpd="sng" algn="ctr">
                      <a:solidFill>
                        <a:srgbClr val="CDD0D9"/>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13151C"/>
                          </a:solidFill>
                          <a:latin typeface="Plus Jakarta Sans" pitchFamily="34" charset="0"/>
                          <a:ea typeface="Plus Jakarta Sans" pitchFamily="34" charset="-122"/>
                          <a:cs typeface="Plus Jakarta Sans" pitchFamily="34" charset="-120"/>
                        </a:rPr>
                        <a:t>$7,500</a:t>
                      </a:r>
                      <a:endParaRPr lang="en-US" sz="95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CDD0D9"/>
                      </a:solidFill>
                      <a:prstDash val="solid"/>
                      <a:round/>
                      <a:headEnd type="none" w="med" len="med"/>
                      <a:tailEnd type="none" w="med" len="med"/>
                    </a:lnT>
                    <a:lnB w="9525" cap="flat" cmpd="sng" algn="ctr">
                      <a:solidFill>
                        <a:srgbClr val="CDD0D9"/>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194EFF"/>
                          </a:solidFill>
                          <a:latin typeface="Plus Jakarta Sans" pitchFamily="34" charset="0"/>
                          <a:ea typeface="Plus Jakarta Sans" pitchFamily="34" charset="-122"/>
                          <a:cs typeface="Plus Jakarta Sans" pitchFamily="34" charset="-120"/>
                        </a:rPr>
                        <a:t>$15,000</a:t>
                      </a:r>
                      <a:endParaRPr lang="en-US" sz="95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CDD0D9"/>
                      </a:solidFill>
                      <a:prstDash val="solid"/>
                      <a:round/>
                      <a:headEnd type="none" w="med" len="med"/>
                      <a:tailEnd type="none" w="med" len="med"/>
                    </a:lnT>
                    <a:lnB w="9525" cap="flat" cmpd="sng" algn="ctr">
                      <a:solidFill>
                        <a:srgbClr val="CDD0D9"/>
                      </a:solidFill>
                      <a:prstDash val="solid"/>
                      <a:round/>
                      <a:headEnd type="none" w="med" len="med"/>
                      <a:tailEnd type="none" w="med" len="med"/>
                    </a:lnB>
                    <a:solidFill>
                      <a:srgbClr val="FFFFFF"/>
                    </a:solidFill>
                  </a:tcPr>
                </a:tc>
              </a:tr>
              <a:tr h="330200">
                <a:tc>
                  <a:txBody>
                    <a:bodyPr/>
                    <a:lstStyle/>
                    <a:p>
                      <a:pPr algn="l" indent="0" marL="0">
                        <a:buNone/>
                      </a:pPr>
                      <a:r>
                        <a:rPr lang="en-US" sz="950" dirty="0">
                          <a:solidFill>
                            <a:srgbClr val="13151C"/>
                          </a:solidFill>
                          <a:latin typeface="Plus Jakarta Sans SemiBold" pitchFamily="34" charset="0"/>
                          <a:ea typeface="Plus Jakarta Sans SemiBold" pitchFamily="34" charset="-122"/>
                          <a:cs typeface="Plus Jakarta Sans SemiBold" pitchFamily="34" charset="-120"/>
                        </a:rPr>
                        <a:t>Indicative sandbox value</a:t>
                      </a:r>
                      <a:endParaRPr lang="en-US" sz="950" dirty="0">
                        <a:latin typeface="Plus Jakarta Sans SemiBold" charset="0"/>
                        <a:ea typeface="Plus Jakarta Sans SemiBold" charset="0"/>
                        <a:cs typeface="Plus Jakarta Sans SemiBold" charset="0"/>
                      </a:endParaRPr>
                    </a:p>
                  </a:txBody>
                  <a:tcPr marL="101600" marR="101600" marT="38100" marB="38100" anchor="ctr">
                    <a:lnL w="0" cap="flat" cmpd="sng" algn="ctr">
                      <a:noFill/>
                    </a:lnL>
                    <a:lnR w="0" cap="flat" cmpd="sng" algn="ctr">
                      <a:noFill/>
                    </a:lnR>
                    <a:lnT w="9525" cap="flat" cmpd="sng" algn="ctr">
                      <a:solidFill>
                        <a:srgbClr val="CDD0D9"/>
                      </a:solidFill>
                      <a:prstDash val="solid"/>
                      <a:round/>
                      <a:headEnd type="none" w="med" len="med"/>
                      <a:tailEnd type="none" w="med" len="med"/>
                    </a:lnT>
                    <a:lnB w="9525" cap="flat" cmpd="sng" algn="ctr">
                      <a:solidFill>
                        <a:srgbClr val="CDD0D9"/>
                      </a:solidFill>
                      <a:prstDash val="solid"/>
                      <a:round/>
                      <a:headEnd type="none" w="med" len="med"/>
                      <a:tailEnd type="none" w="med" len="med"/>
                    </a:lnB>
                    <a:solidFill>
                      <a:srgbClr val="F7FBFD"/>
                    </a:solidFill>
                  </a:tcPr>
                </a:tc>
                <a:tc>
                  <a:txBody>
                    <a:bodyPr/>
                    <a:lstStyle/>
                    <a:p>
                      <a:pPr algn="ctr" indent="0" marL="0">
                        <a:buNone/>
                      </a:pPr>
                      <a:r>
                        <a:rPr lang="en-US" sz="950" dirty="0">
                          <a:solidFill>
                            <a:srgbClr val="13151C"/>
                          </a:solidFill>
                          <a:latin typeface="Plus Jakarta Sans" pitchFamily="34" charset="0"/>
                          <a:ea typeface="Plus Jakarta Sans" pitchFamily="34" charset="-122"/>
                          <a:cs typeface="Plus Jakarta Sans" pitchFamily="34" charset="-120"/>
                        </a:rPr>
                        <a:t>Up to $2,500</a:t>
                      </a:r>
                      <a:endParaRPr lang="en-US" sz="95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CDD0D9"/>
                      </a:solidFill>
                      <a:prstDash val="solid"/>
                      <a:round/>
                      <a:headEnd type="none" w="med" len="med"/>
                      <a:tailEnd type="none" w="med" len="med"/>
                    </a:lnT>
                    <a:lnB w="9525" cap="flat" cmpd="sng" algn="ctr">
                      <a:solidFill>
                        <a:srgbClr val="CDD0D9"/>
                      </a:solidFill>
                      <a:prstDash val="solid"/>
                      <a:round/>
                      <a:headEnd type="none" w="med" len="med"/>
                      <a:tailEnd type="none" w="med" len="med"/>
                    </a:lnB>
                    <a:solidFill>
                      <a:srgbClr val="F7FBFD"/>
                    </a:solidFill>
                  </a:tcPr>
                </a:tc>
                <a:tc>
                  <a:txBody>
                    <a:bodyPr/>
                    <a:lstStyle/>
                    <a:p>
                      <a:pPr algn="ctr" indent="0" marL="0">
                        <a:buNone/>
                      </a:pPr>
                      <a:r>
                        <a:rPr lang="en-US" sz="950" dirty="0">
                          <a:solidFill>
                            <a:srgbClr val="13151C"/>
                          </a:solidFill>
                          <a:latin typeface="Plus Jakarta Sans" pitchFamily="34" charset="0"/>
                          <a:ea typeface="Plus Jakarta Sans" pitchFamily="34" charset="-122"/>
                          <a:cs typeface="Plus Jakarta Sans" pitchFamily="34" charset="-120"/>
                        </a:rPr>
                        <a:t>Up to $5,000</a:t>
                      </a:r>
                      <a:endParaRPr lang="en-US" sz="95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CDD0D9"/>
                      </a:solidFill>
                      <a:prstDash val="solid"/>
                      <a:round/>
                      <a:headEnd type="none" w="med" len="med"/>
                      <a:tailEnd type="none" w="med" len="med"/>
                    </a:lnT>
                    <a:lnB w="9525" cap="flat" cmpd="sng" algn="ctr">
                      <a:solidFill>
                        <a:srgbClr val="CDD0D9"/>
                      </a:solidFill>
                      <a:prstDash val="solid"/>
                      <a:round/>
                      <a:headEnd type="none" w="med" len="med"/>
                      <a:tailEnd type="none" w="med" len="med"/>
                    </a:lnB>
                    <a:solidFill>
                      <a:srgbClr val="F7FBFD"/>
                    </a:solidFill>
                  </a:tcPr>
                </a:tc>
                <a:tc>
                  <a:txBody>
                    <a:bodyPr/>
                    <a:lstStyle/>
                    <a:p>
                      <a:pPr algn="ctr" indent="0" marL="0">
                        <a:buNone/>
                      </a:pPr>
                      <a:r>
                        <a:rPr lang="en-US" sz="950" dirty="0">
                          <a:solidFill>
                            <a:srgbClr val="13151C"/>
                          </a:solidFill>
                          <a:latin typeface="Plus Jakarta Sans" pitchFamily="34" charset="0"/>
                          <a:ea typeface="Plus Jakarta Sans" pitchFamily="34" charset="-122"/>
                          <a:cs typeface="Plus Jakarta Sans" pitchFamily="34" charset="-120"/>
                        </a:rPr>
                        <a:t>Up to $10,000</a:t>
                      </a:r>
                      <a:endParaRPr lang="en-US" sz="95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CDD0D9"/>
                      </a:solidFill>
                      <a:prstDash val="solid"/>
                      <a:round/>
                      <a:headEnd type="none" w="med" len="med"/>
                      <a:tailEnd type="none" w="med" len="med"/>
                    </a:lnT>
                    <a:lnB w="9525" cap="flat" cmpd="sng" algn="ctr">
                      <a:solidFill>
                        <a:srgbClr val="CDD0D9"/>
                      </a:solidFill>
                      <a:prstDash val="solid"/>
                      <a:round/>
                      <a:headEnd type="none" w="med" len="med"/>
                      <a:tailEnd type="none" w="med" len="med"/>
                    </a:lnB>
                    <a:solidFill>
                      <a:srgbClr val="F7FBFD"/>
                    </a:solidFill>
                  </a:tcPr>
                </a:tc>
                <a:tc>
                  <a:txBody>
                    <a:bodyPr/>
                    <a:lstStyle/>
                    <a:p>
                      <a:pPr algn="ctr" indent="0" marL="0">
                        <a:buNone/>
                      </a:pPr>
                      <a:r>
                        <a:rPr lang="en-US" sz="950" dirty="0">
                          <a:solidFill>
                            <a:srgbClr val="13151C"/>
                          </a:solidFill>
                          <a:latin typeface="Plus Jakarta Sans" pitchFamily="34" charset="0"/>
                          <a:ea typeface="Plus Jakarta Sans" pitchFamily="34" charset="-122"/>
                          <a:cs typeface="Plus Jakarta Sans" pitchFamily="34" charset="-120"/>
                        </a:rPr>
                        <a:t>Up to $25,000</a:t>
                      </a:r>
                      <a:endParaRPr lang="en-US" sz="95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CDD0D9"/>
                      </a:solidFill>
                      <a:prstDash val="solid"/>
                      <a:round/>
                      <a:headEnd type="none" w="med" len="med"/>
                      <a:tailEnd type="none" w="med" len="med"/>
                    </a:lnT>
                    <a:lnB w="9525" cap="flat" cmpd="sng" algn="ctr">
                      <a:solidFill>
                        <a:srgbClr val="CDD0D9"/>
                      </a:solidFill>
                      <a:prstDash val="solid"/>
                      <a:round/>
                      <a:headEnd type="none" w="med" len="med"/>
                      <a:tailEnd type="none" w="med" len="med"/>
                    </a:lnB>
                    <a:solidFill>
                      <a:srgbClr val="F7FBFD"/>
                    </a:solidFill>
                  </a:tcPr>
                </a:tc>
                <a:tc>
                  <a:txBody>
                    <a:bodyPr/>
                    <a:lstStyle/>
                    <a:p>
                      <a:pPr algn="ctr" indent="0" marL="0">
                        <a:buNone/>
                      </a:pPr>
                      <a:r>
                        <a:rPr lang="en-US" sz="950" b="1" dirty="0">
                          <a:solidFill>
                            <a:srgbClr val="194EFF"/>
                          </a:solidFill>
                          <a:latin typeface="Plus Jakarta Sans" pitchFamily="34" charset="0"/>
                          <a:ea typeface="Plus Jakarta Sans" pitchFamily="34" charset="-122"/>
                          <a:cs typeface="Plus Jakarta Sans" pitchFamily="34" charset="-120"/>
                        </a:rPr>
                        <a:t>Up to $50,000</a:t>
                      </a:r>
                      <a:endParaRPr lang="en-US" sz="95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CDD0D9"/>
                      </a:solidFill>
                      <a:prstDash val="solid"/>
                      <a:round/>
                      <a:headEnd type="none" w="med" len="med"/>
                      <a:tailEnd type="none" w="med" len="med"/>
                    </a:lnT>
                    <a:lnB w="9525" cap="flat" cmpd="sng" algn="ctr">
                      <a:solidFill>
                        <a:srgbClr val="CDD0D9"/>
                      </a:solidFill>
                      <a:prstDash val="solid"/>
                      <a:round/>
                      <a:headEnd type="none" w="med" len="med"/>
                      <a:tailEnd type="none" w="med" len="med"/>
                    </a:lnB>
                    <a:solidFill>
                      <a:srgbClr val="F7FBFD"/>
                    </a:solidFill>
                  </a:tcPr>
                </a:tc>
              </a:tr>
              <a:tr h="330200">
                <a:tc>
                  <a:txBody>
                    <a:bodyPr/>
                    <a:lstStyle/>
                    <a:p>
                      <a:pPr algn="l" indent="0" marL="0">
                        <a:buNone/>
                      </a:pPr>
                      <a:r>
                        <a:rPr lang="en-US" sz="950" dirty="0">
                          <a:solidFill>
                            <a:srgbClr val="13151C"/>
                          </a:solidFill>
                          <a:latin typeface="Plus Jakarta Sans SemiBold" pitchFamily="34" charset="0"/>
                          <a:ea typeface="Plus Jakarta Sans SemiBold" pitchFamily="34" charset="-122"/>
                          <a:cs typeface="Plus Jakarta Sans SemiBold" pitchFamily="34" charset="-120"/>
                        </a:rPr>
                        <a:t>Partner Success Manager</a:t>
                      </a:r>
                      <a:endParaRPr lang="en-US" sz="950" dirty="0">
                        <a:latin typeface="Plus Jakarta Sans SemiBold" charset="0"/>
                        <a:ea typeface="Plus Jakarta Sans SemiBold" charset="0"/>
                        <a:cs typeface="Plus Jakarta Sans SemiBold" charset="0"/>
                      </a:endParaRPr>
                    </a:p>
                  </a:txBody>
                  <a:tcPr marL="101600" marR="101600" marT="38100" marB="38100" anchor="ctr">
                    <a:lnL w="0" cap="flat" cmpd="sng" algn="ctr">
                      <a:noFill/>
                    </a:lnL>
                    <a:lnR w="0" cap="flat" cmpd="sng" algn="ctr">
                      <a:noFill/>
                    </a:lnR>
                    <a:lnT w="9525" cap="flat" cmpd="sng" algn="ctr">
                      <a:solidFill>
                        <a:srgbClr val="CDD0D9"/>
                      </a:solidFill>
                      <a:prstDash val="solid"/>
                      <a:round/>
                      <a:headEnd type="none" w="med" len="med"/>
                      <a:tailEnd type="none" w="med" len="med"/>
                    </a:lnT>
                    <a:lnB w="9525" cap="flat" cmpd="sng" algn="ctr">
                      <a:solidFill>
                        <a:srgbClr val="CDD0D9"/>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13151C"/>
                          </a:solidFill>
                          <a:latin typeface="Plus Jakarta Sans" pitchFamily="34" charset="0"/>
                          <a:ea typeface="Plus Jakarta Sans" pitchFamily="34" charset="-122"/>
                          <a:cs typeface="Plus Jakarta Sans" pitchFamily="34" charset="-120"/>
                        </a:rPr>
                        <a:t>Shared</a:t>
                      </a:r>
                      <a:endParaRPr lang="en-US" sz="95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CDD0D9"/>
                      </a:solidFill>
                      <a:prstDash val="solid"/>
                      <a:round/>
                      <a:headEnd type="none" w="med" len="med"/>
                      <a:tailEnd type="none" w="med" len="med"/>
                    </a:lnT>
                    <a:lnB w="9525" cap="flat" cmpd="sng" algn="ctr">
                      <a:solidFill>
                        <a:srgbClr val="CDD0D9"/>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13151C"/>
                          </a:solidFill>
                          <a:latin typeface="Plus Jakarta Sans" pitchFamily="34" charset="0"/>
                          <a:ea typeface="Plus Jakarta Sans" pitchFamily="34" charset="-122"/>
                          <a:cs typeface="Plus Jakarta Sans" pitchFamily="34" charset="-120"/>
                        </a:rPr>
                        <a:t>Shared</a:t>
                      </a:r>
                      <a:endParaRPr lang="en-US" sz="95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CDD0D9"/>
                      </a:solidFill>
                      <a:prstDash val="solid"/>
                      <a:round/>
                      <a:headEnd type="none" w="med" len="med"/>
                      <a:tailEnd type="none" w="med" len="med"/>
                    </a:lnT>
                    <a:lnB w="9525" cap="flat" cmpd="sng" algn="ctr">
                      <a:solidFill>
                        <a:srgbClr val="CDD0D9"/>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13151C"/>
                          </a:solidFill>
                          <a:latin typeface="Plus Jakarta Sans" pitchFamily="34" charset="0"/>
                          <a:ea typeface="Plus Jakarta Sans" pitchFamily="34" charset="-122"/>
                          <a:cs typeface="Plus Jakarta Sans" pitchFamily="34" charset="-120"/>
                        </a:rPr>
                        <a:t>Named</a:t>
                      </a:r>
                      <a:endParaRPr lang="en-US" sz="95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CDD0D9"/>
                      </a:solidFill>
                      <a:prstDash val="solid"/>
                      <a:round/>
                      <a:headEnd type="none" w="med" len="med"/>
                      <a:tailEnd type="none" w="med" len="med"/>
                    </a:lnT>
                    <a:lnB w="9525" cap="flat" cmpd="sng" algn="ctr">
                      <a:solidFill>
                        <a:srgbClr val="CDD0D9"/>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13151C"/>
                          </a:solidFill>
                          <a:latin typeface="Plus Jakarta Sans" pitchFamily="34" charset="0"/>
                          <a:ea typeface="Plus Jakarta Sans" pitchFamily="34" charset="-122"/>
                          <a:cs typeface="Plus Jakarta Sans" pitchFamily="34" charset="-120"/>
                        </a:rPr>
                        <a:t>Named</a:t>
                      </a:r>
                      <a:endParaRPr lang="en-US" sz="95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CDD0D9"/>
                      </a:solidFill>
                      <a:prstDash val="solid"/>
                      <a:round/>
                      <a:headEnd type="none" w="med" len="med"/>
                      <a:tailEnd type="none" w="med" len="med"/>
                    </a:lnT>
                    <a:lnB w="9525" cap="flat" cmpd="sng" algn="ctr">
                      <a:solidFill>
                        <a:srgbClr val="CDD0D9"/>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194EFF"/>
                          </a:solidFill>
                          <a:latin typeface="Plus Jakarta Sans" pitchFamily="34" charset="0"/>
                          <a:ea typeface="Plus Jakarta Sans" pitchFamily="34" charset="-122"/>
                          <a:cs typeface="Plus Jakarta Sans" pitchFamily="34" charset="-120"/>
                        </a:rPr>
                        <a:t>Strategic</a:t>
                      </a:r>
                      <a:endParaRPr lang="en-US" sz="95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CDD0D9"/>
                      </a:solidFill>
                      <a:prstDash val="solid"/>
                      <a:round/>
                      <a:headEnd type="none" w="med" len="med"/>
                      <a:tailEnd type="none" w="med" len="med"/>
                    </a:lnT>
                    <a:lnB w="9525" cap="flat" cmpd="sng" algn="ctr">
                      <a:solidFill>
                        <a:srgbClr val="CDD0D9"/>
                      </a:solidFill>
                      <a:prstDash val="solid"/>
                      <a:round/>
                      <a:headEnd type="none" w="med" len="med"/>
                      <a:tailEnd type="none" w="med" len="med"/>
                    </a:lnB>
                    <a:solidFill>
                      <a:srgbClr val="FFFFFF"/>
                    </a:solidFill>
                  </a:tcPr>
                </a:tc>
              </a:tr>
              <a:tr h="330200">
                <a:tc>
                  <a:txBody>
                    <a:bodyPr/>
                    <a:lstStyle/>
                    <a:p>
                      <a:pPr algn="l" indent="0" marL="0">
                        <a:buNone/>
                      </a:pPr>
                      <a:r>
                        <a:rPr lang="en-US" sz="950" dirty="0">
                          <a:solidFill>
                            <a:srgbClr val="13151C"/>
                          </a:solidFill>
                          <a:latin typeface="Plus Jakarta Sans SemiBold" pitchFamily="34" charset="0"/>
                          <a:ea typeface="Plus Jakarta Sans SemiBold" pitchFamily="34" charset="-122"/>
                          <a:cs typeface="Plus Jakarta Sans SemiBold" pitchFamily="34" charset="-120"/>
                        </a:rPr>
                        <a:t>Priority support</a:t>
                      </a:r>
                      <a:endParaRPr lang="en-US" sz="950" dirty="0">
                        <a:latin typeface="Plus Jakarta Sans SemiBold" charset="0"/>
                        <a:ea typeface="Plus Jakarta Sans SemiBold" charset="0"/>
                        <a:cs typeface="Plus Jakarta Sans SemiBold" charset="0"/>
                      </a:endParaRPr>
                    </a:p>
                  </a:txBody>
                  <a:tcPr marL="101600" marR="101600" marT="38100" marB="38100" anchor="ctr">
                    <a:lnL w="0" cap="flat" cmpd="sng" algn="ctr">
                      <a:noFill/>
                    </a:lnL>
                    <a:lnR w="0" cap="flat" cmpd="sng" algn="ctr">
                      <a:noFill/>
                    </a:lnR>
                    <a:lnT w="9525" cap="flat" cmpd="sng" algn="ctr">
                      <a:solidFill>
                        <a:srgbClr val="CDD0D9"/>
                      </a:solidFill>
                      <a:prstDash val="solid"/>
                      <a:round/>
                      <a:headEnd type="none" w="med" len="med"/>
                      <a:tailEnd type="none" w="med" len="med"/>
                    </a:lnT>
                    <a:lnB w="9525" cap="flat" cmpd="sng" algn="ctr">
                      <a:solidFill>
                        <a:srgbClr val="CDD0D9"/>
                      </a:solidFill>
                      <a:prstDash val="solid"/>
                      <a:round/>
                      <a:headEnd type="none" w="med" len="med"/>
                      <a:tailEnd type="none" w="med" len="med"/>
                    </a:lnB>
                    <a:solidFill>
                      <a:srgbClr val="F7FBFD"/>
                    </a:solidFill>
                  </a:tcPr>
                </a:tc>
                <a:tc>
                  <a:txBody>
                    <a:bodyPr/>
                    <a:lstStyle/>
                    <a:p>
                      <a:pPr algn="ctr" indent="0" marL="0">
                        <a:buNone/>
                      </a:pPr>
                      <a:r>
                        <a:rPr lang="en-US" sz="950" dirty="0">
                          <a:solidFill>
                            <a:srgbClr val="13151C"/>
                          </a:solidFill>
                          <a:latin typeface="Plus Jakarta Sans" pitchFamily="34" charset="0"/>
                          <a:ea typeface="Plus Jakarta Sans" pitchFamily="34" charset="-122"/>
                          <a:cs typeface="Plus Jakarta Sans" pitchFamily="34" charset="-120"/>
                        </a:rPr>
                        <a:t>—</a:t>
                      </a:r>
                      <a:endParaRPr lang="en-US" sz="95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CDD0D9"/>
                      </a:solidFill>
                      <a:prstDash val="solid"/>
                      <a:round/>
                      <a:headEnd type="none" w="med" len="med"/>
                      <a:tailEnd type="none" w="med" len="med"/>
                    </a:lnT>
                    <a:lnB w="9525" cap="flat" cmpd="sng" algn="ctr">
                      <a:solidFill>
                        <a:srgbClr val="CDD0D9"/>
                      </a:solidFill>
                      <a:prstDash val="solid"/>
                      <a:round/>
                      <a:headEnd type="none" w="med" len="med"/>
                      <a:tailEnd type="none" w="med" len="med"/>
                    </a:lnB>
                    <a:solidFill>
                      <a:srgbClr val="F7FBFD"/>
                    </a:solidFill>
                  </a:tcPr>
                </a:tc>
                <a:tc>
                  <a:txBody>
                    <a:bodyPr/>
                    <a:lstStyle/>
                    <a:p>
                      <a:pPr algn="ctr" indent="0" marL="0">
                        <a:buNone/>
                      </a:pPr>
                      <a:r>
                        <a:rPr lang="en-US" sz="950" dirty="0">
                          <a:solidFill>
                            <a:srgbClr val="13151C"/>
                          </a:solidFill>
                          <a:latin typeface="Plus Jakarta Sans" pitchFamily="34" charset="0"/>
                          <a:ea typeface="Plus Jakarta Sans" pitchFamily="34" charset="-122"/>
                          <a:cs typeface="Plus Jakarta Sans" pitchFamily="34" charset="-120"/>
                        </a:rPr>
                        <a:t>Limited</a:t>
                      </a:r>
                      <a:endParaRPr lang="en-US" sz="95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CDD0D9"/>
                      </a:solidFill>
                      <a:prstDash val="solid"/>
                      <a:round/>
                      <a:headEnd type="none" w="med" len="med"/>
                      <a:tailEnd type="none" w="med" len="med"/>
                    </a:lnT>
                    <a:lnB w="9525" cap="flat" cmpd="sng" algn="ctr">
                      <a:solidFill>
                        <a:srgbClr val="CDD0D9"/>
                      </a:solidFill>
                      <a:prstDash val="solid"/>
                      <a:round/>
                      <a:headEnd type="none" w="med" len="med"/>
                      <a:tailEnd type="none" w="med" len="med"/>
                    </a:lnB>
                    <a:solidFill>
                      <a:srgbClr val="F7FBFD"/>
                    </a:solidFill>
                  </a:tcPr>
                </a:tc>
                <a:tc>
                  <a:txBody>
                    <a:bodyPr/>
                    <a:lstStyle/>
                    <a:p>
                      <a:pPr algn="ctr" indent="0" marL="0">
                        <a:buNone/>
                      </a:pPr>
                      <a:r>
                        <a:rPr lang="en-US" sz="950" dirty="0">
                          <a:solidFill>
                            <a:srgbClr val="13151C"/>
                          </a:solidFill>
                          <a:latin typeface="Plus Jakarta Sans" pitchFamily="34" charset="0"/>
                          <a:ea typeface="Plus Jakarta Sans" pitchFamily="34" charset="-122"/>
                          <a:cs typeface="Plus Jakarta Sans" pitchFamily="34" charset="-120"/>
                        </a:rPr>
                        <a:t>✓</a:t>
                      </a:r>
                      <a:endParaRPr lang="en-US" sz="95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CDD0D9"/>
                      </a:solidFill>
                      <a:prstDash val="solid"/>
                      <a:round/>
                      <a:headEnd type="none" w="med" len="med"/>
                      <a:tailEnd type="none" w="med" len="med"/>
                    </a:lnT>
                    <a:lnB w="9525" cap="flat" cmpd="sng" algn="ctr">
                      <a:solidFill>
                        <a:srgbClr val="CDD0D9"/>
                      </a:solidFill>
                      <a:prstDash val="solid"/>
                      <a:round/>
                      <a:headEnd type="none" w="med" len="med"/>
                      <a:tailEnd type="none" w="med" len="med"/>
                    </a:lnB>
                    <a:solidFill>
                      <a:srgbClr val="F7FBFD"/>
                    </a:solidFill>
                  </a:tcPr>
                </a:tc>
                <a:tc>
                  <a:txBody>
                    <a:bodyPr/>
                    <a:lstStyle/>
                    <a:p>
                      <a:pPr algn="ctr" indent="0" marL="0">
                        <a:buNone/>
                      </a:pPr>
                      <a:r>
                        <a:rPr lang="en-US" sz="950" dirty="0">
                          <a:solidFill>
                            <a:srgbClr val="13151C"/>
                          </a:solidFill>
                          <a:latin typeface="Plus Jakarta Sans" pitchFamily="34" charset="0"/>
                          <a:ea typeface="Plus Jakarta Sans" pitchFamily="34" charset="-122"/>
                          <a:cs typeface="Plus Jakarta Sans" pitchFamily="34" charset="-120"/>
                        </a:rPr>
                        <a:t>✓</a:t>
                      </a:r>
                      <a:endParaRPr lang="en-US" sz="95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CDD0D9"/>
                      </a:solidFill>
                      <a:prstDash val="solid"/>
                      <a:round/>
                      <a:headEnd type="none" w="med" len="med"/>
                      <a:tailEnd type="none" w="med" len="med"/>
                    </a:lnT>
                    <a:lnB w="9525" cap="flat" cmpd="sng" algn="ctr">
                      <a:solidFill>
                        <a:srgbClr val="CDD0D9"/>
                      </a:solidFill>
                      <a:prstDash val="solid"/>
                      <a:round/>
                      <a:headEnd type="none" w="med" len="med"/>
                      <a:tailEnd type="none" w="med" len="med"/>
                    </a:lnB>
                    <a:solidFill>
                      <a:srgbClr val="F7FBFD"/>
                    </a:solidFill>
                  </a:tcPr>
                </a:tc>
                <a:tc>
                  <a:txBody>
                    <a:bodyPr/>
                    <a:lstStyle/>
                    <a:p>
                      <a:pPr algn="ctr" indent="0" marL="0">
                        <a:buNone/>
                      </a:pPr>
                      <a:r>
                        <a:rPr lang="en-US" sz="950" b="1" dirty="0">
                          <a:solidFill>
                            <a:srgbClr val="194EFF"/>
                          </a:solidFill>
                          <a:latin typeface="Plus Jakarta Sans" pitchFamily="34" charset="0"/>
                          <a:ea typeface="Plus Jakarta Sans" pitchFamily="34" charset="-122"/>
                          <a:cs typeface="Plus Jakarta Sans" pitchFamily="34" charset="-120"/>
                        </a:rPr>
                        <a:t>✓</a:t>
                      </a:r>
                      <a:endParaRPr lang="en-US" sz="95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CDD0D9"/>
                      </a:solidFill>
                      <a:prstDash val="solid"/>
                      <a:round/>
                      <a:headEnd type="none" w="med" len="med"/>
                      <a:tailEnd type="none" w="med" len="med"/>
                    </a:lnT>
                    <a:lnB w="9525" cap="flat" cmpd="sng" algn="ctr">
                      <a:solidFill>
                        <a:srgbClr val="CDD0D9"/>
                      </a:solidFill>
                      <a:prstDash val="solid"/>
                      <a:round/>
                      <a:headEnd type="none" w="med" len="med"/>
                      <a:tailEnd type="none" w="med" len="med"/>
                    </a:lnB>
                    <a:solidFill>
                      <a:srgbClr val="F7FBFD"/>
                    </a:solidFill>
                  </a:tcPr>
                </a:tc>
              </a:tr>
              <a:tr h="330200">
                <a:tc>
                  <a:txBody>
                    <a:bodyPr/>
                    <a:lstStyle/>
                    <a:p>
                      <a:pPr algn="l" indent="0" marL="0">
                        <a:buNone/>
                      </a:pPr>
                      <a:r>
                        <a:rPr lang="en-US" sz="950" dirty="0">
                          <a:solidFill>
                            <a:srgbClr val="13151C"/>
                          </a:solidFill>
                          <a:latin typeface="Plus Jakarta Sans SemiBold" pitchFamily="34" charset="0"/>
                          <a:ea typeface="Plus Jakarta Sans SemiBold" pitchFamily="34" charset="-122"/>
                          <a:cs typeface="Plus Jakarta Sans SemiBold" pitchFamily="34" charset="-120"/>
                        </a:rPr>
                        <a:t>Architecture advisory hrs / yr</a:t>
                      </a:r>
                      <a:endParaRPr lang="en-US" sz="950" dirty="0">
                        <a:latin typeface="Plus Jakarta Sans SemiBold" charset="0"/>
                        <a:ea typeface="Plus Jakarta Sans SemiBold" charset="0"/>
                        <a:cs typeface="Plus Jakarta Sans SemiBold" charset="0"/>
                      </a:endParaRPr>
                    </a:p>
                  </a:txBody>
                  <a:tcPr marL="101600" marR="101600" marT="38100" marB="38100" anchor="ctr">
                    <a:lnL w="0" cap="flat" cmpd="sng" algn="ctr">
                      <a:noFill/>
                    </a:lnL>
                    <a:lnR w="0" cap="flat" cmpd="sng" algn="ctr">
                      <a:noFill/>
                    </a:lnR>
                    <a:lnT w="9525" cap="flat" cmpd="sng" algn="ctr">
                      <a:solidFill>
                        <a:srgbClr val="CDD0D9"/>
                      </a:solidFill>
                      <a:prstDash val="solid"/>
                      <a:round/>
                      <a:headEnd type="none" w="med" len="med"/>
                      <a:tailEnd type="none" w="med" len="med"/>
                    </a:lnT>
                    <a:lnB w="9525" cap="flat" cmpd="sng" algn="ctr">
                      <a:solidFill>
                        <a:srgbClr val="CDD0D9"/>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13151C"/>
                          </a:solidFill>
                          <a:latin typeface="Plus Jakarta Sans" pitchFamily="34" charset="0"/>
                          <a:ea typeface="Plus Jakarta Sans" pitchFamily="34" charset="-122"/>
                          <a:cs typeface="Plus Jakarta Sans" pitchFamily="34" charset="-120"/>
                        </a:rPr>
                        <a:t>00</a:t>
                      </a:r>
                      <a:endParaRPr lang="en-US" sz="95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CDD0D9"/>
                      </a:solidFill>
                      <a:prstDash val="solid"/>
                      <a:round/>
                      <a:headEnd type="none" w="med" len="med"/>
                      <a:tailEnd type="none" w="med" len="med"/>
                    </a:lnT>
                    <a:lnB w="9525" cap="flat" cmpd="sng" algn="ctr">
                      <a:solidFill>
                        <a:srgbClr val="CDD0D9"/>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13151C"/>
                          </a:solidFill>
                          <a:latin typeface="Plus Jakarta Sans" pitchFamily="34" charset="0"/>
                          <a:ea typeface="Plus Jakarta Sans" pitchFamily="34" charset="-122"/>
                          <a:cs typeface="Plus Jakarta Sans" pitchFamily="34" charset="-120"/>
                        </a:rPr>
                        <a:t>05</a:t>
                      </a:r>
                      <a:endParaRPr lang="en-US" sz="95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CDD0D9"/>
                      </a:solidFill>
                      <a:prstDash val="solid"/>
                      <a:round/>
                      <a:headEnd type="none" w="med" len="med"/>
                      <a:tailEnd type="none" w="med" len="med"/>
                    </a:lnT>
                    <a:lnB w="9525" cap="flat" cmpd="sng" algn="ctr">
                      <a:solidFill>
                        <a:srgbClr val="CDD0D9"/>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13151C"/>
                          </a:solidFill>
                          <a:latin typeface="Plus Jakarta Sans" pitchFamily="34" charset="0"/>
                          <a:ea typeface="Plus Jakarta Sans" pitchFamily="34" charset="-122"/>
                          <a:cs typeface="Plus Jakarta Sans" pitchFamily="34" charset="-120"/>
                        </a:rPr>
                        <a:t>15</a:t>
                      </a:r>
                      <a:endParaRPr lang="en-US" sz="95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CDD0D9"/>
                      </a:solidFill>
                      <a:prstDash val="solid"/>
                      <a:round/>
                      <a:headEnd type="none" w="med" len="med"/>
                      <a:tailEnd type="none" w="med" len="med"/>
                    </a:lnT>
                    <a:lnB w="9525" cap="flat" cmpd="sng" algn="ctr">
                      <a:solidFill>
                        <a:srgbClr val="CDD0D9"/>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13151C"/>
                          </a:solidFill>
                          <a:latin typeface="Plus Jakarta Sans" pitchFamily="34" charset="0"/>
                          <a:ea typeface="Plus Jakarta Sans" pitchFamily="34" charset="-122"/>
                          <a:cs typeface="Plus Jakarta Sans" pitchFamily="34" charset="-120"/>
                        </a:rPr>
                        <a:t>40</a:t>
                      </a:r>
                      <a:endParaRPr lang="en-US" sz="95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CDD0D9"/>
                      </a:solidFill>
                      <a:prstDash val="solid"/>
                      <a:round/>
                      <a:headEnd type="none" w="med" len="med"/>
                      <a:tailEnd type="none" w="med" len="med"/>
                    </a:lnT>
                    <a:lnB w="9525" cap="flat" cmpd="sng" algn="ctr">
                      <a:solidFill>
                        <a:srgbClr val="CDD0D9"/>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194EFF"/>
                          </a:solidFill>
                          <a:latin typeface="Plus Jakarta Sans" pitchFamily="34" charset="0"/>
                          <a:ea typeface="Plus Jakarta Sans" pitchFamily="34" charset="-122"/>
                          <a:cs typeface="Plus Jakarta Sans" pitchFamily="34" charset="-120"/>
                        </a:rPr>
                        <a:t>100</a:t>
                      </a:r>
                      <a:endParaRPr lang="en-US" sz="95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CDD0D9"/>
                      </a:solidFill>
                      <a:prstDash val="solid"/>
                      <a:round/>
                      <a:headEnd type="none" w="med" len="med"/>
                      <a:tailEnd type="none" w="med" len="med"/>
                    </a:lnT>
                    <a:lnB w="9525" cap="flat" cmpd="sng" algn="ctr">
                      <a:solidFill>
                        <a:srgbClr val="CDD0D9"/>
                      </a:solidFill>
                      <a:prstDash val="solid"/>
                      <a:round/>
                      <a:headEnd type="none" w="med" len="med"/>
                      <a:tailEnd type="none" w="med" len="med"/>
                    </a:lnB>
                    <a:solidFill>
                      <a:srgbClr val="FFFFFF"/>
                    </a:solidFill>
                  </a:tcPr>
                </a:tc>
              </a:tr>
              <a:tr h="330200">
                <a:tc>
                  <a:txBody>
                    <a:bodyPr/>
                    <a:lstStyle/>
                    <a:p>
                      <a:pPr algn="l" indent="0" marL="0">
                        <a:buNone/>
                      </a:pPr>
                      <a:r>
                        <a:rPr lang="en-US" sz="950" dirty="0">
                          <a:solidFill>
                            <a:srgbClr val="13151C"/>
                          </a:solidFill>
                          <a:latin typeface="Plus Jakarta Sans SemiBold" pitchFamily="34" charset="0"/>
                          <a:ea typeface="Plus Jakarta Sans SemiBold" pitchFamily="34" charset="-122"/>
                          <a:cs typeface="Plus Jakarta Sans SemiBold" pitchFamily="34" charset="-120"/>
                        </a:rPr>
                        <a:t>Executive roadmap session</a:t>
                      </a:r>
                      <a:endParaRPr lang="en-US" sz="950" dirty="0">
                        <a:latin typeface="Plus Jakarta Sans SemiBold" charset="0"/>
                        <a:ea typeface="Plus Jakarta Sans SemiBold" charset="0"/>
                        <a:cs typeface="Plus Jakarta Sans SemiBold" charset="0"/>
                      </a:endParaRPr>
                    </a:p>
                  </a:txBody>
                  <a:tcPr marL="101600" marR="101600" marT="38100" marB="38100" anchor="ctr">
                    <a:lnL w="0" cap="flat" cmpd="sng" algn="ctr">
                      <a:noFill/>
                    </a:lnL>
                    <a:lnR w="0" cap="flat" cmpd="sng" algn="ctr">
                      <a:noFill/>
                    </a:lnR>
                    <a:lnT w="9525" cap="flat" cmpd="sng" algn="ctr">
                      <a:solidFill>
                        <a:srgbClr val="CDD0D9"/>
                      </a:solidFill>
                      <a:prstDash val="solid"/>
                      <a:round/>
                      <a:headEnd type="none" w="med" len="med"/>
                      <a:tailEnd type="none" w="med" len="med"/>
                    </a:lnT>
                    <a:lnB w="9525" cap="flat" cmpd="sng" algn="ctr">
                      <a:solidFill>
                        <a:srgbClr val="CDD0D9"/>
                      </a:solidFill>
                      <a:prstDash val="solid"/>
                      <a:round/>
                      <a:headEnd type="none" w="med" len="med"/>
                      <a:tailEnd type="none" w="med" len="med"/>
                    </a:lnB>
                    <a:solidFill>
                      <a:srgbClr val="F7FBFD"/>
                    </a:solidFill>
                  </a:tcPr>
                </a:tc>
                <a:tc>
                  <a:txBody>
                    <a:bodyPr/>
                    <a:lstStyle/>
                    <a:p>
                      <a:pPr algn="ctr" indent="0" marL="0">
                        <a:buNone/>
                      </a:pPr>
                      <a:r>
                        <a:rPr lang="en-US" sz="950" dirty="0">
                          <a:solidFill>
                            <a:srgbClr val="13151C"/>
                          </a:solidFill>
                          <a:latin typeface="Plus Jakarta Sans" pitchFamily="34" charset="0"/>
                          <a:ea typeface="Plus Jakarta Sans" pitchFamily="34" charset="-122"/>
                          <a:cs typeface="Plus Jakarta Sans" pitchFamily="34" charset="-120"/>
                        </a:rPr>
                        <a:t>—</a:t>
                      </a:r>
                      <a:endParaRPr lang="en-US" sz="95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CDD0D9"/>
                      </a:solidFill>
                      <a:prstDash val="solid"/>
                      <a:round/>
                      <a:headEnd type="none" w="med" len="med"/>
                      <a:tailEnd type="none" w="med" len="med"/>
                    </a:lnT>
                    <a:lnB w="9525" cap="flat" cmpd="sng" algn="ctr">
                      <a:solidFill>
                        <a:srgbClr val="CDD0D9"/>
                      </a:solidFill>
                      <a:prstDash val="solid"/>
                      <a:round/>
                      <a:headEnd type="none" w="med" len="med"/>
                      <a:tailEnd type="none" w="med" len="med"/>
                    </a:lnB>
                    <a:solidFill>
                      <a:srgbClr val="F7FBFD"/>
                    </a:solidFill>
                  </a:tcPr>
                </a:tc>
                <a:tc>
                  <a:txBody>
                    <a:bodyPr/>
                    <a:lstStyle/>
                    <a:p>
                      <a:pPr algn="ctr" indent="0" marL="0">
                        <a:buNone/>
                      </a:pPr>
                      <a:r>
                        <a:rPr lang="en-US" sz="950" dirty="0">
                          <a:solidFill>
                            <a:srgbClr val="13151C"/>
                          </a:solidFill>
                          <a:latin typeface="Plus Jakarta Sans" pitchFamily="34" charset="0"/>
                          <a:ea typeface="Plus Jakarta Sans" pitchFamily="34" charset="-122"/>
                          <a:cs typeface="Plus Jakarta Sans" pitchFamily="34" charset="-120"/>
                        </a:rPr>
                        <a:t>—</a:t>
                      </a:r>
                      <a:endParaRPr lang="en-US" sz="95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CDD0D9"/>
                      </a:solidFill>
                      <a:prstDash val="solid"/>
                      <a:round/>
                      <a:headEnd type="none" w="med" len="med"/>
                      <a:tailEnd type="none" w="med" len="med"/>
                    </a:lnT>
                    <a:lnB w="9525" cap="flat" cmpd="sng" algn="ctr">
                      <a:solidFill>
                        <a:srgbClr val="CDD0D9"/>
                      </a:solidFill>
                      <a:prstDash val="solid"/>
                      <a:round/>
                      <a:headEnd type="none" w="med" len="med"/>
                      <a:tailEnd type="none" w="med" len="med"/>
                    </a:lnB>
                    <a:solidFill>
                      <a:srgbClr val="F7FBFD"/>
                    </a:solidFill>
                  </a:tcPr>
                </a:tc>
                <a:tc>
                  <a:txBody>
                    <a:bodyPr/>
                    <a:lstStyle/>
                    <a:p>
                      <a:pPr algn="ctr" indent="0" marL="0">
                        <a:buNone/>
                      </a:pPr>
                      <a:r>
                        <a:rPr lang="en-US" sz="950" dirty="0">
                          <a:solidFill>
                            <a:srgbClr val="13151C"/>
                          </a:solidFill>
                          <a:latin typeface="Plus Jakarta Sans" pitchFamily="34" charset="0"/>
                          <a:ea typeface="Plus Jakarta Sans" pitchFamily="34" charset="-122"/>
                          <a:cs typeface="Plus Jakarta Sans" pitchFamily="34" charset="-120"/>
                        </a:rPr>
                        <a:t>Annual</a:t>
                      </a:r>
                      <a:endParaRPr lang="en-US" sz="95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CDD0D9"/>
                      </a:solidFill>
                      <a:prstDash val="solid"/>
                      <a:round/>
                      <a:headEnd type="none" w="med" len="med"/>
                      <a:tailEnd type="none" w="med" len="med"/>
                    </a:lnT>
                    <a:lnB w="9525" cap="flat" cmpd="sng" algn="ctr">
                      <a:solidFill>
                        <a:srgbClr val="CDD0D9"/>
                      </a:solidFill>
                      <a:prstDash val="solid"/>
                      <a:round/>
                      <a:headEnd type="none" w="med" len="med"/>
                      <a:tailEnd type="none" w="med" len="med"/>
                    </a:lnB>
                    <a:solidFill>
                      <a:srgbClr val="F7FBFD"/>
                    </a:solidFill>
                  </a:tcPr>
                </a:tc>
                <a:tc>
                  <a:txBody>
                    <a:bodyPr/>
                    <a:lstStyle/>
                    <a:p>
                      <a:pPr algn="ctr" indent="0" marL="0">
                        <a:buNone/>
                      </a:pPr>
                      <a:r>
                        <a:rPr lang="en-US" sz="950" dirty="0">
                          <a:solidFill>
                            <a:srgbClr val="13151C"/>
                          </a:solidFill>
                          <a:latin typeface="Plus Jakarta Sans" pitchFamily="34" charset="0"/>
                          <a:ea typeface="Plus Jakarta Sans" pitchFamily="34" charset="-122"/>
                          <a:cs typeface="Plus Jakarta Sans" pitchFamily="34" charset="-120"/>
                        </a:rPr>
                        <a:t>Semi-annual</a:t>
                      </a:r>
                      <a:endParaRPr lang="en-US" sz="95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CDD0D9"/>
                      </a:solidFill>
                      <a:prstDash val="solid"/>
                      <a:round/>
                      <a:headEnd type="none" w="med" len="med"/>
                      <a:tailEnd type="none" w="med" len="med"/>
                    </a:lnT>
                    <a:lnB w="9525" cap="flat" cmpd="sng" algn="ctr">
                      <a:solidFill>
                        <a:srgbClr val="CDD0D9"/>
                      </a:solidFill>
                      <a:prstDash val="solid"/>
                      <a:round/>
                      <a:headEnd type="none" w="med" len="med"/>
                      <a:tailEnd type="none" w="med" len="med"/>
                    </a:lnB>
                    <a:solidFill>
                      <a:srgbClr val="F7FBFD"/>
                    </a:solidFill>
                  </a:tcPr>
                </a:tc>
                <a:tc>
                  <a:txBody>
                    <a:bodyPr/>
                    <a:lstStyle/>
                    <a:p>
                      <a:pPr algn="ctr" indent="0" marL="0">
                        <a:buNone/>
                      </a:pPr>
                      <a:r>
                        <a:rPr lang="en-US" sz="950" b="1" dirty="0">
                          <a:solidFill>
                            <a:srgbClr val="194EFF"/>
                          </a:solidFill>
                          <a:latin typeface="Plus Jakarta Sans" pitchFamily="34" charset="0"/>
                          <a:ea typeface="Plus Jakarta Sans" pitchFamily="34" charset="-122"/>
                          <a:cs typeface="Plus Jakarta Sans" pitchFamily="34" charset="-120"/>
                        </a:rPr>
                        <a:t>Quarterly</a:t>
                      </a:r>
                      <a:endParaRPr lang="en-US" sz="95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CDD0D9"/>
                      </a:solidFill>
                      <a:prstDash val="solid"/>
                      <a:round/>
                      <a:headEnd type="none" w="med" len="med"/>
                      <a:tailEnd type="none" w="med" len="med"/>
                    </a:lnT>
                    <a:lnB w="9525" cap="flat" cmpd="sng" algn="ctr">
                      <a:solidFill>
                        <a:srgbClr val="CDD0D9"/>
                      </a:solidFill>
                      <a:prstDash val="solid"/>
                      <a:round/>
                      <a:headEnd type="none" w="med" len="med"/>
                      <a:tailEnd type="none" w="med" len="med"/>
                    </a:lnB>
                    <a:solidFill>
                      <a:srgbClr val="F7FBFD"/>
                    </a:solidFill>
                  </a:tcPr>
                </a:tc>
              </a:tr>
              <a:tr h="330200">
                <a:tc>
                  <a:txBody>
                    <a:bodyPr/>
                    <a:lstStyle/>
                    <a:p>
                      <a:pPr algn="l" indent="0" marL="0">
                        <a:buNone/>
                      </a:pPr>
                      <a:r>
                        <a:rPr lang="en-US" sz="950" dirty="0">
                          <a:solidFill>
                            <a:srgbClr val="13151C"/>
                          </a:solidFill>
                          <a:latin typeface="Plus Jakarta Sans SemiBold" pitchFamily="34" charset="0"/>
                          <a:ea typeface="Plus Jakarta Sans SemiBold" pitchFamily="34" charset="-122"/>
                          <a:cs typeface="Plus Jakarta Sans SemiBold" pitchFamily="34" charset="-120"/>
                        </a:rPr>
                        <a:t>Annual ARR Bookings</a:t>
                      </a:r>
                      <a:endParaRPr lang="en-US" sz="950" dirty="0">
                        <a:latin typeface="Plus Jakarta Sans SemiBold" charset="0"/>
                        <a:ea typeface="Plus Jakarta Sans SemiBold" charset="0"/>
                        <a:cs typeface="Plus Jakarta Sans SemiBold" charset="0"/>
                      </a:endParaRPr>
                    </a:p>
                  </a:txBody>
                  <a:tcPr marL="101600" marR="101600" marT="38100" marB="38100" anchor="ctr">
                    <a:lnL w="0" cap="flat" cmpd="sng" algn="ctr">
                      <a:noFill/>
                    </a:lnL>
                    <a:lnR w="0" cap="flat" cmpd="sng" algn="ctr">
                      <a:noFill/>
                    </a:lnR>
                    <a:lnT w="9525" cap="flat" cmpd="sng" algn="ctr">
                      <a:solidFill>
                        <a:srgbClr val="CDD0D9"/>
                      </a:solidFill>
                      <a:prstDash val="solid"/>
                      <a:round/>
                      <a:headEnd type="none" w="med" len="med"/>
                      <a:tailEnd type="none" w="med" len="med"/>
                    </a:lnT>
                    <a:lnB w="9525" cap="flat" cmpd="sng" algn="ctr">
                      <a:solidFill>
                        <a:srgbClr val="CDD0D9"/>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13151C"/>
                          </a:solidFill>
                          <a:latin typeface="Plus Jakarta Sans" pitchFamily="34" charset="0"/>
                          <a:ea typeface="Plus Jakarta Sans" pitchFamily="34" charset="-122"/>
                          <a:cs typeface="Plus Jakarta Sans" pitchFamily="34" charset="-120"/>
                        </a:rPr>
                        <a:t>$0–$99,999</a:t>
                      </a:r>
                      <a:endParaRPr lang="en-US" sz="95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CDD0D9"/>
                      </a:solidFill>
                      <a:prstDash val="solid"/>
                      <a:round/>
                      <a:headEnd type="none" w="med" len="med"/>
                      <a:tailEnd type="none" w="med" len="med"/>
                    </a:lnT>
                    <a:lnB w="9525" cap="flat" cmpd="sng" algn="ctr">
                      <a:solidFill>
                        <a:srgbClr val="CDD0D9"/>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13151C"/>
                          </a:solidFill>
                          <a:latin typeface="Plus Jakarta Sans" pitchFamily="34" charset="0"/>
                          <a:ea typeface="Plus Jakarta Sans" pitchFamily="34" charset="-122"/>
                          <a:cs typeface="Plus Jakarta Sans" pitchFamily="34" charset="-120"/>
                        </a:rPr>
                        <a:t>$100K–$299,999</a:t>
                      </a:r>
                      <a:endParaRPr lang="en-US" sz="95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CDD0D9"/>
                      </a:solidFill>
                      <a:prstDash val="solid"/>
                      <a:round/>
                      <a:headEnd type="none" w="med" len="med"/>
                      <a:tailEnd type="none" w="med" len="med"/>
                    </a:lnT>
                    <a:lnB w="9525" cap="flat" cmpd="sng" algn="ctr">
                      <a:solidFill>
                        <a:srgbClr val="CDD0D9"/>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13151C"/>
                          </a:solidFill>
                          <a:latin typeface="Plus Jakarta Sans" pitchFamily="34" charset="0"/>
                          <a:ea typeface="Plus Jakarta Sans" pitchFamily="34" charset="-122"/>
                          <a:cs typeface="Plus Jakarta Sans" pitchFamily="34" charset="-120"/>
                        </a:rPr>
                        <a:t>$300K–$749,999</a:t>
                      </a:r>
                      <a:endParaRPr lang="en-US" sz="95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CDD0D9"/>
                      </a:solidFill>
                      <a:prstDash val="solid"/>
                      <a:round/>
                      <a:headEnd type="none" w="med" len="med"/>
                      <a:tailEnd type="none" w="med" len="med"/>
                    </a:lnT>
                    <a:lnB w="9525" cap="flat" cmpd="sng" algn="ctr">
                      <a:solidFill>
                        <a:srgbClr val="CDD0D9"/>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13151C"/>
                          </a:solidFill>
                          <a:latin typeface="Plus Jakarta Sans" pitchFamily="34" charset="0"/>
                          <a:ea typeface="Plus Jakarta Sans" pitchFamily="34" charset="-122"/>
                          <a:cs typeface="Plus Jakarta Sans" pitchFamily="34" charset="-120"/>
                        </a:rPr>
                        <a:t>$750K–$1.49M</a:t>
                      </a:r>
                      <a:endParaRPr lang="en-US" sz="95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CDD0D9"/>
                      </a:solidFill>
                      <a:prstDash val="solid"/>
                      <a:round/>
                      <a:headEnd type="none" w="med" len="med"/>
                      <a:tailEnd type="none" w="med" len="med"/>
                    </a:lnT>
                    <a:lnB w="9525" cap="flat" cmpd="sng" algn="ctr">
                      <a:solidFill>
                        <a:srgbClr val="CDD0D9"/>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194EFF"/>
                          </a:solidFill>
                          <a:latin typeface="Plus Jakarta Sans" pitchFamily="34" charset="0"/>
                          <a:ea typeface="Plus Jakarta Sans" pitchFamily="34" charset="-122"/>
                          <a:cs typeface="Plus Jakarta Sans" pitchFamily="34" charset="-120"/>
                        </a:rPr>
                        <a:t>$1.5M+</a:t>
                      </a:r>
                      <a:endParaRPr lang="en-US" sz="95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CDD0D9"/>
                      </a:solidFill>
                      <a:prstDash val="solid"/>
                      <a:round/>
                      <a:headEnd type="none" w="med" len="med"/>
                      <a:tailEnd type="none" w="med" len="med"/>
                    </a:lnT>
                    <a:lnB w="9525" cap="flat" cmpd="sng" algn="ctr">
                      <a:solidFill>
                        <a:srgbClr val="CDD0D9"/>
                      </a:solidFill>
                      <a:prstDash val="solid"/>
                      <a:round/>
                      <a:headEnd type="none" w="med" len="med"/>
                      <a:tailEnd type="none" w="med" len="med"/>
                    </a:lnB>
                    <a:solidFill>
                      <a:srgbClr val="FFFFFF"/>
                    </a:solidFill>
                  </a:tcPr>
                </a:tc>
              </a:tr>
              <a:tr h="330200">
                <a:tc>
                  <a:txBody>
                    <a:bodyPr/>
                    <a:lstStyle/>
                    <a:p>
                      <a:pPr algn="l" indent="0" marL="0">
                        <a:buNone/>
                      </a:pPr>
                      <a:r>
                        <a:rPr lang="en-US" sz="950" dirty="0">
                          <a:solidFill>
                            <a:srgbClr val="13151C"/>
                          </a:solidFill>
                          <a:latin typeface="Plus Jakarta Sans SemiBold" pitchFamily="34" charset="0"/>
                          <a:ea typeface="Plus Jakarta Sans SemiBold" pitchFamily="34" charset="-122"/>
                          <a:cs typeface="Plus Jakarta Sans SemiBold" pitchFamily="34" charset="-120"/>
                        </a:rPr>
                        <a:t>Certified sales / pre-sales / delivery</a:t>
                      </a:r>
                      <a:endParaRPr lang="en-US" sz="950" dirty="0">
                        <a:latin typeface="Plus Jakarta Sans SemiBold" charset="0"/>
                        <a:ea typeface="Plus Jakarta Sans SemiBold" charset="0"/>
                        <a:cs typeface="Plus Jakarta Sans SemiBold" charset="0"/>
                      </a:endParaRPr>
                    </a:p>
                  </a:txBody>
                  <a:tcPr marL="101600" marR="101600" marT="38100" marB="38100" anchor="ctr">
                    <a:lnL w="0" cap="flat" cmpd="sng" algn="ctr">
                      <a:noFill/>
                    </a:lnL>
                    <a:lnR w="0" cap="flat" cmpd="sng" algn="ctr">
                      <a:noFill/>
                    </a:lnR>
                    <a:lnT w="9525" cap="flat" cmpd="sng" algn="ctr">
                      <a:solidFill>
                        <a:srgbClr val="CDD0D9"/>
                      </a:solidFill>
                      <a:prstDash val="solid"/>
                      <a:round/>
                      <a:headEnd type="none" w="med" len="med"/>
                      <a:tailEnd type="none" w="med" len="med"/>
                    </a:lnT>
                    <a:lnB w="9525" cap="flat" cmpd="sng" algn="ctr">
                      <a:solidFill>
                        <a:srgbClr val="CDD0D9"/>
                      </a:solidFill>
                      <a:prstDash val="solid"/>
                      <a:round/>
                      <a:headEnd type="none" w="med" len="med"/>
                      <a:tailEnd type="none" w="med" len="med"/>
                    </a:lnB>
                    <a:solidFill>
                      <a:srgbClr val="F7FBFD"/>
                    </a:solidFill>
                  </a:tcPr>
                </a:tc>
                <a:tc>
                  <a:txBody>
                    <a:bodyPr/>
                    <a:lstStyle/>
                    <a:p>
                      <a:pPr algn="ctr" indent="0" marL="0">
                        <a:buNone/>
                      </a:pPr>
                      <a:r>
                        <a:rPr lang="en-US" sz="950" dirty="0">
                          <a:solidFill>
                            <a:srgbClr val="13151C"/>
                          </a:solidFill>
                          <a:latin typeface="Plus Jakarta Sans" pitchFamily="34" charset="0"/>
                          <a:ea typeface="Plus Jakarta Sans" pitchFamily="34" charset="-122"/>
                          <a:cs typeface="Plus Jakarta Sans" pitchFamily="34" charset="-120"/>
                        </a:rPr>
                        <a:t>01 / 00 / 00</a:t>
                      </a:r>
                      <a:endParaRPr lang="en-US" sz="95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CDD0D9"/>
                      </a:solidFill>
                      <a:prstDash val="solid"/>
                      <a:round/>
                      <a:headEnd type="none" w="med" len="med"/>
                      <a:tailEnd type="none" w="med" len="med"/>
                    </a:lnT>
                    <a:lnB w="9525" cap="flat" cmpd="sng" algn="ctr">
                      <a:solidFill>
                        <a:srgbClr val="CDD0D9"/>
                      </a:solidFill>
                      <a:prstDash val="solid"/>
                      <a:round/>
                      <a:headEnd type="none" w="med" len="med"/>
                      <a:tailEnd type="none" w="med" len="med"/>
                    </a:lnB>
                    <a:solidFill>
                      <a:srgbClr val="F7FBFD"/>
                    </a:solidFill>
                  </a:tcPr>
                </a:tc>
                <a:tc>
                  <a:txBody>
                    <a:bodyPr/>
                    <a:lstStyle/>
                    <a:p>
                      <a:pPr algn="ctr" indent="0" marL="0">
                        <a:buNone/>
                      </a:pPr>
                      <a:r>
                        <a:rPr lang="en-US" sz="950" dirty="0">
                          <a:solidFill>
                            <a:srgbClr val="13151C"/>
                          </a:solidFill>
                          <a:latin typeface="Plus Jakarta Sans" pitchFamily="34" charset="0"/>
                          <a:ea typeface="Plus Jakarta Sans" pitchFamily="34" charset="-122"/>
                          <a:cs typeface="Plus Jakarta Sans" pitchFamily="34" charset="-120"/>
                        </a:rPr>
                        <a:t>02 / 01 / 00</a:t>
                      </a:r>
                      <a:endParaRPr lang="en-US" sz="95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CDD0D9"/>
                      </a:solidFill>
                      <a:prstDash val="solid"/>
                      <a:round/>
                      <a:headEnd type="none" w="med" len="med"/>
                      <a:tailEnd type="none" w="med" len="med"/>
                    </a:lnT>
                    <a:lnB w="9525" cap="flat" cmpd="sng" algn="ctr">
                      <a:solidFill>
                        <a:srgbClr val="CDD0D9"/>
                      </a:solidFill>
                      <a:prstDash val="solid"/>
                      <a:round/>
                      <a:headEnd type="none" w="med" len="med"/>
                      <a:tailEnd type="none" w="med" len="med"/>
                    </a:lnB>
                    <a:solidFill>
                      <a:srgbClr val="F7FBFD"/>
                    </a:solidFill>
                  </a:tcPr>
                </a:tc>
                <a:tc>
                  <a:txBody>
                    <a:bodyPr/>
                    <a:lstStyle/>
                    <a:p>
                      <a:pPr algn="ctr" indent="0" marL="0">
                        <a:buNone/>
                      </a:pPr>
                      <a:r>
                        <a:rPr lang="en-US" sz="950" dirty="0">
                          <a:solidFill>
                            <a:srgbClr val="13151C"/>
                          </a:solidFill>
                          <a:latin typeface="Plus Jakarta Sans" pitchFamily="34" charset="0"/>
                          <a:ea typeface="Plus Jakarta Sans" pitchFamily="34" charset="-122"/>
                          <a:cs typeface="Plus Jakarta Sans" pitchFamily="34" charset="-120"/>
                        </a:rPr>
                        <a:t>04 / 02 / 02</a:t>
                      </a:r>
                      <a:endParaRPr lang="en-US" sz="95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CDD0D9"/>
                      </a:solidFill>
                      <a:prstDash val="solid"/>
                      <a:round/>
                      <a:headEnd type="none" w="med" len="med"/>
                      <a:tailEnd type="none" w="med" len="med"/>
                    </a:lnT>
                    <a:lnB w="9525" cap="flat" cmpd="sng" algn="ctr">
                      <a:solidFill>
                        <a:srgbClr val="CDD0D9"/>
                      </a:solidFill>
                      <a:prstDash val="solid"/>
                      <a:round/>
                      <a:headEnd type="none" w="med" len="med"/>
                      <a:tailEnd type="none" w="med" len="med"/>
                    </a:lnB>
                    <a:solidFill>
                      <a:srgbClr val="F7FBFD"/>
                    </a:solidFill>
                  </a:tcPr>
                </a:tc>
                <a:tc>
                  <a:txBody>
                    <a:bodyPr/>
                    <a:lstStyle/>
                    <a:p>
                      <a:pPr algn="ctr" indent="0" marL="0">
                        <a:buNone/>
                      </a:pPr>
                      <a:r>
                        <a:rPr lang="en-US" sz="950" dirty="0">
                          <a:solidFill>
                            <a:srgbClr val="13151C"/>
                          </a:solidFill>
                          <a:latin typeface="Plus Jakarta Sans" pitchFamily="34" charset="0"/>
                          <a:ea typeface="Plus Jakarta Sans" pitchFamily="34" charset="-122"/>
                          <a:cs typeface="Plus Jakarta Sans" pitchFamily="34" charset="-120"/>
                        </a:rPr>
                        <a:t>06 / 03 / 04</a:t>
                      </a:r>
                      <a:endParaRPr lang="en-US" sz="95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CDD0D9"/>
                      </a:solidFill>
                      <a:prstDash val="solid"/>
                      <a:round/>
                      <a:headEnd type="none" w="med" len="med"/>
                      <a:tailEnd type="none" w="med" len="med"/>
                    </a:lnT>
                    <a:lnB w="9525" cap="flat" cmpd="sng" algn="ctr">
                      <a:solidFill>
                        <a:srgbClr val="CDD0D9"/>
                      </a:solidFill>
                      <a:prstDash val="solid"/>
                      <a:round/>
                      <a:headEnd type="none" w="med" len="med"/>
                      <a:tailEnd type="none" w="med" len="med"/>
                    </a:lnB>
                    <a:solidFill>
                      <a:srgbClr val="F7FBFD"/>
                    </a:solidFill>
                  </a:tcPr>
                </a:tc>
                <a:tc>
                  <a:txBody>
                    <a:bodyPr/>
                    <a:lstStyle/>
                    <a:p>
                      <a:pPr algn="ctr" indent="0" marL="0">
                        <a:buNone/>
                      </a:pPr>
                      <a:r>
                        <a:rPr lang="en-US" sz="950" b="1" dirty="0">
                          <a:solidFill>
                            <a:srgbClr val="194EFF"/>
                          </a:solidFill>
                          <a:latin typeface="Plus Jakarta Sans" pitchFamily="34" charset="0"/>
                          <a:ea typeface="Plus Jakarta Sans" pitchFamily="34" charset="-122"/>
                          <a:cs typeface="Plus Jakarta Sans" pitchFamily="34" charset="-120"/>
                        </a:rPr>
                        <a:t>10+ / 05+ / 08+</a:t>
                      </a:r>
                      <a:endParaRPr lang="en-US" sz="95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CDD0D9"/>
                      </a:solidFill>
                      <a:prstDash val="solid"/>
                      <a:round/>
                      <a:headEnd type="none" w="med" len="med"/>
                      <a:tailEnd type="none" w="med" len="med"/>
                    </a:lnT>
                    <a:lnB w="9525" cap="flat" cmpd="sng" algn="ctr">
                      <a:solidFill>
                        <a:srgbClr val="CDD0D9"/>
                      </a:solidFill>
                      <a:prstDash val="solid"/>
                      <a:round/>
                      <a:headEnd type="none" w="med" len="med"/>
                      <a:tailEnd type="none" w="med" len="med"/>
                    </a:lnB>
                    <a:solidFill>
                      <a:srgbClr val="F7FBFD"/>
                    </a:solidFill>
                  </a:tcPr>
                </a:tc>
              </a:tr>
            </a:tbl>
          </a:graphicData>
        </a:graphic>
      </p:graphicFrame>
      <p:sp>
        <p:nvSpPr>
          <p:cNvPr id="7" name="anim-9-6"/>
          <p:cNvSpPr/>
          <p:nvPr/>
        </p:nvSpPr>
        <p:spPr>
          <a:xfrm>
            <a:off x="0" y="5842000"/>
            <a:ext cx="12192000" cy="1016000"/>
          </a:xfrm>
          <a:prstGeom prst="rect">
            <a:avLst/>
          </a:prstGeom>
          <a:solidFill>
            <a:srgbClr val="F5F9FB"/>
          </a:solidFill>
          <a:ln/>
        </p:spPr>
      </p:sp>
      <p:pic>
        <p:nvPicPr>
          <p:cNvPr id="8" name="anim-9-7" descr="/tmp/claude-0/-home-user-hosting/7c832a48-0979-56aa-9fdf-7d53efb9dc7a/scratchpad/build/img/motif-left.png">    </p:cNvPr>
          <p:cNvPicPr>
            <a:picLocks noChangeAspect="1"/>
          </p:cNvPicPr>
          <p:nvPr/>
        </p:nvPicPr>
        <p:blipFill>
          <a:blip r:embed="rId2"/>
          <a:stretch>
            <a:fillRect/>
          </a:stretch>
        </p:blipFill>
        <p:spPr>
          <a:xfrm>
            <a:off x="0" y="5842000"/>
            <a:ext cx="844550" cy="1016000"/>
          </a:xfrm>
          <a:prstGeom prst="rect">
            <a:avLst/>
          </a:prstGeom>
        </p:spPr>
      </p:pic>
      <p:pic>
        <p:nvPicPr>
          <p:cNvPr id="9" name="anim-9-8" descr="/tmp/claude-0/-home-user-hosting/7c832a48-0979-56aa-9fdf-7d53efb9dc7a/scratchpad/build/img/motif-right.png">    </p:cNvPr>
          <p:cNvPicPr>
            <a:picLocks noChangeAspect="1"/>
          </p:cNvPicPr>
          <p:nvPr/>
        </p:nvPicPr>
        <p:blipFill>
          <a:blip r:embed="rId3"/>
          <a:stretch>
            <a:fillRect/>
          </a:stretch>
        </p:blipFill>
        <p:spPr>
          <a:xfrm>
            <a:off x="11347450" y="5842000"/>
            <a:ext cx="844550" cy="1016000"/>
          </a:xfrm>
          <a:prstGeom prst="rect">
            <a:avLst/>
          </a:prstGeom>
        </p:spPr>
      </p:pic>
      <p:sp>
        <p:nvSpPr>
          <p:cNvPr id="10" name="anim-9-9"/>
          <p:cNvSpPr txBox="1"/>
          <p:nvPr/>
        </p:nvSpPr>
        <p:spPr>
          <a:xfrm>
            <a:off x="1079500" y="5969000"/>
            <a:ext cx="2095500" cy="558800"/>
          </a:xfrm>
          <a:prstGeom prst="rect">
            <a:avLst/>
          </a:prstGeom>
          <a:noFill/>
          <a:ln/>
        </p:spPr>
        <p:txBody>
          <a:bodyPr wrap="square" lIns="0" tIns="0" rIns="0" bIns="0" rtlCol="0" anchor="ctr"/>
          <a:lstStyle/>
          <a:p>
            <a:pPr algn="l" indent="0" marL="0">
              <a:lnSpc>
                <a:spcPct val="112000"/>
              </a:lnSpc>
              <a:buNone/>
            </a:pPr>
            <a:r>
              <a:rPr lang="en-US" sz="1200" b="1" dirty="0">
                <a:solidFill>
                  <a:srgbClr val="194EFF"/>
                </a:solidFill>
                <a:latin typeface="Plus Jakarta Sans" pitchFamily="34" charset="0"/>
                <a:ea typeface="Plus Jakarta Sans" pitchFamily="34" charset="-122"/>
                <a:cs typeface="Plus Jakarta Sans" pitchFamily="34" charset="-120"/>
              </a:rPr>
              <a:t>Invest Together</a:t>
            </a:r>
            <a:endParaRPr lang="en-US" sz="1200" dirty="0"/>
          </a:p>
        </p:txBody>
      </p:sp>
      <p:sp>
        <p:nvSpPr>
          <p:cNvPr id="11" name="anim-9-10"/>
          <p:cNvSpPr txBox="1"/>
          <p:nvPr/>
        </p:nvSpPr>
        <p:spPr>
          <a:xfrm>
            <a:off x="3302000" y="5969000"/>
            <a:ext cx="7810500" cy="558800"/>
          </a:xfrm>
          <a:prstGeom prst="rect">
            <a:avLst/>
          </a:prstGeom>
          <a:noFill/>
          <a:ln/>
        </p:spPr>
        <p:txBody>
          <a:bodyPr wrap="square" lIns="0" tIns="0" rIns="0" bIns="0" rtlCol="0" anchor="ctr"/>
          <a:lstStyle/>
          <a:p>
            <a:pPr algn="l" indent="0" marL="0">
              <a:lnSpc>
                <a:spcPct val="112000"/>
              </a:lnSpc>
              <a:buNone/>
            </a:pPr>
            <a:r>
              <a:rPr lang="en-US" sz="1100" dirty="0">
                <a:solidFill>
                  <a:srgbClr val="13151C"/>
                </a:solidFill>
                <a:latin typeface="Plus Jakarta Sans Medium" pitchFamily="34" charset="0"/>
                <a:ea typeface="Plus Jakarta Sans Medium" pitchFamily="34" charset="-122"/>
                <a:cs typeface="Plus Jakarta Sans Medium" pitchFamily="34" charset="-120"/>
              </a:rPr>
              <a:t>The higher you climb, the more DignifyX invests in your success.</a:t>
            </a:r>
            <a:endParaRPr lang="en-US" sz="1100" dirty="0"/>
          </a:p>
        </p:txBody>
      </p:sp>
      <p:sp>
        <p:nvSpPr>
          <p:cNvPr id="12" name="Text 6"/>
          <p:cNvSpPr txBox="1"/>
          <p:nvPr/>
        </p:nvSpPr>
        <p:spPr>
          <a:xfrm>
            <a:off x="1079500" y="6578600"/>
            <a:ext cx="10033000" cy="165100"/>
          </a:xfrm>
          <a:prstGeom prst="rect">
            <a:avLst/>
          </a:prstGeom>
          <a:noFill/>
          <a:ln/>
        </p:spPr>
        <p:txBody>
          <a:bodyPr wrap="square" lIns="0" tIns="0" rIns="0" bIns="0" rtlCol="0" anchor="t"/>
          <a:lstStyle/>
          <a:p>
            <a:pPr algn="ctr" indent="0" marL="0">
              <a:lnSpc>
                <a:spcPct val="112000"/>
              </a:lnSpc>
              <a:buNone/>
            </a:pPr>
            <a:r>
              <a:rPr lang="en-US" sz="750" dirty="0">
                <a:solidFill>
                  <a:srgbClr val="8A8C93"/>
                </a:solidFill>
                <a:latin typeface="Plus Jakarta Sans" pitchFamily="34" charset="0"/>
                <a:ea typeface="Plus Jakarta Sans" pitchFamily="34" charset="-122"/>
                <a:cs typeface="Plus Jakarta Sans" pitchFamily="34" charset="-120"/>
              </a:rPr>
              <a:t>Partner-Confidential · NDA · Contains commercial rate card · Programme description only; not a contract</a:t>
            </a:r>
            <a:endParaRPr lang="en-US" sz="75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500"/>
                                        <p:tgtEl>
                                          <p:spTgt spid="3"/>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4"/>
                                        </p:tgtEl>
                                        <p:attrNameLst>
                                          <p:attrName>style.visibility</p:attrName>
                                        </p:attrNameLst>
                                      </p:cBhvr>
                                      <p:to>
                                        <p:strVal val="visible"/>
                                      </p:to>
                                    </p:set>
                                    <p:animEffect transition="in" filter="fade">
                                      <p:cBhvr>
                                        <p:cTn id="13" dur="500"/>
                                        <p:tgtEl>
                                          <p:spTgt spid="4"/>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5"/>
                                        </p:tgtEl>
                                        <p:attrNameLst>
                                          <p:attrName>style.visibility</p:attrName>
                                        </p:attrNameLst>
                                      </p:cBhvr>
                                      <p:to>
                                        <p:strVal val="visible"/>
                                      </p:to>
                                    </p:set>
                                    <p:animEffect transition="in" filter="fade">
                                      <p:cBhvr>
                                        <p:cTn id="16" dur="500"/>
                                        <p:tgtEl>
                                          <p:spTgt spid="5"/>
                                        </p:tgtEl>
                                      </p:cBhvr>
                                    </p:animEffect>
                                  </p:childTnLst>
                                </p:cTn>
                              </p:par>
                              <p:par>
                                <p:cTn id="17" presetID="10" presetClass="entr" presetSubtype="0" fill="hold" grpId="0" nodeType="withEffect">
                                  <p:stCondLst>
                                    <p:cond delay="180"/>
                                  </p:stCondLst>
                                  <p:childTnLst>
                                    <p:set>
                                      <p:cBhvr>
                                        <p:cTn id="18" dur="1" fill="hold">
                                          <p:stCondLst>
                                            <p:cond delay="0"/>
                                          </p:stCondLst>
                                        </p:cTn>
                                        <p:tgtEl>
                                          <p:spTgt spid="10"/>
                                        </p:tgtEl>
                                        <p:attrNameLst>
                                          <p:attrName>style.visibility</p:attrName>
                                        </p:attrNameLst>
                                      </p:cBhvr>
                                      <p:to>
                                        <p:strVal val="visible"/>
                                      </p:to>
                                    </p:set>
                                    <p:animEffect transition="in" filter="fade">
                                      <p:cBhvr>
                                        <p:cTn id="19" dur="500"/>
                                        <p:tgtEl>
                                          <p:spTgt spid="10"/>
                                        </p:tgtEl>
                                      </p:cBhvr>
                                    </p:animEffect>
                                  </p:childTnLst>
                                </p:cTn>
                              </p:par>
                              <p:par>
                                <p:cTn id="20" presetID="10" presetClass="entr" presetSubtype="0" fill="hold" grpId="0" nodeType="withEffect">
                                  <p:stCondLst>
                                    <p:cond delay="360"/>
                                  </p:stCondLst>
                                  <p:childTnLst>
                                    <p:set>
                                      <p:cBhvr>
                                        <p:cTn id="21" dur="1" fill="hold">
                                          <p:stCondLst>
                                            <p:cond delay="0"/>
                                          </p:stCondLst>
                                        </p:cTn>
                                        <p:tgtEl>
                                          <p:spTgt spid="7"/>
                                        </p:tgtEl>
                                        <p:attrNameLst>
                                          <p:attrName>style.visibility</p:attrName>
                                        </p:attrNameLst>
                                      </p:cBhvr>
                                      <p:to>
                                        <p:strVal val="visible"/>
                                      </p:to>
                                    </p:set>
                                    <p:animEffect transition="in" filter="fade">
                                      <p:cBhvr>
                                        <p:cTn id="22" dur="500"/>
                                        <p:tgtEl>
                                          <p:spTgt spid="7"/>
                                        </p:tgtEl>
                                      </p:cBhvr>
                                    </p:animEffect>
                                  </p:childTnLst>
                                </p:cTn>
                              </p:par>
                              <p:par>
                                <p:cTn id="23" presetID="10" presetClass="entr" presetSubtype="0" fill="hold" grpId="0" nodeType="withEffect">
                                  <p:stCondLst>
                                    <p:cond delay="360"/>
                                  </p:stCondLst>
                                  <p:childTnLst>
                                    <p:set>
                                      <p:cBhvr>
                                        <p:cTn id="24" dur="1" fill="hold">
                                          <p:stCondLst>
                                            <p:cond delay="0"/>
                                          </p:stCondLst>
                                        </p:cTn>
                                        <p:tgtEl>
                                          <p:spTgt spid="8"/>
                                        </p:tgtEl>
                                        <p:attrNameLst>
                                          <p:attrName>style.visibility</p:attrName>
                                        </p:attrNameLst>
                                      </p:cBhvr>
                                      <p:to>
                                        <p:strVal val="visible"/>
                                      </p:to>
                                    </p:set>
                                    <p:animEffect transition="in" filter="fade">
                                      <p:cBhvr>
                                        <p:cTn id="25" dur="500"/>
                                        <p:tgtEl>
                                          <p:spTgt spid="8"/>
                                        </p:tgtEl>
                                      </p:cBhvr>
                                    </p:animEffect>
                                  </p:childTnLst>
                                </p:cTn>
                              </p:par>
                              <p:par>
                                <p:cTn id="26" presetID="10" presetClass="entr" presetSubtype="0" fill="hold" grpId="0" nodeType="withEffect">
                                  <p:stCondLst>
                                    <p:cond delay="360"/>
                                  </p:stCondLst>
                                  <p:childTnLst>
                                    <p:set>
                                      <p:cBhvr>
                                        <p:cTn id="27" dur="1" fill="hold">
                                          <p:stCondLst>
                                            <p:cond delay="0"/>
                                          </p:stCondLst>
                                        </p:cTn>
                                        <p:tgtEl>
                                          <p:spTgt spid="9"/>
                                        </p:tgtEl>
                                        <p:attrNameLst>
                                          <p:attrName>style.visibility</p:attrName>
                                        </p:attrNameLst>
                                      </p:cBhvr>
                                      <p:to>
                                        <p:strVal val="visible"/>
                                      </p:to>
                                    </p:set>
                                    <p:animEffect transition="in" filter="fade">
                                      <p:cBhvr>
                                        <p:cTn id="28" dur="500"/>
                                        <p:tgtEl>
                                          <p:spTgt spid="9"/>
                                        </p:tgtEl>
                                      </p:cBhvr>
                                    </p:animEffect>
                                  </p:childTnLst>
                                </p:cTn>
                              </p:par>
                              <p:par>
                                <p:cTn id="29" presetID="10" presetClass="entr" presetSubtype="0" fill="hold" grpId="0" nodeType="withEffect">
                                  <p:stCondLst>
                                    <p:cond delay="360"/>
                                  </p:stCondLst>
                                  <p:childTnLst>
                                    <p:set>
                                      <p:cBhvr>
                                        <p:cTn id="30" dur="1" fill="hold">
                                          <p:stCondLst>
                                            <p:cond delay="0"/>
                                          </p:stCondLst>
                                        </p:cTn>
                                        <p:tgtEl>
                                          <p:spTgt spid="10"/>
                                        </p:tgtEl>
                                        <p:attrNameLst>
                                          <p:attrName>style.visibility</p:attrName>
                                        </p:attrNameLst>
                                      </p:cBhvr>
                                      <p:to>
                                        <p:strVal val="visible"/>
                                      </p:to>
                                    </p:set>
                                    <p:animEffect transition="in" filter="fade">
                                      <p:cBhvr>
                                        <p:cTn id="31" dur="500"/>
                                        <p:tgtEl>
                                          <p:spTgt spid="10"/>
                                        </p:tgtEl>
                                      </p:cBhvr>
                                    </p:animEffect>
                                  </p:childTnLst>
                                </p:cTn>
                              </p:par>
                              <p:par>
                                <p:cTn id="32" presetID="10" presetClass="entr" presetSubtype="0" fill="hold" grpId="0" nodeType="withEffect">
                                  <p:stCondLst>
                                    <p:cond delay="360"/>
                                  </p:stCondLst>
                                  <p:childTnLst>
                                    <p:set>
                                      <p:cBhvr>
                                        <p:cTn id="33" dur="1" fill="hold">
                                          <p:stCondLst>
                                            <p:cond delay="0"/>
                                          </p:stCondLst>
                                        </p:cTn>
                                        <p:tgtEl>
                                          <p:spTgt spid="11"/>
                                        </p:tgtEl>
                                        <p:attrNameLst>
                                          <p:attrName>style.visibility</p:attrName>
                                        </p:attrNameLst>
                                      </p:cBhvr>
                                      <p:to>
                                        <p:strVal val="visible"/>
                                      </p:to>
                                    </p:set>
                                    <p:animEffect transition="in" filter="fade">
                                      <p:cBhvr>
                                        <p:cTn id="34"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7" grpId="0" animBg="1"/>
      <p:bldP spid="10" grpId="0" animBg="1"/>
      <p:bldP spid="11"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pic>
        <p:nvPicPr>
          <p:cNvPr id="2" name="anim-1-1" descr="/tmp/claude-0/-home-user-hosting/7c832a48-0979-56aa-9fdf-7d53efb9dc7a/scratchpad/build/img/pointer.png">    </p:cNvPr>
          <p:cNvPicPr>
            <a:picLocks noChangeAspect="1"/>
          </p:cNvPicPr>
          <p:nvPr/>
        </p:nvPicPr>
        <p:blipFill>
          <a:blip r:embed="rId1"/>
          <a:stretch>
            <a:fillRect/>
          </a:stretch>
        </p:blipFill>
        <p:spPr>
          <a:xfrm>
            <a:off x="304800" y="241300"/>
            <a:ext cx="107274" cy="215900"/>
          </a:xfrm>
          <a:prstGeom prst="rect">
            <a:avLst/>
          </a:prstGeom>
        </p:spPr>
      </p:pic>
      <p:sp>
        <p:nvSpPr>
          <p:cNvPr id="3" name="anim-1-2"/>
          <p:cNvSpPr txBox="1"/>
          <p:nvPr/>
        </p:nvSpPr>
        <p:spPr>
          <a:xfrm>
            <a:off x="482600" y="254000"/>
            <a:ext cx="10160000" cy="215900"/>
          </a:xfrm>
          <a:prstGeom prst="rect">
            <a:avLst/>
          </a:prstGeom>
          <a:noFill/>
          <a:ln/>
        </p:spPr>
        <p:txBody>
          <a:bodyPr wrap="square" lIns="0" tIns="0" rIns="0" bIns="0" rtlCol="0" anchor="t"/>
          <a:lstStyle/>
          <a:p>
            <a:pPr algn="l" indent="0" marL="0">
              <a:lnSpc>
                <a:spcPct val="112000"/>
              </a:lnSpc>
              <a:buNone/>
            </a:pPr>
            <a:r>
              <a:rPr lang="en-US" sz="1200" b="1" spc="100" kern="0" dirty="0">
                <a:solidFill>
                  <a:srgbClr val="194EFF"/>
                </a:solidFill>
                <a:latin typeface="Plus Jakarta Sans" pitchFamily="34" charset="0"/>
                <a:ea typeface="Plus Jakarta Sans" pitchFamily="34" charset="-122"/>
                <a:cs typeface="Plus Jakarta Sans" pitchFamily="34" charset="-120"/>
              </a:rPr>
              <a:t>COMMISSION &amp; INCENTIVE MODEL</a:t>
            </a:r>
            <a:endParaRPr lang="en-US" sz="1200" dirty="0"/>
          </a:p>
        </p:txBody>
      </p:sp>
      <p:sp>
        <p:nvSpPr>
          <p:cNvPr id="4" name="anim-1-3"/>
          <p:cNvSpPr txBox="1"/>
          <p:nvPr/>
        </p:nvSpPr>
        <p:spPr>
          <a:xfrm>
            <a:off x="304800" y="546100"/>
            <a:ext cx="11582400" cy="406400"/>
          </a:xfrm>
          <a:prstGeom prst="rect">
            <a:avLst/>
          </a:prstGeom>
          <a:noFill/>
          <a:ln/>
        </p:spPr>
        <p:txBody>
          <a:bodyPr wrap="square" lIns="0" tIns="0" rIns="0" bIns="0" rtlCol="0" anchor="ctr"/>
          <a:lstStyle/>
          <a:p>
            <a:pPr algn="l" indent="0" marL="0">
              <a:lnSpc>
                <a:spcPct val="112000"/>
              </a:lnSpc>
              <a:buNone/>
            </a:pPr>
            <a:r>
              <a:rPr lang="en-US" sz="2000" b="1" dirty="0">
                <a:solidFill>
                  <a:srgbClr val="13151C"/>
                </a:solidFill>
                <a:latin typeface="Plus Jakarta Sans" pitchFamily="34" charset="0"/>
                <a:ea typeface="Plus Jakarta Sans" pitchFamily="34" charset="-122"/>
                <a:cs typeface="Plus Jakarta Sans" pitchFamily="34" charset="-120"/>
              </a:rPr>
              <a:t>How you </a:t>
            </a:r>
            <a:pPr algn="l" indent="0" marL="0">
              <a:lnSpc>
                <a:spcPct val="112000"/>
              </a:lnSpc>
              <a:buNone/>
            </a:pPr>
            <a:r>
              <a:rPr lang="en-US" sz="2000" b="1" dirty="0">
                <a:solidFill>
                  <a:srgbClr val="194EFF"/>
                </a:solidFill>
                <a:latin typeface="Plus Jakarta Sans" pitchFamily="34" charset="0"/>
                <a:ea typeface="Plus Jakarta Sans" pitchFamily="34" charset="-122"/>
                <a:cs typeface="Plus Jakarta Sans" pitchFamily="34" charset="-120"/>
              </a:rPr>
              <a:t>earn</a:t>
            </a:r>
            <a:endParaRPr lang="en-US" sz="2000" dirty="0"/>
          </a:p>
        </p:txBody>
      </p:sp>
      <p:sp>
        <p:nvSpPr>
          <p:cNvPr id="5" name="anim-1-4"/>
          <p:cNvSpPr/>
          <p:nvPr/>
        </p:nvSpPr>
        <p:spPr>
          <a:xfrm>
            <a:off x="0" y="1244600"/>
            <a:ext cx="12192000" cy="6350"/>
          </a:xfrm>
          <a:prstGeom prst="rect">
            <a:avLst/>
          </a:prstGeom>
          <a:solidFill>
            <a:srgbClr val="CDD0D9"/>
          </a:solidFill>
          <a:ln/>
        </p:spPr>
      </p:sp>
      <p:sp>
        <p:nvSpPr>
          <p:cNvPr id="6" name="anim-2-5"/>
          <p:cNvSpPr/>
          <p:nvPr/>
        </p:nvSpPr>
        <p:spPr>
          <a:xfrm>
            <a:off x="6096000" y="1244600"/>
            <a:ext cx="6350" cy="4597400"/>
          </a:xfrm>
          <a:prstGeom prst="rect">
            <a:avLst/>
          </a:prstGeom>
          <a:solidFill>
            <a:srgbClr val="CDD0D9"/>
          </a:solidFill>
          <a:ln/>
        </p:spPr>
      </p:sp>
      <p:sp>
        <p:nvSpPr>
          <p:cNvPr id="7" name="anim-2-6"/>
          <p:cNvSpPr txBox="1"/>
          <p:nvPr/>
        </p:nvSpPr>
        <p:spPr>
          <a:xfrm>
            <a:off x="304800" y="1409700"/>
            <a:ext cx="3810000" cy="165100"/>
          </a:xfrm>
          <a:prstGeom prst="rect">
            <a:avLst/>
          </a:prstGeom>
          <a:noFill/>
          <a:ln/>
        </p:spPr>
        <p:txBody>
          <a:bodyPr wrap="square" lIns="0" tIns="0" rIns="0" bIns="0" rtlCol="0" anchor="t"/>
          <a:lstStyle/>
          <a:p>
            <a:pPr algn="l" indent="0" marL="0">
              <a:lnSpc>
                <a:spcPct val="112000"/>
              </a:lnSpc>
              <a:buNone/>
            </a:pPr>
            <a:r>
              <a:rPr lang="en-US" sz="850" b="1" spc="150" kern="0" dirty="0">
                <a:solidFill>
                  <a:srgbClr val="194EFF"/>
                </a:solidFill>
                <a:latin typeface="Plus Jakarta Sans" pitchFamily="34" charset="0"/>
                <a:ea typeface="Plus Jakarta Sans" pitchFamily="34" charset="-122"/>
                <a:cs typeface="Plus Jakarta Sans" pitchFamily="34" charset="-120"/>
              </a:rPr>
              <a:t>COMMISSION RATES</a:t>
            </a:r>
            <a:endParaRPr lang="en-US" sz="850" dirty="0"/>
          </a:p>
        </p:txBody>
      </p:sp>
      <p:graphicFrame>
        <p:nvGraphicFramePr>
          <p:cNvPr id="11" name="anim-2-7"/>
          <p:cNvGraphicFramePr>
            <a:graphicFrameLocks noGrp="1"/>
          </p:cNvGraphicFramePr>
          <p:nvPr>
            <p:extLst>
              <p:ext uri="{D42A27DB-BD31-4B8C-83A1-F6EECF244321}">
                <p14:modId xmlns:p14="http://schemas.microsoft.com/office/powerpoint/2010/main" val="1579011935"/>
              </p:ext>
            </p:extLst>
          </p:nvPr>
        </p:nvGraphicFramePr>
        <p:xfrm>
          <a:off x="304800" y="1663700"/>
          <a:ext cx="5486400" cy="914400"/>
        </p:xfrm>
        <a:graphic>
          <a:graphicData uri="http://schemas.openxmlformats.org/drawingml/2006/table">
            <a:tbl>
              <a:tblPr/>
              <a:tblGrid>
                <a:gridCol w="1371600"/>
                <a:gridCol w="1371600"/>
                <a:gridCol w="1371600"/>
                <a:gridCol w="1371600"/>
              </a:tblGrid>
              <a:tr h="317500">
                <a:tc>
                  <a:txBody>
                    <a:bodyPr/>
                    <a:lstStyle/>
                    <a:p>
                      <a:pPr algn="l" indent="0" marL="0">
                        <a:buNone/>
                      </a:pPr>
                      <a:r>
                        <a:rPr lang="en-US" sz="850" dirty="0">
                          <a:solidFill>
                            <a:srgbClr val="194EFF"/>
                          </a:solidFill>
                          <a:latin typeface="Plus Jakarta Sans SemiBold" pitchFamily="34" charset="0"/>
                          <a:ea typeface="Plus Jakarta Sans SemiBold" pitchFamily="34" charset="-122"/>
                          <a:cs typeface="Plus Jakarta Sans SemiBold" pitchFamily="34" charset="-120"/>
                        </a:rPr>
                        <a:t>Level</a:t>
                      </a:r>
                      <a:endParaRPr lang="en-US" sz="850" dirty="0">
                        <a:latin typeface="Plus Jakarta Sans SemiBold" charset="0"/>
                        <a:ea typeface="Plus Jakarta Sans SemiBold" charset="0"/>
                        <a:cs typeface="Plus Jakarta Sans SemiBold" charset="0"/>
                      </a:endParaRPr>
                    </a:p>
                  </a:txBody>
                  <a:tcPr marL="101600" marR="101600" marT="38100" marB="38100" anchor="ctr">
                    <a:lnL w="0" cap="flat" cmpd="sng" algn="ctr">
                      <a:noFill/>
                    </a:lnL>
                    <a:lnR w="0" cap="flat" cmpd="sng" algn="ctr">
                      <a:noFill/>
                    </a:lnR>
                    <a:lnT w="9525" cap="flat" cmpd="sng" algn="ctr">
                      <a:solidFill>
                        <a:srgbClr val="CDD0D9"/>
                      </a:solidFill>
                      <a:prstDash val="solid"/>
                      <a:round/>
                      <a:headEnd type="none" w="med" len="med"/>
                      <a:tailEnd type="none" w="med" len="med"/>
                    </a:lnT>
                    <a:lnB w="9525" cap="flat" cmpd="sng" algn="ctr">
                      <a:solidFill>
                        <a:srgbClr val="CDD0D9"/>
                      </a:solidFill>
                      <a:prstDash val="solid"/>
                      <a:round/>
                      <a:headEnd type="none" w="med" len="med"/>
                      <a:tailEnd type="none" w="med" len="med"/>
                    </a:lnB>
                    <a:solidFill>
                      <a:srgbClr val="EDF1FF"/>
                    </a:solidFill>
                  </a:tcPr>
                </a:tc>
                <a:tc>
                  <a:txBody>
                    <a:bodyPr/>
                    <a:lstStyle/>
                    <a:p>
                      <a:pPr algn="ctr" indent="0" marL="0">
                        <a:buNone/>
                      </a:pPr>
                      <a:r>
                        <a:rPr lang="en-US" sz="850" dirty="0">
                          <a:solidFill>
                            <a:srgbClr val="194EFF"/>
                          </a:solidFill>
                          <a:latin typeface="Plus Jakarta Sans SemiBold" pitchFamily="34" charset="0"/>
                          <a:ea typeface="Plus Jakarta Sans SemiBold" pitchFamily="34" charset="-122"/>
                          <a:cs typeface="Plus Jakarta Sans SemiBold" pitchFamily="34" charset="-120"/>
                        </a:rPr>
                        <a:t>Sourced (1st-yr ARR)</a:t>
                      </a:r>
                      <a:endParaRPr lang="en-US" sz="850" dirty="0">
                        <a:latin typeface="Plus Jakarta Sans SemiBold" charset="0"/>
                        <a:ea typeface="Plus Jakarta Sans SemiBold" charset="0"/>
                        <a:cs typeface="Plus Jakarta Sans SemiBold" charset="0"/>
                      </a:endParaRPr>
                    </a:p>
                  </a:txBody>
                  <a:tcPr marL="101600" marR="101600" marT="38100" marB="38100" anchor="ctr">
                    <a:lnL w="0" cap="flat" cmpd="sng" algn="ctr">
                      <a:noFill/>
                    </a:lnL>
                    <a:lnR w="0" cap="flat" cmpd="sng" algn="ctr">
                      <a:noFill/>
                    </a:lnR>
                    <a:lnT w="9525" cap="flat" cmpd="sng" algn="ctr">
                      <a:solidFill>
                        <a:srgbClr val="CDD0D9"/>
                      </a:solidFill>
                      <a:prstDash val="solid"/>
                      <a:round/>
                      <a:headEnd type="none" w="med" len="med"/>
                      <a:tailEnd type="none" w="med" len="med"/>
                    </a:lnT>
                    <a:lnB w="9525" cap="flat" cmpd="sng" algn="ctr">
                      <a:solidFill>
                        <a:srgbClr val="CDD0D9"/>
                      </a:solidFill>
                      <a:prstDash val="solid"/>
                      <a:round/>
                      <a:headEnd type="none" w="med" len="med"/>
                      <a:tailEnd type="none" w="med" len="med"/>
                    </a:lnB>
                    <a:solidFill>
                      <a:srgbClr val="EDF1FF"/>
                    </a:solidFill>
                  </a:tcPr>
                </a:tc>
                <a:tc>
                  <a:txBody>
                    <a:bodyPr/>
                    <a:lstStyle/>
                    <a:p>
                      <a:pPr algn="ctr" indent="0" marL="0">
                        <a:buNone/>
                      </a:pPr>
                      <a:r>
                        <a:rPr lang="en-US" sz="850" dirty="0">
                          <a:solidFill>
                            <a:srgbClr val="194EFF"/>
                          </a:solidFill>
                          <a:latin typeface="Plus Jakarta Sans SemiBold" pitchFamily="34" charset="0"/>
                          <a:ea typeface="Plus Jakarta Sans SemiBold" pitchFamily="34" charset="-122"/>
                          <a:cs typeface="Plus Jakarta Sans SemiBold" pitchFamily="34" charset="-120"/>
                        </a:rPr>
                        <a:t>Driven (1st-yr ARR)</a:t>
                      </a:r>
                      <a:endParaRPr lang="en-US" sz="850" dirty="0">
                        <a:latin typeface="Plus Jakarta Sans SemiBold" charset="0"/>
                        <a:ea typeface="Plus Jakarta Sans SemiBold" charset="0"/>
                        <a:cs typeface="Plus Jakarta Sans SemiBold" charset="0"/>
                      </a:endParaRPr>
                    </a:p>
                  </a:txBody>
                  <a:tcPr marL="101600" marR="101600" marT="38100" marB="38100" anchor="ctr">
                    <a:lnL w="0" cap="flat" cmpd="sng" algn="ctr">
                      <a:noFill/>
                    </a:lnL>
                    <a:lnR w="0" cap="flat" cmpd="sng" algn="ctr">
                      <a:noFill/>
                    </a:lnR>
                    <a:lnT w="9525" cap="flat" cmpd="sng" algn="ctr">
                      <a:solidFill>
                        <a:srgbClr val="CDD0D9"/>
                      </a:solidFill>
                      <a:prstDash val="solid"/>
                      <a:round/>
                      <a:headEnd type="none" w="med" len="med"/>
                      <a:tailEnd type="none" w="med" len="med"/>
                    </a:lnT>
                    <a:lnB w="9525" cap="flat" cmpd="sng" algn="ctr">
                      <a:solidFill>
                        <a:srgbClr val="CDD0D9"/>
                      </a:solidFill>
                      <a:prstDash val="solid"/>
                      <a:round/>
                      <a:headEnd type="none" w="med" len="med"/>
                      <a:tailEnd type="none" w="med" len="med"/>
                    </a:lnB>
                    <a:solidFill>
                      <a:srgbClr val="EDF1FF"/>
                    </a:solidFill>
                  </a:tcPr>
                </a:tc>
                <a:tc>
                  <a:txBody>
                    <a:bodyPr/>
                    <a:lstStyle/>
                    <a:p>
                      <a:pPr algn="ctr" indent="0" marL="0">
                        <a:buNone/>
                      </a:pPr>
                      <a:r>
                        <a:rPr lang="en-US" sz="850" dirty="0">
                          <a:solidFill>
                            <a:srgbClr val="194EFF"/>
                          </a:solidFill>
                          <a:latin typeface="Plus Jakarta Sans SemiBold" pitchFamily="34" charset="0"/>
                          <a:ea typeface="Plus Jakarta Sans SemiBold" pitchFamily="34" charset="-122"/>
                          <a:cs typeface="Plus Jakarta Sans SemiBold" pitchFamily="34" charset="-120"/>
                        </a:rPr>
                        <a:t>Post-expiry renewal</a:t>
                      </a:r>
                      <a:endParaRPr lang="en-US" sz="850" dirty="0">
                        <a:latin typeface="Plus Jakarta Sans SemiBold" charset="0"/>
                        <a:ea typeface="Plus Jakarta Sans SemiBold" charset="0"/>
                        <a:cs typeface="Plus Jakarta Sans SemiBold" charset="0"/>
                      </a:endParaRPr>
                    </a:p>
                  </a:txBody>
                  <a:tcPr marL="101600" marR="101600" marT="38100" marB="38100" anchor="ctr">
                    <a:lnL w="0" cap="flat" cmpd="sng" algn="ctr">
                      <a:noFill/>
                    </a:lnL>
                    <a:lnR w="0" cap="flat" cmpd="sng" algn="ctr">
                      <a:noFill/>
                    </a:lnR>
                    <a:lnT w="9525" cap="flat" cmpd="sng" algn="ctr">
                      <a:solidFill>
                        <a:srgbClr val="CDD0D9"/>
                      </a:solidFill>
                      <a:prstDash val="solid"/>
                      <a:round/>
                      <a:headEnd type="none" w="med" len="med"/>
                      <a:tailEnd type="none" w="med" len="med"/>
                    </a:lnT>
                    <a:lnB w="9525" cap="flat" cmpd="sng" algn="ctr">
                      <a:solidFill>
                        <a:srgbClr val="CDD0D9"/>
                      </a:solidFill>
                      <a:prstDash val="solid"/>
                      <a:round/>
                      <a:headEnd type="none" w="med" len="med"/>
                      <a:tailEnd type="none" w="med" len="med"/>
                    </a:lnB>
                    <a:solidFill>
                      <a:srgbClr val="EDF1FF"/>
                    </a:solidFill>
                  </a:tcPr>
                </a:tc>
              </a:tr>
              <a:tr h="317500">
                <a:tc>
                  <a:txBody>
                    <a:bodyPr/>
                    <a:lstStyle/>
                    <a:p>
                      <a:pPr algn="l" indent="0" marL="0">
                        <a:buNone/>
                      </a:pPr>
                      <a:r>
                        <a:rPr lang="en-US" sz="950" dirty="0">
                          <a:solidFill>
                            <a:srgbClr val="13151C"/>
                          </a:solidFill>
                          <a:latin typeface="Plus Jakarta Sans SemiBold" pitchFamily="34" charset="0"/>
                          <a:ea typeface="Plus Jakarta Sans SemiBold" pitchFamily="34" charset="-122"/>
                          <a:cs typeface="Plus Jakarta Sans SemiBold" pitchFamily="34" charset="-120"/>
                        </a:rPr>
                        <a:t>Registered</a:t>
                      </a:r>
                      <a:endParaRPr lang="en-US" sz="950" dirty="0">
                        <a:latin typeface="Plus Jakarta Sans SemiBold" charset="0"/>
                        <a:ea typeface="Plus Jakarta Sans SemiBold" charset="0"/>
                        <a:cs typeface="Plus Jakarta Sans SemiBold" charset="0"/>
                      </a:endParaRPr>
                    </a:p>
                  </a:txBody>
                  <a:tcPr marL="101600" marR="101600" marT="38100" marB="38100" anchor="ctr">
                    <a:lnL w="0" cap="flat" cmpd="sng" algn="ctr">
                      <a:noFill/>
                    </a:lnL>
                    <a:lnR w="0" cap="flat" cmpd="sng" algn="ctr">
                      <a:noFill/>
                    </a:lnR>
                    <a:lnT w="9525" cap="flat" cmpd="sng" algn="ctr">
                      <a:solidFill>
                        <a:srgbClr val="CDD0D9"/>
                      </a:solidFill>
                      <a:prstDash val="solid"/>
                      <a:round/>
                      <a:headEnd type="none" w="med" len="med"/>
                      <a:tailEnd type="none" w="med" len="med"/>
                    </a:lnT>
                    <a:lnB w="9525" cap="flat" cmpd="sng" algn="ctr">
                      <a:solidFill>
                        <a:srgbClr val="CDD0D9"/>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13151C"/>
                          </a:solidFill>
                          <a:latin typeface="Plus Jakarta Sans" pitchFamily="34" charset="0"/>
                          <a:ea typeface="Plus Jakarta Sans" pitchFamily="34" charset="-122"/>
                          <a:cs typeface="Plus Jakarta Sans" pitchFamily="34" charset="-120"/>
                        </a:rPr>
                        <a:t>20%</a:t>
                      </a:r>
                      <a:endParaRPr lang="en-US" sz="95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CDD0D9"/>
                      </a:solidFill>
                      <a:prstDash val="solid"/>
                      <a:round/>
                      <a:headEnd type="none" w="med" len="med"/>
                      <a:tailEnd type="none" w="med" len="med"/>
                    </a:lnT>
                    <a:lnB w="9525" cap="flat" cmpd="sng" algn="ctr">
                      <a:solidFill>
                        <a:srgbClr val="CDD0D9"/>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13151C"/>
                          </a:solidFill>
                          <a:latin typeface="Plus Jakarta Sans" pitchFamily="34" charset="0"/>
                          <a:ea typeface="Plus Jakarta Sans" pitchFamily="34" charset="-122"/>
                          <a:cs typeface="Plus Jakarta Sans" pitchFamily="34" charset="-120"/>
                        </a:rPr>
                        <a:t>10%</a:t>
                      </a:r>
                      <a:endParaRPr lang="en-US" sz="95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CDD0D9"/>
                      </a:solidFill>
                      <a:prstDash val="solid"/>
                      <a:round/>
                      <a:headEnd type="none" w="med" len="med"/>
                      <a:tailEnd type="none" w="med" len="med"/>
                    </a:lnT>
                    <a:lnB w="9525" cap="flat" cmpd="sng" algn="ctr">
                      <a:solidFill>
                        <a:srgbClr val="CDD0D9"/>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13151C"/>
                          </a:solidFill>
                          <a:latin typeface="Plus Jakarta Sans" pitchFamily="34" charset="0"/>
                          <a:ea typeface="Plus Jakarta Sans" pitchFamily="34" charset="-122"/>
                          <a:cs typeface="Plus Jakarta Sans" pitchFamily="34" charset="-120"/>
                        </a:rPr>
                        <a:t>05%</a:t>
                      </a:r>
                      <a:endParaRPr lang="en-US" sz="95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CDD0D9"/>
                      </a:solidFill>
                      <a:prstDash val="solid"/>
                      <a:round/>
                      <a:headEnd type="none" w="med" len="med"/>
                      <a:tailEnd type="none" w="med" len="med"/>
                    </a:lnT>
                    <a:lnB w="9525" cap="flat" cmpd="sng" algn="ctr">
                      <a:solidFill>
                        <a:srgbClr val="CDD0D9"/>
                      </a:solidFill>
                      <a:prstDash val="solid"/>
                      <a:round/>
                      <a:headEnd type="none" w="med" len="med"/>
                      <a:tailEnd type="none" w="med" len="med"/>
                    </a:lnB>
                    <a:solidFill>
                      <a:srgbClr val="FFFFFF"/>
                    </a:solidFill>
                  </a:tcPr>
                </a:tc>
              </a:tr>
              <a:tr h="317500">
                <a:tc>
                  <a:txBody>
                    <a:bodyPr/>
                    <a:lstStyle/>
                    <a:p>
                      <a:pPr algn="l" indent="0" marL="0">
                        <a:buNone/>
                      </a:pPr>
                      <a:r>
                        <a:rPr lang="en-US" sz="950" dirty="0">
                          <a:solidFill>
                            <a:srgbClr val="13151C"/>
                          </a:solidFill>
                          <a:latin typeface="Plus Jakarta Sans SemiBold" pitchFamily="34" charset="0"/>
                          <a:ea typeface="Plus Jakarta Sans SemiBold" pitchFamily="34" charset="-122"/>
                          <a:cs typeface="Plus Jakarta Sans SemiBold" pitchFamily="34" charset="-120"/>
                        </a:rPr>
                        <a:t>Silver</a:t>
                      </a:r>
                      <a:endParaRPr lang="en-US" sz="950" dirty="0">
                        <a:latin typeface="Plus Jakarta Sans SemiBold" charset="0"/>
                        <a:ea typeface="Plus Jakarta Sans SemiBold" charset="0"/>
                        <a:cs typeface="Plus Jakarta Sans SemiBold" charset="0"/>
                      </a:endParaRPr>
                    </a:p>
                  </a:txBody>
                  <a:tcPr marL="101600" marR="101600" marT="38100" marB="38100" anchor="ctr">
                    <a:lnL w="0" cap="flat" cmpd="sng" algn="ctr">
                      <a:noFill/>
                    </a:lnL>
                    <a:lnR w="0" cap="flat" cmpd="sng" algn="ctr">
                      <a:noFill/>
                    </a:lnR>
                    <a:lnT w="9525" cap="flat" cmpd="sng" algn="ctr">
                      <a:solidFill>
                        <a:srgbClr val="CDD0D9"/>
                      </a:solidFill>
                      <a:prstDash val="solid"/>
                      <a:round/>
                      <a:headEnd type="none" w="med" len="med"/>
                      <a:tailEnd type="none" w="med" len="med"/>
                    </a:lnT>
                    <a:lnB w="9525" cap="flat" cmpd="sng" algn="ctr">
                      <a:solidFill>
                        <a:srgbClr val="CDD0D9"/>
                      </a:solidFill>
                      <a:prstDash val="solid"/>
                      <a:round/>
                      <a:headEnd type="none" w="med" len="med"/>
                      <a:tailEnd type="none" w="med" len="med"/>
                    </a:lnB>
                    <a:solidFill>
                      <a:srgbClr val="F7FBFD"/>
                    </a:solidFill>
                  </a:tcPr>
                </a:tc>
                <a:tc>
                  <a:txBody>
                    <a:bodyPr/>
                    <a:lstStyle/>
                    <a:p>
                      <a:pPr algn="ctr" indent="0" marL="0">
                        <a:buNone/>
                      </a:pPr>
                      <a:r>
                        <a:rPr lang="en-US" sz="950" dirty="0">
                          <a:solidFill>
                            <a:srgbClr val="13151C"/>
                          </a:solidFill>
                          <a:latin typeface="Plus Jakarta Sans" pitchFamily="34" charset="0"/>
                          <a:ea typeface="Plus Jakarta Sans" pitchFamily="34" charset="-122"/>
                          <a:cs typeface="Plus Jakarta Sans" pitchFamily="34" charset="-120"/>
                        </a:rPr>
                        <a:t>25%</a:t>
                      </a:r>
                      <a:endParaRPr lang="en-US" sz="95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CDD0D9"/>
                      </a:solidFill>
                      <a:prstDash val="solid"/>
                      <a:round/>
                      <a:headEnd type="none" w="med" len="med"/>
                      <a:tailEnd type="none" w="med" len="med"/>
                    </a:lnT>
                    <a:lnB w="9525" cap="flat" cmpd="sng" algn="ctr">
                      <a:solidFill>
                        <a:srgbClr val="CDD0D9"/>
                      </a:solidFill>
                      <a:prstDash val="solid"/>
                      <a:round/>
                      <a:headEnd type="none" w="med" len="med"/>
                      <a:tailEnd type="none" w="med" len="med"/>
                    </a:lnB>
                    <a:solidFill>
                      <a:srgbClr val="F7FBFD"/>
                    </a:solidFill>
                  </a:tcPr>
                </a:tc>
                <a:tc>
                  <a:txBody>
                    <a:bodyPr/>
                    <a:lstStyle/>
                    <a:p>
                      <a:pPr algn="ctr" indent="0" marL="0">
                        <a:buNone/>
                      </a:pPr>
                      <a:r>
                        <a:rPr lang="en-US" sz="950" dirty="0">
                          <a:solidFill>
                            <a:srgbClr val="13151C"/>
                          </a:solidFill>
                          <a:latin typeface="Plus Jakarta Sans" pitchFamily="34" charset="0"/>
                          <a:ea typeface="Plus Jakarta Sans" pitchFamily="34" charset="-122"/>
                          <a:cs typeface="Plus Jakarta Sans" pitchFamily="34" charset="-120"/>
                        </a:rPr>
                        <a:t>12.5%</a:t>
                      </a:r>
                      <a:endParaRPr lang="en-US" sz="95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CDD0D9"/>
                      </a:solidFill>
                      <a:prstDash val="solid"/>
                      <a:round/>
                      <a:headEnd type="none" w="med" len="med"/>
                      <a:tailEnd type="none" w="med" len="med"/>
                    </a:lnT>
                    <a:lnB w="9525" cap="flat" cmpd="sng" algn="ctr">
                      <a:solidFill>
                        <a:srgbClr val="CDD0D9"/>
                      </a:solidFill>
                      <a:prstDash val="solid"/>
                      <a:round/>
                      <a:headEnd type="none" w="med" len="med"/>
                      <a:tailEnd type="none" w="med" len="med"/>
                    </a:lnB>
                    <a:solidFill>
                      <a:srgbClr val="F7FBFD"/>
                    </a:solidFill>
                  </a:tcPr>
                </a:tc>
                <a:tc>
                  <a:txBody>
                    <a:bodyPr/>
                    <a:lstStyle/>
                    <a:p>
                      <a:pPr algn="ctr" indent="0" marL="0">
                        <a:buNone/>
                      </a:pPr>
                      <a:r>
                        <a:rPr lang="en-US" sz="950" dirty="0">
                          <a:solidFill>
                            <a:srgbClr val="13151C"/>
                          </a:solidFill>
                          <a:latin typeface="Plus Jakarta Sans" pitchFamily="34" charset="0"/>
                          <a:ea typeface="Plus Jakarta Sans" pitchFamily="34" charset="-122"/>
                          <a:cs typeface="Plus Jakarta Sans" pitchFamily="34" charset="-120"/>
                        </a:rPr>
                        <a:t>7.5%</a:t>
                      </a:r>
                      <a:endParaRPr lang="en-US" sz="95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CDD0D9"/>
                      </a:solidFill>
                      <a:prstDash val="solid"/>
                      <a:round/>
                      <a:headEnd type="none" w="med" len="med"/>
                      <a:tailEnd type="none" w="med" len="med"/>
                    </a:lnT>
                    <a:lnB w="9525" cap="flat" cmpd="sng" algn="ctr">
                      <a:solidFill>
                        <a:srgbClr val="CDD0D9"/>
                      </a:solidFill>
                      <a:prstDash val="solid"/>
                      <a:round/>
                      <a:headEnd type="none" w="med" len="med"/>
                      <a:tailEnd type="none" w="med" len="med"/>
                    </a:lnB>
                    <a:solidFill>
                      <a:srgbClr val="F7FBFD"/>
                    </a:solidFill>
                  </a:tcPr>
                </a:tc>
              </a:tr>
              <a:tr h="317500">
                <a:tc>
                  <a:txBody>
                    <a:bodyPr/>
                    <a:lstStyle/>
                    <a:p>
                      <a:pPr algn="l" indent="0" marL="0">
                        <a:buNone/>
                      </a:pPr>
                      <a:r>
                        <a:rPr lang="en-US" sz="950" dirty="0">
                          <a:solidFill>
                            <a:srgbClr val="13151C"/>
                          </a:solidFill>
                          <a:latin typeface="Plus Jakarta Sans SemiBold" pitchFamily="34" charset="0"/>
                          <a:ea typeface="Plus Jakarta Sans SemiBold" pitchFamily="34" charset="-122"/>
                          <a:cs typeface="Plus Jakarta Sans SemiBold" pitchFamily="34" charset="-120"/>
                        </a:rPr>
                        <a:t>Gold</a:t>
                      </a:r>
                      <a:endParaRPr lang="en-US" sz="950" dirty="0">
                        <a:latin typeface="Plus Jakarta Sans SemiBold" charset="0"/>
                        <a:ea typeface="Plus Jakarta Sans SemiBold" charset="0"/>
                        <a:cs typeface="Plus Jakarta Sans SemiBold" charset="0"/>
                      </a:endParaRPr>
                    </a:p>
                  </a:txBody>
                  <a:tcPr marL="101600" marR="101600" marT="38100" marB="38100" anchor="ctr">
                    <a:lnL w="0" cap="flat" cmpd="sng" algn="ctr">
                      <a:noFill/>
                    </a:lnL>
                    <a:lnR w="0" cap="flat" cmpd="sng" algn="ctr">
                      <a:noFill/>
                    </a:lnR>
                    <a:lnT w="9525" cap="flat" cmpd="sng" algn="ctr">
                      <a:solidFill>
                        <a:srgbClr val="CDD0D9"/>
                      </a:solidFill>
                      <a:prstDash val="solid"/>
                      <a:round/>
                      <a:headEnd type="none" w="med" len="med"/>
                      <a:tailEnd type="none" w="med" len="med"/>
                    </a:lnT>
                    <a:lnB w="9525" cap="flat" cmpd="sng" algn="ctr">
                      <a:solidFill>
                        <a:srgbClr val="CDD0D9"/>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13151C"/>
                          </a:solidFill>
                          <a:latin typeface="Plus Jakarta Sans" pitchFamily="34" charset="0"/>
                          <a:ea typeface="Plus Jakarta Sans" pitchFamily="34" charset="-122"/>
                          <a:cs typeface="Plus Jakarta Sans" pitchFamily="34" charset="-120"/>
                        </a:rPr>
                        <a:t>30%</a:t>
                      </a:r>
                      <a:endParaRPr lang="en-US" sz="95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CDD0D9"/>
                      </a:solidFill>
                      <a:prstDash val="solid"/>
                      <a:round/>
                      <a:headEnd type="none" w="med" len="med"/>
                      <a:tailEnd type="none" w="med" len="med"/>
                    </a:lnT>
                    <a:lnB w="9525" cap="flat" cmpd="sng" algn="ctr">
                      <a:solidFill>
                        <a:srgbClr val="CDD0D9"/>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13151C"/>
                          </a:solidFill>
                          <a:latin typeface="Plus Jakarta Sans" pitchFamily="34" charset="0"/>
                          <a:ea typeface="Plus Jakarta Sans" pitchFamily="34" charset="-122"/>
                          <a:cs typeface="Plus Jakarta Sans" pitchFamily="34" charset="-120"/>
                        </a:rPr>
                        <a:t>15%</a:t>
                      </a:r>
                      <a:endParaRPr lang="en-US" sz="95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CDD0D9"/>
                      </a:solidFill>
                      <a:prstDash val="solid"/>
                      <a:round/>
                      <a:headEnd type="none" w="med" len="med"/>
                      <a:tailEnd type="none" w="med" len="med"/>
                    </a:lnT>
                    <a:lnB w="9525" cap="flat" cmpd="sng" algn="ctr">
                      <a:solidFill>
                        <a:srgbClr val="CDD0D9"/>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13151C"/>
                          </a:solidFill>
                          <a:latin typeface="Plus Jakarta Sans" pitchFamily="34" charset="0"/>
                          <a:ea typeface="Plus Jakarta Sans" pitchFamily="34" charset="-122"/>
                          <a:cs typeface="Plus Jakarta Sans" pitchFamily="34" charset="-120"/>
                        </a:rPr>
                        <a:t>10%</a:t>
                      </a:r>
                      <a:endParaRPr lang="en-US" sz="95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CDD0D9"/>
                      </a:solidFill>
                      <a:prstDash val="solid"/>
                      <a:round/>
                      <a:headEnd type="none" w="med" len="med"/>
                      <a:tailEnd type="none" w="med" len="med"/>
                    </a:lnT>
                    <a:lnB w="9525" cap="flat" cmpd="sng" algn="ctr">
                      <a:solidFill>
                        <a:srgbClr val="CDD0D9"/>
                      </a:solidFill>
                      <a:prstDash val="solid"/>
                      <a:round/>
                      <a:headEnd type="none" w="med" len="med"/>
                      <a:tailEnd type="none" w="med" len="med"/>
                    </a:lnB>
                    <a:solidFill>
                      <a:srgbClr val="FFFFFF"/>
                    </a:solidFill>
                  </a:tcPr>
                </a:tc>
              </a:tr>
              <a:tr h="317500">
                <a:tc>
                  <a:txBody>
                    <a:bodyPr/>
                    <a:lstStyle/>
                    <a:p>
                      <a:pPr algn="l" indent="0" marL="0">
                        <a:buNone/>
                      </a:pPr>
                      <a:r>
                        <a:rPr lang="en-US" sz="950" dirty="0">
                          <a:solidFill>
                            <a:srgbClr val="13151C"/>
                          </a:solidFill>
                          <a:latin typeface="Plus Jakarta Sans SemiBold" pitchFamily="34" charset="0"/>
                          <a:ea typeface="Plus Jakarta Sans SemiBold" pitchFamily="34" charset="-122"/>
                          <a:cs typeface="Plus Jakarta Sans SemiBold" pitchFamily="34" charset="-120"/>
                        </a:rPr>
                        <a:t>Platinum</a:t>
                      </a:r>
                      <a:endParaRPr lang="en-US" sz="950" dirty="0">
                        <a:latin typeface="Plus Jakarta Sans SemiBold" charset="0"/>
                        <a:ea typeface="Plus Jakarta Sans SemiBold" charset="0"/>
                        <a:cs typeface="Plus Jakarta Sans SemiBold" charset="0"/>
                      </a:endParaRPr>
                    </a:p>
                  </a:txBody>
                  <a:tcPr marL="101600" marR="101600" marT="38100" marB="38100" anchor="ctr">
                    <a:lnL w="0" cap="flat" cmpd="sng" algn="ctr">
                      <a:noFill/>
                    </a:lnL>
                    <a:lnR w="0" cap="flat" cmpd="sng" algn="ctr">
                      <a:noFill/>
                    </a:lnR>
                    <a:lnT w="9525" cap="flat" cmpd="sng" algn="ctr">
                      <a:solidFill>
                        <a:srgbClr val="CDD0D9"/>
                      </a:solidFill>
                      <a:prstDash val="solid"/>
                      <a:round/>
                      <a:headEnd type="none" w="med" len="med"/>
                      <a:tailEnd type="none" w="med" len="med"/>
                    </a:lnT>
                    <a:lnB w="9525" cap="flat" cmpd="sng" algn="ctr">
                      <a:solidFill>
                        <a:srgbClr val="CDD0D9"/>
                      </a:solidFill>
                      <a:prstDash val="solid"/>
                      <a:round/>
                      <a:headEnd type="none" w="med" len="med"/>
                      <a:tailEnd type="none" w="med" len="med"/>
                    </a:lnB>
                    <a:solidFill>
                      <a:srgbClr val="F7FBFD"/>
                    </a:solidFill>
                  </a:tcPr>
                </a:tc>
                <a:tc>
                  <a:txBody>
                    <a:bodyPr/>
                    <a:lstStyle/>
                    <a:p>
                      <a:pPr algn="ctr" indent="0" marL="0">
                        <a:buNone/>
                      </a:pPr>
                      <a:r>
                        <a:rPr lang="en-US" sz="950" dirty="0">
                          <a:solidFill>
                            <a:srgbClr val="13151C"/>
                          </a:solidFill>
                          <a:latin typeface="Plus Jakarta Sans" pitchFamily="34" charset="0"/>
                          <a:ea typeface="Plus Jakarta Sans" pitchFamily="34" charset="-122"/>
                          <a:cs typeface="Plus Jakarta Sans" pitchFamily="34" charset="-120"/>
                        </a:rPr>
                        <a:t>35%</a:t>
                      </a:r>
                      <a:endParaRPr lang="en-US" sz="95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CDD0D9"/>
                      </a:solidFill>
                      <a:prstDash val="solid"/>
                      <a:round/>
                      <a:headEnd type="none" w="med" len="med"/>
                      <a:tailEnd type="none" w="med" len="med"/>
                    </a:lnT>
                    <a:lnB w="9525" cap="flat" cmpd="sng" algn="ctr">
                      <a:solidFill>
                        <a:srgbClr val="CDD0D9"/>
                      </a:solidFill>
                      <a:prstDash val="solid"/>
                      <a:round/>
                      <a:headEnd type="none" w="med" len="med"/>
                      <a:tailEnd type="none" w="med" len="med"/>
                    </a:lnB>
                    <a:solidFill>
                      <a:srgbClr val="F7FBFD"/>
                    </a:solidFill>
                  </a:tcPr>
                </a:tc>
                <a:tc>
                  <a:txBody>
                    <a:bodyPr/>
                    <a:lstStyle/>
                    <a:p>
                      <a:pPr algn="ctr" indent="0" marL="0">
                        <a:buNone/>
                      </a:pPr>
                      <a:r>
                        <a:rPr lang="en-US" sz="950" dirty="0">
                          <a:solidFill>
                            <a:srgbClr val="13151C"/>
                          </a:solidFill>
                          <a:latin typeface="Plus Jakarta Sans" pitchFamily="34" charset="0"/>
                          <a:ea typeface="Plus Jakarta Sans" pitchFamily="34" charset="-122"/>
                          <a:cs typeface="Plus Jakarta Sans" pitchFamily="34" charset="-120"/>
                        </a:rPr>
                        <a:t>17.5%</a:t>
                      </a:r>
                      <a:endParaRPr lang="en-US" sz="95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CDD0D9"/>
                      </a:solidFill>
                      <a:prstDash val="solid"/>
                      <a:round/>
                      <a:headEnd type="none" w="med" len="med"/>
                      <a:tailEnd type="none" w="med" len="med"/>
                    </a:lnT>
                    <a:lnB w="9525" cap="flat" cmpd="sng" algn="ctr">
                      <a:solidFill>
                        <a:srgbClr val="CDD0D9"/>
                      </a:solidFill>
                      <a:prstDash val="solid"/>
                      <a:round/>
                      <a:headEnd type="none" w="med" len="med"/>
                      <a:tailEnd type="none" w="med" len="med"/>
                    </a:lnB>
                    <a:solidFill>
                      <a:srgbClr val="F7FBFD"/>
                    </a:solidFill>
                  </a:tcPr>
                </a:tc>
                <a:tc>
                  <a:txBody>
                    <a:bodyPr/>
                    <a:lstStyle/>
                    <a:p>
                      <a:pPr algn="ctr" indent="0" marL="0">
                        <a:buNone/>
                      </a:pPr>
                      <a:r>
                        <a:rPr lang="en-US" sz="950" dirty="0">
                          <a:solidFill>
                            <a:srgbClr val="13151C"/>
                          </a:solidFill>
                          <a:latin typeface="Plus Jakarta Sans" pitchFamily="34" charset="0"/>
                          <a:ea typeface="Plus Jakarta Sans" pitchFamily="34" charset="-122"/>
                          <a:cs typeface="Plus Jakarta Sans" pitchFamily="34" charset="-120"/>
                        </a:rPr>
                        <a:t>12.5%</a:t>
                      </a:r>
                      <a:endParaRPr lang="en-US" sz="95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CDD0D9"/>
                      </a:solidFill>
                      <a:prstDash val="solid"/>
                      <a:round/>
                      <a:headEnd type="none" w="med" len="med"/>
                      <a:tailEnd type="none" w="med" len="med"/>
                    </a:lnT>
                    <a:lnB w="9525" cap="flat" cmpd="sng" algn="ctr">
                      <a:solidFill>
                        <a:srgbClr val="CDD0D9"/>
                      </a:solidFill>
                      <a:prstDash val="solid"/>
                      <a:round/>
                      <a:headEnd type="none" w="med" len="med"/>
                      <a:tailEnd type="none" w="med" len="med"/>
                    </a:lnB>
                    <a:solidFill>
                      <a:srgbClr val="F7FBFD"/>
                    </a:solidFill>
                  </a:tcPr>
                </a:tc>
              </a:tr>
              <a:tr h="317500">
                <a:tc>
                  <a:txBody>
                    <a:bodyPr/>
                    <a:lstStyle/>
                    <a:p>
                      <a:pPr algn="l" indent="0" marL="0">
                        <a:buNone/>
                      </a:pPr>
                      <a:r>
                        <a:rPr lang="en-US" sz="950" dirty="0">
                          <a:solidFill>
                            <a:srgbClr val="13151C"/>
                          </a:solidFill>
                          <a:latin typeface="Plus Jakarta Sans SemiBold" pitchFamily="34" charset="0"/>
                          <a:ea typeface="Plus Jakarta Sans SemiBold" pitchFamily="34" charset="-122"/>
                          <a:cs typeface="Plus Jakarta Sans SemiBold" pitchFamily="34" charset="-120"/>
                        </a:rPr>
                        <a:t>Elite</a:t>
                      </a:r>
                      <a:endParaRPr lang="en-US" sz="950" dirty="0">
                        <a:latin typeface="Plus Jakarta Sans SemiBold" charset="0"/>
                        <a:ea typeface="Plus Jakarta Sans SemiBold" charset="0"/>
                        <a:cs typeface="Plus Jakarta Sans SemiBold" charset="0"/>
                      </a:endParaRPr>
                    </a:p>
                  </a:txBody>
                  <a:tcPr marL="101600" marR="101600" marT="38100" marB="38100" anchor="ctr">
                    <a:lnL w="0" cap="flat" cmpd="sng" algn="ctr">
                      <a:noFill/>
                    </a:lnL>
                    <a:lnR w="0" cap="flat" cmpd="sng" algn="ctr">
                      <a:noFill/>
                    </a:lnR>
                    <a:lnT w="9525" cap="flat" cmpd="sng" algn="ctr">
                      <a:solidFill>
                        <a:srgbClr val="CDD0D9"/>
                      </a:solidFill>
                      <a:prstDash val="solid"/>
                      <a:round/>
                      <a:headEnd type="none" w="med" len="med"/>
                      <a:tailEnd type="none" w="med" len="med"/>
                    </a:lnT>
                    <a:lnB w="9525" cap="flat" cmpd="sng" algn="ctr">
                      <a:solidFill>
                        <a:srgbClr val="CDD0D9"/>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13151C"/>
                          </a:solidFill>
                          <a:latin typeface="Plus Jakarta Sans" pitchFamily="34" charset="0"/>
                          <a:ea typeface="Plus Jakarta Sans" pitchFamily="34" charset="-122"/>
                          <a:cs typeface="Plus Jakarta Sans" pitchFamily="34" charset="-120"/>
                        </a:rPr>
                        <a:t>40%</a:t>
                      </a:r>
                      <a:endParaRPr lang="en-US" sz="95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CDD0D9"/>
                      </a:solidFill>
                      <a:prstDash val="solid"/>
                      <a:round/>
                      <a:headEnd type="none" w="med" len="med"/>
                      <a:tailEnd type="none" w="med" len="med"/>
                    </a:lnT>
                    <a:lnB w="9525" cap="flat" cmpd="sng" algn="ctr">
                      <a:solidFill>
                        <a:srgbClr val="CDD0D9"/>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13151C"/>
                          </a:solidFill>
                          <a:latin typeface="Plus Jakarta Sans" pitchFamily="34" charset="0"/>
                          <a:ea typeface="Plus Jakarta Sans" pitchFamily="34" charset="-122"/>
                          <a:cs typeface="Plus Jakarta Sans" pitchFamily="34" charset="-120"/>
                        </a:rPr>
                        <a:t>20%</a:t>
                      </a:r>
                      <a:endParaRPr lang="en-US" sz="95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CDD0D9"/>
                      </a:solidFill>
                      <a:prstDash val="solid"/>
                      <a:round/>
                      <a:headEnd type="none" w="med" len="med"/>
                      <a:tailEnd type="none" w="med" len="med"/>
                    </a:lnT>
                    <a:lnB w="9525" cap="flat" cmpd="sng" algn="ctr">
                      <a:solidFill>
                        <a:srgbClr val="CDD0D9"/>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13151C"/>
                          </a:solidFill>
                          <a:latin typeface="Plus Jakarta Sans" pitchFamily="34" charset="0"/>
                          <a:ea typeface="Plus Jakarta Sans" pitchFamily="34" charset="-122"/>
                          <a:cs typeface="Plus Jakarta Sans" pitchFamily="34" charset="-120"/>
                        </a:rPr>
                        <a:t>15%</a:t>
                      </a:r>
                      <a:endParaRPr lang="en-US" sz="95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CDD0D9"/>
                      </a:solidFill>
                      <a:prstDash val="solid"/>
                      <a:round/>
                      <a:headEnd type="none" w="med" len="med"/>
                      <a:tailEnd type="none" w="med" len="med"/>
                    </a:lnT>
                    <a:lnB w="9525" cap="flat" cmpd="sng" algn="ctr">
                      <a:solidFill>
                        <a:srgbClr val="CDD0D9"/>
                      </a:solidFill>
                      <a:prstDash val="solid"/>
                      <a:round/>
                      <a:headEnd type="none" w="med" len="med"/>
                      <a:tailEnd type="none" w="med" len="med"/>
                    </a:lnB>
                    <a:solidFill>
                      <a:srgbClr val="FFFFFF"/>
                    </a:solidFill>
                  </a:tcPr>
                </a:tc>
              </a:tr>
            </a:tbl>
          </a:graphicData>
        </a:graphic>
      </p:graphicFrame>
      <p:sp>
        <p:nvSpPr>
          <p:cNvPr id="9" name="anim-3-8"/>
          <p:cNvSpPr txBox="1"/>
          <p:nvPr/>
        </p:nvSpPr>
        <p:spPr>
          <a:xfrm>
            <a:off x="304800" y="3746500"/>
            <a:ext cx="3810000" cy="165100"/>
          </a:xfrm>
          <a:prstGeom prst="rect">
            <a:avLst/>
          </a:prstGeom>
          <a:noFill/>
          <a:ln/>
        </p:spPr>
        <p:txBody>
          <a:bodyPr wrap="square" lIns="0" tIns="0" rIns="0" bIns="0" rtlCol="0" anchor="t"/>
          <a:lstStyle/>
          <a:p>
            <a:pPr algn="l" indent="0" marL="0">
              <a:lnSpc>
                <a:spcPct val="112000"/>
              </a:lnSpc>
              <a:buNone/>
            </a:pPr>
            <a:r>
              <a:rPr lang="en-US" sz="850" b="1" spc="150" kern="0" dirty="0">
                <a:solidFill>
                  <a:srgbClr val="194EFF"/>
                </a:solidFill>
                <a:latin typeface="Plus Jakarta Sans" pitchFamily="34" charset="0"/>
                <a:ea typeface="Plus Jakarta Sans" pitchFamily="34" charset="-122"/>
                <a:cs typeface="Plus Jakarta Sans" pitchFamily="34" charset="-120"/>
              </a:rPr>
              <a:t>REFERRAL &amp; INFLUENCER FEES</a:t>
            </a:r>
            <a:endParaRPr lang="en-US" sz="850" dirty="0"/>
          </a:p>
        </p:txBody>
      </p:sp>
      <p:pic>
        <p:nvPicPr>
          <p:cNvPr id="10" name="anim-3-9" descr="/tmp/claude-0/-home-user-hosting/7c832a48-0979-56aa-9fdf-7d53efb9dc7a/scratchpad/build/img/chev-grad.png">    </p:cNvPr>
          <p:cNvPicPr>
            <a:picLocks noChangeAspect="1"/>
          </p:cNvPicPr>
          <p:nvPr/>
        </p:nvPicPr>
        <p:blipFill>
          <a:blip r:embed="rId2"/>
          <a:stretch>
            <a:fillRect/>
          </a:stretch>
        </p:blipFill>
        <p:spPr>
          <a:xfrm>
            <a:off x="304800" y="4038600"/>
            <a:ext cx="63764" cy="101600"/>
          </a:xfrm>
          <a:prstGeom prst="rect">
            <a:avLst/>
          </a:prstGeom>
        </p:spPr>
      </p:pic>
      <p:sp>
        <p:nvSpPr>
          <p:cNvPr id="11" name="anim-3-10"/>
          <p:cNvSpPr txBox="1"/>
          <p:nvPr/>
        </p:nvSpPr>
        <p:spPr>
          <a:xfrm>
            <a:off x="469900" y="4013200"/>
            <a:ext cx="5321300" cy="469900"/>
          </a:xfrm>
          <a:prstGeom prst="rect">
            <a:avLst/>
          </a:prstGeom>
          <a:noFill/>
          <a:ln/>
        </p:spPr>
        <p:txBody>
          <a:bodyPr wrap="square" lIns="0" tIns="0" rIns="0" bIns="0" rtlCol="0" anchor="t"/>
          <a:lstStyle/>
          <a:p>
            <a:pPr algn="l" indent="0" marL="0">
              <a:lnSpc>
                <a:spcPct val="120000"/>
              </a:lnSpc>
              <a:buNone/>
            </a:pPr>
            <a:r>
              <a:rPr lang="en-US" sz="1000" b="1" dirty="0">
                <a:solidFill>
                  <a:srgbClr val="194EFF"/>
                </a:solidFill>
                <a:latin typeface="Plus Jakarta Sans" pitchFamily="34" charset="0"/>
                <a:ea typeface="Plus Jakarta Sans" pitchFamily="34" charset="-122"/>
                <a:cs typeface="Plus Jakarta Sans" pitchFamily="34" charset="-120"/>
              </a:rPr>
              <a:t>Up to 08% </a:t>
            </a:r>
            <a:pPr algn="l" indent="0" marL="0">
              <a:lnSpc>
                <a:spcPct val="120000"/>
              </a:lnSpc>
              <a:buNone/>
            </a:pPr>
            <a:r>
              <a:rPr lang="en-US" sz="1000" dirty="0">
                <a:solidFill>
                  <a:srgbClr val="13151C"/>
                </a:solidFill>
                <a:latin typeface="Plus Jakarta Sans" pitchFamily="34" charset="0"/>
                <a:ea typeface="Plus Jakarta Sans" pitchFamily="34" charset="-122"/>
                <a:cs typeface="Plus Jakarta Sans" pitchFamily="34" charset="-120"/>
              </a:rPr>
              <a:t>of first-year ARR for a qualified referral that closes (pre-approved, per signed terms).</a:t>
            </a:r>
            <a:endParaRPr lang="en-US" sz="1000" dirty="0"/>
          </a:p>
        </p:txBody>
      </p:sp>
      <p:pic>
        <p:nvPicPr>
          <p:cNvPr id="12" name="anim-3-11" descr="/tmp/claude-0/-home-user-hosting/7c832a48-0979-56aa-9fdf-7d53efb9dc7a/scratchpad/build/img/chev-grad.png">    </p:cNvPr>
          <p:cNvPicPr>
            <a:picLocks noChangeAspect="1"/>
          </p:cNvPicPr>
          <p:nvPr/>
        </p:nvPicPr>
        <p:blipFill>
          <a:blip r:embed="rId3"/>
          <a:stretch>
            <a:fillRect/>
          </a:stretch>
        </p:blipFill>
        <p:spPr>
          <a:xfrm>
            <a:off x="304800" y="4508500"/>
            <a:ext cx="63764" cy="101600"/>
          </a:xfrm>
          <a:prstGeom prst="rect">
            <a:avLst/>
          </a:prstGeom>
        </p:spPr>
      </p:pic>
      <p:sp>
        <p:nvSpPr>
          <p:cNvPr id="13" name="anim-3-12"/>
          <p:cNvSpPr txBox="1"/>
          <p:nvPr/>
        </p:nvSpPr>
        <p:spPr>
          <a:xfrm>
            <a:off x="469900" y="4483100"/>
            <a:ext cx="5321300" cy="469900"/>
          </a:xfrm>
          <a:prstGeom prst="rect">
            <a:avLst/>
          </a:prstGeom>
          <a:noFill/>
          <a:ln/>
        </p:spPr>
        <p:txBody>
          <a:bodyPr wrap="square" lIns="0" tIns="0" rIns="0" bIns="0" rtlCol="0" anchor="t"/>
          <a:lstStyle/>
          <a:p>
            <a:pPr algn="l" indent="0" marL="0">
              <a:lnSpc>
                <a:spcPct val="120000"/>
              </a:lnSpc>
              <a:buNone/>
            </a:pPr>
            <a:r>
              <a:rPr lang="en-US" sz="1000" b="1" dirty="0">
                <a:solidFill>
                  <a:srgbClr val="194EFF"/>
                </a:solidFill>
                <a:latin typeface="Plus Jakarta Sans" pitchFamily="34" charset="0"/>
                <a:ea typeface="Plus Jakarta Sans" pitchFamily="34" charset="-122"/>
                <a:cs typeface="Plus Jakarta Sans" pitchFamily="34" charset="-120"/>
              </a:rPr>
              <a:t>Up to 10% </a:t>
            </a:r>
            <a:pPr algn="l" indent="0" marL="0">
              <a:lnSpc>
                <a:spcPct val="120000"/>
              </a:lnSpc>
              <a:buNone/>
            </a:pPr>
            <a:r>
              <a:rPr lang="en-US" sz="1000" dirty="0">
                <a:solidFill>
                  <a:srgbClr val="13151C"/>
                </a:solidFill>
                <a:latin typeface="Plus Jakarta Sans" pitchFamily="34" charset="0"/>
                <a:ea typeface="Plus Jakarta Sans" pitchFamily="34" charset="-122"/>
                <a:cs typeface="Plus Jakarta Sans" pitchFamily="34" charset="-120"/>
              </a:rPr>
              <a:t>for strategic referrals above $500,000 ARR (pre-approved, risk-reviewed).</a:t>
            </a:r>
            <a:endParaRPr lang="en-US" sz="1000" dirty="0"/>
          </a:p>
        </p:txBody>
      </p:sp>
      <p:pic>
        <p:nvPicPr>
          <p:cNvPr id="14" name="anim-3-13" descr="/tmp/claude-0/-home-user-hosting/7c832a48-0979-56aa-9fdf-7d53efb9dc7a/scratchpad/build/img/chev-grad.png">    </p:cNvPr>
          <p:cNvPicPr>
            <a:picLocks noChangeAspect="1"/>
          </p:cNvPicPr>
          <p:nvPr/>
        </p:nvPicPr>
        <p:blipFill>
          <a:blip r:embed="rId4"/>
          <a:stretch>
            <a:fillRect/>
          </a:stretch>
        </p:blipFill>
        <p:spPr>
          <a:xfrm>
            <a:off x="304800" y="4978400"/>
            <a:ext cx="63764" cy="101600"/>
          </a:xfrm>
          <a:prstGeom prst="rect">
            <a:avLst/>
          </a:prstGeom>
        </p:spPr>
      </p:pic>
      <p:sp>
        <p:nvSpPr>
          <p:cNvPr id="15" name="anim-3-14"/>
          <p:cNvSpPr txBox="1"/>
          <p:nvPr/>
        </p:nvSpPr>
        <p:spPr>
          <a:xfrm>
            <a:off x="469900" y="4953000"/>
            <a:ext cx="5321300" cy="469900"/>
          </a:xfrm>
          <a:prstGeom prst="rect">
            <a:avLst/>
          </a:prstGeom>
          <a:noFill/>
          <a:ln/>
        </p:spPr>
        <p:txBody>
          <a:bodyPr wrap="square" lIns="0" tIns="0" rIns="0" bIns="0" rtlCol="0" anchor="t"/>
          <a:lstStyle/>
          <a:p>
            <a:pPr algn="l" indent="0" marL="0">
              <a:lnSpc>
                <a:spcPct val="120000"/>
              </a:lnSpc>
              <a:buNone/>
            </a:pPr>
            <a:r>
              <a:rPr lang="en-US" sz="1000" b="1" dirty="0">
                <a:solidFill>
                  <a:srgbClr val="13151C"/>
                </a:solidFill>
                <a:latin typeface="Plus Jakarta Sans" pitchFamily="34" charset="0"/>
                <a:ea typeface="Plus Jakarta Sans" pitchFamily="34" charset="-122"/>
                <a:cs typeface="Plus Jakarta Sans" pitchFamily="34" charset="-120"/>
              </a:rPr>
              <a:t>Renewal / expansion: </a:t>
            </a:r>
            <a:pPr algn="l" indent="0" marL="0">
              <a:lnSpc>
                <a:spcPct val="120000"/>
              </a:lnSpc>
              <a:buNone/>
            </a:pPr>
            <a:r>
              <a:rPr lang="en-US" sz="1000" dirty="0">
                <a:solidFill>
                  <a:srgbClr val="13151C"/>
                </a:solidFill>
                <a:latin typeface="Plus Jakarta Sans" pitchFamily="34" charset="0"/>
                <a:ea typeface="Plus Jakarta Sans" pitchFamily="34" charset="-122"/>
                <a:cs typeface="Plus Jakarta Sans" pitchFamily="34" charset="-120"/>
              </a:rPr>
              <a:t>not eligible unless upgraded, assigned and approved before close.</a:t>
            </a:r>
            <a:endParaRPr lang="en-US" sz="1000" dirty="0"/>
          </a:p>
        </p:txBody>
      </p:sp>
      <p:sp>
        <p:nvSpPr>
          <p:cNvPr id="16" name="anim-4-15"/>
          <p:cNvSpPr txBox="1"/>
          <p:nvPr/>
        </p:nvSpPr>
        <p:spPr>
          <a:xfrm>
            <a:off x="6400800" y="1409700"/>
            <a:ext cx="3810000" cy="165100"/>
          </a:xfrm>
          <a:prstGeom prst="rect">
            <a:avLst/>
          </a:prstGeom>
          <a:noFill/>
          <a:ln/>
        </p:spPr>
        <p:txBody>
          <a:bodyPr wrap="square" lIns="0" tIns="0" rIns="0" bIns="0" rtlCol="0" anchor="t"/>
          <a:lstStyle/>
          <a:p>
            <a:pPr algn="l" indent="0" marL="0">
              <a:lnSpc>
                <a:spcPct val="112000"/>
              </a:lnSpc>
              <a:buNone/>
            </a:pPr>
            <a:r>
              <a:rPr lang="en-US" sz="850" b="1" spc="150" kern="0" dirty="0">
                <a:solidFill>
                  <a:srgbClr val="194EFF"/>
                </a:solidFill>
                <a:latin typeface="Plus Jakarta Sans" pitchFamily="34" charset="0"/>
                <a:ea typeface="Plus Jakarta Sans" pitchFamily="34" charset="-122"/>
                <a:cs typeface="Plus Jakarta Sans" pitchFamily="34" charset="-120"/>
              </a:rPr>
              <a:t>WORKED EXAMPLES</a:t>
            </a:r>
            <a:endParaRPr lang="en-US" sz="850" dirty="0"/>
          </a:p>
        </p:txBody>
      </p:sp>
      <p:sp>
        <p:nvSpPr>
          <p:cNvPr id="17" name="anim-4-16"/>
          <p:cNvSpPr/>
          <p:nvPr/>
        </p:nvSpPr>
        <p:spPr>
          <a:xfrm>
            <a:off x="6102350" y="1663700"/>
            <a:ext cx="6089650" cy="6350"/>
          </a:xfrm>
          <a:prstGeom prst="rect">
            <a:avLst/>
          </a:prstGeom>
          <a:solidFill>
            <a:srgbClr val="CDD0D9"/>
          </a:solidFill>
          <a:ln/>
        </p:spPr>
      </p:sp>
      <p:sp>
        <p:nvSpPr>
          <p:cNvPr id="18" name="anim-4-17"/>
          <p:cNvSpPr/>
          <p:nvPr/>
        </p:nvSpPr>
        <p:spPr>
          <a:xfrm>
            <a:off x="6102350" y="1670050"/>
            <a:ext cx="3041650" cy="1263650"/>
          </a:xfrm>
          <a:prstGeom prst="rect">
            <a:avLst/>
          </a:prstGeom>
          <a:solidFill>
            <a:srgbClr val="F7FBFD"/>
          </a:solidFill>
          <a:ln/>
        </p:spPr>
      </p:sp>
      <p:sp>
        <p:nvSpPr>
          <p:cNvPr id="19" name="anim-4-18"/>
          <p:cNvSpPr txBox="1"/>
          <p:nvPr/>
        </p:nvSpPr>
        <p:spPr>
          <a:xfrm>
            <a:off x="6400800" y="1828800"/>
            <a:ext cx="2540000" cy="444500"/>
          </a:xfrm>
          <a:prstGeom prst="rect">
            <a:avLst/>
          </a:prstGeom>
          <a:noFill/>
          <a:ln/>
        </p:spPr>
        <p:txBody>
          <a:bodyPr wrap="square" lIns="0" tIns="0" rIns="0" bIns="0" rtlCol="0" anchor="t"/>
          <a:lstStyle/>
          <a:p>
            <a:pPr algn="l" indent="0" marL="0">
              <a:lnSpc>
                <a:spcPct val="112000"/>
              </a:lnSpc>
              <a:buNone/>
            </a:pPr>
            <a:r>
              <a:rPr lang="en-US" sz="2800" b="1" dirty="0">
                <a:solidFill>
                  <a:srgbClr val="13151C"/>
                </a:solidFill>
                <a:latin typeface="Plus Jakarta Sans" pitchFamily="34" charset="0"/>
                <a:ea typeface="Plus Jakarta Sans" pitchFamily="34" charset="-122"/>
                <a:cs typeface="Plus Jakarta Sans" pitchFamily="34" charset="-120"/>
              </a:rPr>
              <a:t>$30,000</a:t>
            </a:r>
            <a:endParaRPr lang="en-US" sz="2800" dirty="0"/>
          </a:p>
        </p:txBody>
      </p:sp>
      <p:sp>
        <p:nvSpPr>
          <p:cNvPr id="20" name="anim-4-19"/>
          <p:cNvSpPr txBox="1"/>
          <p:nvPr/>
        </p:nvSpPr>
        <p:spPr>
          <a:xfrm>
            <a:off x="6400800" y="2311400"/>
            <a:ext cx="2540000" cy="190500"/>
          </a:xfrm>
          <a:prstGeom prst="rect">
            <a:avLst/>
          </a:prstGeom>
          <a:noFill/>
          <a:ln/>
        </p:spPr>
        <p:txBody>
          <a:bodyPr wrap="square" lIns="0" tIns="0" rIns="0" bIns="0" rtlCol="0" anchor="t"/>
          <a:lstStyle/>
          <a:p>
            <a:pPr algn="l" indent="0" marL="0">
              <a:lnSpc>
                <a:spcPct val="112000"/>
              </a:lnSpc>
              <a:buNone/>
            </a:pPr>
            <a:r>
              <a:rPr lang="en-US" sz="1050" dirty="0">
                <a:solidFill>
                  <a:srgbClr val="194EFF"/>
                </a:solidFill>
                <a:latin typeface="Plus Jakarta Sans SemiBold" pitchFamily="34" charset="0"/>
                <a:ea typeface="Plus Jakarta Sans SemiBold" pitchFamily="34" charset="-122"/>
                <a:cs typeface="Plus Jakarta Sans SemiBold" pitchFamily="34" charset="-120"/>
              </a:rPr>
              <a:t>Gold partner-sourced</a:t>
            </a:r>
            <a:endParaRPr lang="en-US" sz="1050" dirty="0"/>
          </a:p>
        </p:txBody>
      </p:sp>
      <p:sp>
        <p:nvSpPr>
          <p:cNvPr id="21" name="anim-4-20"/>
          <p:cNvSpPr txBox="1"/>
          <p:nvPr/>
        </p:nvSpPr>
        <p:spPr>
          <a:xfrm>
            <a:off x="6400800" y="2527300"/>
            <a:ext cx="2540000" cy="317500"/>
          </a:xfrm>
          <a:prstGeom prst="rect">
            <a:avLst/>
          </a:prstGeom>
          <a:noFill/>
          <a:ln/>
        </p:spPr>
        <p:txBody>
          <a:bodyPr wrap="square" lIns="0" tIns="0" rIns="0" bIns="0" rtlCol="0" anchor="t"/>
          <a:lstStyle/>
          <a:p>
            <a:pPr algn="l" indent="0" marL="0">
              <a:lnSpc>
                <a:spcPct val="112000"/>
              </a:lnSpc>
              <a:buNone/>
            </a:pPr>
            <a:r>
              <a:rPr lang="en-US" sz="950" dirty="0">
                <a:solidFill>
                  <a:srgbClr val="5A5C63"/>
                </a:solidFill>
                <a:latin typeface="Plus Jakarta Sans" pitchFamily="34" charset="0"/>
                <a:ea typeface="Plus Jakarta Sans" pitchFamily="34" charset="-122"/>
                <a:cs typeface="Plus Jakarta Sans" pitchFamily="34" charset="-120"/>
              </a:rPr>
              <a:t>$100,000 × 30%</a:t>
            </a:r>
            <a:endParaRPr lang="en-US" sz="950" dirty="0"/>
          </a:p>
        </p:txBody>
      </p:sp>
      <p:sp>
        <p:nvSpPr>
          <p:cNvPr id="22" name="anim-5-21"/>
          <p:cNvSpPr/>
          <p:nvPr/>
        </p:nvSpPr>
        <p:spPr>
          <a:xfrm>
            <a:off x="9150350" y="1663700"/>
            <a:ext cx="6350" cy="1270000"/>
          </a:xfrm>
          <a:prstGeom prst="rect">
            <a:avLst/>
          </a:prstGeom>
          <a:solidFill>
            <a:srgbClr val="CDD0D9"/>
          </a:solidFill>
          <a:ln/>
        </p:spPr>
      </p:sp>
      <p:sp>
        <p:nvSpPr>
          <p:cNvPr id="23" name="anim-5-22"/>
          <p:cNvSpPr/>
          <p:nvPr/>
        </p:nvSpPr>
        <p:spPr>
          <a:xfrm>
            <a:off x="6102350" y="1663700"/>
            <a:ext cx="6089650" cy="6350"/>
          </a:xfrm>
          <a:prstGeom prst="rect">
            <a:avLst/>
          </a:prstGeom>
          <a:solidFill>
            <a:srgbClr val="CDD0D9"/>
          </a:solidFill>
          <a:ln/>
        </p:spPr>
      </p:sp>
      <p:sp>
        <p:nvSpPr>
          <p:cNvPr id="24" name="anim-5-23"/>
          <p:cNvSpPr txBox="1"/>
          <p:nvPr/>
        </p:nvSpPr>
        <p:spPr>
          <a:xfrm>
            <a:off x="9448800" y="1828800"/>
            <a:ext cx="2540000" cy="444500"/>
          </a:xfrm>
          <a:prstGeom prst="rect">
            <a:avLst/>
          </a:prstGeom>
          <a:noFill/>
          <a:ln/>
        </p:spPr>
        <p:txBody>
          <a:bodyPr wrap="square" lIns="0" tIns="0" rIns="0" bIns="0" rtlCol="0" anchor="t"/>
          <a:lstStyle/>
          <a:p>
            <a:pPr algn="l" indent="0" marL="0">
              <a:lnSpc>
                <a:spcPct val="112000"/>
              </a:lnSpc>
              <a:buNone/>
            </a:pPr>
            <a:r>
              <a:rPr lang="en-US" sz="2800" b="1" dirty="0">
                <a:solidFill>
                  <a:srgbClr val="13151C"/>
                </a:solidFill>
                <a:latin typeface="Plus Jakarta Sans" pitchFamily="34" charset="0"/>
                <a:ea typeface="Plus Jakarta Sans" pitchFamily="34" charset="-122"/>
                <a:cs typeface="Plus Jakarta Sans" pitchFamily="34" charset="-120"/>
              </a:rPr>
              <a:t>$12,500</a:t>
            </a:r>
            <a:endParaRPr lang="en-US" sz="2800" dirty="0"/>
          </a:p>
        </p:txBody>
      </p:sp>
      <p:sp>
        <p:nvSpPr>
          <p:cNvPr id="25" name="anim-5-24"/>
          <p:cNvSpPr txBox="1"/>
          <p:nvPr/>
        </p:nvSpPr>
        <p:spPr>
          <a:xfrm>
            <a:off x="9448800" y="2311400"/>
            <a:ext cx="2540000" cy="190500"/>
          </a:xfrm>
          <a:prstGeom prst="rect">
            <a:avLst/>
          </a:prstGeom>
          <a:noFill/>
          <a:ln/>
        </p:spPr>
        <p:txBody>
          <a:bodyPr wrap="square" lIns="0" tIns="0" rIns="0" bIns="0" rtlCol="0" anchor="t"/>
          <a:lstStyle/>
          <a:p>
            <a:pPr algn="l" indent="0" marL="0">
              <a:lnSpc>
                <a:spcPct val="112000"/>
              </a:lnSpc>
              <a:buNone/>
            </a:pPr>
            <a:r>
              <a:rPr lang="en-US" sz="1050" dirty="0">
                <a:solidFill>
                  <a:srgbClr val="194EFF"/>
                </a:solidFill>
                <a:latin typeface="Plus Jakarta Sans SemiBold" pitchFamily="34" charset="0"/>
                <a:ea typeface="Plus Jakarta Sans SemiBold" pitchFamily="34" charset="-122"/>
                <a:cs typeface="Plus Jakarta Sans SemiBold" pitchFamily="34" charset="-120"/>
              </a:rPr>
              <a:t>Silver partner-driven</a:t>
            </a:r>
            <a:endParaRPr lang="en-US" sz="1050" dirty="0"/>
          </a:p>
        </p:txBody>
      </p:sp>
      <p:sp>
        <p:nvSpPr>
          <p:cNvPr id="26" name="anim-5-25"/>
          <p:cNvSpPr txBox="1"/>
          <p:nvPr/>
        </p:nvSpPr>
        <p:spPr>
          <a:xfrm>
            <a:off x="9448800" y="2527300"/>
            <a:ext cx="2540000" cy="317500"/>
          </a:xfrm>
          <a:prstGeom prst="rect">
            <a:avLst/>
          </a:prstGeom>
          <a:noFill/>
          <a:ln/>
        </p:spPr>
        <p:txBody>
          <a:bodyPr wrap="square" lIns="0" tIns="0" rIns="0" bIns="0" rtlCol="0" anchor="t"/>
          <a:lstStyle/>
          <a:p>
            <a:pPr algn="l" indent="0" marL="0">
              <a:lnSpc>
                <a:spcPct val="112000"/>
              </a:lnSpc>
              <a:buNone/>
            </a:pPr>
            <a:r>
              <a:rPr lang="en-US" sz="950" dirty="0">
                <a:solidFill>
                  <a:srgbClr val="5A5C63"/>
                </a:solidFill>
                <a:latin typeface="Plus Jakarta Sans" pitchFamily="34" charset="0"/>
                <a:ea typeface="Plus Jakarta Sans" pitchFamily="34" charset="-122"/>
                <a:cs typeface="Plus Jakarta Sans" pitchFamily="34" charset="-120"/>
              </a:rPr>
              <a:t>$100,000 × 12.5%</a:t>
            </a:r>
            <a:endParaRPr lang="en-US" sz="950" dirty="0"/>
          </a:p>
        </p:txBody>
      </p:sp>
      <p:sp>
        <p:nvSpPr>
          <p:cNvPr id="27" name="anim-6-26"/>
          <p:cNvSpPr/>
          <p:nvPr/>
        </p:nvSpPr>
        <p:spPr>
          <a:xfrm>
            <a:off x="6102350" y="2933700"/>
            <a:ext cx="6089650" cy="6350"/>
          </a:xfrm>
          <a:prstGeom prst="rect">
            <a:avLst/>
          </a:prstGeom>
          <a:solidFill>
            <a:srgbClr val="CDD0D9"/>
          </a:solidFill>
          <a:ln/>
        </p:spPr>
      </p:sp>
      <p:sp>
        <p:nvSpPr>
          <p:cNvPr id="28" name="anim-6-27"/>
          <p:cNvSpPr txBox="1"/>
          <p:nvPr/>
        </p:nvSpPr>
        <p:spPr>
          <a:xfrm>
            <a:off x="6400800" y="3098800"/>
            <a:ext cx="2540000" cy="444500"/>
          </a:xfrm>
          <a:prstGeom prst="rect">
            <a:avLst/>
          </a:prstGeom>
          <a:noFill/>
          <a:ln/>
        </p:spPr>
        <p:txBody>
          <a:bodyPr wrap="square" lIns="0" tIns="0" rIns="0" bIns="0" rtlCol="0" anchor="t"/>
          <a:lstStyle/>
          <a:p>
            <a:pPr algn="l" indent="0" marL="0">
              <a:lnSpc>
                <a:spcPct val="112000"/>
              </a:lnSpc>
              <a:buNone/>
            </a:pPr>
            <a:r>
              <a:rPr lang="en-US" sz="2800" b="1" dirty="0">
                <a:solidFill>
                  <a:srgbClr val="13151C"/>
                </a:solidFill>
                <a:latin typeface="Plus Jakarta Sans" pitchFamily="34" charset="0"/>
                <a:ea typeface="Plus Jakarta Sans" pitchFamily="34" charset="-122"/>
                <a:cs typeface="Plus Jakarta Sans" pitchFamily="34" charset="-120"/>
              </a:rPr>
              <a:t>$24,000</a:t>
            </a:r>
            <a:endParaRPr lang="en-US" sz="2800" dirty="0"/>
          </a:p>
        </p:txBody>
      </p:sp>
      <p:sp>
        <p:nvSpPr>
          <p:cNvPr id="29" name="anim-6-28"/>
          <p:cNvSpPr txBox="1"/>
          <p:nvPr/>
        </p:nvSpPr>
        <p:spPr>
          <a:xfrm>
            <a:off x="6400800" y="3581400"/>
            <a:ext cx="2540000" cy="190500"/>
          </a:xfrm>
          <a:prstGeom prst="rect">
            <a:avLst/>
          </a:prstGeom>
          <a:noFill/>
          <a:ln/>
        </p:spPr>
        <p:txBody>
          <a:bodyPr wrap="square" lIns="0" tIns="0" rIns="0" bIns="0" rtlCol="0" anchor="t"/>
          <a:lstStyle/>
          <a:p>
            <a:pPr algn="l" indent="0" marL="0">
              <a:lnSpc>
                <a:spcPct val="112000"/>
              </a:lnSpc>
              <a:buNone/>
            </a:pPr>
            <a:r>
              <a:rPr lang="en-US" sz="1050" dirty="0">
                <a:solidFill>
                  <a:srgbClr val="194EFF"/>
                </a:solidFill>
                <a:latin typeface="Plus Jakarta Sans SemiBold" pitchFamily="34" charset="0"/>
                <a:ea typeface="Plus Jakarta Sans SemiBold" pitchFamily="34" charset="-122"/>
                <a:cs typeface="Plus Jakarta Sans SemiBold" pitchFamily="34" charset="-120"/>
              </a:rPr>
              <a:t>Discounted Gold sourced</a:t>
            </a:r>
            <a:endParaRPr lang="en-US" sz="1050" dirty="0"/>
          </a:p>
        </p:txBody>
      </p:sp>
      <p:sp>
        <p:nvSpPr>
          <p:cNvPr id="30" name="anim-6-29"/>
          <p:cNvSpPr txBox="1"/>
          <p:nvPr/>
        </p:nvSpPr>
        <p:spPr>
          <a:xfrm>
            <a:off x="6400800" y="3797300"/>
            <a:ext cx="2540000" cy="317500"/>
          </a:xfrm>
          <a:prstGeom prst="rect">
            <a:avLst/>
          </a:prstGeom>
          <a:noFill/>
          <a:ln/>
        </p:spPr>
        <p:txBody>
          <a:bodyPr wrap="square" lIns="0" tIns="0" rIns="0" bIns="0" rtlCol="0" anchor="t"/>
          <a:lstStyle/>
          <a:p>
            <a:pPr algn="l" indent="0" marL="0">
              <a:lnSpc>
                <a:spcPct val="112000"/>
              </a:lnSpc>
              <a:buNone/>
            </a:pPr>
            <a:r>
              <a:rPr lang="en-US" sz="950" dirty="0">
                <a:solidFill>
                  <a:srgbClr val="5A5C63"/>
                </a:solidFill>
                <a:latin typeface="Plus Jakarta Sans" pitchFamily="34" charset="0"/>
                <a:ea typeface="Plus Jakarta Sans" pitchFamily="34" charset="-122"/>
                <a:cs typeface="Plus Jakarta Sans" pitchFamily="34" charset="-120"/>
              </a:rPr>
              <a:t>$80,000 net × 30%</a:t>
            </a:r>
            <a:endParaRPr lang="en-US" sz="950" dirty="0"/>
          </a:p>
        </p:txBody>
      </p:sp>
      <p:sp>
        <p:nvSpPr>
          <p:cNvPr id="31" name="anim-7-30"/>
          <p:cNvSpPr/>
          <p:nvPr/>
        </p:nvSpPr>
        <p:spPr>
          <a:xfrm>
            <a:off x="9150350" y="2933700"/>
            <a:ext cx="6350" cy="1270000"/>
          </a:xfrm>
          <a:prstGeom prst="rect">
            <a:avLst/>
          </a:prstGeom>
          <a:solidFill>
            <a:srgbClr val="CDD0D9"/>
          </a:solidFill>
          <a:ln/>
        </p:spPr>
      </p:sp>
      <p:sp>
        <p:nvSpPr>
          <p:cNvPr id="32" name="anim-7-31"/>
          <p:cNvSpPr/>
          <p:nvPr/>
        </p:nvSpPr>
        <p:spPr>
          <a:xfrm>
            <a:off x="6102350" y="2933700"/>
            <a:ext cx="6089650" cy="6350"/>
          </a:xfrm>
          <a:prstGeom prst="rect">
            <a:avLst/>
          </a:prstGeom>
          <a:solidFill>
            <a:srgbClr val="CDD0D9"/>
          </a:solidFill>
          <a:ln/>
        </p:spPr>
      </p:sp>
      <p:sp>
        <p:nvSpPr>
          <p:cNvPr id="33" name="anim-7-32"/>
          <p:cNvSpPr/>
          <p:nvPr/>
        </p:nvSpPr>
        <p:spPr>
          <a:xfrm>
            <a:off x="9150350" y="2940050"/>
            <a:ext cx="3041650" cy="1263650"/>
          </a:xfrm>
          <a:prstGeom prst="rect">
            <a:avLst/>
          </a:prstGeom>
          <a:solidFill>
            <a:srgbClr val="F7FBFD"/>
          </a:solidFill>
          <a:ln/>
        </p:spPr>
      </p:sp>
      <p:sp>
        <p:nvSpPr>
          <p:cNvPr id="34" name="anim-7-33"/>
          <p:cNvSpPr txBox="1"/>
          <p:nvPr/>
        </p:nvSpPr>
        <p:spPr>
          <a:xfrm>
            <a:off x="9448800" y="3098800"/>
            <a:ext cx="2540000" cy="444500"/>
          </a:xfrm>
          <a:prstGeom prst="rect">
            <a:avLst/>
          </a:prstGeom>
          <a:noFill/>
          <a:ln/>
        </p:spPr>
        <p:txBody>
          <a:bodyPr wrap="square" lIns="0" tIns="0" rIns="0" bIns="0" rtlCol="0" anchor="t"/>
          <a:lstStyle/>
          <a:p>
            <a:pPr algn="l" indent="0" marL="0">
              <a:lnSpc>
                <a:spcPct val="112000"/>
              </a:lnSpc>
              <a:buNone/>
            </a:pPr>
            <a:r>
              <a:rPr lang="en-US" sz="2800" b="1" dirty="0">
                <a:solidFill>
                  <a:srgbClr val="13151C"/>
                </a:solidFill>
                <a:latin typeface="Plus Jakarta Sans" pitchFamily="34" charset="0"/>
                <a:ea typeface="Plus Jakarta Sans" pitchFamily="34" charset="-122"/>
                <a:cs typeface="Plus Jakarta Sans" pitchFamily="34" charset="-120"/>
              </a:rPr>
              <a:t>$8,000</a:t>
            </a:r>
            <a:endParaRPr lang="en-US" sz="2800" dirty="0"/>
          </a:p>
        </p:txBody>
      </p:sp>
      <p:sp>
        <p:nvSpPr>
          <p:cNvPr id="35" name="anim-7-34"/>
          <p:cNvSpPr txBox="1"/>
          <p:nvPr/>
        </p:nvSpPr>
        <p:spPr>
          <a:xfrm>
            <a:off x="9448800" y="3581400"/>
            <a:ext cx="2540000" cy="190500"/>
          </a:xfrm>
          <a:prstGeom prst="rect">
            <a:avLst/>
          </a:prstGeom>
          <a:noFill/>
          <a:ln/>
        </p:spPr>
        <p:txBody>
          <a:bodyPr wrap="square" lIns="0" tIns="0" rIns="0" bIns="0" rtlCol="0" anchor="t"/>
          <a:lstStyle/>
          <a:p>
            <a:pPr algn="l" indent="0" marL="0">
              <a:lnSpc>
                <a:spcPct val="112000"/>
              </a:lnSpc>
              <a:buNone/>
            </a:pPr>
            <a:r>
              <a:rPr lang="en-US" sz="1050" dirty="0">
                <a:solidFill>
                  <a:srgbClr val="194EFF"/>
                </a:solidFill>
                <a:latin typeface="Plus Jakarta Sans SemiBold" pitchFamily="34" charset="0"/>
                <a:ea typeface="Plus Jakarta Sans SemiBold" pitchFamily="34" charset="-122"/>
                <a:cs typeface="Plus Jakarta Sans SemiBold" pitchFamily="34" charset="-120"/>
              </a:rPr>
              <a:t>Protected floor example</a:t>
            </a:r>
            <a:endParaRPr lang="en-US" sz="1050" dirty="0"/>
          </a:p>
        </p:txBody>
      </p:sp>
      <p:sp>
        <p:nvSpPr>
          <p:cNvPr id="36" name="anim-7-35"/>
          <p:cNvSpPr txBox="1"/>
          <p:nvPr/>
        </p:nvSpPr>
        <p:spPr>
          <a:xfrm>
            <a:off x="9448800" y="3797300"/>
            <a:ext cx="2540000" cy="317500"/>
          </a:xfrm>
          <a:prstGeom prst="rect">
            <a:avLst/>
          </a:prstGeom>
          <a:noFill/>
          <a:ln/>
        </p:spPr>
        <p:txBody>
          <a:bodyPr wrap="square" lIns="0" tIns="0" rIns="0" bIns="0" rtlCol="0" anchor="t"/>
          <a:lstStyle/>
          <a:p>
            <a:pPr algn="l" indent="0" marL="0">
              <a:lnSpc>
                <a:spcPct val="112000"/>
              </a:lnSpc>
              <a:buNone/>
            </a:pPr>
            <a:r>
              <a:rPr lang="en-US" sz="950" dirty="0">
                <a:solidFill>
                  <a:srgbClr val="5A5C63"/>
                </a:solidFill>
                <a:latin typeface="Plus Jakarta Sans" pitchFamily="34" charset="0"/>
                <a:ea typeface="Plus Jakarta Sans" pitchFamily="34" charset="-122"/>
                <a:cs typeface="Plus Jakarta Sans" pitchFamily="34" charset="-120"/>
              </a:rPr>
              <a:t>$80,000 × 10% (subject to approval)</a:t>
            </a:r>
            <a:endParaRPr lang="en-US" sz="950" dirty="0"/>
          </a:p>
        </p:txBody>
      </p:sp>
      <p:sp>
        <p:nvSpPr>
          <p:cNvPr id="37" name="anim-8-36"/>
          <p:cNvSpPr/>
          <p:nvPr/>
        </p:nvSpPr>
        <p:spPr>
          <a:xfrm>
            <a:off x="6102350" y="4203700"/>
            <a:ext cx="6089650" cy="6350"/>
          </a:xfrm>
          <a:prstGeom prst="rect">
            <a:avLst/>
          </a:prstGeom>
          <a:solidFill>
            <a:srgbClr val="CDD0D9"/>
          </a:solidFill>
          <a:ln/>
        </p:spPr>
      </p:sp>
      <p:sp>
        <p:nvSpPr>
          <p:cNvPr id="38" name="anim-8-37"/>
          <p:cNvSpPr/>
          <p:nvPr/>
        </p:nvSpPr>
        <p:spPr>
          <a:xfrm>
            <a:off x="6102350" y="4210050"/>
            <a:ext cx="6089650" cy="1631950"/>
          </a:xfrm>
          <a:prstGeom prst="rect">
            <a:avLst/>
          </a:prstGeom>
          <a:solidFill>
            <a:srgbClr val="EDF1FF"/>
          </a:solidFill>
          <a:ln/>
        </p:spPr>
      </p:sp>
      <p:sp>
        <p:nvSpPr>
          <p:cNvPr id="39" name="anim-8-38"/>
          <p:cNvSpPr txBox="1"/>
          <p:nvPr/>
        </p:nvSpPr>
        <p:spPr>
          <a:xfrm>
            <a:off x="6400800" y="4394200"/>
            <a:ext cx="5461000" cy="254000"/>
          </a:xfrm>
          <a:prstGeom prst="rect">
            <a:avLst/>
          </a:prstGeom>
          <a:noFill/>
          <a:ln/>
        </p:spPr>
        <p:txBody>
          <a:bodyPr wrap="square" lIns="0" tIns="0" rIns="0" bIns="0" rtlCol="0" anchor="t"/>
          <a:lstStyle/>
          <a:p>
            <a:pPr algn="l" indent="0" marL="0">
              <a:lnSpc>
                <a:spcPct val="112000"/>
              </a:lnSpc>
              <a:buNone/>
            </a:pPr>
            <a:r>
              <a:rPr lang="en-US" sz="1400" b="1" dirty="0">
                <a:solidFill>
                  <a:srgbClr val="13151C"/>
                </a:solidFill>
                <a:latin typeface="Plus Jakarta Sans" pitchFamily="34" charset="0"/>
                <a:ea typeface="Plus Jakarta Sans" pitchFamily="34" charset="-122"/>
                <a:cs typeface="Plus Jakarta Sans" pitchFamily="34" charset="-120"/>
              </a:rPr>
              <a:t>First-win recognition</a:t>
            </a:r>
            <a:endParaRPr lang="en-US" sz="1400" dirty="0"/>
          </a:p>
        </p:txBody>
      </p:sp>
      <p:sp>
        <p:nvSpPr>
          <p:cNvPr id="40" name="anim-8-39"/>
          <p:cNvSpPr txBox="1"/>
          <p:nvPr/>
        </p:nvSpPr>
        <p:spPr>
          <a:xfrm>
            <a:off x="6400800" y="4724400"/>
            <a:ext cx="5461000" cy="762000"/>
          </a:xfrm>
          <a:prstGeom prst="rect">
            <a:avLst/>
          </a:prstGeom>
          <a:noFill/>
          <a:ln/>
        </p:spPr>
        <p:txBody>
          <a:bodyPr wrap="square" lIns="0" tIns="0" rIns="0" bIns="0" rtlCol="0" anchor="t"/>
          <a:lstStyle/>
          <a:p>
            <a:pPr algn="l" indent="0" marL="0">
              <a:lnSpc>
                <a:spcPct val="125000"/>
              </a:lnSpc>
              <a:buNone/>
            </a:pPr>
            <a:r>
              <a:rPr lang="en-US" sz="1050" dirty="0">
                <a:solidFill>
                  <a:srgbClr val="13151C"/>
                </a:solidFill>
                <a:latin typeface="Plus Jakarta Sans" pitchFamily="34" charset="0"/>
                <a:ea typeface="Plus Jakarta Sans" pitchFamily="34" charset="-122"/>
                <a:cs typeface="Plus Jakarta Sans" pitchFamily="34" charset="-120"/>
              </a:rPr>
              <a:t>A one-time fund (suggested up to $2,000) may be available after your first approved partner-sourced closed-won opportunity.</a:t>
            </a:r>
            <a:endParaRPr lang="en-US" sz="1050" dirty="0"/>
          </a:p>
        </p:txBody>
      </p:sp>
      <p:sp>
        <p:nvSpPr>
          <p:cNvPr id="41" name="anim-9-40"/>
          <p:cNvSpPr/>
          <p:nvPr/>
        </p:nvSpPr>
        <p:spPr>
          <a:xfrm>
            <a:off x="0" y="5842000"/>
            <a:ext cx="12192000" cy="1016000"/>
          </a:xfrm>
          <a:prstGeom prst="rect">
            <a:avLst/>
          </a:prstGeom>
          <a:solidFill>
            <a:srgbClr val="F5F9FB"/>
          </a:solidFill>
          <a:ln/>
        </p:spPr>
      </p:sp>
      <p:pic>
        <p:nvPicPr>
          <p:cNvPr id="42" name="anim-9-41" descr="/tmp/claude-0/-home-user-hosting/7c832a48-0979-56aa-9fdf-7d53efb9dc7a/scratchpad/build/img/motif-left.png">    </p:cNvPr>
          <p:cNvPicPr>
            <a:picLocks noChangeAspect="1"/>
          </p:cNvPicPr>
          <p:nvPr/>
        </p:nvPicPr>
        <p:blipFill>
          <a:blip r:embed="rId5"/>
          <a:stretch>
            <a:fillRect/>
          </a:stretch>
        </p:blipFill>
        <p:spPr>
          <a:xfrm>
            <a:off x="0" y="5842000"/>
            <a:ext cx="844550" cy="1016000"/>
          </a:xfrm>
          <a:prstGeom prst="rect">
            <a:avLst/>
          </a:prstGeom>
        </p:spPr>
      </p:pic>
      <p:pic>
        <p:nvPicPr>
          <p:cNvPr id="43" name="anim-9-42" descr="/tmp/claude-0/-home-user-hosting/7c832a48-0979-56aa-9fdf-7d53efb9dc7a/scratchpad/build/img/motif-right.png">    </p:cNvPr>
          <p:cNvPicPr>
            <a:picLocks noChangeAspect="1"/>
          </p:cNvPicPr>
          <p:nvPr/>
        </p:nvPicPr>
        <p:blipFill>
          <a:blip r:embed="rId6"/>
          <a:stretch>
            <a:fillRect/>
          </a:stretch>
        </p:blipFill>
        <p:spPr>
          <a:xfrm>
            <a:off x="11347450" y="5842000"/>
            <a:ext cx="844550" cy="1016000"/>
          </a:xfrm>
          <a:prstGeom prst="rect">
            <a:avLst/>
          </a:prstGeom>
        </p:spPr>
      </p:pic>
      <p:sp>
        <p:nvSpPr>
          <p:cNvPr id="44" name="anim-9-43"/>
          <p:cNvSpPr txBox="1"/>
          <p:nvPr/>
        </p:nvSpPr>
        <p:spPr>
          <a:xfrm>
            <a:off x="1079500" y="5969000"/>
            <a:ext cx="2095500" cy="558800"/>
          </a:xfrm>
          <a:prstGeom prst="rect">
            <a:avLst/>
          </a:prstGeom>
          <a:noFill/>
          <a:ln/>
        </p:spPr>
        <p:txBody>
          <a:bodyPr wrap="square" lIns="0" tIns="0" rIns="0" bIns="0" rtlCol="0" anchor="ctr"/>
          <a:lstStyle/>
          <a:p>
            <a:pPr algn="l" indent="0" marL="0">
              <a:lnSpc>
                <a:spcPct val="112000"/>
              </a:lnSpc>
              <a:buNone/>
            </a:pPr>
            <a:r>
              <a:rPr lang="en-US" sz="1200" b="1" dirty="0">
                <a:solidFill>
                  <a:srgbClr val="194EFF"/>
                </a:solidFill>
                <a:latin typeface="Plus Jakarta Sans" pitchFamily="34" charset="0"/>
                <a:ea typeface="Plus Jakarta Sans" pitchFamily="34" charset="-122"/>
                <a:cs typeface="Plus Jakarta Sans" pitchFamily="34" charset="-120"/>
              </a:rPr>
              <a:t>When You're Paid</a:t>
            </a:r>
            <a:endParaRPr lang="en-US" sz="1200" dirty="0"/>
          </a:p>
        </p:txBody>
      </p:sp>
      <p:sp>
        <p:nvSpPr>
          <p:cNvPr id="45" name="anim-9-44"/>
          <p:cNvSpPr txBox="1"/>
          <p:nvPr/>
        </p:nvSpPr>
        <p:spPr>
          <a:xfrm>
            <a:off x="3302000" y="5969000"/>
            <a:ext cx="7810500" cy="558800"/>
          </a:xfrm>
          <a:prstGeom prst="rect">
            <a:avLst/>
          </a:prstGeom>
          <a:noFill/>
          <a:ln/>
        </p:spPr>
        <p:txBody>
          <a:bodyPr wrap="square" lIns="0" tIns="0" rIns="0" bIns="0" rtlCol="0" anchor="ctr"/>
          <a:lstStyle/>
          <a:p>
            <a:pPr algn="l" indent="0" marL="0">
              <a:lnSpc>
                <a:spcPct val="112000"/>
              </a:lnSpc>
              <a:buNone/>
            </a:pPr>
            <a:r>
              <a:rPr lang="en-US" sz="1100" dirty="0">
                <a:solidFill>
                  <a:srgbClr val="13151C"/>
                </a:solidFill>
                <a:latin typeface="Plus Jakarta Sans Medium" pitchFamily="34" charset="0"/>
                <a:ea typeface="Plus Jakarta Sans Medium" pitchFamily="34" charset="-122"/>
                <a:cs typeface="Plus Jakarta Sans Medium" pitchFamily="34" charset="-120"/>
              </a:rPr>
              <a:t>On eligible DignifyX recurring software and subscription revenue, after cleared customer payment and a valid partner invoice.</a:t>
            </a:r>
            <a:endParaRPr lang="en-US" sz="1100" dirty="0"/>
          </a:p>
        </p:txBody>
      </p:sp>
      <p:sp>
        <p:nvSpPr>
          <p:cNvPr id="46" name="Text 37"/>
          <p:cNvSpPr txBox="1"/>
          <p:nvPr/>
        </p:nvSpPr>
        <p:spPr>
          <a:xfrm>
            <a:off x="1079500" y="6578600"/>
            <a:ext cx="10033000" cy="165100"/>
          </a:xfrm>
          <a:prstGeom prst="rect">
            <a:avLst/>
          </a:prstGeom>
          <a:noFill/>
          <a:ln/>
        </p:spPr>
        <p:txBody>
          <a:bodyPr wrap="square" lIns="0" tIns="0" rIns="0" bIns="0" rtlCol="0" anchor="t"/>
          <a:lstStyle/>
          <a:p>
            <a:pPr algn="ctr" indent="0" marL="0">
              <a:lnSpc>
                <a:spcPct val="112000"/>
              </a:lnSpc>
              <a:buNone/>
            </a:pPr>
            <a:r>
              <a:rPr lang="en-US" sz="750" dirty="0">
                <a:solidFill>
                  <a:srgbClr val="8A8C93"/>
                </a:solidFill>
                <a:latin typeface="Plus Jakarta Sans" pitchFamily="34" charset="0"/>
                <a:ea typeface="Plus Jakarta Sans" pitchFamily="34" charset="-122"/>
                <a:cs typeface="Plus Jakarta Sans" pitchFamily="34" charset="-120"/>
              </a:rPr>
              <a:t>Partner-Confidential · NDA · Contains commercial rate card · Programme description only; not a contract</a:t>
            </a:r>
            <a:endParaRPr lang="en-US" sz="75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500"/>
                                        <p:tgtEl>
                                          <p:spTgt spid="3"/>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4"/>
                                        </p:tgtEl>
                                        <p:attrNameLst>
                                          <p:attrName>style.visibility</p:attrName>
                                        </p:attrNameLst>
                                      </p:cBhvr>
                                      <p:to>
                                        <p:strVal val="visible"/>
                                      </p:to>
                                    </p:set>
                                    <p:animEffect transition="in" filter="fade">
                                      <p:cBhvr>
                                        <p:cTn id="13" dur="500"/>
                                        <p:tgtEl>
                                          <p:spTgt spid="4"/>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5"/>
                                        </p:tgtEl>
                                        <p:attrNameLst>
                                          <p:attrName>style.visibility</p:attrName>
                                        </p:attrNameLst>
                                      </p:cBhvr>
                                      <p:to>
                                        <p:strVal val="visible"/>
                                      </p:to>
                                    </p:set>
                                    <p:animEffect transition="in" filter="fade">
                                      <p:cBhvr>
                                        <p:cTn id="16" dur="500"/>
                                        <p:tgtEl>
                                          <p:spTgt spid="5"/>
                                        </p:tgtEl>
                                      </p:cBhvr>
                                    </p:animEffect>
                                  </p:childTnLst>
                                </p:cTn>
                              </p:par>
                              <p:par>
                                <p:cTn id="17" presetID="10" presetClass="entr" presetSubtype="0" fill="hold" grpId="0" nodeType="withEffect">
                                  <p:stCondLst>
                                    <p:cond delay="180"/>
                                  </p:stCondLst>
                                  <p:childTnLst>
                                    <p:set>
                                      <p:cBhvr>
                                        <p:cTn id="18" dur="1" fill="hold">
                                          <p:stCondLst>
                                            <p:cond delay="0"/>
                                          </p:stCondLst>
                                        </p:cTn>
                                        <p:tgtEl>
                                          <p:spTgt spid="6"/>
                                        </p:tgtEl>
                                        <p:attrNameLst>
                                          <p:attrName>style.visibility</p:attrName>
                                        </p:attrNameLst>
                                      </p:cBhvr>
                                      <p:to>
                                        <p:strVal val="visible"/>
                                      </p:to>
                                    </p:set>
                                    <p:animEffect transition="in" filter="fade">
                                      <p:cBhvr>
                                        <p:cTn id="19" dur="500"/>
                                        <p:tgtEl>
                                          <p:spTgt spid="6"/>
                                        </p:tgtEl>
                                      </p:cBhvr>
                                    </p:animEffect>
                                  </p:childTnLst>
                                </p:cTn>
                              </p:par>
                              <p:par>
                                <p:cTn id="20" presetID="10" presetClass="entr" presetSubtype="0" fill="hold" grpId="0" nodeType="withEffect">
                                  <p:stCondLst>
                                    <p:cond delay="180"/>
                                  </p:stCondLst>
                                  <p:childTnLst>
                                    <p:set>
                                      <p:cBhvr>
                                        <p:cTn id="21" dur="1" fill="hold">
                                          <p:stCondLst>
                                            <p:cond delay="0"/>
                                          </p:stCondLst>
                                        </p:cTn>
                                        <p:tgtEl>
                                          <p:spTgt spid="7"/>
                                        </p:tgtEl>
                                        <p:attrNameLst>
                                          <p:attrName>style.visibility</p:attrName>
                                        </p:attrNameLst>
                                      </p:cBhvr>
                                      <p:to>
                                        <p:strVal val="visible"/>
                                      </p:to>
                                    </p:set>
                                    <p:animEffect transition="in" filter="fade">
                                      <p:cBhvr>
                                        <p:cTn id="22" dur="500"/>
                                        <p:tgtEl>
                                          <p:spTgt spid="7"/>
                                        </p:tgtEl>
                                      </p:cBhvr>
                                    </p:animEffect>
                                  </p:childTnLst>
                                </p:cTn>
                              </p:par>
                              <p:par>
                                <p:cTn id="23" presetID="10" presetClass="entr" presetSubtype="0" fill="hold" grpId="0" nodeType="withEffect">
                                  <p:stCondLst>
                                    <p:cond delay="180"/>
                                  </p:stCondLst>
                                  <p:childTnLst>
                                    <p:set>
                                      <p:cBhvr>
                                        <p:cTn id="24" dur="1" fill="hold">
                                          <p:stCondLst>
                                            <p:cond delay="0"/>
                                          </p:stCondLst>
                                        </p:cTn>
                                        <p:tgtEl>
                                          <p:spTgt spid="11"/>
                                        </p:tgtEl>
                                        <p:attrNameLst>
                                          <p:attrName>style.visibility</p:attrName>
                                        </p:attrNameLst>
                                      </p:cBhvr>
                                      <p:to>
                                        <p:strVal val="visible"/>
                                      </p:to>
                                    </p:set>
                                    <p:animEffect transition="in" filter="fade">
                                      <p:cBhvr>
                                        <p:cTn id="25" dur="500"/>
                                        <p:tgtEl>
                                          <p:spTgt spid="11"/>
                                        </p:tgtEl>
                                      </p:cBhvr>
                                    </p:animEffect>
                                  </p:childTnLst>
                                </p:cTn>
                              </p:par>
                              <p:par>
                                <p:cTn id="26" presetID="10" presetClass="entr" presetSubtype="0" fill="hold" grpId="0" nodeType="withEffect">
                                  <p:stCondLst>
                                    <p:cond delay="360"/>
                                  </p:stCondLst>
                                  <p:childTnLst>
                                    <p:set>
                                      <p:cBhvr>
                                        <p:cTn id="27" dur="1" fill="hold">
                                          <p:stCondLst>
                                            <p:cond delay="0"/>
                                          </p:stCondLst>
                                        </p:cTn>
                                        <p:tgtEl>
                                          <p:spTgt spid="9"/>
                                        </p:tgtEl>
                                        <p:attrNameLst>
                                          <p:attrName>style.visibility</p:attrName>
                                        </p:attrNameLst>
                                      </p:cBhvr>
                                      <p:to>
                                        <p:strVal val="visible"/>
                                      </p:to>
                                    </p:set>
                                    <p:animEffect transition="in" filter="fade">
                                      <p:cBhvr>
                                        <p:cTn id="28" dur="500"/>
                                        <p:tgtEl>
                                          <p:spTgt spid="9"/>
                                        </p:tgtEl>
                                      </p:cBhvr>
                                    </p:animEffect>
                                  </p:childTnLst>
                                </p:cTn>
                              </p:par>
                              <p:par>
                                <p:cTn id="29" presetID="10" presetClass="entr" presetSubtype="0" fill="hold" grpId="0" nodeType="withEffect">
                                  <p:stCondLst>
                                    <p:cond delay="360"/>
                                  </p:stCondLst>
                                  <p:childTnLst>
                                    <p:set>
                                      <p:cBhvr>
                                        <p:cTn id="30" dur="1" fill="hold">
                                          <p:stCondLst>
                                            <p:cond delay="0"/>
                                          </p:stCondLst>
                                        </p:cTn>
                                        <p:tgtEl>
                                          <p:spTgt spid="10"/>
                                        </p:tgtEl>
                                        <p:attrNameLst>
                                          <p:attrName>style.visibility</p:attrName>
                                        </p:attrNameLst>
                                      </p:cBhvr>
                                      <p:to>
                                        <p:strVal val="visible"/>
                                      </p:to>
                                    </p:set>
                                    <p:animEffect transition="in" filter="fade">
                                      <p:cBhvr>
                                        <p:cTn id="31" dur="500"/>
                                        <p:tgtEl>
                                          <p:spTgt spid="10"/>
                                        </p:tgtEl>
                                      </p:cBhvr>
                                    </p:animEffect>
                                  </p:childTnLst>
                                </p:cTn>
                              </p:par>
                              <p:par>
                                <p:cTn id="32" presetID="10" presetClass="entr" presetSubtype="0" fill="hold" grpId="0" nodeType="withEffect">
                                  <p:stCondLst>
                                    <p:cond delay="360"/>
                                  </p:stCondLst>
                                  <p:childTnLst>
                                    <p:set>
                                      <p:cBhvr>
                                        <p:cTn id="33" dur="1" fill="hold">
                                          <p:stCondLst>
                                            <p:cond delay="0"/>
                                          </p:stCondLst>
                                        </p:cTn>
                                        <p:tgtEl>
                                          <p:spTgt spid="11"/>
                                        </p:tgtEl>
                                        <p:attrNameLst>
                                          <p:attrName>style.visibility</p:attrName>
                                        </p:attrNameLst>
                                      </p:cBhvr>
                                      <p:to>
                                        <p:strVal val="visible"/>
                                      </p:to>
                                    </p:set>
                                    <p:animEffect transition="in" filter="fade">
                                      <p:cBhvr>
                                        <p:cTn id="34" dur="500"/>
                                        <p:tgtEl>
                                          <p:spTgt spid="11"/>
                                        </p:tgtEl>
                                      </p:cBhvr>
                                    </p:animEffect>
                                  </p:childTnLst>
                                </p:cTn>
                              </p:par>
                              <p:par>
                                <p:cTn id="35" presetID="10" presetClass="entr" presetSubtype="0" fill="hold" grpId="0" nodeType="withEffect">
                                  <p:stCondLst>
                                    <p:cond delay="360"/>
                                  </p:stCondLst>
                                  <p:childTnLst>
                                    <p:set>
                                      <p:cBhvr>
                                        <p:cTn id="36" dur="1" fill="hold">
                                          <p:stCondLst>
                                            <p:cond delay="0"/>
                                          </p:stCondLst>
                                        </p:cTn>
                                        <p:tgtEl>
                                          <p:spTgt spid="12"/>
                                        </p:tgtEl>
                                        <p:attrNameLst>
                                          <p:attrName>style.visibility</p:attrName>
                                        </p:attrNameLst>
                                      </p:cBhvr>
                                      <p:to>
                                        <p:strVal val="visible"/>
                                      </p:to>
                                    </p:set>
                                    <p:animEffect transition="in" filter="fade">
                                      <p:cBhvr>
                                        <p:cTn id="37" dur="500"/>
                                        <p:tgtEl>
                                          <p:spTgt spid="12"/>
                                        </p:tgtEl>
                                      </p:cBhvr>
                                    </p:animEffect>
                                  </p:childTnLst>
                                </p:cTn>
                              </p:par>
                              <p:par>
                                <p:cTn id="38" presetID="10" presetClass="entr" presetSubtype="0" fill="hold" grpId="0" nodeType="withEffect">
                                  <p:stCondLst>
                                    <p:cond delay="360"/>
                                  </p:stCondLst>
                                  <p:childTnLst>
                                    <p:set>
                                      <p:cBhvr>
                                        <p:cTn id="39" dur="1" fill="hold">
                                          <p:stCondLst>
                                            <p:cond delay="0"/>
                                          </p:stCondLst>
                                        </p:cTn>
                                        <p:tgtEl>
                                          <p:spTgt spid="13"/>
                                        </p:tgtEl>
                                        <p:attrNameLst>
                                          <p:attrName>style.visibility</p:attrName>
                                        </p:attrNameLst>
                                      </p:cBhvr>
                                      <p:to>
                                        <p:strVal val="visible"/>
                                      </p:to>
                                    </p:set>
                                    <p:animEffect transition="in" filter="fade">
                                      <p:cBhvr>
                                        <p:cTn id="40" dur="500"/>
                                        <p:tgtEl>
                                          <p:spTgt spid="13"/>
                                        </p:tgtEl>
                                      </p:cBhvr>
                                    </p:animEffect>
                                  </p:childTnLst>
                                </p:cTn>
                              </p:par>
                              <p:par>
                                <p:cTn id="41" presetID="10" presetClass="entr" presetSubtype="0" fill="hold" grpId="0" nodeType="withEffect">
                                  <p:stCondLst>
                                    <p:cond delay="360"/>
                                  </p:stCondLst>
                                  <p:childTnLst>
                                    <p:set>
                                      <p:cBhvr>
                                        <p:cTn id="42" dur="1" fill="hold">
                                          <p:stCondLst>
                                            <p:cond delay="0"/>
                                          </p:stCondLst>
                                        </p:cTn>
                                        <p:tgtEl>
                                          <p:spTgt spid="14"/>
                                        </p:tgtEl>
                                        <p:attrNameLst>
                                          <p:attrName>style.visibility</p:attrName>
                                        </p:attrNameLst>
                                      </p:cBhvr>
                                      <p:to>
                                        <p:strVal val="visible"/>
                                      </p:to>
                                    </p:set>
                                    <p:animEffect transition="in" filter="fade">
                                      <p:cBhvr>
                                        <p:cTn id="43" dur="500"/>
                                        <p:tgtEl>
                                          <p:spTgt spid="14"/>
                                        </p:tgtEl>
                                      </p:cBhvr>
                                    </p:animEffect>
                                  </p:childTnLst>
                                </p:cTn>
                              </p:par>
                              <p:par>
                                <p:cTn id="44" presetID="10" presetClass="entr" presetSubtype="0" fill="hold" grpId="0" nodeType="withEffect">
                                  <p:stCondLst>
                                    <p:cond delay="360"/>
                                  </p:stCondLst>
                                  <p:childTnLst>
                                    <p:set>
                                      <p:cBhvr>
                                        <p:cTn id="45" dur="1" fill="hold">
                                          <p:stCondLst>
                                            <p:cond delay="0"/>
                                          </p:stCondLst>
                                        </p:cTn>
                                        <p:tgtEl>
                                          <p:spTgt spid="15"/>
                                        </p:tgtEl>
                                        <p:attrNameLst>
                                          <p:attrName>style.visibility</p:attrName>
                                        </p:attrNameLst>
                                      </p:cBhvr>
                                      <p:to>
                                        <p:strVal val="visible"/>
                                      </p:to>
                                    </p:set>
                                    <p:animEffect transition="in" filter="fade">
                                      <p:cBhvr>
                                        <p:cTn id="46" dur="500"/>
                                        <p:tgtEl>
                                          <p:spTgt spid="15"/>
                                        </p:tgtEl>
                                      </p:cBhvr>
                                    </p:animEffect>
                                  </p:childTnLst>
                                </p:cTn>
                              </p:par>
                              <p:par>
                                <p:cTn id="47" presetID="10" presetClass="entr" presetSubtype="0" fill="hold" grpId="0" nodeType="withEffect">
                                  <p:stCondLst>
                                    <p:cond delay="540"/>
                                  </p:stCondLst>
                                  <p:childTnLst>
                                    <p:set>
                                      <p:cBhvr>
                                        <p:cTn id="48" dur="1" fill="hold">
                                          <p:stCondLst>
                                            <p:cond delay="0"/>
                                          </p:stCondLst>
                                        </p:cTn>
                                        <p:tgtEl>
                                          <p:spTgt spid="16"/>
                                        </p:tgtEl>
                                        <p:attrNameLst>
                                          <p:attrName>style.visibility</p:attrName>
                                        </p:attrNameLst>
                                      </p:cBhvr>
                                      <p:to>
                                        <p:strVal val="visible"/>
                                      </p:to>
                                    </p:set>
                                    <p:animEffect transition="in" filter="fade">
                                      <p:cBhvr>
                                        <p:cTn id="49" dur="500"/>
                                        <p:tgtEl>
                                          <p:spTgt spid="16"/>
                                        </p:tgtEl>
                                      </p:cBhvr>
                                    </p:animEffect>
                                  </p:childTnLst>
                                </p:cTn>
                              </p:par>
                              <p:par>
                                <p:cTn id="50" presetID="10" presetClass="entr" presetSubtype="0" fill="hold" grpId="0" nodeType="withEffect">
                                  <p:stCondLst>
                                    <p:cond delay="540"/>
                                  </p:stCondLst>
                                  <p:childTnLst>
                                    <p:set>
                                      <p:cBhvr>
                                        <p:cTn id="51" dur="1" fill="hold">
                                          <p:stCondLst>
                                            <p:cond delay="0"/>
                                          </p:stCondLst>
                                        </p:cTn>
                                        <p:tgtEl>
                                          <p:spTgt spid="17"/>
                                        </p:tgtEl>
                                        <p:attrNameLst>
                                          <p:attrName>style.visibility</p:attrName>
                                        </p:attrNameLst>
                                      </p:cBhvr>
                                      <p:to>
                                        <p:strVal val="visible"/>
                                      </p:to>
                                    </p:set>
                                    <p:animEffect transition="in" filter="fade">
                                      <p:cBhvr>
                                        <p:cTn id="52" dur="500"/>
                                        <p:tgtEl>
                                          <p:spTgt spid="17"/>
                                        </p:tgtEl>
                                      </p:cBhvr>
                                    </p:animEffect>
                                  </p:childTnLst>
                                </p:cTn>
                              </p:par>
                              <p:par>
                                <p:cTn id="53" presetID="10" presetClass="entr" presetSubtype="0" fill="hold" grpId="0" nodeType="withEffect">
                                  <p:stCondLst>
                                    <p:cond delay="540"/>
                                  </p:stCondLst>
                                  <p:childTnLst>
                                    <p:set>
                                      <p:cBhvr>
                                        <p:cTn id="54" dur="1" fill="hold">
                                          <p:stCondLst>
                                            <p:cond delay="0"/>
                                          </p:stCondLst>
                                        </p:cTn>
                                        <p:tgtEl>
                                          <p:spTgt spid="18"/>
                                        </p:tgtEl>
                                        <p:attrNameLst>
                                          <p:attrName>style.visibility</p:attrName>
                                        </p:attrNameLst>
                                      </p:cBhvr>
                                      <p:to>
                                        <p:strVal val="visible"/>
                                      </p:to>
                                    </p:set>
                                    <p:animEffect transition="in" filter="fade">
                                      <p:cBhvr>
                                        <p:cTn id="55" dur="500"/>
                                        <p:tgtEl>
                                          <p:spTgt spid="18"/>
                                        </p:tgtEl>
                                      </p:cBhvr>
                                    </p:animEffect>
                                  </p:childTnLst>
                                </p:cTn>
                              </p:par>
                              <p:par>
                                <p:cTn id="56" presetID="10" presetClass="entr" presetSubtype="0" fill="hold" grpId="0" nodeType="withEffect">
                                  <p:stCondLst>
                                    <p:cond delay="540"/>
                                  </p:stCondLst>
                                  <p:childTnLst>
                                    <p:set>
                                      <p:cBhvr>
                                        <p:cTn id="57" dur="1" fill="hold">
                                          <p:stCondLst>
                                            <p:cond delay="0"/>
                                          </p:stCondLst>
                                        </p:cTn>
                                        <p:tgtEl>
                                          <p:spTgt spid="19"/>
                                        </p:tgtEl>
                                        <p:attrNameLst>
                                          <p:attrName>style.visibility</p:attrName>
                                        </p:attrNameLst>
                                      </p:cBhvr>
                                      <p:to>
                                        <p:strVal val="visible"/>
                                      </p:to>
                                    </p:set>
                                    <p:animEffect transition="in" filter="fade">
                                      <p:cBhvr>
                                        <p:cTn id="58" dur="500"/>
                                        <p:tgtEl>
                                          <p:spTgt spid="19"/>
                                        </p:tgtEl>
                                      </p:cBhvr>
                                    </p:animEffect>
                                  </p:childTnLst>
                                </p:cTn>
                              </p:par>
                              <p:par>
                                <p:cTn id="59" presetID="10" presetClass="entr" presetSubtype="0" fill="hold" grpId="0" nodeType="withEffect">
                                  <p:stCondLst>
                                    <p:cond delay="540"/>
                                  </p:stCondLst>
                                  <p:childTnLst>
                                    <p:set>
                                      <p:cBhvr>
                                        <p:cTn id="60" dur="1" fill="hold">
                                          <p:stCondLst>
                                            <p:cond delay="0"/>
                                          </p:stCondLst>
                                        </p:cTn>
                                        <p:tgtEl>
                                          <p:spTgt spid="20"/>
                                        </p:tgtEl>
                                        <p:attrNameLst>
                                          <p:attrName>style.visibility</p:attrName>
                                        </p:attrNameLst>
                                      </p:cBhvr>
                                      <p:to>
                                        <p:strVal val="visible"/>
                                      </p:to>
                                    </p:set>
                                    <p:animEffect transition="in" filter="fade">
                                      <p:cBhvr>
                                        <p:cTn id="61" dur="500"/>
                                        <p:tgtEl>
                                          <p:spTgt spid="20"/>
                                        </p:tgtEl>
                                      </p:cBhvr>
                                    </p:animEffect>
                                  </p:childTnLst>
                                </p:cTn>
                              </p:par>
                              <p:par>
                                <p:cTn id="62" presetID="10" presetClass="entr" presetSubtype="0" fill="hold" grpId="0" nodeType="withEffect">
                                  <p:stCondLst>
                                    <p:cond delay="540"/>
                                  </p:stCondLst>
                                  <p:childTnLst>
                                    <p:set>
                                      <p:cBhvr>
                                        <p:cTn id="63" dur="1" fill="hold">
                                          <p:stCondLst>
                                            <p:cond delay="0"/>
                                          </p:stCondLst>
                                        </p:cTn>
                                        <p:tgtEl>
                                          <p:spTgt spid="21"/>
                                        </p:tgtEl>
                                        <p:attrNameLst>
                                          <p:attrName>style.visibility</p:attrName>
                                        </p:attrNameLst>
                                      </p:cBhvr>
                                      <p:to>
                                        <p:strVal val="visible"/>
                                      </p:to>
                                    </p:set>
                                    <p:animEffect transition="in" filter="fade">
                                      <p:cBhvr>
                                        <p:cTn id="64" dur="500"/>
                                        <p:tgtEl>
                                          <p:spTgt spid="21"/>
                                        </p:tgtEl>
                                      </p:cBhvr>
                                    </p:animEffect>
                                  </p:childTnLst>
                                </p:cTn>
                              </p:par>
                              <p:par>
                                <p:cTn id="65" presetID="10" presetClass="entr" presetSubtype="0" fill="hold" grpId="0" nodeType="withEffect">
                                  <p:stCondLst>
                                    <p:cond delay="720"/>
                                  </p:stCondLst>
                                  <p:childTnLst>
                                    <p:set>
                                      <p:cBhvr>
                                        <p:cTn id="66" dur="1" fill="hold">
                                          <p:stCondLst>
                                            <p:cond delay="0"/>
                                          </p:stCondLst>
                                        </p:cTn>
                                        <p:tgtEl>
                                          <p:spTgt spid="22"/>
                                        </p:tgtEl>
                                        <p:attrNameLst>
                                          <p:attrName>style.visibility</p:attrName>
                                        </p:attrNameLst>
                                      </p:cBhvr>
                                      <p:to>
                                        <p:strVal val="visible"/>
                                      </p:to>
                                    </p:set>
                                    <p:animEffect transition="in" filter="fade">
                                      <p:cBhvr>
                                        <p:cTn id="67" dur="500"/>
                                        <p:tgtEl>
                                          <p:spTgt spid="22"/>
                                        </p:tgtEl>
                                      </p:cBhvr>
                                    </p:animEffect>
                                  </p:childTnLst>
                                </p:cTn>
                              </p:par>
                              <p:par>
                                <p:cTn id="68" presetID="10" presetClass="entr" presetSubtype="0" fill="hold" grpId="0" nodeType="withEffect">
                                  <p:stCondLst>
                                    <p:cond delay="720"/>
                                  </p:stCondLst>
                                  <p:childTnLst>
                                    <p:set>
                                      <p:cBhvr>
                                        <p:cTn id="69" dur="1" fill="hold">
                                          <p:stCondLst>
                                            <p:cond delay="0"/>
                                          </p:stCondLst>
                                        </p:cTn>
                                        <p:tgtEl>
                                          <p:spTgt spid="23"/>
                                        </p:tgtEl>
                                        <p:attrNameLst>
                                          <p:attrName>style.visibility</p:attrName>
                                        </p:attrNameLst>
                                      </p:cBhvr>
                                      <p:to>
                                        <p:strVal val="visible"/>
                                      </p:to>
                                    </p:set>
                                    <p:animEffect transition="in" filter="fade">
                                      <p:cBhvr>
                                        <p:cTn id="70" dur="500"/>
                                        <p:tgtEl>
                                          <p:spTgt spid="23"/>
                                        </p:tgtEl>
                                      </p:cBhvr>
                                    </p:animEffect>
                                  </p:childTnLst>
                                </p:cTn>
                              </p:par>
                              <p:par>
                                <p:cTn id="71" presetID="10" presetClass="entr" presetSubtype="0" fill="hold" grpId="0" nodeType="withEffect">
                                  <p:stCondLst>
                                    <p:cond delay="720"/>
                                  </p:stCondLst>
                                  <p:childTnLst>
                                    <p:set>
                                      <p:cBhvr>
                                        <p:cTn id="72" dur="1" fill="hold">
                                          <p:stCondLst>
                                            <p:cond delay="0"/>
                                          </p:stCondLst>
                                        </p:cTn>
                                        <p:tgtEl>
                                          <p:spTgt spid="24"/>
                                        </p:tgtEl>
                                        <p:attrNameLst>
                                          <p:attrName>style.visibility</p:attrName>
                                        </p:attrNameLst>
                                      </p:cBhvr>
                                      <p:to>
                                        <p:strVal val="visible"/>
                                      </p:to>
                                    </p:set>
                                    <p:animEffect transition="in" filter="fade">
                                      <p:cBhvr>
                                        <p:cTn id="73" dur="500"/>
                                        <p:tgtEl>
                                          <p:spTgt spid="24"/>
                                        </p:tgtEl>
                                      </p:cBhvr>
                                    </p:animEffect>
                                  </p:childTnLst>
                                </p:cTn>
                              </p:par>
                              <p:par>
                                <p:cTn id="74" presetID="10" presetClass="entr" presetSubtype="0" fill="hold" grpId="0" nodeType="withEffect">
                                  <p:stCondLst>
                                    <p:cond delay="720"/>
                                  </p:stCondLst>
                                  <p:childTnLst>
                                    <p:set>
                                      <p:cBhvr>
                                        <p:cTn id="75" dur="1" fill="hold">
                                          <p:stCondLst>
                                            <p:cond delay="0"/>
                                          </p:stCondLst>
                                        </p:cTn>
                                        <p:tgtEl>
                                          <p:spTgt spid="25"/>
                                        </p:tgtEl>
                                        <p:attrNameLst>
                                          <p:attrName>style.visibility</p:attrName>
                                        </p:attrNameLst>
                                      </p:cBhvr>
                                      <p:to>
                                        <p:strVal val="visible"/>
                                      </p:to>
                                    </p:set>
                                    <p:animEffect transition="in" filter="fade">
                                      <p:cBhvr>
                                        <p:cTn id="76" dur="500"/>
                                        <p:tgtEl>
                                          <p:spTgt spid="25"/>
                                        </p:tgtEl>
                                      </p:cBhvr>
                                    </p:animEffect>
                                  </p:childTnLst>
                                </p:cTn>
                              </p:par>
                              <p:par>
                                <p:cTn id="77" presetID="10" presetClass="entr" presetSubtype="0" fill="hold" grpId="0" nodeType="withEffect">
                                  <p:stCondLst>
                                    <p:cond delay="720"/>
                                  </p:stCondLst>
                                  <p:childTnLst>
                                    <p:set>
                                      <p:cBhvr>
                                        <p:cTn id="78" dur="1" fill="hold">
                                          <p:stCondLst>
                                            <p:cond delay="0"/>
                                          </p:stCondLst>
                                        </p:cTn>
                                        <p:tgtEl>
                                          <p:spTgt spid="26"/>
                                        </p:tgtEl>
                                        <p:attrNameLst>
                                          <p:attrName>style.visibility</p:attrName>
                                        </p:attrNameLst>
                                      </p:cBhvr>
                                      <p:to>
                                        <p:strVal val="visible"/>
                                      </p:to>
                                    </p:set>
                                    <p:animEffect transition="in" filter="fade">
                                      <p:cBhvr>
                                        <p:cTn id="79" dur="500"/>
                                        <p:tgtEl>
                                          <p:spTgt spid="26"/>
                                        </p:tgtEl>
                                      </p:cBhvr>
                                    </p:animEffect>
                                  </p:childTnLst>
                                </p:cTn>
                              </p:par>
                              <p:par>
                                <p:cTn id="80" presetID="10" presetClass="entr" presetSubtype="0" fill="hold" grpId="0" nodeType="withEffect">
                                  <p:stCondLst>
                                    <p:cond delay="900"/>
                                  </p:stCondLst>
                                  <p:childTnLst>
                                    <p:set>
                                      <p:cBhvr>
                                        <p:cTn id="81" dur="1" fill="hold">
                                          <p:stCondLst>
                                            <p:cond delay="0"/>
                                          </p:stCondLst>
                                        </p:cTn>
                                        <p:tgtEl>
                                          <p:spTgt spid="27"/>
                                        </p:tgtEl>
                                        <p:attrNameLst>
                                          <p:attrName>style.visibility</p:attrName>
                                        </p:attrNameLst>
                                      </p:cBhvr>
                                      <p:to>
                                        <p:strVal val="visible"/>
                                      </p:to>
                                    </p:set>
                                    <p:animEffect transition="in" filter="fade">
                                      <p:cBhvr>
                                        <p:cTn id="82" dur="500"/>
                                        <p:tgtEl>
                                          <p:spTgt spid="27"/>
                                        </p:tgtEl>
                                      </p:cBhvr>
                                    </p:animEffect>
                                  </p:childTnLst>
                                </p:cTn>
                              </p:par>
                              <p:par>
                                <p:cTn id="83" presetID="10" presetClass="entr" presetSubtype="0" fill="hold" grpId="0" nodeType="withEffect">
                                  <p:stCondLst>
                                    <p:cond delay="900"/>
                                  </p:stCondLst>
                                  <p:childTnLst>
                                    <p:set>
                                      <p:cBhvr>
                                        <p:cTn id="84" dur="1" fill="hold">
                                          <p:stCondLst>
                                            <p:cond delay="0"/>
                                          </p:stCondLst>
                                        </p:cTn>
                                        <p:tgtEl>
                                          <p:spTgt spid="28"/>
                                        </p:tgtEl>
                                        <p:attrNameLst>
                                          <p:attrName>style.visibility</p:attrName>
                                        </p:attrNameLst>
                                      </p:cBhvr>
                                      <p:to>
                                        <p:strVal val="visible"/>
                                      </p:to>
                                    </p:set>
                                    <p:animEffect transition="in" filter="fade">
                                      <p:cBhvr>
                                        <p:cTn id="85" dur="500"/>
                                        <p:tgtEl>
                                          <p:spTgt spid="28"/>
                                        </p:tgtEl>
                                      </p:cBhvr>
                                    </p:animEffect>
                                  </p:childTnLst>
                                </p:cTn>
                              </p:par>
                              <p:par>
                                <p:cTn id="86" presetID="10" presetClass="entr" presetSubtype="0" fill="hold" grpId="0" nodeType="withEffect">
                                  <p:stCondLst>
                                    <p:cond delay="900"/>
                                  </p:stCondLst>
                                  <p:childTnLst>
                                    <p:set>
                                      <p:cBhvr>
                                        <p:cTn id="87" dur="1" fill="hold">
                                          <p:stCondLst>
                                            <p:cond delay="0"/>
                                          </p:stCondLst>
                                        </p:cTn>
                                        <p:tgtEl>
                                          <p:spTgt spid="29"/>
                                        </p:tgtEl>
                                        <p:attrNameLst>
                                          <p:attrName>style.visibility</p:attrName>
                                        </p:attrNameLst>
                                      </p:cBhvr>
                                      <p:to>
                                        <p:strVal val="visible"/>
                                      </p:to>
                                    </p:set>
                                    <p:animEffect transition="in" filter="fade">
                                      <p:cBhvr>
                                        <p:cTn id="88" dur="500"/>
                                        <p:tgtEl>
                                          <p:spTgt spid="29"/>
                                        </p:tgtEl>
                                      </p:cBhvr>
                                    </p:animEffect>
                                  </p:childTnLst>
                                </p:cTn>
                              </p:par>
                              <p:par>
                                <p:cTn id="89" presetID="10" presetClass="entr" presetSubtype="0" fill="hold" grpId="0" nodeType="withEffect">
                                  <p:stCondLst>
                                    <p:cond delay="900"/>
                                  </p:stCondLst>
                                  <p:childTnLst>
                                    <p:set>
                                      <p:cBhvr>
                                        <p:cTn id="90" dur="1" fill="hold">
                                          <p:stCondLst>
                                            <p:cond delay="0"/>
                                          </p:stCondLst>
                                        </p:cTn>
                                        <p:tgtEl>
                                          <p:spTgt spid="30"/>
                                        </p:tgtEl>
                                        <p:attrNameLst>
                                          <p:attrName>style.visibility</p:attrName>
                                        </p:attrNameLst>
                                      </p:cBhvr>
                                      <p:to>
                                        <p:strVal val="visible"/>
                                      </p:to>
                                    </p:set>
                                    <p:animEffect transition="in" filter="fade">
                                      <p:cBhvr>
                                        <p:cTn id="91" dur="500"/>
                                        <p:tgtEl>
                                          <p:spTgt spid="30"/>
                                        </p:tgtEl>
                                      </p:cBhvr>
                                    </p:animEffect>
                                  </p:childTnLst>
                                </p:cTn>
                              </p:par>
                              <p:par>
                                <p:cTn id="92" presetID="10" presetClass="entr" presetSubtype="0" fill="hold" grpId="0" nodeType="withEffect">
                                  <p:stCondLst>
                                    <p:cond delay="1080"/>
                                  </p:stCondLst>
                                  <p:childTnLst>
                                    <p:set>
                                      <p:cBhvr>
                                        <p:cTn id="93" dur="1" fill="hold">
                                          <p:stCondLst>
                                            <p:cond delay="0"/>
                                          </p:stCondLst>
                                        </p:cTn>
                                        <p:tgtEl>
                                          <p:spTgt spid="31"/>
                                        </p:tgtEl>
                                        <p:attrNameLst>
                                          <p:attrName>style.visibility</p:attrName>
                                        </p:attrNameLst>
                                      </p:cBhvr>
                                      <p:to>
                                        <p:strVal val="visible"/>
                                      </p:to>
                                    </p:set>
                                    <p:animEffect transition="in" filter="fade">
                                      <p:cBhvr>
                                        <p:cTn id="94" dur="500"/>
                                        <p:tgtEl>
                                          <p:spTgt spid="31"/>
                                        </p:tgtEl>
                                      </p:cBhvr>
                                    </p:animEffect>
                                  </p:childTnLst>
                                </p:cTn>
                              </p:par>
                              <p:par>
                                <p:cTn id="95" presetID="10" presetClass="entr" presetSubtype="0" fill="hold" grpId="0" nodeType="withEffect">
                                  <p:stCondLst>
                                    <p:cond delay="1080"/>
                                  </p:stCondLst>
                                  <p:childTnLst>
                                    <p:set>
                                      <p:cBhvr>
                                        <p:cTn id="96" dur="1" fill="hold">
                                          <p:stCondLst>
                                            <p:cond delay="0"/>
                                          </p:stCondLst>
                                        </p:cTn>
                                        <p:tgtEl>
                                          <p:spTgt spid="32"/>
                                        </p:tgtEl>
                                        <p:attrNameLst>
                                          <p:attrName>style.visibility</p:attrName>
                                        </p:attrNameLst>
                                      </p:cBhvr>
                                      <p:to>
                                        <p:strVal val="visible"/>
                                      </p:to>
                                    </p:set>
                                    <p:animEffect transition="in" filter="fade">
                                      <p:cBhvr>
                                        <p:cTn id="97" dur="500"/>
                                        <p:tgtEl>
                                          <p:spTgt spid="32"/>
                                        </p:tgtEl>
                                      </p:cBhvr>
                                    </p:animEffect>
                                  </p:childTnLst>
                                </p:cTn>
                              </p:par>
                              <p:par>
                                <p:cTn id="98" presetID="10" presetClass="entr" presetSubtype="0" fill="hold" grpId="0" nodeType="withEffect">
                                  <p:stCondLst>
                                    <p:cond delay="1080"/>
                                  </p:stCondLst>
                                  <p:childTnLst>
                                    <p:set>
                                      <p:cBhvr>
                                        <p:cTn id="99" dur="1" fill="hold">
                                          <p:stCondLst>
                                            <p:cond delay="0"/>
                                          </p:stCondLst>
                                        </p:cTn>
                                        <p:tgtEl>
                                          <p:spTgt spid="33"/>
                                        </p:tgtEl>
                                        <p:attrNameLst>
                                          <p:attrName>style.visibility</p:attrName>
                                        </p:attrNameLst>
                                      </p:cBhvr>
                                      <p:to>
                                        <p:strVal val="visible"/>
                                      </p:to>
                                    </p:set>
                                    <p:animEffect transition="in" filter="fade">
                                      <p:cBhvr>
                                        <p:cTn id="100" dur="500"/>
                                        <p:tgtEl>
                                          <p:spTgt spid="33"/>
                                        </p:tgtEl>
                                      </p:cBhvr>
                                    </p:animEffect>
                                  </p:childTnLst>
                                </p:cTn>
                              </p:par>
                              <p:par>
                                <p:cTn id="101" presetID="10" presetClass="entr" presetSubtype="0" fill="hold" grpId="0" nodeType="withEffect">
                                  <p:stCondLst>
                                    <p:cond delay="1080"/>
                                  </p:stCondLst>
                                  <p:childTnLst>
                                    <p:set>
                                      <p:cBhvr>
                                        <p:cTn id="102" dur="1" fill="hold">
                                          <p:stCondLst>
                                            <p:cond delay="0"/>
                                          </p:stCondLst>
                                        </p:cTn>
                                        <p:tgtEl>
                                          <p:spTgt spid="34"/>
                                        </p:tgtEl>
                                        <p:attrNameLst>
                                          <p:attrName>style.visibility</p:attrName>
                                        </p:attrNameLst>
                                      </p:cBhvr>
                                      <p:to>
                                        <p:strVal val="visible"/>
                                      </p:to>
                                    </p:set>
                                    <p:animEffect transition="in" filter="fade">
                                      <p:cBhvr>
                                        <p:cTn id="103" dur="500"/>
                                        <p:tgtEl>
                                          <p:spTgt spid="34"/>
                                        </p:tgtEl>
                                      </p:cBhvr>
                                    </p:animEffect>
                                  </p:childTnLst>
                                </p:cTn>
                              </p:par>
                              <p:par>
                                <p:cTn id="104" presetID="10" presetClass="entr" presetSubtype="0" fill="hold" grpId="0" nodeType="withEffect">
                                  <p:stCondLst>
                                    <p:cond delay="1080"/>
                                  </p:stCondLst>
                                  <p:childTnLst>
                                    <p:set>
                                      <p:cBhvr>
                                        <p:cTn id="105" dur="1" fill="hold">
                                          <p:stCondLst>
                                            <p:cond delay="0"/>
                                          </p:stCondLst>
                                        </p:cTn>
                                        <p:tgtEl>
                                          <p:spTgt spid="35"/>
                                        </p:tgtEl>
                                        <p:attrNameLst>
                                          <p:attrName>style.visibility</p:attrName>
                                        </p:attrNameLst>
                                      </p:cBhvr>
                                      <p:to>
                                        <p:strVal val="visible"/>
                                      </p:to>
                                    </p:set>
                                    <p:animEffect transition="in" filter="fade">
                                      <p:cBhvr>
                                        <p:cTn id="106" dur="500"/>
                                        <p:tgtEl>
                                          <p:spTgt spid="35"/>
                                        </p:tgtEl>
                                      </p:cBhvr>
                                    </p:animEffect>
                                  </p:childTnLst>
                                </p:cTn>
                              </p:par>
                              <p:par>
                                <p:cTn id="107" presetID="10" presetClass="entr" presetSubtype="0" fill="hold" grpId="0" nodeType="withEffect">
                                  <p:stCondLst>
                                    <p:cond delay="1080"/>
                                  </p:stCondLst>
                                  <p:childTnLst>
                                    <p:set>
                                      <p:cBhvr>
                                        <p:cTn id="108" dur="1" fill="hold">
                                          <p:stCondLst>
                                            <p:cond delay="0"/>
                                          </p:stCondLst>
                                        </p:cTn>
                                        <p:tgtEl>
                                          <p:spTgt spid="36"/>
                                        </p:tgtEl>
                                        <p:attrNameLst>
                                          <p:attrName>style.visibility</p:attrName>
                                        </p:attrNameLst>
                                      </p:cBhvr>
                                      <p:to>
                                        <p:strVal val="visible"/>
                                      </p:to>
                                    </p:set>
                                    <p:animEffect transition="in" filter="fade">
                                      <p:cBhvr>
                                        <p:cTn id="109" dur="500"/>
                                        <p:tgtEl>
                                          <p:spTgt spid="36"/>
                                        </p:tgtEl>
                                      </p:cBhvr>
                                    </p:animEffect>
                                  </p:childTnLst>
                                </p:cTn>
                              </p:par>
                              <p:par>
                                <p:cTn id="110" presetID="10" presetClass="entr" presetSubtype="0" fill="hold" grpId="0" nodeType="withEffect">
                                  <p:stCondLst>
                                    <p:cond delay="1260"/>
                                  </p:stCondLst>
                                  <p:childTnLst>
                                    <p:set>
                                      <p:cBhvr>
                                        <p:cTn id="111" dur="1" fill="hold">
                                          <p:stCondLst>
                                            <p:cond delay="0"/>
                                          </p:stCondLst>
                                        </p:cTn>
                                        <p:tgtEl>
                                          <p:spTgt spid="37"/>
                                        </p:tgtEl>
                                        <p:attrNameLst>
                                          <p:attrName>style.visibility</p:attrName>
                                        </p:attrNameLst>
                                      </p:cBhvr>
                                      <p:to>
                                        <p:strVal val="visible"/>
                                      </p:to>
                                    </p:set>
                                    <p:animEffect transition="in" filter="fade">
                                      <p:cBhvr>
                                        <p:cTn id="112" dur="500"/>
                                        <p:tgtEl>
                                          <p:spTgt spid="37"/>
                                        </p:tgtEl>
                                      </p:cBhvr>
                                    </p:animEffect>
                                  </p:childTnLst>
                                </p:cTn>
                              </p:par>
                              <p:par>
                                <p:cTn id="113" presetID="10" presetClass="entr" presetSubtype="0" fill="hold" grpId="0" nodeType="withEffect">
                                  <p:stCondLst>
                                    <p:cond delay="1260"/>
                                  </p:stCondLst>
                                  <p:childTnLst>
                                    <p:set>
                                      <p:cBhvr>
                                        <p:cTn id="114" dur="1" fill="hold">
                                          <p:stCondLst>
                                            <p:cond delay="0"/>
                                          </p:stCondLst>
                                        </p:cTn>
                                        <p:tgtEl>
                                          <p:spTgt spid="38"/>
                                        </p:tgtEl>
                                        <p:attrNameLst>
                                          <p:attrName>style.visibility</p:attrName>
                                        </p:attrNameLst>
                                      </p:cBhvr>
                                      <p:to>
                                        <p:strVal val="visible"/>
                                      </p:to>
                                    </p:set>
                                    <p:animEffect transition="in" filter="fade">
                                      <p:cBhvr>
                                        <p:cTn id="115" dur="500"/>
                                        <p:tgtEl>
                                          <p:spTgt spid="38"/>
                                        </p:tgtEl>
                                      </p:cBhvr>
                                    </p:animEffect>
                                  </p:childTnLst>
                                </p:cTn>
                              </p:par>
                              <p:par>
                                <p:cTn id="116" presetID="10" presetClass="entr" presetSubtype="0" fill="hold" grpId="0" nodeType="withEffect">
                                  <p:stCondLst>
                                    <p:cond delay="1260"/>
                                  </p:stCondLst>
                                  <p:childTnLst>
                                    <p:set>
                                      <p:cBhvr>
                                        <p:cTn id="117" dur="1" fill="hold">
                                          <p:stCondLst>
                                            <p:cond delay="0"/>
                                          </p:stCondLst>
                                        </p:cTn>
                                        <p:tgtEl>
                                          <p:spTgt spid="39"/>
                                        </p:tgtEl>
                                        <p:attrNameLst>
                                          <p:attrName>style.visibility</p:attrName>
                                        </p:attrNameLst>
                                      </p:cBhvr>
                                      <p:to>
                                        <p:strVal val="visible"/>
                                      </p:to>
                                    </p:set>
                                    <p:animEffect transition="in" filter="fade">
                                      <p:cBhvr>
                                        <p:cTn id="118" dur="500"/>
                                        <p:tgtEl>
                                          <p:spTgt spid="39"/>
                                        </p:tgtEl>
                                      </p:cBhvr>
                                    </p:animEffect>
                                  </p:childTnLst>
                                </p:cTn>
                              </p:par>
                              <p:par>
                                <p:cTn id="119" presetID="10" presetClass="entr" presetSubtype="0" fill="hold" grpId="0" nodeType="withEffect">
                                  <p:stCondLst>
                                    <p:cond delay="1260"/>
                                  </p:stCondLst>
                                  <p:childTnLst>
                                    <p:set>
                                      <p:cBhvr>
                                        <p:cTn id="120" dur="1" fill="hold">
                                          <p:stCondLst>
                                            <p:cond delay="0"/>
                                          </p:stCondLst>
                                        </p:cTn>
                                        <p:tgtEl>
                                          <p:spTgt spid="40"/>
                                        </p:tgtEl>
                                        <p:attrNameLst>
                                          <p:attrName>style.visibility</p:attrName>
                                        </p:attrNameLst>
                                      </p:cBhvr>
                                      <p:to>
                                        <p:strVal val="visible"/>
                                      </p:to>
                                    </p:set>
                                    <p:animEffect transition="in" filter="fade">
                                      <p:cBhvr>
                                        <p:cTn id="121" dur="500"/>
                                        <p:tgtEl>
                                          <p:spTgt spid="40"/>
                                        </p:tgtEl>
                                      </p:cBhvr>
                                    </p:animEffect>
                                  </p:childTnLst>
                                </p:cTn>
                              </p:par>
                              <p:par>
                                <p:cTn id="122" presetID="10" presetClass="entr" presetSubtype="0" fill="hold" grpId="0" nodeType="withEffect">
                                  <p:stCondLst>
                                    <p:cond delay="1440"/>
                                  </p:stCondLst>
                                  <p:childTnLst>
                                    <p:set>
                                      <p:cBhvr>
                                        <p:cTn id="123" dur="1" fill="hold">
                                          <p:stCondLst>
                                            <p:cond delay="0"/>
                                          </p:stCondLst>
                                        </p:cTn>
                                        <p:tgtEl>
                                          <p:spTgt spid="41"/>
                                        </p:tgtEl>
                                        <p:attrNameLst>
                                          <p:attrName>style.visibility</p:attrName>
                                        </p:attrNameLst>
                                      </p:cBhvr>
                                      <p:to>
                                        <p:strVal val="visible"/>
                                      </p:to>
                                    </p:set>
                                    <p:animEffect transition="in" filter="fade">
                                      <p:cBhvr>
                                        <p:cTn id="124" dur="500"/>
                                        <p:tgtEl>
                                          <p:spTgt spid="41"/>
                                        </p:tgtEl>
                                      </p:cBhvr>
                                    </p:animEffect>
                                  </p:childTnLst>
                                </p:cTn>
                              </p:par>
                              <p:par>
                                <p:cTn id="125" presetID="10" presetClass="entr" presetSubtype="0" fill="hold" grpId="0" nodeType="withEffect">
                                  <p:stCondLst>
                                    <p:cond delay="1440"/>
                                  </p:stCondLst>
                                  <p:childTnLst>
                                    <p:set>
                                      <p:cBhvr>
                                        <p:cTn id="126" dur="1" fill="hold">
                                          <p:stCondLst>
                                            <p:cond delay="0"/>
                                          </p:stCondLst>
                                        </p:cTn>
                                        <p:tgtEl>
                                          <p:spTgt spid="42"/>
                                        </p:tgtEl>
                                        <p:attrNameLst>
                                          <p:attrName>style.visibility</p:attrName>
                                        </p:attrNameLst>
                                      </p:cBhvr>
                                      <p:to>
                                        <p:strVal val="visible"/>
                                      </p:to>
                                    </p:set>
                                    <p:animEffect transition="in" filter="fade">
                                      <p:cBhvr>
                                        <p:cTn id="127" dur="500"/>
                                        <p:tgtEl>
                                          <p:spTgt spid="42"/>
                                        </p:tgtEl>
                                      </p:cBhvr>
                                    </p:animEffect>
                                  </p:childTnLst>
                                </p:cTn>
                              </p:par>
                              <p:par>
                                <p:cTn id="128" presetID="10" presetClass="entr" presetSubtype="0" fill="hold" grpId="0" nodeType="withEffect">
                                  <p:stCondLst>
                                    <p:cond delay="1440"/>
                                  </p:stCondLst>
                                  <p:childTnLst>
                                    <p:set>
                                      <p:cBhvr>
                                        <p:cTn id="129" dur="1" fill="hold">
                                          <p:stCondLst>
                                            <p:cond delay="0"/>
                                          </p:stCondLst>
                                        </p:cTn>
                                        <p:tgtEl>
                                          <p:spTgt spid="43"/>
                                        </p:tgtEl>
                                        <p:attrNameLst>
                                          <p:attrName>style.visibility</p:attrName>
                                        </p:attrNameLst>
                                      </p:cBhvr>
                                      <p:to>
                                        <p:strVal val="visible"/>
                                      </p:to>
                                    </p:set>
                                    <p:animEffect transition="in" filter="fade">
                                      <p:cBhvr>
                                        <p:cTn id="130" dur="500"/>
                                        <p:tgtEl>
                                          <p:spTgt spid="43"/>
                                        </p:tgtEl>
                                      </p:cBhvr>
                                    </p:animEffect>
                                  </p:childTnLst>
                                </p:cTn>
                              </p:par>
                              <p:par>
                                <p:cTn id="131" presetID="10" presetClass="entr" presetSubtype="0" fill="hold" grpId="0" nodeType="withEffect">
                                  <p:stCondLst>
                                    <p:cond delay="1440"/>
                                  </p:stCondLst>
                                  <p:childTnLst>
                                    <p:set>
                                      <p:cBhvr>
                                        <p:cTn id="132" dur="1" fill="hold">
                                          <p:stCondLst>
                                            <p:cond delay="0"/>
                                          </p:stCondLst>
                                        </p:cTn>
                                        <p:tgtEl>
                                          <p:spTgt spid="44"/>
                                        </p:tgtEl>
                                        <p:attrNameLst>
                                          <p:attrName>style.visibility</p:attrName>
                                        </p:attrNameLst>
                                      </p:cBhvr>
                                      <p:to>
                                        <p:strVal val="visible"/>
                                      </p:to>
                                    </p:set>
                                    <p:animEffect transition="in" filter="fade">
                                      <p:cBhvr>
                                        <p:cTn id="133" dur="500"/>
                                        <p:tgtEl>
                                          <p:spTgt spid="44"/>
                                        </p:tgtEl>
                                      </p:cBhvr>
                                    </p:animEffect>
                                  </p:childTnLst>
                                </p:cTn>
                              </p:par>
                              <p:par>
                                <p:cTn id="134" presetID="10" presetClass="entr" presetSubtype="0" fill="hold" grpId="0" nodeType="withEffect">
                                  <p:stCondLst>
                                    <p:cond delay="1440"/>
                                  </p:stCondLst>
                                  <p:childTnLst>
                                    <p:set>
                                      <p:cBhvr>
                                        <p:cTn id="135" dur="1" fill="hold">
                                          <p:stCondLst>
                                            <p:cond delay="0"/>
                                          </p:stCondLst>
                                        </p:cTn>
                                        <p:tgtEl>
                                          <p:spTgt spid="45"/>
                                        </p:tgtEl>
                                        <p:attrNameLst>
                                          <p:attrName>style.visibility</p:attrName>
                                        </p:attrNameLst>
                                      </p:cBhvr>
                                      <p:to>
                                        <p:strVal val="visible"/>
                                      </p:to>
                                    </p:set>
                                    <p:animEffect transition="in" filter="fade">
                                      <p:cBhvr>
                                        <p:cTn id="136" dur="500"/>
                                        <p:tgtEl>
                                          <p:spTgt spid="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0" animBg="1"/>
      <p:bldP spid="7" grpId="0" animBg="1"/>
      <p:bldP spid="9" grpId="0" animBg="1"/>
      <p:bldP spid="11" grpId="0" animBg="1"/>
      <p:bldP spid="13"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4" grpId="0" animBg="1"/>
      <p:bldP spid="45"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pic>
        <p:nvPicPr>
          <p:cNvPr id="2" name="anim-1-1" descr="/tmp/claude-0/-home-user-hosting/7c832a48-0979-56aa-9fdf-7d53efb9dc7a/scratchpad/build/img/pointer.png">    </p:cNvPr>
          <p:cNvPicPr>
            <a:picLocks noChangeAspect="1"/>
          </p:cNvPicPr>
          <p:nvPr/>
        </p:nvPicPr>
        <p:blipFill>
          <a:blip r:embed="rId1"/>
          <a:stretch>
            <a:fillRect/>
          </a:stretch>
        </p:blipFill>
        <p:spPr>
          <a:xfrm>
            <a:off x="304800" y="241300"/>
            <a:ext cx="107274" cy="215900"/>
          </a:xfrm>
          <a:prstGeom prst="rect">
            <a:avLst/>
          </a:prstGeom>
        </p:spPr>
      </p:pic>
      <p:sp>
        <p:nvSpPr>
          <p:cNvPr id="3" name="anim-1-2"/>
          <p:cNvSpPr txBox="1"/>
          <p:nvPr/>
        </p:nvSpPr>
        <p:spPr>
          <a:xfrm>
            <a:off x="482600" y="254000"/>
            <a:ext cx="10160000" cy="215900"/>
          </a:xfrm>
          <a:prstGeom prst="rect">
            <a:avLst/>
          </a:prstGeom>
          <a:noFill/>
          <a:ln/>
        </p:spPr>
        <p:txBody>
          <a:bodyPr wrap="square" lIns="0" tIns="0" rIns="0" bIns="0" rtlCol="0" anchor="t"/>
          <a:lstStyle/>
          <a:p>
            <a:pPr algn="l" indent="0" marL="0">
              <a:lnSpc>
                <a:spcPct val="112000"/>
              </a:lnSpc>
              <a:buNone/>
            </a:pPr>
            <a:r>
              <a:rPr lang="en-US" sz="1200" b="1" spc="100" kern="0" dirty="0">
                <a:solidFill>
                  <a:srgbClr val="194EFF"/>
                </a:solidFill>
                <a:latin typeface="Plus Jakarta Sans" pitchFamily="34" charset="0"/>
                <a:ea typeface="Plus Jakarta Sans" pitchFamily="34" charset="-122"/>
                <a:cs typeface="Plus Jakarta Sans" pitchFamily="34" charset="-120"/>
              </a:rPr>
              <a:t>FY2026 THREE-YEAR CONTRACT TREATMENT</a:t>
            </a:r>
            <a:endParaRPr lang="en-US" sz="1200" dirty="0"/>
          </a:p>
        </p:txBody>
      </p:sp>
      <p:sp>
        <p:nvSpPr>
          <p:cNvPr id="4" name="anim-1-3"/>
          <p:cNvSpPr txBox="1"/>
          <p:nvPr/>
        </p:nvSpPr>
        <p:spPr>
          <a:xfrm>
            <a:off x="304800" y="546100"/>
            <a:ext cx="11582400" cy="406400"/>
          </a:xfrm>
          <a:prstGeom prst="rect">
            <a:avLst/>
          </a:prstGeom>
          <a:noFill/>
          <a:ln/>
        </p:spPr>
        <p:txBody>
          <a:bodyPr wrap="square" lIns="0" tIns="0" rIns="0" bIns="0" rtlCol="0" anchor="ctr"/>
          <a:lstStyle/>
          <a:p>
            <a:pPr algn="l" indent="0" marL="0">
              <a:lnSpc>
                <a:spcPct val="112000"/>
              </a:lnSpc>
              <a:buNone/>
            </a:pPr>
            <a:r>
              <a:rPr lang="en-US" sz="2000" b="1" dirty="0">
                <a:solidFill>
                  <a:srgbClr val="13151C"/>
                </a:solidFill>
                <a:latin typeface="Plus Jakarta Sans" pitchFamily="34" charset="0"/>
                <a:ea typeface="Plus Jakarta Sans" pitchFamily="34" charset="-122"/>
                <a:cs typeface="Plus Jakarta Sans" pitchFamily="34" charset="-120"/>
              </a:rPr>
              <a:t>Three years of credit on every </a:t>
            </a:r>
            <a:pPr algn="l" indent="0" marL="0">
              <a:lnSpc>
                <a:spcPct val="112000"/>
              </a:lnSpc>
              <a:buNone/>
            </a:pPr>
            <a:r>
              <a:rPr lang="en-US" sz="2000" b="1" dirty="0">
                <a:solidFill>
                  <a:srgbClr val="194EFF"/>
                </a:solidFill>
                <a:latin typeface="Plus Jakarta Sans" pitchFamily="34" charset="0"/>
                <a:ea typeface="Plus Jakarta Sans" pitchFamily="34" charset="-122"/>
                <a:cs typeface="Plus Jakarta Sans" pitchFamily="34" charset="-120"/>
              </a:rPr>
              <a:t>standard</a:t>
            </a:r>
            <a:pPr algn="l" indent="0" marL="0">
              <a:lnSpc>
                <a:spcPct val="112000"/>
              </a:lnSpc>
              <a:buNone/>
            </a:pPr>
            <a:r>
              <a:rPr lang="en-US" sz="2000" b="1" dirty="0">
                <a:solidFill>
                  <a:srgbClr val="13151C"/>
                </a:solidFill>
                <a:latin typeface="Plus Jakarta Sans" pitchFamily="34" charset="0"/>
                <a:ea typeface="Plus Jakarta Sans" pitchFamily="34" charset="-122"/>
                <a:cs typeface="Plus Jakarta Sans" pitchFamily="34" charset="-120"/>
              </a:rPr>
              <a:t> deal</a:t>
            </a:r>
            <a:endParaRPr lang="en-US" sz="2000" dirty="0"/>
          </a:p>
        </p:txBody>
      </p:sp>
      <p:sp>
        <p:nvSpPr>
          <p:cNvPr id="5" name="anim-1-4"/>
          <p:cNvSpPr/>
          <p:nvPr/>
        </p:nvSpPr>
        <p:spPr>
          <a:xfrm>
            <a:off x="0" y="1244600"/>
            <a:ext cx="12192000" cy="6350"/>
          </a:xfrm>
          <a:prstGeom prst="rect">
            <a:avLst/>
          </a:prstGeom>
          <a:solidFill>
            <a:srgbClr val="CDD0D9"/>
          </a:solidFill>
          <a:ln/>
        </p:spPr>
      </p:sp>
      <p:sp>
        <p:nvSpPr>
          <p:cNvPr id="6" name="anim-2-5"/>
          <p:cNvSpPr/>
          <p:nvPr/>
        </p:nvSpPr>
        <p:spPr>
          <a:xfrm>
            <a:off x="0" y="1250950"/>
            <a:ext cx="3048000" cy="1898650"/>
          </a:xfrm>
          <a:prstGeom prst="rect">
            <a:avLst/>
          </a:prstGeom>
          <a:solidFill>
            <a:srgbClr val="194EFF"/>
          </a:solidFill>
          <a:ln/>
        </p:spPr>
      </p:sp>
      <p:sp>
        <p:nvSpPr>
          <p:cNvPr id="7" name="anim-2-6"/>
          <p:cNvSpPr txBox="1"/>
          <p:nvPr/>
        </p:nvSpPr>
        <p:spPr>
          <a:xfrm>
            <a:off x="304800" y="1409700"/>
            <a:ext cx="1905000" cy="635000"/>
          </a:xfrm>
          <a:prstGeom prst="rect">
            <a:avLst/>
          </a:prstGeom>
          <a:noFill/>
          <a:ln/>
        </p:spPr>
        <p:txBody>
          <a:bodyPr wrap="square" lIns="0" tIns="0" rIns="0" bIns="0" rtlCol="0" anchor="t"/>
          <a:lstStyle/>
          <a:p>
            <a:pPr algn="l" indent="0" marL="0">
              <a:lnSpc>
                <a:spcPct val="112000"/>
              </a:lnSpc>
              <a:buNone/>
            </a:pPr>
            <a:r>
              <a:rPr lang="en-US" sz="4200" b="1" dirty="0">
                <a:solidFill>
                  <a:srgbClr val="FFFFFF"/>
                </a:solidFill>
                <a:latin typeface="Plus Jakarta Sans" pitchFamily="34" charset="0"/>
                <a:ea typeface="Plus Jakarta Sans" pitchFamily="34" charset="-122"/>
                <a:cs typeface="Plus Jakarta Sans" pitchFamily="34" charset="-120"/>
              </a:rPr>
              <a:t>Y1</a:t>
            </a:r>
            <a:endParaRPr lang="en-US" sz="4200" dirty="0"/>
          </a:p>
        </p:txBody>
      </p:sp>
      <p:sp>
        <p:nvSpPr>
          <p:cNvPr id="8" name="anim-2-7"/>
          <p:cNvSpPr txBox="1"/>
          <p:nvPr/>
        </p:nvSpPr>
        <p:spPr>
          <a:xfrm>
            <a:off x="304800" y="2159000"/>
            <a:ext cx="2540000" cy="228600"/>
          </a:xfrm>
          <a:prstGeom prst="rect">
            <a:avLst/>
          </a:prstGeom>
          <a:noFill/>
          <a:ln/>
        </p:spPr>
        <p:txBody>
          <a:bodyPr wrap="square" lIns="0" tIns="0" rIns="0" bIns="0" rtlCol="0" anchor="t"/>
          <a:lstStyle/>
          <a:p>
            <a:pPr algn="l" indent="0" marL="0">
              <a:lnSpc>
                <a:spcPct val="112000"/>
              </a:lnSpc>
              <a:buNone/>
            </a:pPr>
            <a:r>
              <a:rPr lang="en-US" sz="1200" dirty="0">
                <a:solidFill>
                  <a:srgbClr val="FFFFFF"/>
                </a:solidFill>
                <a:latin typeface="Plus Jakarta Sans SemiBold" pitchFamily="34" charset="0"/>
                <a:ea typeface="Plus Jakarta Sans SemiBold" pitchFamily="34" charset="-122"/>
                <a:cs typeface="Plus Jakarta Sans SemiBold" pitchFamily="34" charset="-120"/>
              </a:rPr>
              <a:t>Year 1</a:t>
            </a:r>
            <a:endParaRPr lang="en-US" sz="1200" dirty="0"/>
          </a:p>
        </p:txBody>
      </p:sp>
      <p:sp>
        <p:nvSpPr>
          <p:cNvPr id="9" name="anim-2-8"/>
          <p:cNvSpPr txBox="1"/>
          <p:nvPr/>
        </p:nvSpPr>
        <p:spPr>
          <a:xfrm>
            <a:off x="304800" y="2438400"/>
            <a:ext cx="2540000" cy="215900"/>
          </a:xfrm>
          <a:prstGeom prst="rect">
            <a:avLst/>
          </a:prstGeom>
          <a:noFill/>
          <a:ln/>
        </p:spPr>
        <p:txBody>
          <a:bodyPr wrap="square" lIns="0" tIns="0" rIns="0" bIns="0" rtlCol="0" anchor="t"/>
          <a:lstStyle/>
          <a:p>
            <a:pPr algn="l" indent="0" marL="0">
              <a:lnSpc>
                <a:spcPct val="112000"/>
              </a:lnSpc>
              <a:buNone/>
            </a:pPr>
            <a:r>
              <a:rPr lang="en-US" sz="1100" b="1" dirty="0">
                <a:solidFill>
                  <a:srgbClr val="FFFFFF"/>
                </a:solidFill>
                <a:latin typeface="Plus Jakarta Sans" pitchFamily="34" charset="0"/>
                <a:ea typeface="Plus Jakarta Sans" pitchFamily="34" charset="-122"/>
                <a:cs typeface="Plus Jakarta Sans" pitchFamily="34" charset="-120"/>
              </a:rPr>
              <a:t>New ARR Booking</a:t>
            </a:r>
            <a:endParaRPr lang="en-US" sz="1100" dirty="0"/>
          </a:p>
        </p:txBody>
      </p:sp>
      <p:sp>
        <p:nvSpPr>
          <p:cNvPr id="10" name="anim-2-9"/>
          <p:cNvSpPr txBox="1"/>
          <p:nvPr/>
        </p:nvSpPr>
        <p:spPr>
          <a:xfrm>
            <a:off x="2603500" y="1524000"/>
            <a:ext cx="317500" cy="381000"/>
          </a:xfrm>
          <a:prstGeom prst="rect">
            <a:avLst/>
          </a:prstGeom>
          <a:noFill/>
          <a:ln/>
        </p:spPr>
        <p:txBody>
          <a:bodyPr wrap="square" lIns="0" tIns="0" rIns="0" bIns="0" rtlCol="0" anchor="t"/>
          <a:lstStyle/>
          <a:p>
            <a:pPr algn="l" indent="0" marL="0">
              <a:lnSpc>
                <a:spcPct val="112000"/>
              </a:lnSpc>
              <a:buNone/>
            </a:pPr>
            <a:r>
              <a:rPr lang="en-US" sz="2000" b="1" dirty="0">
                <a:solidFill>
                  <a:srgbClr val="FFFFFF"/>
                </a:solidFill>
                <a:latin typeface="Plus Jakarta Sans" pitchFamily="34" charset="0"/>
                <a:ea typeface="Plus Jakarta Sans" pitchFamily="34" charset="-122"/>
                <a:cs typeface="Plus Jakarta Sans" pitchFamily="34" charset="-120"/>
              </a:rPr>
              <a:t>→</a:t>
            </a:r>
            <a:endParaRPr lang="en-US" sz="2000" dirty="0"/>
          </a:p>
        </p:txBody>
      </p:sp>
      <p:sp>
        <p:nvSpPr>
          <p:cNvPr id="11" name="anim-3-10"/>
          <p:cNvSpPr/>
          <p:nvPr/>
        </p:nvSpPr>
        <p:spPr>
          <a:xfrm>
            <a:off x="3048000" y="1244600"/>
            <a:ext cx="6350" cy="1905000"/>
          </a:xfrm>
          <a:prstGeom prst="rect">
            <a:avLst/>
          </a:prstGeom>
          <a:solidFill>
            <a:srgbClr val="CDD0D9"/>
          </a:solidFill>
          <a:ln/>
        </p:spPr>
      </p:sp>
      <p:sp>
        <p:nvSpPr>
          <p:cNvPr id="12" name="anim-3-11"/>
          <p:cNvSpPr/>
          <p:nvPr/>
        </p:nvSpPr>
        <p:spPr>
          <a:xfrm>
            <a:off x="3054350" y="1250950"/>
            <a:ext cx="3041650" cy="1898650"/>
          </a:xfrm>
          <a:prstGeom prst="rect">
            <a:avLst/>
          </a:prstGeom>
          <a:solidFill>
            <a:srgbClr val="EDF1FF"/>
          </a:solidFill>
          <a:ln/>
        </p:spPr>
      </p:sp>
      <p:sp>
        <p:nvSpPr>
          <p:cNvPr id="13" name="anim-3-12"/>
          <p:cNvSpPr txBox="1"/>
          <p:nvPr/>
        </p:nvSpPr>
        <p:spPr>
          <a:xfrm>
            <a:off x="3352800" y="1409700"/>
            <a:ext cx="1905000" cy="635000"/>
          </a:xfrm>
          <a:prstGeom prst="rect">
            <a:avLst/>
          </a:prstGeom>
          <a:noFill/>
          <a:ln/>
        </p:spPr>
        <p:txBody>
          <a:bodyPr wrap="square" lIns="0" tIns="0" rIns="0" bIns="0" rtlCol="0" anchor="t"/>
          <a:lstStyle/>
          <a:p>
            <a:pPr algn="l" indent="0" marL="0">
              <a:lnSpc>
                <a:spcPct val="112000"/>
              </a:lnSpc>
              <a:buNone/>
            </a:pPr>
            <a:r>
              <a:rPr lang="en-US" sz="4200" b="1" dirty="0">
                <a:solidFill>
                  <a:srgbClr val="194EFF"/>
                </a:solidFill>
                <a:latin typeface="Plus Jakarta Sans" pitchFamily="34" charset="0"/>
                <a:ea typeface="Plus Jakarta Sans" pitchFamily="34" charset="-122"/>
                <a:cs typeface="Plus Jakarta Sans" pitchFamily="34" charset="-120"/>
              </a:rPr>
              <a:t>Y2</a:t>
            </a:r>
            <a:endParaRPr lang="en-US" sz="4200" dirty="0"/>
          </a:p>
        </p:txBody>
      </p:sp>
      <p:sp>
        <p:nvSpPr>
          <p:cNvPr id="14" name="anim-3-13"/>
          <p:cNvSpPr txBox="1"/>
          <p:nvPr/>
        </p:nvSpPr>
        <p:spPr>
          <a:xfrm>
            <a:off x="3352800" y="2159000"/>
            <a:ext cx="2540000" cy="228600"/>
          </a:xfrm>
          <a:prstGeom prst="rect">
            <a:avLst/>
          </a:prstGeom>
          <a:noFill/>
          <a:ln/>
        </p:spPr>
        <p:txBody>
          <a:bodyPr wrap="square" lIns="0" tIns="0" rIns="0" bIns="0" rtlCol="0" anchor="t"/>
          <a:lstStyle/>
          <a:p>
            <a:pPr algn="l" indent="0" marL="0">
              <a:lnSpc>
                <a:spcPct val="112000"/>
              </a:lnSpc>
              <a:buNone/>
            </a:pPr>
            <a:r>
              <a:rPr lang="en-US" sz="1200" dirty="0">
                <a:solidFill>
                  <a:srgbClr val="13151C"/>
                </a:solidFill>
                <a:latin typeface="Plus Jakarta Sans SemiBold" pitchFamily="34" charset="0"/>
                <a:ea typeface="Plus Jakarta Sans SemiBold" pitchFamily="34" charset="-122"/>
                <a:cs typeface="Plus Jakarta Sans SemiBold" pitchFamily="34" charset="-120"/>
              </a:rPr>
              <a:t>Year 2 anniversary</a:t>
            </a:r>
            <a:endParaRPr lang="en-US" sz="1200" dirty="0"/>
          </a:p>
        </p:txBody>
      </p:sp>
      <p:sp>
        <p:nvSpPr>
          <p:cNvPr id="15" name="anim-3-14"/>
          <p:cNvSpPr txBox="1"/>
          <p:nvPr/>
        </p:nvSpPr>
        <p:spPr>
          <a:xfrm>
            <a:off x="3352800" y="2438400"/>
            <a:ext cx="2540000" cy="215900"/>
          </a:xfrm>
          <a:prstGeom prst="rect">
            <a:avLst/>
          </a:prstGeom>
          <a:noFill/>
          <a:ln/>
        </p:spPr>
        <p:txBody>
          <a:bodyPr wrap="square" lIns="0" tIns="0" rIns="0" bIns="0" rtlCol="0" anchor="t"/>
          <a:lstStyle/>
          <a:p>
            <a:pPr algn="l" indent="0" marL="0">
              <a:lnSpc>
                <a:spcPct val="112000"/>
              </a:lnSpc>
              <a:buNone/>
            </a:pPr>
            <a:r>
              <a:rPr lang="en-US" sz="1100" b="1" dirty="0">
                <a:solidFill>
                  <a:srgbClr val="194EFF"/>
                </a:solidFill>
                <a:latin typeface="Plus Jakarta Sans" pitchFamily="34" charset="0"/>
                <a:ea typeface="Plus Jakarta Sans" pitchFamily="34" charset="-122"/>
                <a:cs typeface="Plus Jakarta Sans" pitchFamily="34" charset="-120"/>
              </a:rPr>
              <a:t>New ARR Booking</a:t>
            </a:r>
            <a:endParaRPr lang="en-US" sz="1100" dirty="0"/>
          </a:p>
        </p:txBody>
      </p:sp>
      <p:sp>
        <p:nvSpPr>
          <p:cNvPr id="16" name="anim-3-15"/>
          <p:cNvSpPr txBox="1"/>
          <p:nvPr/>
        </p:nvSpPr>
        <p:spPr>
          <a:xfrm>
            <a:off x="5651500" y="1524000"/>
            <a:ext cx="317500" cy="381000"/>
          </a:xfrm>
          <a:prstGeom prst="rect">
            <a:avLst/>
          </a:prstGeom>
          <a:noFill/>
          <a:ln/>
        </p:spPr>
        <p:txBody>
          <a:bodyPr wrap="square" lIns="0" tIns="0" rIns="0" bIns="0" rtlCol="0" anchor="t"/>
          <a:lstStyle/>
          <a:p>
            <a:pPr algn="l" indent="0" marL="0">
              <a:lnSpc>
                <a:spcPct val="112000"/>
              </a:lnSpc>
              <a:buNone/>
            </a:pPr>
            <a:r>
              <a:rPr lang="en-US" sz="2000" b="1" dirty="0">
                <a:solidFill>
                  <a:srgbClr val="194EFF"/>
                </a:solidFill>
                <a:latin typeface="Plus Jakarta Sans" pitchFamily="34" charset="0"/>
                <a:ea typeface="Plus Jakarta Sans" pitchFamily="34" charset="-122"/>
                <a:cs typeface="Plus Jakarta Sans" pitchFamily="34" charset="-120"/>
              </a:rPr>
              <a:t>→</a:t>
            </a:r>
            <a:endParaRPr lang="en-US" sz="2000" dirty="0"/>
          </a:p>
        </p:txBody>
      </p:sp>
      <p:sp>
        <p:nvSpPr>
          <p:cNvPr id="17" name="anim-4-16"/>
          <p:cNvSpPr/>
          <p:nvPr/>
        </p:nvSpPr>
        <p:spPr>
          <a:xfrm>
            <a:off x="6096000" y="1244600"/>
            <a:ext cx="6350" cy="1905000"/>
          </a:xfrm>
          <a:prstGeom prst="rect">
            <a:avLst/>
          </a:prstGeom>
          <a:solidFill>
            <a:srgbClr val="CDD0D9"/>
          </a:solidFill>
          <a:ln/>
        </p:spPr>
      </p:sp>
      <p:sp>
        <p:nvSpPr>
          <p:cNvPr id="18" name="anim-4-17"/>
          <p:cNvSpPr/>
          <p:nvPr/>
        </p:nvSpPr>
        <p:spPr>
          <a:xfrm>
            <a:off x="6102350" y="1250950"/>
            <a:ext cx="3041650" cy="1898650"/>
          </a:xfrm>
          <a:prstGeom prst="rect">
            <a:avLst/>
          </a:prstGeom>
          <a:solidFill>
            <a:srgbClr val="EDF1FF"/>
          </a:solidFill>
          <a:ln/>
        </p:spPr>
      </p:sp>
      <p:sp>
        <p:nvSpPr>
          <p:cNvPr id="19" name="anim-4-18"/>
          <p:cNvSpPr txBox="1"/>
          <p:nvPr/>
        </p:nvSpPr>
        <p:spPr>
          <a:xfrm>
            <a:off x="6400800" y="1409700"/>
            <a:ext cx="1905000" cy="635000"/>
          </a:xfrm>
          <a:prstGeom prst="rect">
            <a:avLst/>
          </a:prstGeom>
          <a:noFill/>
          <a:ln/>
        </p:spPr>
        <p:txBody>
          <a:bodyPr wrap="square" lIns="0" tIns="0" rIns="0" bIns="0" rtlCol="0" anchor="t"/>
          <a:lstStyle/>
          <a:p>
            <a:pPr algn="l" indent="0" marL="0">
              <a:lnSpc>
                <a:spcPct val="112000"/>
              </a:lnSpc>
              <a:buNone/>
            </a:pPr>
            <a:r>
              <a:rPr lang="en-US" sz="4200" b="1" dirty="0">
                <a:solidFill>
                  <a:srgbClr val="194EFF"/>
                </a:solidFill>
                <a:latin typeface="Plus Jakarta Sans" pitchFamily="34" charset="0"/>
                <a:ea typeface="Plus Jakarta Sans" pitchFamily="34" charset="-122"/>
                <a:cs typeface="Plus Jakarta Sans" pitchFamily="34" charset="-120"/>
              </a:rPr>
              <a:t>Y3</a:t>
            </a:r>
            <a:endParaRPr lang="en-US" sz="4200" dirty="0"/>
          </a:p>
        </p:txBody>
      </p:sp>
      <p:sp>
        <p:nvSpPr>
          <p:cNvPr id="20" name="anim-4-19"/>
          <p:cNvSpPr txBox="1"/>
          <p:nvPr/>
        </p:nvSpPr>
        <p:spPr>
          <a:xfrm>
            <a:off x="6400800" y="2159000"/>
            <a:ext cx="2540000" cy="228600"/>
          </a:xfrm>
          <a:prstGeom prst="rect">
            <a:avLst/>
          </a:prstGeom>
          <a:noFill/>
          <a:ln/>
        </p:spPr>
        <p:txBody>
          <a:bodyPr wrap="square" lIns="0" tIns="0" rIns="0" bIns="0" rtlCol="0" anchor="t"/>
          <a:lstStyle/>
          <a:p>
            <a:pPr algn="l" indent="0" marL="0">
              <a:lnSpc>
                <a:spcPct val="112000"/>
              </a:lnSpc>
              <a:buNone/>
            </a:pPr>
            <a:r>
              <a:rPr lang="en-US" sz="1200" dirty="0">
                <a:solidFill>
                  <a:srgbClr val="13151C"/>
                </a:solidFill>
                <a:latin typeface="Plus Jakarta Sans SemiBold" pitchFamily="34" charset="0"/>
                <a:ea typeface="Plus Jakarta Sans SemiBold" pitchFamily="34" charset="-122"/>
                <a:cs typeface="Plus Jakarta Sans SemiBold" pitchFamily="34" charset="-120"/>
              </a:rPr>
              <a:t>Year 3 anniversary</a:t>
            </a:r>
            <a:endParaRPr lang="en-US" sz="1200" dirty="0"/>
          </a:p>
        </p:txBody>
      </p:sp>
      <p:sp>
        <p:nvSpPr>
          <p:cNvPr id="21" name="anim-4-20"/>
          <p:cNvSpPr txBox="1"/>
          <p:nvPr/>
        </p:nvSpPr>
        <p:spPr>
          <a:xfrm>
            <a:off x="6400800" y="2438400"/>
            <a:ext cx="2540000" cy="215900"/>
          </a:xfrm>
          <a:prstGeom prst="rect">
            <a:avLst/>
          </a:prstGeom>
          <a:noFill/>
          <a:ln/>
        </p:spPr>
        <p:txBody>
          <a:bodyPr wrap="square" lIns="0" tIns="0" rIns="0" bIns="0" rtlCol="0" anchor="t"/>
          <a:lstStyle/>
          <a:p>
            <a:pPr algn="l" indent="0" marL="0">
              <a:lnSpc>
                <a:spcPct val="112000"/>
              </a:lnSpc>
              <a:buNone/>
            </a:pPr>
            <a:r>
              <a:rPr lang="en-US" sz="1100" b="1" dirty="0">
                <a:solidFill>
                  <a:srgbClr val="194EFF"/>
                </a:solidFill>
                <a:latin typeface="Plus Jakarta Sans" pitchFamily="34" charset="0"/>
                <a:ea typeface="Plus Jakarta Sans" pitchFamily="34" charset="-122"/>
                <a:cs typeface="Plus Jakarta Sans" pitchFamily="34" charset="-120"/>
              </a:rPr>
              <a:t>New ARR Booking</a:t>
            </a:r>
            <a:endParaRPr lang="en-US" sz="1100" dirty="0"/>
          </a:p>
        </p:txBody>
      </p:sp>
      <p:sp>
        <p:nvSpPr>
          <p:cNvPr id="22" name="anim-4-21"/>
          <p:cNvSpPr txBox="1"/>
          <p:nvPr/>
        </p:nvSpPr>
        <p:spPr>
          <a:xfrm>
            <a:off x="8699500" y="1524000"/>
            <a:ext cx="317500" cy="381000"/>
          </a:xfrm>
          <a:prstGeom prst="rect">
            <a:avLst/>
          </a:prstGeom>
          <a:noFill/>
          <a:ln/>
        </p:spPr>
        <p:txBody>
          <a:bodyPr wrap="square" lIns="0" tIns="0" rIns="0" bIns="0" rtlCol="0" anchor="t"/>
          <a:lstStyle/>
          <a:p>
            <a:pPr algn="l" indent="0" marL="0">
              <a:lnSpc>
                <a:spcPct val="112000"/>
              </a:lnSpc>
              <a:buNone/>
            </a:pPr>
            <a:r>
              <a:rPr lang="en-US" sz="2000" b="1" dirty="0">
                <a:solidFill>
                  <a:srgbClr val="194EFF"/>
                </a:solidFill>
                <a:latin typeface="Plus Jakarta Sans" pitchFamily="34" charset="0"/>
                <a:ea typeface="Plus Jakarta Sans" pitchFamily="34" charset="-122"/>
                <a:cs typeface="Plus Jakarta Sans" pitchFamily="34" charset="-120"/>
              </a:rPr>
              <a:t>→</a:t>
            </a:r>
            <a:endParaRPr lang="en-US" sz="2000" dirty="0"/>
          </a:p>
        </p:txBody>
      </p:sp>
      <p:sp>
        <p:nvSpPr>
          <p:cNvPr id="23" name="anim-5-22"/>
          <p:cNvSpPr/>
          <p:nvPr/>
        </p:nvSpPr>
        <p:spPr>
          <a:xfrm>
            <a:off x="9144000" y="1244600"/>
            <a:ext cx="6350" cy="1905000"/>
          </a:xfrm>
          <a:prstGeom prst="rect">
            <a:avLst/>
          </a:prstGeom>
          <a:solidFill>
            <a:srgbClr val="CDD0D9"/>
          </a:solidFill>
          <a:ln/>
        </p:spPr>
      </p:sp>
      <p:sp>
        <p:nvSpPr>
          <p:cNvPr id="24" name="anim-5-23"/>
          <p:cNvSpPr/>
          <p:nvPr/>
        </p:nvSpPr>
        <p:spPr>
          <a:xfrm>
            <a:off x="9150350" y="1250950"/>
            <a:ext cx="3041650" cy="1898650"/>
          </a:xfrm>
          <a:prstGeom prst="rect">
            <a:avLst/>
          </a:prstGeom>
          <a:solidFill>
            <a:srgbClr val="F5F9FB"/>
          </a:solidFill>
          <a:ln/>
        </p:spPr>
      </p:sp>
      <p:sp>
        <p:nvSpPr>
          <p:cNvPr id="25" name="anim-5-24"/>
          <p:cNvSpPr txBox="1"/>
          <p:nvPr/>
        </p:nvSpPr>
        <p:spPr>
          <a:xfrm>
            <a:off x="9448800" y="1409700"/>
            <a:ext cx="1905000" cy="635000"/>
          </a:xfrm>
          <a:prstGeom prst="rect">
            <a:avLst/>
          </a:prstGeom>
          <a:noFill/>
          <a:ln/>
        </p:spPr>
        <p:txBody>
          <a:bodyPr wrap="square" lIns="0" tIns="0" rIns="0" bIns="0" rtlCol="0" anchor="t"/>
          <a:lstStyle/>
          <a:p>
            <a:pPr algn="l" indent="0" marL="0">
              <a:lnSpc>
                <a:spcPct val="112000"/>
              </a:lnSpc>
              <a:buNone/>
            </a:pPr>
            <a:r>
              <a:rPr lang="en-US" sz="4200" b="1" dirty="0">
                <a:solidFill>
                  <a:srgbClr val="13151C"/>
                </a:solidFill>
                <a:latin typeface="Plus Jakarta Sans" pitchFamily="34" charset="0"/>
                <a:ea typeface="Plus Jakarta Sans" pitchFamily="34" charset="-122"/>
                <a:cs typeface="Plus Jakarta Sans" pitchFamily="34" charset="-120"/>
              </a:rPr>
              <a:t>Y4+</a:t>
            </a:r>
            <a:endParaRPr lang="en-US" sz="4200" dirty="0"/>
          </a:p>
        </p:txBody>
      </p:sp>
      <p:sp>
        <p:nvSpPr>
          <p:cNvPr id="26" name="anim-5-25"/>
          <p:cNvSpPr txBox="1"/>
          <p:nvPr/>
        </p:nvSpPr>
        <p:spPr>
          <a:xfrm>
            <a:off x="9448800" y="2159000"/>
            <a:ext cx="2540000" cy="228600"/>
          </a:xfrm>
          <a:prstGeom prst="rect">
            <a:avLst/>
          </a:prstGeom>
          <a:noFill/>
          <a:ln/>
        </p:spPr>
        <p:txBody>
          <a:bodyPr wrap="square" lIns="0" tIns="0" rIns="0" bIns="0" rtlCol="0" anchor="t"/>
          <a:lstStyle/>
          <a:p>
            <a:pPr algn="l" indent="0" marL="0">
              <a:lnSpc>
                <a:spcPct val="112000"/>
              </a:lnSpc>
              <a:buNone/>
            </a:pPr>
            <a:r>
              <a:rPr lang="en-US" sz="1200" dirty="0">
                <a:solidFill>
                  <a:srgbClr val="13151C"/>
                </a:solidFill>
                <a:latin typeface="Plus Jakarta Sans SemiBold" pitchFamily="34" charset="0"/>
                <a:ea typeface="Plus Jakarta Sans SemiBold" pitchFamily="34" charset="-122"/>
                <a:cs typeface="Plus Jakarta Sans SemiBold" pitchFamily="34" charset="-120"/>
              </a:rPr>
              <a:t>After Year 3 expiry / new term</a:t>
            </a:r>
            <a:endParaRPr lang="en-US" sz="1200" dirty="0"/>
          </a:p>
        </p:txBody>
      </p:sp>
      <p:sp>
        <p:nvSpPr>
          <p:cNvPr id="27" name="anim-5-26"/>
          <p:cNvSpPr txBox="1"/>
          <p:nvPr/>
        </p:nvSpPr>
        <p:spPr>
          <a:xfrm>
            <a:off x="9448800" y="2438400"/>
            <a:ext cx="2540000" cy="215900"/>
          </a:xfrm>
          <a:prstGeom prst="rect">
            <a:avLst/>
          </a:prstGeom>
          <a:noFill/>
          <a:ln/>
        </p:spPr>
        <p:txBody>
          <a:bodyPr wrap="square" lIns="0" tIns="0" rIns="0" bIns="0" rtlCol="0" anchor="t"/>
          <a:lstStyle/>
          <a:p>
            <a:pPr algn="l" indent="0" marL="0">
              <a:lnSpc>
                <a:spcPct val="112000"/>
              </a:lnSpc>
              <a:buNone/>
            </a:pPr>
            <a:r>
              <a:rPr lang="en-US" sz="1100" b="1" dirty="0">
                <a:solidFill>
                  <a:srgbClr val="5A5C63"/>
                </a:solidFill>
                <a:latin typeface="Plus Jakarta Sans" pitchFamily="34" charset="0"/>
                <a:ea typeface="Plus Jakarta Sans" pitchFamily="34" charset="-122"/>
                <a:cs typeface="Plus Jakarta Sans" pitchFamily="34" charset="-120"/>
              </a:rPr>
              <a:t>Renewal Volume</a:t>
            </a:r>
            <a:endParaRPr lang="en-US" sz="1100" dirty="0"/>
          </a:p>
        </p:txBody>
      </p:sp>
      <p:sp>
        <p:nvSpPr>
          <p:cNvPr id="28" name="anim-6-27"/>
          <p:cNvSpPr/>
          <p:nvPr/>
        </p:nvSpPr>
        <p:spPr>
          <a:xfrm>
            <a:off x="0" y="3149600"/>
            <a:ext cx="12192000" cy="6350"/>
          </a:xfrm>
          <a:prstGeom prst="rect">
            <a:avLst/>
          </a:prstGeom>
          <a:solidFill>
            <a:srgbClr val="CDD0D9"/>
          </a:solidFill>
          <a:ln/>
        </p:spPr>
      </p:sp>
      <p:sp>
        <p:nvSpPr>
          <p:cNvPr id="29" name="anim-6-28"/>
          <p:cNvSpPr/>
          <p:nvPr/>
        </p:nvSpPr>
        <p:spPr>
          <a:xfrm>
            <a:off x="6096000" y="3149600"/>
            <a:ext cx="6350" cy="2692400"/>
          </a:xfrm>
          <a:prstGeom prst="rect">
            <a:avLst/>
          </a:prstGeom>
          <a:solidFill>
            <a:srgbClr val="CDD0D9"/>
          </a:solidFill>
          <a:ln/>
        </p:spPr>
      </p:sp>
      <p:sp>
        <p:nvSpPr>
          <p:cNvPr id="30" name="anim-6-29"/>
          <p:cNvSpPr txBox="1"/>
          <p:nvPr/>
        </p:nvSpPr>
        <p:spPr>
          <a:xfrm>
            <a:off x="304800" y="3352800"/>
            <a:ext cx="5461000" cy="254000"/>
          </a:xfrm>
          <a:prstGeom prst="rect">
            <a:avLst/>
          </a:prstGeom>
          <a:noFill/>
          <a:ln/>
        </p:spPr>
        <p:txBody>
          <a:bodyPr wrap="square" lIns="0" tIns="0" rIns="0" bIns="0" rtlCol="0" anchor="t"/>
          <a:lstStyle/>
          <a:p>
            <a:pPr algn="l" indent="0" marL="0">
              <a:lnSpc>
                <a:spcPct val="112000"/>
              </a:lnSpc>
              <a:buNone/>
            </a:pPr>
            <a:r>
              <a:rPr lang="en-US" sz="1400" b="1" dirty="0">
                <a:solidFill>
                  <a:srgbClr val="13151C"/>
                </a:solidFill>
                <a:latin typeface="Plus Jakarta Sans" pitchFamily="34" charset="0"/>
                <a:ea typeface="Plus Jakarta Sans" pitchFamily="34" charset="-122"/>
                <a:cs typeface="Plus Jakarta Sans" pitchFamily="34" charset="-120"/>
              </a:rPr>
              <a:t>During the term: expansion</a:t>
            </a:r>
            <a:endParaRPr lang="en-US" sz="1400" dirty="0"/>
          </a:p>
        </p:txBody>
      </p:sp>
      <p:sp>
        <p:nvSpPr>
          <p:cNvPr id="31" name="anim-6-30"/>
          <p:cNvSpPr txBox="1"/>
          <p:nvPr/>
        </p:nvSpPr>
        <p:spPr>
          <a:xfrm>
            <a:off x="304800" y="3683000"/>
            <a:ext cx="5461000" cy="635000"/>
          </a:xfrm>
          <a:prstGeom prst="rect">
            <a:avLst/>
          </a:prstGeom>
          <a:noFill/>
          <a:ln/>
        </p:spPr>
        <p:txBody>
          <a:bodyPr wrap="square" lIns="0" tIns="0" rIns="0" bIns="0" rtlCol="0" anchor="t"/>
          <a:lstStyle/>
          <a:p>
            <a:pPr algn="l" indent="0" marL="0">
              <a:lnSpc>
                <a:spcPct val="125000"/>
              </a:lnSpc>
              <a:buNone/>
            </a:pPr>
            <a:r>
              <a:rPr lang="en-US" sz="1050" dirty="0">
                <a:solidFill>
                  <a:srgbClr val="5A5C63"/>
                </a:solidFill>
                <a:latin typeface="Plus Jakarta Sans" pitchFamily="34" charset="0"/>
                <a:ea typeface="Plus Jakarta Sans" pitchFamily="34" charset="-122"/>
                <a:cs typeface="Plus Jakarta Sans" pitchFamily="34" charset="-120"/>
              </a:rPr>
              <a:t>Extra modules, agencies, countries or use cases added during the term are Expansion ARR Bookings, not Renewal Volume.</a:t>
            </a:r>
            <a:endParaRPr lang="en-US" sz="1050" dirty="0"/>
          </a:p>
        </p:txBody>
      </p:sp>
      <p:sp>
        <p:nvSpPr>
          <p:cNvPr id="32" name="anim-6-31"/>
          <p:cNvSpPr txBox="1"/>
          <p:nvPr/>
        </p:nvSpPr>
        <p:spPr>
          <a:xfrm>
            <a:off x="304800" y="4572000"/>
            <a:ext cx="5461000" cy="1143000"/>
          </a:xfrm>
          <a:prstGeom prst="rect">
            <a:avLst/>
          </a:prstGeom>
          <a:noFill/>
          <a:ln/>
        </p:spPr>
        <p:txBody>
          <a:bodyPr wrap="square" lIns="0" tIns="0" rIns="0" bIns="0" rtlCol="0" anchor="t"/>
          <a:lstStyle/>
          <a:p>
            <a:pPr algn="l" indent="0" marL="0">
              <a:lnSpc>
                <a:spcPct val="125000"/>
              </a:lnSpc>
              <a:buNone/>
            </a:pPr>
            <a:r>
              <a:rPr lang="en-US" sz="900" dirty="0">
                <a:solidFill>
                  <a:srgbClr val="8A8C93"/>
                </a:solidFill>
                <a:latin typeface="Plus Jakarta Sans" pitchFamily="34" charset="0"/>
                <a:ea typeface="Plus Jakarta Sans" pitchFamily="34" charset="-122"/>
                <a:cs typeface="Plus Jakarta Sans" pitchFamily="34" charset="-120"/>
              </a:rPr>
              <a:t>Year-2 and Year-3 credit is subject to cleared payment, valid invoice, continued assignment, an approved opportunity record, tax and withholding, and the signed agreement. If the customer prepays the full term, DignifyX defines the approved payment schedule.</a:t>
            </a:r>
            <a:endParaRPr lang="en-US" sz="900" dirty="0"/>
          </a:p>
        </p:txBody>
      </p:sp>
      <p:sp>
        <p:nvSpPr>
          <p:cNvPr id="33" name="anim-7-32"/>
          <p:cNvSpPr txBox="1"/>
          <p:nvPr/>
        </p:nvSpPr>
        <p:spPr>
          <a:xfrm>
            <a:off x="6400800" y="3352800"/>
            <a:ext cx="5461000" cy="254000"/>
          </a:xfrm>
          <a:prstGeom prst="rect">
            <a:avLst/>
          </a:prstGeom>
          <a:noFill/>
          <a:ln/>
        </p:spPr>
        <p:txBody>
          <a:bodyPr wrap="square" lIns="0" tIns="0" rIns="0" bIns="0" rtlCol="0" anchor="t"/>
          <a:lstStyle/>
          <a:p>
            <a:pPr algn="l" indent="0" marL="0">
              <a:lnSpc>
                <a:spcPct val="112000"/>
              </a:lnSpc>
              <a:buNone/>
            </a:pPr>
            <a:r>
              <a:rPr lang="en-US" sz="1300" b="1" dirty="0">
                <a:solidFill>
                  <a:srgbClr val="13151C"/>
                </a:solidFill>
                <a:latin typeface="Plus Jakarta Sans" pitchFamily="34" charset="0"/>
                <a:ea typeface="Plus Jakarta Sans" pitchFamily="34" charset="-122"/>
                <a:cs typeface="Plus Jakarta Sans" pitchFamily="34" charset="-120"/>
              </a:rPr>
              <a:t>Renewal Volume Credit </a:t>
            </a:r>
            <a:pPr algn="l" indent="0" marL="0">
              <a:lnSpc>
                <a:spcPct val="112000"/>
              </a:lnSpc>
              <a:buNone/>
            </a:pPr>
            <a:r>
              <a:rPr lang="en-US" sz="1300" b="1" dirty="0">
                <a:solidFill>
                  <a:srgbClr val="194EFF"/>
                </a:solidFill>
                <a:latin typeface="Plus Jakarta Sans" pitchFamily="34" charset="0"/>
                <a:ea typeface="Plus Jakarta Sans" pitchFamily="34" charset="-122"/>
                <a:cs typeface="Plus Jakarta Sans" pitchFamily="34" charset="-120"/>
              </a:rPr>
              <a:t>= renewed ARR × ratio</a:t>
            </a:r>
            <a:endParaRPr lang="en-US" sz="1300" dirty="0"/>
          </a:p>
        </p:txBody>
      </p:sp>
      <p:sp>
        <p:nvSpPr>
          <p:cNvPr id="34" name="anim-8-33"/>
          <p:cNvSpPr/>
          <p:nvPr/>
        </p:nvSpPr>
        <p:spPr>
          <a:xfrm>
            <a:off x="6102350" y="3810000"/>
            <a:ext cx="2025650" cy="2032000"/>
          </a:xfrm>
          <a:prstGeom prst="rect">
            <a:avLst/>
          </a:prstGeom>
          <a:solidFill>
            <a:srgbClr val="EDF1FF"/>
          </a:solidFill>
          <a:ln/>
        </p:spPr>
      </p:sp>
      <p:sp>
        <p:nvSpPr>
          <p:cNvPr id="35" name="anim-8-34"/>
          <p:cNvSpPr/>
          <p:nvPr/>
        </p:nvSpPr>
        <p:spPr>
          <a:xfrm>
            <a:off x="6102350" y="3810000"/>
            <a:ext cx="6089650" cy="6350"/>
          </a:xfrm>
          <a:prstGeom prst="rect">
            <a:avLst/>
          </a:prstGeom>
          <a:solidFill>
            <a:srgbClr val="CDD0D9"/>
          </a:solidFill>
          <a:ln/>
        </p:spPr>
      </p:sp>
      <p:sp>
        <p:nvSpPr>
          <p:cNvPr id="36" name="anim-8-35"/>
          <p:cNvSpPr txBox="1"/>
          <p:nvPr/>
        </p:nvSpPr>
        <p:spPr>
          <a:xfrm>
            <a:off x="6356350" y="4064000"/>
            <a:ext cx="1651000" cy="698500"/>
          </a:xfrm>
          <a:prstGeom prst="rect">
            <a:avLst/>
          </a:prstGeom>
          <a:noFill/>
          <a:ln/>
        </p:spPr>
        <p:txBody>
          <a:bodyPr wrap="square" lIns="0" tIns="0" rIns="0" bIns="0" rtlCol="0" anchor="t"/>
          <a:lstStyle/>
          <a:p>
            <a:pPr algn="l" indent="0" marL="0">
              <a:lnSpc>
                <a:spcPct val="112000"/>
              </a:lnSpc>
              <a:buNone/>
            </a:pPr>
            <a:r>
              <a:rPr lang="en-US" sz="4400" b="1" dirty="0">
                <a:solidFill>
                  <a:srgbClr val="194EFF"/>
                </a:solidFill>
                <a:latin typeface="Plus Jakarta Sans" pitchFamily="34" charset="0"/>
                <a:ea typeface="Plus Jakarta Sans" pitchFamily="34" charset="-122"/>
                <a:cs typeface="Plus Jakarta Sans" pitchFamily="34" charset="-120"/>
              </a:rPr>
              <a:t>1.0</a:t>
            </a:r>
            <a:endParaRPr lang="en-US" sz="4400" dirty="0"/>
          </a:p>
        </p:txBody>
      </p:sp>
      <p:sp>
        <p:nvSpPr>
          <p:cNvPr id="37" name="anim-8-36"/>
          <p:cNvSpPr txBox="1"/>
          <p:nvPr/>
        </p:nvSpPr>
        <p:spPr>
          <a:xfrm>
            <a:off x="6356350" y="4889500"/>
            <a:ext cx="1587500" cy="444500"/>
          </a:xfrm>
          <a:prstGeom prst="rect">
            <a:avLst/>
          </a:prstGeom>
          <a:noFill/>
          <a:ln/>
        </p:spPr>
        <p:txBody>
          <a:bodyPr wrap="square" lIns="0" tIns="0" rIns="0" bIns="0" rtlCol="0" anchor="t"/>
          <a:lstStyle/>
          <a:p>
            <a:pPr algn="l" indent="0" marL="0">
              <a:lnSpc>
                <a:spcPct val="112000"/>
              </a:lnSpc>
              <a:buNone/>
            </a:pPr>
            <a:r>
              <a:rPr lang="en-US" sz="1000" dirty="0">
                <a:solidFill>
                  <a:srgbClr val="5A5C63"/>
                </a:solidFill>
                <a:latin typeface="Plus Jakarta Sans" pitchFamily="34" charset="0"/>
                <a:ea typeface="Plus Jakarta Sans" pitchFamily="34" charset="-122"/>
                <a:cs typeface="Plus Jakarta Sans" pitchFamily="34" charset="-120"/>
              </a:rPr>
              <a:t>90%+ gross retention</a:t>
            </a:r>
            <a:endParaRPr lang="en-US" sz="1000" dirty="0"/>
          </a:p>
        </p:txBody>
      </p:sp>
      <p:sp>
        <p:nvSpPr>
          <p:cNvPr id="38" name="anim-8-37"/>
          <p:cNvSpPr/>
          <p:nvPr/>
        </p:nvSpPr>
        <p:spPr>
          <a:xfrm>
            <a:off x="8134350" y="3810000"/>
            <a:ext cx="6350" cy="2032000"/>
          </a:xfrm>
          <a:prstGeom prst="rect">
            <a:avLst/>
          </a:prstGeom>
          <a:solidFill>
            <a:srgbClr val="CDD0D9"/>
          </a:solidFill>
          <a:ln/>
        </p:spPr>
      </p:sp>
      <p:sp>
        <p:nvSpPr>
          <p:cNvPr id="39" name="anim-8-38"/>
          <p:cNvSpPr/>
          <p:nvPr/>
        </p:nvSpPr>
        <p:spPr>
          <a:xfrm>
            <a:off x="6102350" y="3810000"/>
            <a:ext cx="6089650" cy="6350"/>
          </a:xfrm>
          <a:prstGeom prst="rect">
            <a:avLst/>
          </a:prstGeom>
          <a:solidFill>
            <a:srgbClr val="CDD0D9"/>
          </a:solidFill>
          <a:ln/>
        </p:spPr>
      </p:sp>
      <p:sp>
        <p:nvSpPr>
          <p:cNvPr id="40" name="anim-8-39"/>
          <p:cNvSpPr txBox="1"/>
          <p:nvPr/>
        </p:nvSpPr>
        <p:spPr>
          <a:xfrm>
            <a:off x="8388350" y="4064000"/>
            <a:ext cx="1651000" cy="698500"/>
          </a:xfrm>
          <a:prstGeom prst="rect">
            <a:avLst/>
          </a:prstGeom>
          <a:noFill/>
          <a:ln/>
        </p:spPr>
        <p:txBody>
          <a:bodyPr wrap="square" lIns="0" tIns="0" rIns="0" bIns="0" rtlCol="0" anchor="t"/>
          <a:lstStyle/>
          <a:p>
            <a:pPr algn="l" indent="0" marL="0">
              <a:lnSpc>
                <a:spcPct val="112000"/>
              </a:lnSpc>
              <a:buNone/>
            </a:pPr>
            <a:r>
              <a:rPr lang="en-US" sz="4400" b="1" dirty="0">
                <a:solidFill>
                  <a:srgbClr val="13151C"/>
                </a:solidFill>
                <a:latin typeface="Plus Jakarta Sans" pitchFamily="34" charset="0"/>
                <a:ea typeface="Plus Jakarta Sans" pitchFamily="34" charset="-122"/>
                <a:cs typeface="Plus Jakarta Sans" pitchFamily="34" charset="-120"/>
              </a:rPr>
              <a:t>0.5</a:t>
            </a:r>
            <a:endParaRPr lang="en-US" sz="4400" dirty="0"/>
          </a:p>
        </p:txBody>
      </p:sp>
      <p:sp>
        <p:nvSpPr>
          <p:cNvPr id="41" name="anim-8-40"/>
          <p:cNvSpPr txBox="1"/>
          <p:nvPr/>
        </p:nvSpPr>
        <p:spPr>
          <a:xfrm>
            <a:off x="8388350" y="4889500"/>
            <a:ext cx="1587500" cy="444500"/>
          </a:xfrm>
          <a:prstGeom prst="rect">
            <a:avLst/>
          </a:prstGeom>
          <a:noFill/>
          <a:ln/>
        </p:spPr>
        <p:txBody>
          <a:bodyPr wrap="square" lIns="0" tIns="0" rIns="0" bIns="0" rtlCol="0" anchor="t"/>
          <a:lstStyle/>
          <a:p>
            <a:pPr algn="l" indent="0" marL="0">
              <a:lnSpc>
                <a:spcPct val="112000"/>
              </a:lnSpc>
              <a:buNone/>
            </a:pPr>
            <a:r>
              <a:rPr lang="en-US" sz="1000" dirty="0">
                <a:solidFill>
                  <a:srgbClr val="5A5C63"/>
                </a:solidFill>
                <a:latin typeface="Plus Jakarta Sans" pitchFamily="34" charset="0"/>
                <a:ea typeface="Plus Jakarta Sans" pitchFamily="34" charset="-122"/>
                <a:cs typeface="Plus Jakarta Sans" pitchFamily="34" charset="-120"/>
              </a:rPr>
              <a:t>80–89.99% retention</a:t>
            </a:r>
            <a:endParaRPr lang="en-US" sz="1000" dirty="0"/>
          </a:p>
        </p:txBody>
      </p:sp>
      <p:sp>
        <p:nvSpPr>
          <p:cNvPr id="42" name="anim-8-41"/>
          <p:cNvSpPr/>
          <p:nvPr/>
        </p:nvSpPr>
        <p:spPr>
          <a:xfrm>
            <a:off x="10166350" y="3810000"/>
            <a:ext cx="6350" cy="2032000"/>
          </a:xfrm>
          <a:prstGeom prst="rect">
            <a:avLst/>
          </a:prstGeom>
          <a:solidFill>
            <a:srgbClr val="CDD0D9"/>
          </a:solidFill>
          <a:ln/>
        </p:spPr>
      </p:sp>
      <p:sp>
        <p:nvSpPr>
          <p:cNvPr id="43" name="anim-8-42"/>
          <p:cNvSpPr/>
          <p:nvPr/>
        </p:nvSpPr>
        <p:spPr>
          <a:xfrm>
            <a:off x="6102350" y="3810000"/>
            <a:ext cx="6089650" cy="6350"/>
          </a:xfrm>
          <a:prstGeom prst="rect">
            <a:avLst/>
          </a:prstGeom>
          <a:solidFill>
            <a:srgbClr val="CDD0D9"/>
          </a:solidFill>
          <a:ln/>
        </p:spPr>
      </p:sp>
      <p:sp>
        <p:nvSpPr>
          <p:cNvPr id="44" name="anim-8-43"/>
          <p:cNvSpPr txBox="1"/>
          <p:nvPr/>
        </p:nvSpPr>
        <p:spPr>
          <a:xfrm>
            <a:off x="10420350" y="4064000"/>
            <a:ext cx="1651000" cy="698500"/>
          </a:xfrm>
          <a:prstGeom prst="rect">
            <a:avLst/>
          </a:prstGeom>
          <a:noFill/>
          <a:ln/>
        </p:spPr>
        <p:txBody>
          <a:bodyPr wrap="square" lIns="0" tIns="0" rIns="0" bIns="0" rtlCol="0" anchor="t"/>
          <a:lstStyle/>
          <a:p>
            <a:pPr algn="l" indent="0" marL="0">
              <a:lnSpc>
                <a:spcPct val="112000"/>
              </a:lnSpc>
              <a:buNone/>
            </a:pPr>
            <a:r>
              <a:rPr lang="en-US" sz="4400" b="1" dirty="0">
                <a:solidFill>
                  <a:srgbClr val="13151C"/>
                </a:solidFill>
                <a:latin typeface="Plus Jakarta Sans" pitchFamily="34" charset="0"/>
                <a:ea typeface="Plus Jakarta Sans" pitchFamily="34" charset="-122"/>
                <a:cs typeface="Plus Jakarta Sans" pitchFamily="34" charset="-120"/>
              </a:rPr>
              <a:t>0.0</a:t>
            </a:r>
            <a:endParaRPr lang="en-US" sz="4400" dirty="0"/>
          </a:p>
        </p:txBody>
      </p:sp>
      <p:sp>
        <p:nvSpPr>
          <p:cNvPr id="45" name="anim-8-44"/>
          <p:cNvSpPr txBox="1"/>
          <p:nvPr/>
        </p:nvSpPr>
        <p:spPr>
          <a:xfrm>
            <a:off x="10420350" y="4889500"/>
            <a:ext cx="1587500" cy="444500"/>
          </a:xfrm>
          <a:prstGeom prst="rect">
            <a:avLst/>
          </a:prstGeom>
          <a:noFill/>
          <a:ln/>
        </p:spPr>
        <p:txBody>
          <a:bodyPr wrap="square" lIns="0" tIns="0" rIns="0" bIns="0" rtlCol="0" anchor="t"/>
          <a:lstStyle/>
          <a:p>
            <a:pPr algn="l" indent="0" marL="0">
              <a:lnSpc>
                <a:spcPct val="112000"/>
              </a:lnSpc>
              <a:buNone/>
            </a:pPr>
            <a:r>
              <a:rPr lang="en-US" sz="1000" dirty="0">
                <a:solidFill>
                  <a:srgbClr val="5A5C63"/>
                </a:solidFill>
                <a:latin typeface="Plus Jakarta Sans" pitchFamily="34" charset="0"/>
                <a:ea typeface="Plus Jakarta Sans" pitchFamily="34" charset="-122"/>
                <a:cs typeface="Plus Jakarta Sans" pitchFamily="34" charset="-120"/>
              </a:rPr>
              <a:t>Below 80% retention</a:t>
            </a:r>
            <a:endParaRPr lang="en-US" sz="1000" dirty="0"/>
          </a:p>
        </p:txBody>
      </p:sp>
      <p:sp>
        <p:nvSpPr>
          <p:cNvPr id="46" name="anim-9-45"/>
          <p:cNvSpPr/>
          <p:nvPr/>
        </p:nvSpPr>
        <p:spPr>
          <a:xfrm>
            <a:off x="0" y="5842000"/>
            <a:ext cx="12192000" cy="1016000"/>
          </a:xfrm>
          <a:prstGeom prst="rect">
            <a:avLst/>
          </a:prstGeom>
          <a:solidFill>
            <a:srgbClr val="F5F9FB"/>
          </a:solidFill>
          <a:ln/>
        </p:spPr>
      </p:sp>
      <p:pic>
        <p:nvPicPr>
          <p:cNvPr id="47" name="anim-9-46" descr="/tmp/claude-0/-home-user-hosting/7c832a48-0979-56aa-9fdf-7d53efb9dc7a/scratchpad/build/img/motif-left.png">    </p:cNvPr>
          <p:cNvPicPr>
            <a:picLocks noChangeAspect="1"/>
          </p:cNvPicPr>
          <p:nvPr/>
        </p:nvPicPr>
        <p:blipFill>
          <a:blip r:embed="rId2"/>
          <a:stretch>
            <a:fillRect/>
          </a:stretch>
        </p:blipFill>
        <p:spPr>
          <a:xfrm>
            <a:off x="0" y="5842000"/>
            <a:ext cx="844550" cy="1016000"/>
          </a:xfrm>
          <a:prstGeom prst="rect">
            <a:avLst/>
          </a:prstGeom>
        </p:spPr>
      </p:pic>
      <p:pic>
        <p:nvPicPr>
          <p:cNvPr id="48" name="anim-9-47" descr="/tmp/claude-0/-home-user-hosting/7c832a48-0979-56aa-9fdf-7d53efb9dc7a/scratchpad/build/img/motif-right.png">    </p:cNvPr>
          <p:cNvPicPr>
            <a:picLocks noChangeAspect="1"/>
          </p:cNvPicPr>
          <p:nvPr/>
        </p:nvPicPr>
        <p:blipFill>
          <a:blip r:embed="rId3"/>
          <a:stretch>
            <a:fillRect/>
          </a:stretch>
        </p:blipFill>
        <p:spPr>
          <a:xfrm>
            <a:off x="11347450" y="5842000"/>
            <a:ext cx="844550" cy="1016000"/>
          </a:xfrm>
          <a:prstGeom prst="rect">
            <a:avLst/>
          </a:prstGeom>
        </p:spPr>
      </p:pic>
      <p:sp>
        <p:nvSpPr>
          <p:cNvPr id="49" name="anim-9-48"/>
          <p:cNvSpPr txBox="1"/>
          <p:nvPr/>
        </p:nvSpPr>
        <p:spPr>
          <a:xfrm>
            <a:off x="1079500" y="5969000"/>
            <a:ext cx="2095500" cy="558800"/>
          </a:xfrm>
          <a:prstGeom prst="rect">
            <a:avLst/>
          </a:prstGeom>
          <a:noFill/>
          <a:ln/>
        </p:spPr>
        <p:txBody>
          <a:bodyPr wrap="square" lIns="0" tIns="0" rIns="0" bIns="0" rtlCol="0" anchor="ctr"/>
          <a:lstStyle/>
          <a:p>
            <a:pPr algn="l" indent="0" marL="0">
              <a:lnSpc>
                <a:spcPct val="112000"/>
              </a:lnSpc>
              <a:buNone/>
            </a:pPr>
            <a:r>
              <a:rPr lang="en-US" sz="1200" b="1" dirty="0">
                <a:solidFill>
                  <a:srgbClr val="194EFF"/>
                </a:solidFill>
                <a:latin typeface="Plus Jakarta Sans" pitchFamily="34" charset="0"/>
                <a:ea typeface="Plus Jakarta Sans" pitchFamily="34" charset="-122"/>
                <a:cs typeface="Plus Jakarta Sans" pitchFamily="34" charset="-120"/>
              </a:rPr>
              <a:t>Subject to Terms</a:t>
            </a:r>
            <a:endParaRPr lang="en-US" sz="1200" dirty="0"/>
          </a:p>
        </p:txBody>
      </p:sp>
      <p:sp>
        <p:nvSpPr>
          <p:cNvPr id="50" name="anim-9-49"/>
          <p:cNvSpPr txBox="1"/>
          <p:nvPr/>
        </p:nvSpPr>
        <p:spPr>
          <a:xfrm>
            <a:off x="3302000" y="5969000"/>
            <a:ext cx="7810500" cy="558800"/>
          </a:xfrm>
          <a:prstGeom prst="rect">
            <a:avLst/>
          </a:prstGeom>
          <a:noFill/>
          <a:ln/>
        </p:spPr>
        <p:txBody>
          <a:bodyPr wrap="square" lIns="0" tIns="0" rIns="0" bIns="0" rtlCol="0" anchor="ctr"/>
          <a:lstStyle/>
          <a:p>
            <a:pPr algn="l" indent="0" marL="0">
              <a:lnSpc>
                <a:spcPct val="112000"/>
              </a:lnSpc>
              <a:buNone/>
            </a:pPr>
            <a:r>
              <a:rPr lang="en-US" sz="1100" dirty="0">
                <a:solidFill>
                  <a:srgbClr val="13151C"/>
                </a:solidFill>
                <a:latin typeface="Plus Jakarta Sans Medium" pitchFamily="34" charset="0"/>
                <a:ea typeface="Plus Jakarta Sans Medium" pitchFamily="34" charset="-122"/>
                <a:cs typeface="Plus Jakarta Sans Medium" pitchFamily="34" charset="-120"/>
              </a:rPr>
              <a:t>Year 1, 2 and 3 values of standard three-year contracts are all New ARR Bookings, credited at your new-business rate.</a:t>
            </a:r>
            <a:endParaRPr lang="en-US" sz="1100" dirty="0"/>
          </a:p>
        </p:txBody>
      </p:sp>
      <p:sp>
        <p:nvSpPr>
          <p:cNvPr id="51" name="Text 46"/>
          <p:cNvSpPr txBox="1"/>
          <p:nvPr/>
        </p:nvSpPr>
        <p:spPr>
          <a:xfrm>
            <a:off x="1079500" y="6578600"/>
            <a:ext cx="10033000" cy="165100"/>
          </a:xfrm>
          <a:prstGeom prst="rect">
            <a:avLst/>
          </a:prstGeom>
          <a:noFill/>
          <a:ln/>
        </p:spPr>
        <p:txBody>
          <a:bodyPr wrap="square" lIns="0" tIns="0" rIns="0" bIns="0" rtlCol="0" anchor="t"/>
          <a:lstStyle/>
          <a:p>
            <a:pPr algn="ctr" indent="0" marL="0">
              <a:lnSpc>
                <a:spcPct val="112000"/>
              </a:lnSpc>
              <a:buNone/>
            </a:pPr>
            <a:r>
              <a:rPr lang="en-US" sz="750" dirty="0">
                <a:solidFill>
                  <a:srgbClr val="8A8C93"/>
                </a:solidFill>
                <a:latin typeface="Plus Jakarta Sans" pitchFamily="34" charset="0"/>
                <a:ea typeface="Plus Jakarta Sans" pitchFamily="34" charset="-122"/>
                <a:cs typeface="Plus Jakarta Sans" pitchFamily="34" charset="-120"/>
              </a:rPr>
              <a:t>Partner-Confidential · NDA · Contains commercial rate card · Programme description only; not a contract</a:t>
            </a:r>
            <a:endParaRPr lang="en-US" sz="75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500"/>
                                        <p:tgtEl>
                                          <p:spTgt spid="3"/>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4"/>
                                        </p:tgtEl>
                                        <p:attrNameLst>
                                          <p:attrName>style.visibility</p:attrName>
                                        </p:attrNameLst>
                                      </p:cBhvr>
                                      <p:to>
                                        <p:strVal val="visible"/>
                                      </p:to>
                                    </p:set>
                                    <p:animEffect transition="in" filter="fade">
                                      <p:cBhvr>
                                        <p:cTn id="13" dur="500"/>
                                        <p:tgtEl>
                                          <p:spTgt spid="4"/>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5"/>
                                        </p:tgtEl>
                                        <p:attrNameLst>
                                          <p:attrName>style.visibility</p:attrName>
                                        </p:attrNameLst>
                                      </p:cBhvr>
                                      <p:to>
                                        <p:strVal val="visible"/>
                                      </p:to>
                                    </p:set>
                                    <p:animEffect transition="in" filter="fade">
                                      <p:cBhvr>
                                        <p:cTn id="16" dur="500"/>
                                        <p:tgtEl>
                                          <p:spTgt spid="5"/>
                                        </p:tgtEl>
                                      </p:cBhvr>
                                    </p:animEffect>
                                  </p:childTnLst>
                                </p:cTn>
                              </p:par>
                              <p:par>
                                <p:cTn id="17" presetID="10" presetClass="entr" presetSubtype="0" fill="hold" grpId="0" nodeType="withEffect">
                                  <p:stCondLst>
                                    <p:cond delay="180"/>
                                  </p:stCondLst>
                                  <p:childTnLst>
                                    <p:set>
                                      <p:cBhvr>
                                        <p:cTn id="18" dur="1" fill="hold">
                                          <p:stCondLst>
                                            <p:cond delay="0"/>
                                          </p:stCondLst>
                                        </p:cTn>
                                        <p:tgtEl>
                                          <p:spTgt spid="6"/>
                                        </p:tgtEl>
                                        <p:attrNameLst>
                                          <p:attrName>style.visibility</p:attrName>
                                        </p:attrNameLst>
                                      </p:cBhvr>
                                      <p:to>
                                        <p:strVal val="visible"/>
                                      </p:to>
                                    </p:set>
                                    <p:animEffect transition="in" filter="fade">
                                      <p:cBhvr>
                                        <p:cTn id="19" dur="500"/>
                                        <p:tgtEl>
                                          <p:spTgt spid="6"/>
                                        </p:tgtEl>
                                      </p:cBhvr>
                                    </p:animEffect>
                                  </p:childTnLst>
                                </p:cTn>
                              </p:par>
                              <p:par>
                                <p:cTn id="20" presetID="10" presetClass="entr" presetSubtype="0" fill="hold" grpId="0" nodeType="withEffect">
                                  <p:stCondLst>
                                    <p:cond delay="180"/>
                                  </p:stCondLst>
                                  <p:childTnLst>
                                    <p:set>
                                      <p:cBhvr>
                                        <p:cTn id="21" dur="1" fill="hold">
                                          <p:stCondLst>
                                            <p:cond delay="0"/>
                                          </p:stCondLst>
                                        </p:cTn>
                                        <p:tgtEl>
                                          <p:spTgt spid="7"/>
                                        </p:tgtEl>
                                        <p:attrNameLst>
                                          <p:attrName>style.visibility</p:attrName>
                                        </p:attrNameLst>
                                      </p:cBhvr>
                                      <p:to>
                                        <p:strVal val="visible"/>
                                      </p:to>
                                    </p:set>
                                    <p:animEffect transition="in" filter="fade">
                                      <p:cBhvr>
                                        <p:cTn id="22" dur="500"/>
                                        <p:tgtEl>
                                          <p:spTgt spid="7"/>
                                        </p:tgtEl>
                                      </p:cBhvr>
                                    </p:animEffect>
                                  </p:childTnLst>
                                </p:cTn>
                              </p:par>
                              <p:par>
                                <p:cTn id="23" presetID="10" presetClass="entr" presetSubtype="0" fill="hold" grpId="0" nodeType="withEffect">
                                  <p:stCondLst>
                                    <p:cond delay="180"/>
                                  </p:stCondLst>
                                  <p:childTnLst>
                                    <p:set>
                                      <p:cBhvr>
                                        <p:cTn id="24" dur="1" fill="hold">
                                          <p:stCondLst>
                                            <p:cond delay="0"/>
                                          </p:stCondLst>
                                        </p:cTn>
                                        <p:tgtEl>
                                          <p:spTgt spid="8"/>
                                        </p:tgtEl>
                                        <p:attrNameLst>
                                          <p:attrName>style.visibility</p:attrName>
                                        </p:attrNameLst>
                                      </p:cBhvr>
                                      <p:to>
                                        <p:strVal val="visible"/>
                                      </p:to>
                                    </p:set>
                                    <p:animEffect transition="in" filter="fade">
                                      <p:cBhvr>
                                        <p:cTn id="25" dur="500"/>
                                        <p:tgtEl>
                                          <p:spTgt spid="8"/>
                                        </p:tgtEl>
                                      </p:cBhvr>
                                    </p:animEffect>
                                  </p:childTnLst>
                                </p:cTn>
                              </p:par>
                              <p:par>
                                <p:cTn id="26" presetID="10" presetClass="entr" presetSubtype="0" fill="hold" grpId="0" nodeType="withEffect">
                                  <p:stCondLst>
                                    <p:cond delay="180"/>
                                  </p:stCondLst>
                                  <p:childTnLst>
                                    <p:set>
                                      <p:cBhvr>
                                        <p:cTn id="27" dur="1" fill="hold">
                                          <p:stCondLst>
                                            <p:cond delay="0"/>
                                          </p:stCondLst>
                                        </p:cTn>
                                        <p:tgtEl>
                                          <p:spTgt spid="9"/>
                                        </p:tgtEl>
                                        <p:attrNameLst>
                                          <p:attrName>style.visibility</p:attrName>
                                        </p:attrNameLst>
                                      </p:cBhvr>
                                      <p:to>
                                        <p:strVal val="visible"/>
                                      </p:to>
                                    </p:set>
                                    <p:animEffect transition="in" filter="fade">
                                      <p:cBhvr>
                                        <p:cTn id="28" dur="500"/>
                                        <p:tgtEl>
                                          <p:spTgt spid="9"/>
                                        </p:tgtEl>
                                      </p:cBhvr>
                                    </p:animEffect>
                                  </p:childTnLst>
                                </p:cTn>
                              </p:par>
                              <p:par>
                                <p:cTn id="29" presetID="10" presetClass="entr" presetSubtype="0" fill="hold" grpId="0" nodeType="withEffect">
                                  <p:stCondLst>
                                    <p:cond delay="180"/>
                                  </p:stCondLst>
                                  <p:childTnLst>
                                    <p:set>
                                      <p:cBhvr>
                                        <p:cTn id="30" dur="1" fill="hold">
                                          <p:stCondLst>
                                            <p:cond delay="0"/>
                                          </p:stCondLst>
                                        </p:cTn>
                                        <p:tgtEl>
                                          <p:spTgt spid="10"/>
                                        </p:tgtEl>
                                        <p:attrNameLst>
                                          <p:attrName>style.visibility</p:attrName>
                                        </p:attrNameLst>
                                      </p:cBhvr>
                                      <p:to>
                                        <p:strVal val="visible"/>
                                      </p:to>
                                    </p:set>
                                    <p:animEffect transition="in" filter="fade">
                                      <p:cBhvr>
                                        <p:cTn id="31" dur="500"/>
                                        <p:tgtEl>
                                          <p:spTgt spid="10"/>
                                        </p:tgtEl>
                                      </p:cBhvr>
                                    </p:animEffect>
                                  </p:childTnLst>
                                </p:cTn>
                              </p:par>
                              <p:par>
                                <p:cTn id="32" presetID="10" presetClass="entr" presetSubtype="0" fill="hold" grpId="0" nodeType="withEffect">
                                  <p:stCondLst>
                                    <p:cond delay="360"/>
                                  </p:stCondLst>
                                  <p:childTnLst>
                                    <p:set>
                                      <p:cBhvr>
                                        <p:cTn id="33" dur="1" fill="hold">
                                          <p:stCondLst>
                                            <p:cond delay="0"/>
                                          </p:stCondLst>
                                        </p:cTn>
                                        <p:tgtEl>
                                          <p:spTgt spid="11"/>
                                        </p:tgtEl>
                                        <p:attrNameLst>
                                          <p:attrName>style.visibility</p:attrName>
                                        </p:attrNameLst>
                                      </p:cBhvr>
                                      <p:to>
                                        <p:strVal val="visible"/>
                                      </p:to>
                                    </p:set>
                                    <p:animEffect transition="in" filter="fade">
                                      <p:cBhvr>
                                        <p:cTn id="34" dur="500"/>
                                        <p:tgtEl>
                                          <p:spTgt spid="11"/>
                                        </p:tgtEl>
                                      </p:cBhvr>
                                    </p:animEffect>
                                  </p:childTnLst>
                                </p:cTn>
                              </p:par>
                              <p:par>
                                <p:cTn id="35" presetID="10" presetClass="entr" presetSubtype="0" fill="hold" grpId="0" nodeType="withEffect">
                                  <p:stCondLst>
                                    <p:cond delay="360"/>
                                  </p:stCondLst>
                                  <p:childTnLst>
                                    <p:set>
                                      <p:cBhvr>
                                        <p:cTn id="36" dur="1" fill="hold">
                                          <p:stCondLst>
                                            <p:cond delay="0"/>
                                          </p:stCondLst>
                                        </p:cTn>
                                        <p:tgtEl>
                                          <p:spTgt spid="12"/>
                                        </p:tgtEl>
                                        <p:attrNameLst>
                                          <p:attrName>style.visibility</p:attrName>
                                        </p:attrNameLst>
                                      </p:cBhvr>
                                      <p:to>
                                        <p:strVal val="visible"/>
                                      </p:to>
                                    </p:set>
                                    <p:animEffect transition="in" filter="fade">
                                      <p:cBhvr>
                                        <p:cTn id="37" dur="500"/>
                                        <p:tgtEl>
                                          <p:spTgt spid="12"/>
                                        </p:tgtEl>
                                      </p:cBhvr>
                                    </p:animEffect>
                                  </p:childTnLst>
                                </p:cTn>
                              </p:par>
                              <p:par>
                                <p:cTn id="38" presetID="10" presetClass="entr" presetSubtype="0" fill="hold" grpId="0" nodeType="withEffect">
                                  <p:stCondLst>
                                    <p:cond delay="360"/>
                                  </p:stCondLst>
                                  <p:childTnLst>
                                    <p:set>
                                      <p:cBhvr>
                                        <p:cTn id="39" dur="1" fill="hold">
                                          <p:stCondLst>
                                            <p:cond delay="0"/>
                                          </p:stCondLst>
                                        </p:cTn>
                                        <p:tgtEl>
                                          <p:spTgt spid="13"/>
                                        </p:tgtEl>
                                        <p:attrNameLst>
                                          <p:attrName>style.visibility</p:attrName>
                                        </p:attrNameLst>
                                      </p:cBhvr>
                                      <p:to>
                                        <p:strVal val="visible"/>
                                      </p:to>
                                    </p:set>
                                    <p:animEffect transition="in" filter="fade">
                                      <p:cBhvr>
                                        <p:cTn id="40" dur="500"/>
                                        <p:tgtEl>
                                          <p:spTgt spid="13"/>
                                        </p:tgtEl>
                                      </p:cBhvr>
                                    </p:animEffect>
                                  </p:childTnLst>
                                </p:cTn>
                              </p:par>
                              <p:par>
                                <p:cTn id="41" presetID="10" presetClass="entr" presetSubtype="0" fill="hold" grpId="0" nodeType="withEffect">
                                  <p:stCondLst>
                                    <p:cond delay="360"/>
                                  </p:stCondLst>
                                  <p:childTnLst>
                                    <p:set>
                                      <p:cBhvr>
                                        <p:cTn id="42" dur="1" fill="hold">
                                          <p:stCondLst>
                                            <p:cond delay="0"/>
                                          </p:stCondLst>
                                        </p:cTn>
                                        <p:tgtEl>
                                          <p:spTgt spid="14"/>
                                        </p:tgtEl>
                                        <p:attrNameLst>
                                          <p:attrName>style.visibility</p:attrName>
                                        </p:attrNameLst>
                                      </p:cBhvr>
                                      <p:to>
                                        <p:strVal val="visible"/>
                                      </p:to>
                                    </p:set>
                                    <p:animEffect transition="in" filter="fade">
                                      <p:cBhvr>
                                        <p:cTn id="43" dur="500"/>
                                        <p:tgtEl>
                                          <p:spTgt spid="14"/>
                                        </p:tgtEl>
                                      </p:cBhvr>
                                    </p:animEffect>
                                  </p:childTnLst>
                                </p:cTn>
                              </p:par>
                              <p:par>
                                <p:cTn id="44" presetID="10" presetClass="entr" presetSubtype="0" fill="hold" grpId="0" nodeType="withEffect">
                                  <p:stCondLst>
                                    <p:cond delay="360"/>
                                  </p:stCondLst>
                                  <p:childTnLst>
                                    <p:set>
                                      <p:cBhvr>
                                        <p:cTn id="45" dur="1" fill="hold">
                                          <p:stCondLst>
                                            <p:cond delay="0"/>
                                          </p:stCondLst>
                                        </p:cTn>
                                        <p:tgtEl>
                                          <p:spTgt spid="15"/>
                                        </p:tgtEl>
                                        <p:attrNameLst>
                                          <p:attrName>style.visibility</p:attrName>
                                        </p:attrNameLst>
                                      </p:cBhvr>
                                      <p:to>
                                        <p:strVal val="visible"/>
                                      </p:to>
                                    </p:set>
                                    <p:animEffect transition="in" filter="fade">
                                      <p:cBhvr>
                                        <p:cTn id="46" dur="500"/>
                                        <p:tgtEl>
                                          <p:spTgt spid="15"/>
                                        </p:tgtEl>
                                      </p:cBhvr>
                                    </p:animEffect>
                                  </p:childTnLst>
                                </p:cTn>
                              </p:par>
                              <p:par>
                                <p:cTn id="47" presetID="10" presetClass="entr" presetSubtype="0" fill="hold" grpId="0" nodeType="withEffect">
                                  <p:stCondLst>
                                    <p:cond delay="360"/>
                                  </p:stCondLst>
                                  <p:childTnLst>
                                    <p:set>
                                      <p:cBhvr>
                                        <p:cTn id="48" dur="1" fill="hold">
                                          <p:stCondLst>
                                            <p:cond delay="0"/>
                                          </p:stCondLst>
                                        </p:cTn>
                                        <p:tgtEl>
                                          <p:spTgt spid="16"/>
                                        </p:tgtEl>
                                        <p:attrNameLst>
                                          <p:attrName>style.visibility</p:attrName>
                                        </p:attrNameLst>
                                      </p:cBhvr>
                                      <p:to>
                                        <p:strVal val="visible"/>
                                      </p:to>
                                    </p:set>
                                    <p:animEffect transition="in" filter="fade">
                                      <p:cBhvr>
                                        <p:cTn id="49" dur="500"/>
                                        <p:tgtEl>
                                          <p:spTgt spid="16"/>
                                        </p:tgtEl>
                                      </p:cBhvr>
                                    </p:animEffect>
                                  </p:childTnLst>
                                </p:cTn>
                              </p:par>
                              <p:par>
                                <p:cTn id="50" presetID="10" presetClass="entr" presetSubtype="0" fill="hold" grpId="0" nodeType="withEffect">
                                  <p:stCondLst>
                                    <p:cond delay="540"/>
                                  </p:stCondLst>
                                  <p:childTnLst>
                                    <p:set>
                                      <p:cBhvr>
                                        <p:cTn id="51" dur="1" fill="hold">
                                          <p:stCondLst>
                                            <p:cond delay="0"/>
                                          </p:stCondLst>
                                        </p:cTn>
                                        <p:tgtEl>
                                          <p:spTgt spid="17"/>
                                        </p:tgtEl>
                                        <p:attrNameLst>
                                          <p:attrName>style.visibility</p:attrName>
                                        </p:attrNameLst>
                                      </p:cBhvr>
                                      <p:to>
                                        <p:strVal val="visible"/>
                                      </p:to>
                                    </p:set>
                                    <p:animEffect transition="in" filter="fade">
                                      <p:cBhvr>
                                        <p:cTn id="52" dur="500"/>
                                        <p:tgtEl>
                                          <p:spTgt spid="17"/>
                                        </p:tgtEl>
                                      </p:cBhvr>
                                    </p:animEffect>
                                  </p:childTnLst>
                                </p:cTn>
                              </p:par>
                              <p:par>
                                <p:cTn id="53" presetID="10" presetClass="entr" presetSubtype="0" fill="hold" grpId="0" nodeType="withEffect">
                                  <p:stCondLst>
                                    <p:cond delay="540"/>
                                  </p:stCondLst>
                                  <p:childTnLst>
                                    <p:set>
                                      <p:cBhvr>
                                        <p:cTn id="54" dur="1" fill="hold">
                                          <p:stCondLst>
                                            <p:cond delay="0"/>
                                          </p:stCondLst>
                                        </p:cTn>
                                        <p:tgtEl>
                                          <p:spTgt spid="18"/>
                                        </p:tgtEl>
                                        <p:attrNameLst>
                                          <p:attrName>style.visibility</p:attrName>
                                        </p:attrNameLst>
                                      </p:cBhvr>
                                      <p:to>
                                        <p:strVal val="visible"/>
                                      </p:to>
                                    </p:set>
                                    <p:animEffect transition="in" filter="fade">
                                      <p:cBhvr>
                                        <p:cTn id="55" dur="500"/>
                                        <p:tgtEl>
                                          <p:spTgt spid="18"/>
                                        </p:tgtEl>
                                      </p:cBhvr>
                                    </p:animEffect>
                                  </p:childTnLst>
                                </p:cTn>
                              </p:par>
                              <p:par>
                                <p:cTn id="56" presetID="10" presetClass="entr" presetSubtype="0" fill="hold" grpId="0" nodeType="withEffect">
                                  <p:stCondLst>
                                    <p:cond delay="540"/>
                                  </p:stCondLst>
                                  <p:childTnLst>
                                    <p:set>
                                      <p:cBhvr>
                                        <p:cTn id="57" dur="1" fill="hold">
                                          <p:stCondLst>
                                            <p:cond delay="0"/>
                                          </p:stCondLst>
                                        </p:cTn>
                                        <p:tgtEl>
                                          <p:spTgt spid="19"/>
                                        </p:tgtEl>
                                        <p:attrNameLst>
                                          <p:attrName>style.visibility</p:attrName>
                                        </p:attrNameLst>
                                      </p:cBhvr>
                                      <p:to>
                                        <p:strVal val="visible"/>
                                      </p:to>
                                    </p:set>
                                    <p:animEffect transition="in" filter="fade">
                                      <p:cBhvr>
                                        <p:cTn id="58" dur="500"/>
                                        <p:tgtEl>
                                          <p:spTgt spid="19"/>
                                        </p:tgtEl>
                                      </p:cBhvr>
                                    </p:animEffect>
                                  </p:childTnLst>
                                </p:cTn>
                              </p:par>
                              <p:par>
                                <p:cTn id="59" presetID="10" presetClass="entr" presetSubtype="0" fill="hold" grpId="0" nodeType="withEffect">
                                  <p:stCondLst>
                                    <p:cond delay="540"/>
                                  </p:stCondLst>
                                  <p:childTnLst>
                                    <p:set>
                                      <p:cBhvr>
                                        <p:cTn id="60" dur="1" fill="hold">
                                          <p:stCondLst>
                                            <p:cond delay="0"/>
                                          </p:stCondLst>
                                        </p:cTn>
                                        <p:tgtEl>
                                          <p:spTgt spid="20"/>
                                        </p:tgtEl>
                                        <p:attrNameLst>
                                          <p:attrName>style.visibility</p:attrName>
                                        </p:attrNameLst>
                                      </p:cBhvr>
                                      <p:to>
                                        <p:strVal val="visible"/>
                                      </p:to>
                                    </p:set>
                                    <p:animEffect transition="in" filter="fade">
                                      <p:cBhvr>
                                        <p:cTn id="61" dur="500"/>
                                        <p:tgtEl>
                                          <p:spTgt spid="20"/>
                                        </p:tgtEl>
                                      </p:cBhvr>
                                    </p:animEffect>
                                  </p:childTnLst>
                                </p:cTn>
                              </p:par>
                              <p:par>
                                <p:cTn id="62" presetID="10" presetClass="entr" presetSubtype="0" fill="hold" grpId="0" nodeType="withEffect">
                                  <p:stCondLst>
                                    <p:cond delay="540"/>
                                  </p:stCondLst>
                                  <p:childTnLst>
                                    <p:set>
                                      <p:cBhvr>
                                        <p:cTn id="63" dur="1" fill="hold">
                                          <p:stCondLst>
                                            <p:cond delay="0"/>
                                          </p:stCondLst>
                                        </p:cTn>
                                        <p:tgtEl>
                                          <p:spTgt spid="21"/>
                                        </p:tgtEl>
                                        <p:attrNameLst>
                                          <p:attrName>style.visibility</p:attrName>
                                        </p:attrNameLst>
                                      </p:cBhvr>
                                      <p:to>
                                        <p:strVal val="visible"/>
                                      </p:to>
                                    </p:set>
                                    <p:animEffect transition="in" filter="fade">
                                      <p:cBhvr>
                                        <p:cTn id="64" dur="500"/>
                                        <p:tgtEl>
                                          <p:spTgt spid="21"/>
                                        </p:tgtEl>
                                      </p:cBhvr>
                                    </p:animEffect>
                                  </p:childTnLst>
                                </p:cTn>
                              </p:par>
                              <p:par>
                                <p:cTn id="65" presetID="10" presetClass="entr" presetSubtype="0" fill="hold" grpId="0" nodeType="withEffect">
                                  <p:stCondLst>
                                    <p:cond delay="540"/>
                                  </p:stCondLst>
                                  <p:childTnLst>
                                    <p:set>
                                      <p:cBhvr>
                                        <p:cTn id="66" dur="1" fill="hold">
                                          <p:stCondLst>
                                            <p:cond delay="0"/>
                                          </p:stCondLst>
                                        </p:cTn>
                                        <p:tgtEl>
                                          <p:spTgt spid="22"/>
                                        </p:tgtEl>
                                        <p:attrNameLst>
                                          <p:attrName>style.visibility</p:attrName>
                                        </p:attrNameLst>
                                      </p:cBhvr>
                                      <p:to>
                                        <p:strVal val="visible"/>
                                      </p:to>
                                    </p:set>
                                    <p:animEffect transition="in" filter="fade">
                                      <p:cBhvr>
                                        <p:cTn id="67" dur="500"/>
                                        <p:tgtEl>
                                          <p:spTgt spid="22"/>
                                        </p:tgtEl>
                                      </p:cBhvr>
                                    </p:animEffect>
                                  </p:childTnLst>
                                </p:cTn>
                              </p:par>
                              <p:par>
                                <p:cTn id="68" presetID="10" presetClass="entr" presetSubtype="0" fill="hold" grpId="0" nodeType="withEffect">
                                  <p:stCondLst>
                                    <p:cond delay="720"/>
                                  </p:stCondLst>
                                  <p:childTnLst>
                                    <p:set>
                                      <p:cBhvr>
                                        <p:cTn id="69" dur="1" fill="hold">
                                          <p:stCondLst>
                                            <p:cond delay="0"/>
                                          </p:stCondLst>
                                        </p:cTn>
                                        <p:tgtEl>
                                          <p:spTgt spid="23"/>
                                        </p:tgtEl>
                                        <p:attrNameLst>
                                          <p:attrName>style.visibility</p:attrName>
                                        </p:attrNameLst>
                                      </p:cBhvr>
                                      <p:to>
                                        <p:strVal val="visible"/>
                                      </p:to>
                                    </p:set>
                                    <p:animEffect transition="in" filter="fade">
                                      <p:cBhvr>
                                        <p:cTn id="70" dur="500"/>
                                        <p:tgtEl>
                                          <p:spTgt spid="23"/>
                                        </p:tgtEl>
                                      </p:cBhvr>
                                    </p:animEffect>
                                  </p:childTnLst>
                                </p:cTn>
                              </p:par>
                              <p:par>
                                <p:cTn id="71" presetID="10" presetClass="entr" presetSubtype="0" fill="hold" grpId="0" nodeType="withEffect">
                                  <p:stCondLst>
                                    <p:cond delay="720"/>
                                  </p:stCondLst>
                                  <p:childTnLst>
                                    <p:set>
                                      <p:cBhvr>
                                        <p:cTn id="72" dur="1" fill="hold">
                                          <p:stCondLst>
                                            <p:cond delay="0"/>
                                          </p:stCondLst>
                                        </p:cTn>
                                        <p:tgtEl>
                                          <p:spTgt spid="24"/>
                                        </p:tgtEl>
                                        <p:attrNameLst>
                                          <p:attrName>style.visibility</p:attrName>
                                        </p:attrNameLst>
                                      </p:cBhvr>
                                      <p:to>
                                        <p:strVal val="visible"/>
                                      </p:to>
                                    </p:set>
                                    <p:animEffect transition="in" filter="fade">
                                      <p:cBhvr>
                                        <p:cTn id="73" dur="500"/>
                                        <p:tgtEl>
                                          <p:spTgt spid="24"/>
                                        </p:tgtEl>
                                      </p:cBhvr>
                                    </p:animEffect>
                                  </p:childTnLst>
                                </p:cTn>
                              </p:par>
                              <p:par>
                                <p:cTn id="74" presetID="10" presetClass="entr" presetSubtype="0" fill="hold" grpId="0" nodeType="withEffect">
                                  <p:stCondLst>
                                    <p:cond delay="720"/>
                                  </p:stCondLst>
                                  <p:childTnLst>
                                    <p:set>
                                      <p:cBhvr>
                                        <p:cTn id="75" dur="1" fill="hold">
                                          <p:stCondLst>
                                            <p:cond delay="0"/>
                                          </p:stCondLst>
                                        </p:cTn>
                                        <p:tgtEl>
                                          <p:spTgt spid="25"/>
                                        </p:tgtEl>
                                        <p:attrNameLst>
                                          <p:attrName>style.visibility</p:attrName>
                                        </p:attrNameLst>
                                      </p:cBhvr>
                                      <p:to>
                                        <p:strVal val="visible"/>
                                      </p:to>
                                    </p:set>
                                    <p:animEffect transition="in" filter="fade">
                                      <p:cBhvr>
                                        <p:cTn id="76" dur="500"/>
                                        <p:tgtEl>
                                          <p:spTgt spid="25"/>
                                        </p:tgtEl>
                                      </p:cBhvr>
                                    </p:animEffect>
                                  </p:childTnLst>
                                </p:cTn>
                              </p:par>
                              <p:par>
                                <p:cTn id="77" presetID="10" presetClass="entr" presetSubtype="0" fill="hold" grpId="0" nodeType="withEffect">
                                  <p:stCondLst>
                                    <p:cond delay="720"/>
                                  </p:stCondLst>
                                  <p:childTnLst>
                                    <p:set>
                                      <p:cBhvr>
                                        <p:cTn id="78" dur="1" fill="hold">
                                          <p:stCondLst>
                                            <p:cond delay="0"/>
                                          </p:stCondLst>
                                        </p:cTn>
                                        <p:tgtEl>
                                          <p:spTgt spid="26"/>
                                        </p:tgtEl>
                                        <p:attrNameLst>
                                          <p:attrName>style.visibility</p:attrName>
                                        </p:attrNameLst>
                                      </p:cBhvr>
                                      <p:to>
                                        <p:strVal val="visible"/>
                                      </p:to>
                                    </p:set>
                                    <p:animEffect transition="in" filter="fade">
                                      <p:cBhvr>
                                        <p:cTn id="79" dur="500"/>
                                        <p:tgtEl>
                                          <p:spTgt spid="26"/>
                                        </p:tgtEl>
                                      </p:cBhvr>
                                    </p:animEffect>
                                  </p:childTnLst>
                                </p:cTn>
                              </p:par>
                              <p:par>
                                <p:cTn id="80" presetID="10" presetClass="entr" presetSubtype="0" fill="hold" grpId="0" nodeType="withEffect">
                                  <p:stCondLst>
                                    <p:cond delay="720"/>
                                  </p:stCondLst>
                                  <p:childTnLst>
                                    <p:set>
                                      <p:cBhvr>
                                        <p:cTn id="81" dur="1" fill="hold">
                                          <p:stCondLst>
                                            <p:cond delay="0"/>
                                          </p:stCondLst>
                                        </p:cTn>
                                        <p:tgtEl>
                                          <p:spTgt spid="27"/>
                                        </p:tgtEl>
                                        <p:attrNameLst>
                                          <p:attrName>style.visibility</p:attrName>
                                        </p:attrNameLst>
                                      </p:cBhvr>
                                      <p:to>
                                        <p:strVal val="visible"/>
                                      </p:to>
                                    </p:set>
                                    <p:animEffect transition="in" filter="fade">
                                      <p:cBhvr>
                                        <p:cTn id="82" dur="500"/>
                                        <p:tgtEl>
                                          <p:spTgt spid="27"/>
                                        </p:tgtEl>
                                      </p:cBhvr>
                                    </p:animEffect>
                                  </p:childTnLst>
                                </p:cTn>
                              </p:par>
                              <p:par>
                                <p:cTn id="83" presetID="10" presetClass="entr" presetSubtype="0" fill="hold" grpId="0" nodeType="withEffect">
                                  <p:stCondLst>
                                    <p:cond delay="900"/>
                                  </p:stCondLst>
                                  <p:childTnLst>
                                    <p:set>
                                      <p:cBhvr>
                                        <p:cTn id="84" dur="1" fill="hold">
                                          <p:stCondLst>
                                            <p:cond delay="0"/>
                                          </p:stCondLst>
                                        </p:cTn>
                                        <p:tgtEl>
                                          <p:spTgt spid="28"/>
                                        </p:tgtEl>
                                        <p:attrNameLst>
                                          <p:attrName>style.visibility</p:attrName>
                                        </p:attrNameLst>
                                      </p:cBhvr>
                                      <p:to>
                                        <p:strVal val="visible"/>
                                      </p:to>
                                    </p:set>
                                    <p:animEffect transition="in" filter="fade">
                                      <p:cBhvr>
                                        <p:cTn id="85" dur="500"/>
                                        <p:tgtEl>
                                          <p:spTgt spid="28"/>
                                        </p:tgtEl>
                                      </p:cBhvr>
                                    </p:animEffect>
                                  </p:childTnLst>
                                </p:cTn>
                              </p:par>
                              <p:par>
                                <p:cTn id="86" presetID="10" presetClass="entr" presetSubtype="0" fill="hold" grpId="0" nodeType="withEffect">
                                  <p:stCondLst>
                                    <p:cond delay="900"/>
                                  </p:stCondLst>
                                  <p:childTnLst>
                                    <p:set>
                                      <p:cBhvr>
                                        <p:cTn id="87" dur="1" fill="hold">
                                          <p:stCondLst>
                                            <p:cond delay="0"/>
                                          </p:stCondLst>
                                        </p:cTn>
                                        <p:tgtEl>
                                          <p:spTgt spid="29"/>
                                        </p:tgtEl>
                                        <p:attrNameLst>
                                          <p:attrName>style.visibility</p:attrName>
                                        </p:attrNameLst>
                                      </p:cBhvr>
                                      <p:to>
                                        <p:strVal val="visible"/>
                                      </p:to>
                                    </p:set>
                                    <p:animEffect transition="in" filter="fade">
                                      <p:cBhvr>
                                        <p:cTn id="88" dur="500"/>
                                        <p:tgtEl>
                                          <p:spTgt spid="29"/>
                                        </p:tgtEl>
                                      </p:cBhvr>
                                    </p:animEffect>
                                  </p:childTnLst>
                                </p:cTn>
                              </p:par>
                              <p:par>
                                <p:cTn id="89" presetID="10" presetClass="entr" presetSubtype="0" fill="hold" grpId="0" nodeType="withEffect">
                                  <p:stCondLst>
                                    <p:cond delay="900"/>
                                  </p:stCondLst>
                                  <p:childTnLst>
                                    <p:set>
                                      <p:cBhvr>
                                        <p:cTn id="90" dur="1" fill="hold">
                                          <p:stCondLst>
                                            <p:cond delay="0"/>
                                          </p:stCondLst>
                                        </p:cTn>
                                        <p:tgtEl>
                                          <p:spTgt spid="30"/>
                                        </p:tgtEl>
                                        <p:attrNameLst>
                                          <p:attrName>style.visibility</p:attrName>
                                        </p:attrNameLst>
                                      </p:cBhvr>
                                      <p:to>
                                        <p:strVal val="visible"/>
                                      </p:to>
                                    </p:set>
                                    <p:animEffect transition="in" filter="fade">
                                      <p:cBhvr>
                                        <p:cTn id="91" dur="500"/>
                                        <p:tgtEl>
                                          <p:spTgt spid="30"/>
                                        </p:tgtEl>
                                      </p:cBhvr>
                                    </p:animEffect>
                                  </p:childTnLst>
                                </p:cTn>
                              </p:par>
                              <p:par>
                                <p:cTn id="92" presetID="10" presetClass="entr" presetSubtype="0" fill="hold" grpId="0" nodeType="withEffect">
                                  <p:stCondLst>
                                    <p:cond delay="900"/>
                                  </p:stCondLst>
                                  <p:childTnLst>
                                    <p:set>
                                      <p:cBhvr>
                                        <p:cTn id="93" dur="1" fill="hold">
                                          <p:stCondLst>
                                            <p:cond delay="0"/>
                                          </p:stCondLst>
                                        </p:cTn>
                                        <p:tgtEl>
                                          <p:spTgt spid="31"/>
                                        </p:tgtEl>
                                        <p:attrNameLst>
                                          <p:attrName>style.visibility</p:attrName>
                                        </p:attrNameLst>
                                      </p:cBhvr>
                                      <p:to>
                                        <p:strVal val="visible"/>
                                      </p:to>
                                    </p:set>
                                    <p:animEffect transition="in" filter="fade">
                                      <p:cBhvr>
                                        <p:cTn id="94" dur="500"/>
                                        <p:tgtEl>
                                          <p:spTgt spid="31"/>
                                        </p:tgtEl>
                                      </p:cBhvr>
                                    </p:animEffect>
                                  </p:childTnLst>
                                </p:cTn>
                              </p:par>
                              <p:par>
                                <p:cTn id="95" presetID="10" presetClass="entr" presetSubtype="0" fill="hold" grpId="0" nodeType="withEffect">
                                  <p:stCondLst>
                                    <p:cond delay="900"/>
                                  </p:stCondLst>
                                  <p:childTnLst>
                                    <p:set>
                                      <p:cBhvr>
                                        <p:cTn id="96" dur="1" fill="hold">
                                          <p:stCondLst>
                                            <p:cond delay="0"/>
                                          </p:stCondLst>
                                        </p:cTn>
                                        <p:tgtEl>
                                          <p:spTgt spid="32"/>
                                        </p:tgtEl>
                                        <p:attrNameLst>
                                          <p:attrName>style.visibility</p:attrName>
                                        </p:attrNameLst>
                                      </p:cBhvr>
                                      <p:to>
                                        <p:strVal val="visible"/>
                                      </p:to>
                                    </p:set>
                                    <p:animEffect transition="in" filter="fade">
                                      <p:cBhvr>
                                        <p:cTn id="97" dur="500"/>
                                        <p:tgtEl>
                                          <p:spTgt spid="32"/>
                                        </p:tgtEl>
                                      </p:cBhvr>
                                    </p:animEffect>
                                  </p:childTnLst>
                                </p:cTn>
                              </p:par>
                              <p:par>
                                <p:cTn id="98" presetID="10" presetClass="entr" presetSubtype="0" fill="hold" grpId="0" nodeType="withEffect">
                                  <p:stCondLst>
                                    <p:cond delay="1080"/>
                                  </p:stCondLst>
                                  <p:childTnLst>
                                    <p:set>
                                      <p:cBhvr>
                                        <p:cTn id="99" dur="1" fill="hold">
                                          <p:stCondLst>
                                            <p:cond delay="0"/>
                                          </p:stCondLst>
                                        </p:cTn>
                                        <p:tgtEl>
                                          <p:spTgt spid="33"/>
                                        </p:tgtEl>
                                        <p:attrNameLst>
                                          <p:attrName>style.visibility</p:attrName>
                                        </p:attrNameLst>
                                      </p:cBhvr>
                                      <p:to>
                                        <p:strVal val="visible"/>
                                      </p:to>
                                    </p:set>
                                    <p:animEffect transition="in" filter="fade">
                                      <p:cBhvr>
                                        <p:cTn id="100" dur="500"/>
                                        <p:tgtEl>
                                          <p:spTgt spid="33"/>
                                        </p:tgtEl>
                                      </p:cBhvr>
                                    </p:animEffect>
                                  </p:childTnLst>
                                </p:cTn>
                              </p:par>
                              <p:par>
                                <p:cTn id="101" presetID="10" presetClass="entr" presetSubtype="0" fill="hold" grpId="0" nodeType="withEffect">
                                  <p:stCondLst>
                                    <p:cond delay="1260"/>
                                  </p:stCondLst>
                                  <p:childTnLst>
                                    <p:set>
                                      <p:cBhvr>
                                        <p:cTn id="102" dur="1" fill="hold">
                                          <p:stCondLst>
                                            <p:cond delay="0"/>
                                          </p:stCondLst>
                                        </p:cTn>
                                        <p:tgtEl>
                                          <p:spTgt spid="34"/>
                                        </p:tgtEl>
                                        <p:attrNameLst>
                                          <p:attrName>style.visibility</p:attrName>
                                        </p:attrNameLst>
                                      </p:cBhvr>
                                      <p:to>
                                        <p:strVal val="visible"/>
                                      </p:to>
                                    </p:set>
                                    <p:animEffect transition="in" filter="fade">
                                      <p:cBhvr>
                                        <p:cTn id="103" dur="500"/>
                                        <p:tgtEl>
                                          <p:spTgt spid="34"/>
                                        </p:tgtEl>
                                      </p:cBhvr>
                                    </p:animEffect>
                                  </p:childTnLst>
                                </p:cTn>
                              </p:par>
                              <p:par>
                                <p:cTn id="104" presetID="10" presetClass="entr" presetSubtype="0" fill="hold" grpId="0" nodeType="withEffect">
                                  <p:stCondLst>
                                    <p:cond delay="1260"/>
                                  </p:stCondLst>
                                  <p:childTnLst>
                                    <p:set>
                                      <p:cBhvr>
                                        <p:cTn id="105" dur="1" fill="hold">
                                          <p:stCondLst>
                                            <p:cond delay="0"/>
                                          </p:stCondLst>
                                        </p:cTn>
                                        <p:tgtEl>
                                          <p:spTgt spid="35"/>
                                        </p:tgtEl>
                                        <p:attrNameLst>
                                          <p:attrName>style.visibility</p:attrName>
                                        </p:attrNameLst>
                                      </p:cBhvr>
                                      <p:to>
                                        <p:strVal val="visible"/>
                                      </p:to>
                                    </p:set>
                                    <p:animEffect transition="in" filter="fade">
                                      <p:cBhvr>
                                        <p:cTn id="106" dur="500"/>
                                        <p:tgtEl>
                                          <p:spTgt spid="35"/>
                                        </p:tgtEl>
                                      </p:cBhvr>
                                    </p:animEffect>
                                  </p:childTnLst>
                                </p:cTn>
                              </p:par>
                              <p:par>
                                <p:cTn id="107" presetID="10" presetClass="entr" presetSubtype="0" fill="hold" grpId="0" nodeType="withEffect">
                                  <p:stCondLst>
                                    <p:cond delay="1260"/>
                                  </p:stCondLst>
                                  <p:childTnLst>
                                    <p:set>
                                      <p:cBhvr>
                                        <p:cTn id="108" dur="1" fill="hold">
                                          <p:stCondLst>
                                            <p:cond delay="0"/>
                                          </p:stCondLst>
                                        </p:cTn>
                                        <p:tgtEl>
                                          <p:spTgt spid="36"/>
                                        </p:tgtEl>
                                        <p:attrNameLst>
                                          <p:attrName>style.visibility</p:attrName>
                                        </p:attrNameLst>
                                      </p:cBhvr>
                                      <p:to>
                                        <p:strVal val="visible"/>
                                      </p:to>
                                    </p:set>
                                    <p:animEffect transition="in" filter="fade">
                                      <p:cBhvr>
                                        <p:cTn id="109" dur="500"/>
                                        <p:tgtEl>
                                          <p:spTgt spid="36"/>
                                        </p:tgtEl>
                                      </p:cBhvr>
                                    </p:animEffect>
                                  </p:childTnLst>
                                </p:cTn>
                              </p:par>
                              <p:par>
                                <p:cTn id="110" presetID="10" presetClass="entr" presetSubtype="0" fill="hold" grpId="0" nodeType="withEffect">
                                  <p:stCondLst>
                                    <p:cond delay="1260"/>
                                  </p:stCondLst>
                                  <p:childTnLst>
                                    <p:set>
                                      <p:cBhvr>
                                        <p:cTn id="111" dur="1" fill="hold">
                                          <p:stCondLst>
                                            <p:cond delay="0"/>
                                          </p:stCondLst>
                                        </p:cTn>
                                        <p:tgtEl>
                                          <p:spTgt spid="37"/>
                                        </p:tgtEl>
                                        <p:attrNameLst>
                                          <p:attrName>style.visibility</p:attrName>
                                        </p:attrNameLst>
                                      </p:cBhvr>
                                      <p:to>
                                        <p:strVal val="visible"/>
                                      </p:to>
                                    </p:set>
                                    <p:animEffect transition="in" filter="fade">
                                      <p:cBhvr>
                                        <p:cTn id="112" dur="500"/>
                                        <p:tgtEl>
                                          <p:spTgt spid="37"/>
                                        </p:tgtEl>
                                      </p:cBhvr>
                                    </p:animEffect>
                                  </p:childTnLst>
                                </p:cTn>
                              </p:par>
                              <p:par>
                                <p:cTn id="113" presetID="10" presetClass="entr" presetSubtype="0" fill="hold" grpId="0" nodeType="withEffect">
                                  <p:stCondLst>
                                    <p:cond delay="1260"/>
                                  </p:stCondLst>
                                  <p:childTnLst>
                                    <p:set>
                                      <p:cBhvr>
                                        <p:cTn id="114" dur="1" fill="hold">
                                          <p:stCondLst>
                                            <p:cond delay="0"/>
                                          </p:stCondLst>
                                        </p:cTn>
                                        <p:tgtEl>
                                          <p:spTgt spid="38"/>
                                        </p:tgtEl>
                                        <p:attrNameLst>
                                          <p:attrName>style.visibility</p:attrName>
                                        </p:attrNameLst>
                                      </p:cBhvr>
                                      <p:to>
                                        <p:strVal val="visible"/>
                                      </p:to>
                                    </p:set>
                                    <p:animEffect transition="in" filter="fade">
                                      <p:cBhvr>
                                        <p:cTn id="115" dur="500"/>
                                        <p:tgtEl>
                                          <p:spTgt spid="38"/>
                                        </p:tgtEl>
                                      </p:cBhvr>
                                    </p:animEffect>
                                  </p:childTnLst>
                                </p:cTn>
                              </p:par>
                              <p:par>
                                <p:cTn id="116" presetID="10" presetClass="entr" presetSubtype="0" fill="hold" grpId="0" nodeType="withEffect">
                                  <p:stCondLst>
                                    <p:cond delay="1260"/>
                                  </p:stCondLst>
                                  <p:childTnLst>
                                    <p:set>
                                      <p:cBhvr>
                                        <p:cTn id="117" dur="1" fill="hold">
                                          <p:stCondLst>
                                            <p:cond delay="0"/>
                                          </p:stCondLst>
                                        </p:cTn>
                                        <p:tgtEl>
                                          <p:spTgt spid="39"/>
                                        </p:tgtEl>
                                        <p:attrNameLst>
                                          <p:attrName>style.visibility</p:attrName>
                                        </p:attrNameLst>
                                      </p:cBhvr>
                                      <p:to>
                                        <p:strVal val="visible"/>
                                      </p:to>
                                    </p:set>
                                    <p:animEffect transition="in" filter="fade">
                                      <p:cBhvr>
                                        <p:cTn id="118" dur="500"/>
                                        <p:tgtEl>
                                          <p:spTgt spid="39"/>
                                        </p:tgtEl>
                                      </p:cBhvr>
                                    </p:animEffect>
                                  </p:childTnLst>
                                </p:cTn>
                              </p:par>
                              <p:par>
                                <p:cTn id="119" presetID="10" presetClass="entr" presetSubtype="0" fill="hold" grpId="0" nodeType="withEffect">
                                  <p:stCondLst>
                                    <p:cond delay="1260"/>
                                  </p:stCondLst>
                                  <p:childTnLst>
                                    <p:set>
                                      <p:cBhvr>
                                        <p:cTn id="120" dur="1" fill="hold">
                                          <p:stCondLst>
                                            <p:cond delay="0"/>
                                          </p:stCondLst>
                                        </p:cTn>
                                        <p:tgtEl>
                                          <p:spTgt spid="40"/>
                                        </p:tgtEl>
                                        <p:attrNameLst>
                                          <p:attrName>style.visibility</p:attrName>
                                        </p:attrNameLst>
                                      </p:cBhvr>
                                      <p:to>
                                        <p:strVal val="visible"/>
                                      </p:to>
                                    </p:set>
                                    <p:animEffect transition="in" filter="fade">
                                      <p:cBhvr>
                                        <p:cTn id="121" dur="500"/>
                                        <p:tgtEl>
                                          <p:spTgt spid="40"/>
                                        </p:tgtEl>
                                      </p:cBhvr>
                                    </p:animEffect>
                                  </p:childTnLst>
                                </p:cTn>
                              </p:par>
                              <p:par>
                                <p:cTn id="122" presetID="10" presetClass="entr" presetSubtype="0" fill="hold" grpId="0" nodeType="withEffect">
                                  <p:stCondLst>
                                    <p:cond delay="1260"/>
                                  </p:stCondLst>
                                  <p:childTnLst>
                                    <p:set>
                                      <p:cBhvr>
                                        <p:cTn id="123" dur="1" fill="hold">
                                          <p:stCondLst>
                                            <p:cond delay="0"/>
                                          </p:stCondLst>
                                        </p:cTn>
                                        <p:tgtEl>
                                          <p:spTgt spid="41"/>
                                        </p:tgtEl>
                                        <p:attrNameLst>
                                          <p:attrName>style.visibility</p:attrName>
                                        </p:attrNameLst>
                                      </p:cBhvr>
                                      <p:to>
                                        <p:strVal val="visible"/>
                                      </p:to>
                                    </p:set>
                                    <p:animEffect transition="in" filter="fade">
                                      <p:cBhvr>
                                        <p:cTn id="124" dur="500"/>
                                        <p:tgtEl>
                                          <p:spTgt spid="41"/>
                                        </p:tgtEl>
                                      </p:cBhvr>
                                    </p:animEffect>
                                  </p:childTnLst>
                                </p:cTn>
                              </p:par>
                              <p:par>
                                <p:cTn id="125" presetID="10" presetClass="entr" presetSubtype="0" fill="hold" grpId="0" nodeType="withEffect">
                                  <p:stCondLst>
                                    <p:cond delay="1260"/>
                                  </p:stCondLst>
                                  <p:childTnLst>
                                    <p:set>
                                      <p:cBhvr>
                                        <p:cTn id="126" dur="1" fill="hold">
                                          <p:stCondLst>
                                            <p:cond delay="0"/>
                                          </p:stCondLst>
                                        </p:cTn>
                                        <p:tgtEl>
                                          <p:spTgt spid="42"/>
                                        </p:tgtEl>
                                        <p:attrNameLst>
                                          <p:attrName>style.visibility</p:attrName>
                                        </p:attrNameLst>
                                      </p:cBhvr>
                                      <p:to>
                                        <p:strVal val="visible"/>
                                      </p:to>
                                    </p:set>
                                    <p:animEffect transition="in" filter="fade">
                                      <p:cBhvr>
                                        <p:cTn id="127" dur="500"/>
                                        <p:tgtEl>
                                          <p:spTgt spid="42"/>
                                        </p:tgtEl>
                                      </p:cBhvr>
                                    </p:animEffect>
                                  </p:childTnLst>
                                </p:cTn>
                              </p:par>
                              <p:par>
                                <p:cTn id="128" presetID="10" presetClass="entr" presetSubtype="0" fill="hold" grpId="0" nodeType="withEffect">
                                  <p:stCondLst>
                                    <p:cond delay="1260"/>
                                  </p:stCondLst>
                                  <p:childTnLst>
                                    <p:set>
                                      <p:cBhvr>
                                        <p:cTn id="129" dur="1" fill="hold">
                                          <p:stCondLst>
                                            <p:cond delay="0"/>
                                          </p:stCondLst>
                                        </p:cTn>
                                        <p:tgtEl>
                                          <p:spTgt spid="43"/>
                                        </p:tgtEl>
                                        <p:attrNameLst>
                                          <p:attrName>style.visibility</p:attrName>
                                        </p:attrNameLst>
                                      </p:cBhvr>
                                      <p:to>
                                        <p:strVal val="visible"/>
                                      </p:to>
                                    </p:set>
                                    <p:animEffect transition="in" filter="fade">
                                      <p:cBhvr>
                                        <p:cTn id="130" dur="500"/>
                                        <p:tgtEl>
                                          <p:spTgt spid="43"/>
                                        </p:tgtEl>
                                      </p:cBhvr>
                                    </p:animEffect>
                                  </p:childTnLst>
                                </p:cTn>
                              </p:par>
                              <p:par>
                                <p:cTn id="131" presetID="10" presetClass="entr" presetSubtype="0" fill="hold" grpId="0" nodeType="withEffect">
                                  <p:stCondLst>
                                    <p:cond delay="1260"/>
                                  </p:stCondLst>
                                  <p:childTnLst>
                                    <p:set>
                                      <p:cBhvr>
                                        <p:cTn id="132" dur="1" fill="hold">
                                          <p:stCondLst>
                                            <p:cond delay="0"/>
                                          </p:stCondLst>
                                        </p:cTn>
                                        <p:tgtEl>
                                          <p:spTgt spid="44"/>
                                        </p:tgtEl>
                                        <p:attrNameLst>
                                          <p:attrName>style.visibility</p:attrName>
                                        </p:attrNameLst>
                                      </p:cBhvr>
                                      <p:to>
                                        <p:strVal val="visible"/>
                                      </p:to>
                                    </p:set>
                                    <p:animEffect transition="in" filter="fade">
                                      <p:cBhvr>
                                        <p:cTn id="133" dur="500"/>
                                        <p:tgtEl>
                                          <p:spTgt spid="44"/>
                                        </p:tgtEl>
                                      </p:cBhvr>
                                    </p:animEffect>
                                  </p:childTnLst>
                                </p:cTn>
                              </p:par>
                              <p:par>
                                <p:cTn id="134" presetID="10" presetClass="entr" presetSubtype="0" fill="hold" grpId="0" nodeType="withEffect">
                                  <p:stCondLst>
                                    <p:cond delay="1260"/>
                                  </p:stCondLst>
                                  <p:childTnLst>
                                    <p:set>
                                      <p:cBhvr>
                                        <p:cTn id="135" dur="1" fill="hold">
                                          <p:stCondLst>
                                            <p:cond delay="0"/>
                                          </p:stCondLst>
                                        </p:cTn>
                                        <p:tgtEl>
                                          <p:spTgt spid="45"/>
                                        </p:tgtEl>
                                        <p:attrNameLst>
                                          <p:attrName>style.visibility</p:attrName>
                                        </p:attrNameLst>
                                      </p:cBhvr>
                                      <p:to>
                                        <p:strVal val="visible"/>
                                      </p:to>
                                    </p:set>
                                    <p:animEffect transition="in" filter="fade">
                                      <p:cBhvr>
                                        <p:cTn id="136" dur="500"/>
                                        <p:tgtEl>
                                          <p:spTgt spid="45"/>
                                        </p:tgtEl>
                                      </p:cBhvr>
                                    </p:animEffect>
                                  </p:childTnLst>
                                </p:cTn>
                              </p:par>
                              <p:par>
                                <p:cTn id="137" presetID="10" presetClass="entr" presetSubtype="0" fill="hold" grpId="0" nodeType="withEffect">
                                  <p:stCondLst>
                                    <p:cond delay="1440"/>
                                  </p:stCondLst>
                                  <p:childTnLst>
                                    <p:set>
                                      <p:cBhvr>
                                        <p:cTn id="138" dur="1" fill="hold">
                                          <p:stCondLst>
                                            <p:cond delay="0"/>
                                          </p:stCondLst>
                                        </p:cTn>
                                        <p:tgtEl>
                                          <p:spTgt spid="46"/>
                                        </p:tgtEl>
                                        <p:attrNameLst>
                                          <p:attrName>style.visibility</p:attrName>
                                        </p:attrNameLst>
                                      </p:cBhvr>
                                      <p:to>
                                        <p:strVal val="visible"/>
                                      </p:to>
                                    </p:set>
                                    <p:animEffect transition="in" filter="fade">
                                      <p:cBhvr>
                                        <p:cTn id="139" dur="500"/>
                                        <p:tgtEl>
                                          <p:spTgt spid="46"/>
                                        </p:tgtEl>
                                      </p:cBhvr>
                                    </p:animEffect>
                                  </p:childTnLst>
                                </p:cTn>
                              </p:par>
                              <p:par>
                                <p:cTn id="140" presetID="10" presetClass="entr" presetSubtype="0" fill="hold" grpId="0" nodeType="withEffect">
                                  <p:stCondLst>
                                    <p:cond delay="1440"/>
                                  </p:stCondLst>
                                  <p:childTnLst>
                                    <p:set>
                                      <p:cBhvr>
                                        <p:cTn id="141" dur="1" fill="hold">
                                          <p:stCondLst>
                                            <p:cond delay="0"/>
                                          </p:stCondLst>
                                        </p:cTn>
                                        <p:tgtEl>
                                          <p:spTgt spid="47"/>
                                        </p:tgtEl>
                                        <p:attrNameLst>
                                          <p:attrName>style.visibility</p:attrName>
                                        </p:attrNameLst>
                                      </p:cBhvr>
                                      <p:to>
                                        <p:strVal val="visible"/>
                                      </p:to>
                                    </p:set>
                                    <p:animEffect transition="in" filter="fade">
                                      <p:cBhvr>
                                        <p:cTn id="142" dur="500"/>
                                        <p:tgtEl>
                                          <p:spTgt spid="47"/>
                                        </p:tgtEl>
                                      </p:cBhvr>
                                    </p:animEffect>
                                  </p:childTnLst>
                                </p:cTn>
                              </p:par>
                              <p:par>
                                <p:cTn id="143" presetID="10" presetClass="entr" presetSubtype="0" fill="hold" grpId="0" nodeType="withEffect">
                                  <p:stCondLst>
                                    <p:cond delay="1440"/>
                                  </p:stCondLst>
                                  <p:childTnLst>
                                    <p:set>
                                      <p:cBhvr>
                                        <p:cTn id="144" dur="1" fill="hold">
                                          <p:stCondLst>
                                            <p:cond delay="0"/>
                                          </p:stCondLst>
                                        </p:cTn>
                                        <p:tgtEl>
                                          <p:spTgt spid="48"/>
                                        </p:tgtEl>
                                        <p:attrNameLst>
                                          <p:attrName>style.visibility</p:attrName>
                                        </p:attrNameLst>
                                      </p:cBhvr>
                                      <p:to>
                                        <p:strVal val="visible"/>
                                      </p:to>
                                    </p:set>
                                    <p:animEffect transition="in" filter="fade">
                                      <p:cBhvr>
                                        <p:cTn id="145" dur="500"/>
                                        <p:tgtEl>
                                          <p:spTgt spid="48"/>
                                        </p:tgtEl>
                                      </p:cBhvr>
                                    </p:animEffect>
                                  </p:childTnLst>
                                </p:cTn>
                              </p:par>
                              <p:par>
                                <p:cTn id="146" presetID="10" presetClass="entr" presetSubtype="0" fill="hold" grpId="0" nodeType="withEffect">
                                  <p:stCondLst>
                                    <p:cond delay="1440"/>
                                  </p:stCondLst>
                                  <p:childTnLst>
                                    <p:set>
                                      <p:cBhvr>
                                        <p:cTn id="147" dur="1" fill="hold">
                                          <p:stCondLst>
                                            <p:cond delay="0"/>
                                          </p:stCondLst>
                                        </p:cTn>
                                        <p:tgtEl>
                                          <p:spTgt spid="49"/>
                                        </p:tgtEl>
                                        <p:attrNameLst>
                                          <p:attrName>style.visibility</p:attrName>
                                        </p:attrNameLst>
                                      </p:cBhvr>
                                      <p:to>
                                        <p:strVal val="visible"/>
                                      </p:to>
                                    </p:set>
                                    <p:animEffect transition="in" filter="fade">
                                      <p:cBhvr>
                                        <p:cTn id="148" dur="500"/>
                                        <p:tgtEl>
                                          <p:spTgt spid="49"/>
                                        </p:tgtEl>
                                      </p:cBhvr>
                                    </p:animEffect>
                                  </p:childTnLst>
                                </p:cTn>
                              </p:par>
                              <p:par>
                                <p:cTn id="149" presetID="10" presetClass="entr" presetSubtype="0" fill="hold" grpId="0" nodeType="withEffect">
                                  <p:stCondLst>
                                    <p:cond delay="1440"/>
                                  </p:stCondLst>
                                  <p:childTnLst>
                                    <p:set>
                                      <p:cBhvr>
                                        <p:cTn id="150" dur="1" fill="hold">
                                          <p:stCondLst>
                                            <p:cond delay="0"/>
                                          </p:stCondLst>
                                        </p:cTn>
                                        <p:tgtEl>
                                          <p:spTgt spid="50"/>
                                        </p:tgtEl>
                                        <p:attrNameLst>
                                          <p:attrName>style.visibility</p:attrName>
                                        </p:attrNameLst>
                                      </p:cBhvr>
                                      <p:to>
                                        <p:strVal val="visible"/>
                                      </p:to>
                                    </p:set>
                                    <p:animEffect transition="in" filter="fade">
                                      <p:cBhvr>
                                        <p:cTn id="151" dur="500"/>
                                        <p:tgtEl>
                                          <p:spTgt spid="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P spid="44" grpId="0" animBg="1"/>
      <p:bldP spid="45" grpId="0" animBg="1"/>
      <p:bldP spid="46" grpId="0" animBg="1"/>
      <p:bldP spid="49" grpId="0" animBg="1"/>
      <p:bldP spid="50"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pic>
        <p:nvPicPr>
          <p:cNvPr id="2" name="anim-1-1" descr="/tmp/claude-0/-home-user-hosting/7c832a48-0979-56aa-9fdf-7d53efb9dc7a/scratchpad/build/img/pointer.png">    </p:cNvPr>
          <p:cNvPicPr>
            <a:picLocks noChangeAspect="1"/>
          </p:cNvPicPr>
          <p:nvPr/>
        </p:nvPicPr>
        <p:blipFill>
          <a:blip r:embed="rId1"/>
          <a:stretch>
            <a:fillRect/>
          </a:stretch>
        </p:blipFill>
        <p:spPr>
          <a:xfrm>
            <a:off x="304800" y="241300"/>
            <a:ext cx="107274" cy="215900"/>
          </a:xfrm>
          <a:prstGeom prst="rect">
            <a:avLst/>
          </a:prstGeom>
        </p:spPr>
      </p:pic>
      <p:sp>
        <p:nvSpPr>
          <p:cNvPr id="3" name="anim-1-2"/>
          <p:cNvSpPr txBox="1"/>
          <p:nvPr/>
        </p:nvSpPr>
        <p:spPr>
          <a:xfrm>
            <a:off x="482600" y="254000"/>
            <a:ext cx="10160000" cy="215900"/>
          </a:xfrm>
          <a:prstGeom prst="rect">
            <a:avLst/>
          </a:prstGeom>
          <a:noFill/>
          <a:ln/>
        </p:spPr>
        <p:txBody>
          <a:bodyPr wrap="square" lIns="0" tIns="0" rIns="0" bIns="0" rtlCol="0" anchor="t"/>
          <a:lstStyle/>
          <a:p>
            <a:pPr algn="l" indent="0" marL="0">
              <a:lnSpc>
                <a:spcPct val="112000"/>
              </a:lnSpc>
              <a:buNone/>
            </a:pPr>
            <a:r>
              <a:rPr lang="en-US" sz="1200" b="1" spc="100" kern="0" dirty="0">
                <a:solidFill>
                  <a:srgbClr val="194EFF"/>
                </a:solidFill>
                <a:latin typeface="Plus Jakarta Sans" pitchFamily="34" charset="0"/>
                <a:ea typeface="Plus Jakarta Sans" pitchFamily="34" charset="-122"/>
                <a:cs typeface="Plus Jakarta Sans" pitchFamily="34" charset="-120"/>
              </a:rPr>
              <a:t>DISCOUNTING &amp; VALUE ACCELERATION</a:t>
            </a:r>
            <a:endParaRPr lang="en-US" sz="1200" dirty="0"/>
          </a:p>
        </p:txBody>
      </p:sp>
      <p:sp>
        <p:nvSpPr>
          <p:cNvPr id="4" name="anim-1-3"/>
          <p:cNvSpPr txBox="1"/>
          <p:nvPr/>
        </p:nvSpPr>
        <p:spPr>
          <a:xfrm>
            <a:off x="304800" y="546100"/>
            <a:ext cx="11582400" cy="406400"/>
          </a:xfrm>
          <a:prstGeom prst="rect">
            <a:avLst/>
          </a:prstGeom>
          <a:noFill/>
          <a:ln/>
        </p:spPr>
        <p:txBody>
          <a:bodyPr wrap="square" lIns="0" tIns="0" rIns="0" bIns="0" rtlCol="0" anchor="ctr"/>
          <a:lstStyle/>
          <a:p>
            <a:pPr algn="l" indent="0" marL="0">
              <a:lnSpc>
                <a:spcPct val="112000"/>
              </a:lnSpc>
              <a:buNone/>
            </a:pPr>
            <a:r>
              <a:rPr lang="en-US" sz="2000" b="1" dirty="0">
                <a:solidFill>
                  <a:srgbClr val="13151C"/>
                </a:solidFill>
                <a:latin typeface="Plus Jakarta Sans" pitchFamily="34" charset="0"/>
                <a:ea typeface="Plus Jakarta Sans" pitchFamily="34" charset="-122"/>
                <a:cs typeface="Plus Jakarta Sans" pitchFamily="34" charset="-120"/>
              </a:rPr>
              <a:t>Price integrity that </a:t>
            </a:r>
            <a:pPr algn="l" indent="0" marL="0">
              <a:lnSpc>
                <a:spcPct val="112000"/>
              </a:lnSpc>
              <a:buNone/>
            </a:pPr>
            <a:r>
              <a:rPr lang="en-US" sz="2000" b="1" dirty="0">
                <a:solidFill>
                  <a:srgbClr val="194EFF"/>
                </a:solidFill>
                <a:latin typeface="Plus Jakarta Sans" pitchFamily="34" charset="0"/>
                <a:ea typeface="Plus Jakarta Sans" pitchFamily="34" charset="-122"/>
                <a:cs typeface="Plus Jakarta Sans" pitchFamily="34" charset="-120"/>
              </a:rPr>
              <a:t>protects</a:t>
            </a:r>
            <a:pPr algn="l" indent="0" marL="0">
              <a:lnSpc>
                <a:spcPct val="112000"/>
              </a:lnSpc>
              <a:buNone/>
            </a:pPr>
            <a:r>
              <a:rPr lang="en-US" sz="2000" b="1" dirty="0">
                <a:solidFill>
                  <a:srgbClr val="13151C"/>
                </a:solidFill>
                <a:latin typeface="Plus Jakarta Sans" pitchFamily="34" charset="0"/>
                <a:ea typeface="Plus Jakarta Sans" pitchFamily="34" charset="-122"/>
                <a:cs typeface="Plus Jakarta Sans" pitchFamily="34" charset="-120"/>
              </a:rPr>
              <a:t> your margin</a:t>
            </a:r>
            <a:endParaRPr lang="en-US" sz="2000" dirty="0"/>
          </a:p>
        </p:txBody>
      </p:sp>
      <p:sp>
        <p:nvSpPr>
          <p:cNvPr id="5" name="anim-1-4"/>
          <p:cNvSpPr/>
          <p:nvPr/>
        </p:nvSpPr>
        <p:spPr>
          <a:xfrm>
            <a:off x="0" y="1244600"/>
            <a:ext cx="12192000" cy="6350"/>
          </a:xfrm>
          <a:prstGeom prst="rect">
            <a:avLst/>
          </a:prstGeom>
          <a:solidFill>
            <a:srgbClr val="CDD0D9"/>
          </a:solidFill>
          <a:ln/>
        </p:spPr>
      </p:sp>
      <p:sp>
        <p:nvSpPr>
          <p:cNvPr id="6" name="anim-2-5"/>
          <p:cNvSpPr/>
          <p:nvPr/>
        </p:nvSpPr>
        <p:spPr>
          <a:xfrm>
            <a:off x="7302500" y="1244600"/>
            <a:ext cx="6350" cy="4597400"/>
          </a:xfrm>
          <a:prstGeom prst="rect">
            <a:avLst/>
          </a:prstGeom>
          <a:solidFill>
            <a:srgbClr val="CDD0D9"/>
          </a:solidFill>
          <a:ln/>
        </p:spPr>
      </p:sp>
      <p:sp>
        <p:nvSpPr>
          <p:cNvPr id="7" name="anim-2-6"/>
          <p:cNvSpPr txBox="1"/>
          <p:nvPr/>
        </p:nvSpPr>
        <p:spPr>
          <a:xfrm>
            <a:off x="304800" y="1409700"/>
            <a:ext cx="6731000" cy="165100"/>
          </a:xfrm>
          <a:prstGeom prst="rect">
            <a:avLst/>
          </a:prstGeom>
          <a:noFill/>
          <a:ln/>
        </p:spPr>
        <p:txBody>
          <a:bodyPr wrap="square" lIns="0" tIns="0" rIns="0" bIns="0" rtlCol="0" anchor="t"/>
          <a:lstStyle/>
          <a:p>
            <a:pPr algn="l" indent="0" marL="0">
              <a:lnSpc>
                <a:spcPct val="112000"/>
              </a:lnSpc>
              <a:buNone/>
            </a:pPr>
            <a:r>
              <a:rPr lang="en-US" sz="850" b="1" spc="150" kern="0" dirty="0">
                <a:solidFill>
                  <a:srgbClr val="194EFF"/>
                </a:solidFill>
                <a:latin typeface="Plus Jakarta Sans" pitchFamily="34" charset="0"/>
                <a:ea typeface="Plus Jakarta Sans" pitchFamily="34" charset="-122"/>
                <a:cs typeface="Plus Jakarta Sans" pitchFamily="34" charset="-120"/>
              </a:rPr>
              <a:t>HOW A DISCOUNT AFFECTS COMMISSION: $100,000 GOLD SOURCED EXAMPLE</a:t>
            </a:r>
            <a:endParaRPr lang="en-US" sz="850" dirty="0"/>
          </a:p>
        </p:txBody>
      </p:sp>
      <p:graphicFrame>
        <p:nvGraphicFramePr>
          <p:cNvPr id="13" name="anim-2-7"/>
          <p:cNvGraphicFramePr>
            <a:graphicFrameLocks noGrp="1"/>
          </p:cNvGraphicFramePr>
          <p:nvPr>
            <p:extLst>
              <p:ext uri="{D42A27DB-BD31-4B8C-83A1-F6EECF244321}">
                <p14:modId xmlns:p14="http://schemas.microsoft.com/office/powerpoint/2010/main" val="1579011935"/>
              </p:ext>
            </p:extLst>
          </p:nvPr>
        </p:nvGraphicFramePr>
        <p:xfrm>
          <a:off x="304800" y="1663700"/>
          <a:ext cx="6692900" cy="914400"/>
        </p:xfrm>
        <a:graphic>
          <a:graphicData uri="http://schemas.openxmlformats.org/drawingml/2006/table">
            <a:tbl>
              <a:tblPr/>
              <a:tblGrid>
                <a:gridCol w="889000"/>
                <a:gridCol w="1143000"/>
                <a:gridCol w="1841500"/>
                <a:gridCol w="2819400"/>
              </a:tblGrid>
              <a:tr h="393700">
                <a:tc>
                  <a:txBody>
                    <a:bodyPr/>
                    <a:lstStyle/>
                    <a:p>
                      <a:pPr algn="l" indent="0" marL="0">
                        <a:buNone/>
                      </a:pPr>
                      <a:r>
                        <a:rPr lang="en-US" sz="850" dirty="0">
                          <a:solidFill>
                            <a:srgbClr val="194EFF"/>
                          </a:solidFill>
                          <a:latin typeface="Plus Jakarta Sans SemiBold" pitchFamily="34" charset="0"/>
                          <a:ea typeface="Plus Jakarta Sans SemiBold" pitchFamily="34" charset="-122"/>
                          <a:cs typeface="Plus Jakarta Sans SemiBold" pitchFamily="34" charset="-120"/>
                        </a:rPr>
                        <a:t>Discount</a:t>
                      </a:r>
                      <a:endParaRPr lang="en-US" sz="850" dirty="0">
                        <a:latin typeface="Plus Jakarta Sans SemiBold" charset="0"/>
                        <a:ea typeface="Plus Jakarta Sans SemiBold" charset="0"/>
                        <a:cs typeface="Plus Jakarta Sans SemiBold" charset="0"/>
                      </a:endParaRPr>
                    </a:p>
                  </a:txBody>
                  <a:tcPr marL="101600" marR="101600" marT="38100" marB="38100" anchor="ctr">
                    <a:lnL w="0" cap="flat" cmpd="sng" algn="ctr">
                      <a:noFill/>
                    </a:lnL>
                    <a:lnR w="0" cap="flat" cmpd="sng" algn="ctr">
                      <a:noFill/>
                    </a:lnR>
                    <a:lnT w="9525" cap="flat" cmpd="sng" algn="ctr">
                      <a:solidFill>
                        <a:srgbClr val="CDD0D9"/>
                      </a:solidFill>
                      <a:prstDash val="solid"/>
                      <a:round/>
                      <a:headEnd type="none" w="med" len="med"/>
                      <a:tailEnd type="none" w="med" len="med"/>
                    </a:lnT>
                    <a:lnB w="9525" cap="flat" cmpd="sng" algn="ctr">
                      <a:solidFill>
                        <a:srgbClr val="CDD0D9"/>
                      </a:solidFill>
                      <a:prstDash val="solid"/>
                      <a:round/>
                      <a:headEnd type="none" w="med" len="med"/>
                      <a:tailEnd type="none" w="med" len="med"/>
                    </a:lnB>
                    <a:solidFill>
                      <a:srgbClr val="EDF1FF"/>
                    </a:solidFill>
                  </a:tcPr>
                </a:tc>
                <a:tc>
                  <a:txBody>
                    <a:bodyPr/>
                    <a:lstStyle/>
                    <a:p>
                      <a:pPr algn="ctr" indent="0" marL="0">
                        <a:buNone/>
                      </a:pPr>
                      <a:r>
                        <a:rPr lang="en-US" sz="850" dirty="0">
                          <a:solidFill>
                            <a:srgbClr val="194EFF"/>
                          </a:solidFill>
                          <a:latin typeface="Plus Jakarta Sans SemiBold" pitchFamily="34" charset="0"/>
                          <a:ea typeface="Plus Jakarta Sans SemiBold" pitchFamily="34" charset="-122"/>
                          <a:cs typeface="Plus Jakarta Sans SemiBold" pitchFamily="34" charset="-120"/>
                        </a:rPr>
                        <a:t>Net ARR</a:t>
                      </a:r>
                      <a:endParaRPr lang="en-US" sz="850" dirty="0">
                        <a:latin typeface="Plus Jakarta Sans SemiBold" charset="0"/>
                        <a:ea typeface="Plus Jakarta Sans SemiBold" charset="0"/>
                        <a:cs typeface="Plus Jakarta Sans SemiBold" charset="0"/>
                      </a:endParaRPr>
                    </a:p>
                  </a:txBody>
                  <a:tcPr marL="101600" marR="101600" marT="38100" marB="38100" anchor="ctr">
                    <a:lnL w="0" cap="flat" cmpd="sng" algn="ctr">
                      <a:noFill/>
                    </a:lnL>
                    <a:lnR w="0" cap="flat" cmpd="sng" algn="ctr">
                      <a:noFill/>
                    </a:lnR>
                    <a:lnT w="9525" cap="flat" cmpd="sng" algn="ctr">
                      <a:solidFill>
                        <a:srgbClr val="CDD0D9"/>
                      </a:solidFill>
                      <a:prstDash val="solid"/>
                      <a:round/>
                      <a:headEnd type="none" w="med" len="med"/>
                      <a:tailEnd type="none" w="med" len="med"/>
                    </a:lnT>
                    <a:lnB w="9525" cap="flat" cmpd="sng" algn="ctr">
                      <a:solidFill>
                        <a:srgbClr val="CDD0D9"/>
                      </a:solidFill>
                      <a:prstDash val="solid"/>
                      <a:round/>
                      <a:headEnd type="none" w="med" len="med"/>
                      <a:tailEnd type="none" w="med" len="med"/>
                    </a:lnB>
                    <a:solidFill>
                      <a:srgbClr val="EDF1FF"/>
                    </a:solidFill>
                  </a:tcPr>
                </a:tc>
                <a:tc>
                  <a:txBody>
                    <a:bodyPr/>
                    <a:lstStyle/>
                    <a:p>
                      <a:pPr algn="ctr" indent="0" marL="0">
                        <a:buNone/>
                      </a:pPr>
                      <a:r>
                        <a:rPr lang="en-US" sz="850" dirty="0">
                          <a:solidFill>
                            <a:srgbClr val="194EFF"/>
                          </a:solidFill>
                          <a:latin typeface="Plus Jakarta Sans SemiBold" pitchFamily="34" charset="0"/>
                          <a:ea typeface="Plus Jakarta Sans SemiBold" pitchFamily="34" charset="-122"/>
                          <a:cs typeface="Plus Jakarta Sans SemiBold" pitchFamily="34" charset="-120"/>
                        </a:rPr>
                        <a:t>Commission</a:t>
                      </a:r>
                      <a:endParaRPr lang="en-US" sz="850" dirty="0">
                        <a:latin typeface="Plus Jakarta Sans SemiBold" charset="0"/>
                        <a:ea typeface="Plus Jakarta Sans SemiBold" charset="0"/>
                        <a:cs typeface="Plus Jakarta Sans SemiBold" charset="0"/>
                      </a:endParaRPr>
                    </a:p>
                  </a:txBody>
                  <a:tcPr marL="101600" marR="101600" marT="38100" marB="38100" anchor="ctr">
                    <a:lnL w="0" cap="flat" cmpd="sng" algn="ctr">
                      <a:noFill/>
                    </a:lnL>
                    <a:lnR w="0" cap="flat" cmpd="sng" algn="ctr">
                      <a:noFill/>
                    </a:lnR>
                    <a:lnT w="9525" cap="flat" cmpd="sng" algn="ctr">
                      <a:solidFill>
                        <a:srgbClr val="CDD0D9"/>
                      </a:solidFill>
                      <a:prstDash val="solid"/>
                      <a:round/>
                      <a:headEnd type="none" w="med" len="med"/>
                      <a:tailEnd type="none" w="med" len="med"/>
                    </a:lnT>
                    <a:lnB w="9525" cap="flat" cmpd="sng" algn="ctr">
                      <a:solidFill>
                        <a:srgbClr val="CDD0D9"/>
                      </a:solidFill>
                      <a:prstDash val="solid"/>
                      <a:round/>
                      <a:headEnd type="none" w="med" len="med"/>
                      <a:tailEnd type="none" w="med" len="med"/>
                    </a:lnB>
                    <a:solidFill>
                      <a:srgbClr val="EDF1FF"/>
                    </a:solidFill>
                  </a:tcPr>
                </a:tc>
                <a:tc>
                  <a:txBody>
                    <a:bodyPr/>
                    <a:lstStyle/>
                    <a:p>
                      <a:pPr algn="ctr" indent="0" marL="0">
                        <a:buNone/>
                      </a:pPr>
                      <a:r>
                        <a:rPr lang="en-US" sz="850" dirty="0">
                          <a:solidFill>
                            <a:srgbClr val="194EFF"/>
                          </a:solidFill>
                          <a:latin typeface="Plus Jakarta Sans SemiBold" pitchFamily="34" charset="0"/>
                          <a:ea typeface="Plus Jakarta Sans SemiBold" pitchFamily="34" charset="-122"/>
                          <a:cs typeface="Plus Jakarta Sans SemiBold" pitchFamily="34" charset="-120"/>
                        </a:rPr>
                        <a:t>Treatment</a:t>
                      </a:r>
                      <a:endParaRPr lang="en-US" sz="850" dirty="0">
                        <a:latin typeface="Plus Jakarta Sans SemiBold" charset="0"/>
                        <a:ea typeface="Plus Jakarta Sans SemiBold" charset="0"/>
                        <a:cs typeface="Plus Jakarta Sans SemiBold" charset="0"/>
                      </a:endParaRPr>
                    </a:p>
                  </a:txBody>
                  <a:tcPr marL="101600" marR="101600" marT="38100" marB="38100" anchor="ctr">
                    <a:lnL w="0" cap="flat" cmpd="sng" algn="ctr">
                      <a:noFill/>
                    </a:lnL>
                    <a:lnR w="0" cap="flat" cmpd="sng" algn="ctr">
                      <a:noFill/>
                    </a:lnR>
                    <a:lnT w="9525" cap="flat" cmpd="sng" algn="ctr">
                      <a:solidFill>
                        <a:srgbClr val="CDD0D9"/>
                      </a:solidFill>
                      <a:prstDash val="solid"/>
                      <a:round/>
                      <a:headEnd type="none" w="med" len="med"/>
                      <a:tailEnd type="none" w="med" len="med"/>
                    </a:lnT>
                    <a:lnB w="9525" cap="flat" cmpd="sng" algn="ctr">
                      <a:solidFill>
                        <a:srgbClr val="CDD0D9"/>
                      </a:solidFill>
                      <a:prstDash val="solid"/>
                      <a:round/>
                      <a:headEnd type="none" w="med" len="med"/>
                      <a:tailEnd type="none" w="med" len="med"/>
                    </a:lnB>
                    <a:solidFill>
                      <a:srgbClr val="EDF1FF"/>
                    </a:solidFill>
                  </a:tcPr>
                </a:tc>
              </a:tr>
              <a:tr h="393700">
                <a:tc>
                  <a:txBody>
                    <a:bodyPr/>
                    <a:lstStyle/>
                    <a:p>
                      <a:pPr algn="l" indent="0" marL="0">
                        <a:buNone/>
                      </a:pPr>
                      <a:r>
                        <a:rPr lang="en-US" sz="1000" dirty="0">
                          <a:solidFill>
                            <a:srgbClr val="13151C"/>
                          </a:solidFill>
                          <a:latin typeface="Plus Jakarta Sans SemiBold" pitchFamily="34" charset="0"/>
                          <a:ea typeface="Plus Jakarta Sans SemiBold" pitchFamily="34" charset="-122"/>
                          <a:cs typeface="Plus Jakarta Sans SemiBold" pitchFamily="34" charset="-120"/>
                        </a:rPr>
                        <a:t>00%</a:t>
                      </a:r>
                      <a:endParaRPr lang="en-US" sz="1000" dirty="0">
                        <a:latin typeface="Plus Jakarta Sans SemiBold" charset="0"/>
                        <a:ea typeface="Plus Jakarta Sans SemiBold" charset="0"/>
                        <a:cs typeface="Plus Jakarta Sans SemiBold" charset="0"/>
                      </a:endParaRPr>
                    </a:p>
                  </a:txBody>
                  <a:tcPr marL="101600" marR="101600" marT="38100" marB="38100" anchor="ctr">
                    <a:lnL w="0" cap="flat" cmpd="sng" algn="ctr">
                      <a:noFill/>
                    </a:lnL>
                    <a:lnR w="0" cap="flat" cmpd="sng" algn="ctr">
                      <a:noFill/>
                    </a:lnR>
                    <a:lnT w="9525" cap="flat" cmpd="sng" algn="ctr">
                      <a:solidFill>
                        <a:srgbClr val="CDD0D9"/>
                      </a:solidFill>
                      <a:prstDash val="solid"/>
                      <a:round/>
                      <a:headEnd type="none" w="med" len="med"/>
                      <a:tailEnd type="none" w="med" len="med"/>
                    </a:lnT>
                    <a:lnB w="9525" cap="flat" cmpd="sng" algn="ctr">
                      <a:solidFill>
                        <a:srgbClr val="CDD0D9"/>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3151C"/>
                          </a:solidFill>
                          <a:latin typeface="Plus Jakarta Sans" pitchFamily="34" charset="0"/>
                          <a:ea typeface="Plus Jakarta Sans" pitchFamily="34" charset="-122"/>
                          <a:cs typeface="Plus Jakarta Sans" pitchFamily="34" charset="-120"/>
                        </a:rPr>
                        <a:t>$100,000</a:t>
                      </a:r>
                      <a:endParaRPr lang="en-US" sz="100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CDD0D9"/>
                      </a:solidFill>
                      <a:prstDash val="solid"/>
                      <a:round/>
                      <a:headEnd type="none" w="med" len="med"/>
                      <a:tailEnd type="none" w="med" len="med"/>
                    </a:lnT>
                    <a:lnB w="9525" cap="flat" cmpd="sng" algn="ctr">
                      <a:solidFill>
                        <a:srgbClr val="CDD0D9"/>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3151C"/>
                          </a:solidFill>
                          <a:latin typeface="Plus Jakarta Sans" pitchFamily="34" charset="0"/>
                          <a:ea typeface="Plus Jakarta Sans" pitchFamily="34" charset="-122"/>
                          <a:cs typeface="Plus Jakarta Sans" pitchFamily="34" charset="-120"/>
                        </a:rPr>
                        <a:t>$30,000 (30%)</a:t>
                      </a:r>
                      <a:endParaRPr lang="en-US" sz="100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CDD0D9"/>
                      </a:solidFill>
                      <a:prstDash val="solid"/>
                      <a:round/>
                      <a:headEnd type="none" w="med" len="med"/>
                      <a:tailEnd type="none" w="med" len="med"/>
                    </a:lnT>
                    <a:lnB w="9525" cap="flat" cmpd="sng" algn="ctr">
                      <a:solidFill>
                        <a:srgbClr val="CDD0D9"/>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3151C"/>
                          </a:solidFill>
                          <a:latin typeface="Plus Jakarta Sans" pitchFamily="34" charset="0"/>
                          <a:ea typeface="Plus Jakarta Sans" pitchFamily="34" charset="-122"/>
                          <a:cs typeface="Plus Jakarta Sans" pitchFamily="34" charset="-120"/>
                        </a:rPr>
                        <a:t>On full eligible ARR</a:t>
                      </a:r>
                      <a:endParaRPr lang="en-US" sz="100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CDD0D9"/>
                      </a:solidFill>
                      <a:prstDash val="solid"/>
                      <a:round/>
                      <a:headEnd type="none" w="med" len="med"/>
                      <a:tailEnd type="none" w="med" len="med"/>
                    </a:lnT>
                    <a:lnB w="9525" cap="flat" cmpd="sng" algn="ctr">
                      <a:solidFill>
                        <a:srgbClr val="CDD0D9"/>
                      </a:solidFill>
                      <a:prstDash val="solid"/>
                      <a:round/>
                      <a:headEnd type="none" w="med" len="med"/>
                      <a:tailEnd type="none" w="med" len="med"/>
                    </a:lnB>
                    <a:solidFill>
                      <a:srgbClr val="FFFFFF"/>
                    </a:solidFill>
                  </a:tcPr>
                </a:tc>
              </a:tr>
              <a:tr h="393700">
                <a:tc>
                  <a:txBody>
                    <a:bodyPr/>
                    <a:lstStyle/>
                    <a:p>
                      <a:pPr algn="l" indent="0" marL="0">
                        <a:buNone/>
                      </a:pPr>
                      <a:r>
                        <a:rPr lang="en-US" sz="1000" dirty="0">
                          <a:solidFill>
                            <a:srgbClr val="13151C"/>
                          </a:solidFill>
                          <a:latin typeface="Plus Jakarta Sans SemiBold" pitchFamily="34" charset="0"/>
                          <a:ea typeface="Plus Jakarta Sans SemiBold" pitchFamily="34" charset="-122"/>
                          <a:cs typeface="Plus Jakarta Sans SemiBold" pitchFamily="34" charset="-120"/>
                        </a:rPr>
                        <a:t>10%</a:t>
                      </a:r>
                      <a:endParaRPr lang="en-US" sz="1000" dirty="0">
                        <a:latin typeface="Plus Jakarta Sans SemiBold" charset="0"/>
                        <a:ea typeface="Plus Jakarta Sans SemiBold" charset="0"/>
                        <a:cs typeface="Plus Jakarta Sans SemiBold" charset="0"/>
                      </a:endParaRPr>
                    </a:p>
                  </a:txBody>
                  <a:tcPr marL="101600" marR="101600" marT="38100" marB="38100" anchor="ctr">
                    <a:lnL w="0" cap="flat" cmpd="sng" algn="ctr">
                      <a:noFill/>
                    </a:lnL>
                    <a:lnR w="0" cap="flat" cmpd="sng" algn="ctr">
                      <a:noFill/>
                    </a:lnR>
                    <a:lnT w="9525" cap="flat" cmpd="sng" algn="ctr">
                      <a:solidFill>
                        <a:srgbClr val="CDD0D9"/>
                      </a:solidFill>
                      <a:prstDash val="solid"/>
                      <a:round/>
                      <a:headEnd type="none" w="med" len="med"/>
                      <a:tailEnd type="none" w="med" len="med"/>
                    </a:lnT>
                    <a:lnB w="9525" cap="flat" cmpd="sng" algn="ctr">
                      <a:solidFill>
                        <a:srgbClr val="CDD0D9"/>
                      </a:solidFill>
                      <a:prstDash val="solid"/>
                      <a:round/>
                      <a:headEnd type="none" w="med" len="med"/>
                      <a:tailEnd type="none" w="med" len="med"/>
                    </a:lnB>
                    <a:solidFill>
                      <a:srgbClr val="F7FBFD"/>
                    </a:solidFill>
                  </a:tcPr>
                </a:tc>
                <a:tc>
                  <a:txBody>
                    <a:bodyPr/>
                    <a:lstStyle/>
                    <a:p>
                      <a:pPr algn="ctr" indent="0" marL="0">
                        <a:buNone/>
                      </a:pPr>
                      <a:r>
                        <a:rPr lang="en-US" sz="1000" dirty="0">
                          <a:solidFill>
                            <a:srgbClr val="13151C"/>
                          </a:solidFill>
                          <a:latin typeface="Plus Jakarta Sans" pitchFamily="34" charset="0"/>
                          <a:ea typeface="Plus Jakarta Sans" pitchFamily="34" charset="-122"/>
                          <a:cs typeface="Plus Jakarta Sans" pitchFamily="34" charset="-120"/>
                        </a:rPr>
                        <a:t>$90,000</a:t>
                      </a:r>
                      <a:endParaRPr lang="en-US" sz="100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CDD0D9"/>
                      </a:solidFill>
                      <a:prstDash val="solid"/>
                      <a:round/>
                      <a:headEnd type="none" w="med" len="med"/>
                      <a:tailEnd type="none" w="med" len="med"/>
                    </a:lnT>
                    <a:lnB w="9525" cap="flat" cmpd="sng" algn="ctr">
                      <a:solidFill>
                        <a:srgbClr val="CDD0D9"/>
                      </a:solidFill>
                      <a:prstDash val="solid"/>
                      <a:round/>
                      <a:headEnd type="none" w="med" len="med"/>
                      <a:tailEnd type="none" w="med" len="med"/>
                    </a:lnB>
                    <a:solidFill>
                      <a:srgbClr val="F7FBFD"/>
                    </a:solidFill>
                  </a:tcPr>
                </a:tc>
                <a:tc>
                  <a:txBody>
                    <a:bodyPr/>
                    <a:lstStyle/>
                    <a:p>
                      <a:pPr algn="ctr" indent="0" marL="0">
                        <a:buNone/>
                      </a:pPr>
                      <a:r>
                        <a:rPr lang="en-US" sz="1000" dirty="0">
                          <a:solidFill>
                            <a:srgbClr val="13151C"/>
                          </a:solidFill>
                          <a:latin typeface="Plus Jakarta Sans" pitchFamily="34" charset="0"/>
                          <a:ea typeface="Plus Jakarta Sans" pitchFamily="34" charset="-122"/>
                          <a:cs typeface="Plus Jakarta Sans" pitchFamily="34" charset="-120"/>
                        </a:rPr>
                        <a:t>$27,000 (30% of net)</a:t>
                      </a:r>
                      <a:endParaRPr lang="en-US" sz="100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CDD0D9"/>
                      </a:solidFill>
                      <a:prstDash val="solid"/>
                      <a:round/>
                      <a:headEnd type="none" w="med" len="med"/>
                      <a:tailEnd type="none" w="med" len="med"/>
                    </a:lnT>
                    <a:lnB w="9525" cap="flat" cmpd="sng" algn="ctr">
                      <a:solidFill>
                        <a:srgbClr val="CDD0D9"/>
                      </a:solidFill>
                      <a:prstDash val="solid"/>
                      <a:round/>
                      <a:headEnd type="none" w="med" len="med"/>
                      <a:tailEnd type="none" w="med" len="med"/>
                    </a:lnB>
                    <a:solidFill>
                      <a:srgbClr val="F7FBFD"/>
                    </a:solidFill>
                  </a:tcPr>
                </a:tc>
                <a:tc>
                  <a:txBody>
                    <a:bodyPr/>
                    <a:lstStyle/>
                    <a:p>
                      <a:pPr algn="ctr" indent="0" marL="0">
                        <a:buNone/>
                      </a:pPr>
                      <a:r>
                        <a:rPr lang="en-US" sz="1000" dirty="0">
                          <a:solidFill>
                            <a:srgbClr val="13151C"/>
                          </a:solidFill>
                          <a:latin typeface="Plus Jakarta Sans" pitchFamily="34" charset="0"/>
                          <a:ea typeface="Plus Jakarta Sans" pitchFamily="34" charset="-122"/>
                          <a:cs typeface="Plus Jakarta Sans" pitchFamily="34" charset="-120"/>
                        </a:rPr>
                        <a:t>Discount shared via lower net base</a:t>
                      </a:r>
                      <a:endParaRPr lang="en-US" sz="100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CDD0D9"/>
                      </a:solidFill>
                      <a:prstDash val="solid"/>
                      <a:round/>
                      <a:headEnd type="none" w="med" len="med"/>
                      <a:tailEnd type="none" w="med" len="med"/>
                    </a:lnT>
                    <a:lnB w="9525" cap="flat" cmpd="sng" algn="ctr">
                      <a:solidFill>
                        <a:srgbClr val="CDD0D9"/>
                      </a:solidFill>
                      <a:prstDash val="solid"/>
                      <a:round/>
                      <a:headEnd type="none" w="med" len="med"/>
                      <a:tailEnd type="none" w="med" len="med"/>
                    </a:lnB>
                    <a:solidFill>
                      <a:srgbClr val="F7FBFD"/>
                    </a:solidFill>
                  </a:tcPr>
                </a:tc>
              </a:tr>
              <a:tr h="393700">
                <a:tc>
                  <a:txBody>
                    <a:bodyPr/>
                    <a:lstStyle/>
                    <a:p>
                      <a:pPr algn="l" indent="0" marL="0">
                        <a:buNone/>
                      </a:pPr>
                      <a:r>
                        <a:rPr lang="en-US" sz="1000" dirty="0">
                          <a:solidFill>
                            <a:srgbClr val="13151C"/>
                          </a:solidFill>
                          <a:latin typeface="Plus Jakarta Sans SemiBold" pitchFamily="34" charset="0"/>
                          <a:ea typeface="Plus Jakarta Sans SemiBold" pitchFamily="34" charset="-122"/>
                          <a:cs typeface="Plus Jakarta Sans SemiBold" pitchFamily="34" charset="-120"/>
                        </a:rPr>
                        <a:t>30%</a:t>
                      </a:r>
                      <a:endParaRPr lang="en-US" sz="1000" dirty="0">
                        <a:latin typeface="Plus Jakarta Sans SemiBold" charset="0"/>
                        <a:ea typeface="Plus Jakarta Sans SemiBold" charset="0"/>
                        <a:cs typeface="Plus Jakarta Sans SemiBold" charset="0"/>
                      </a:endParaRPr>
                    </a:p>
                  </a:txBody>
                  <a:tcPr marL="101600" marR="101600" marT="38100" marB="38100" anchor="ctr">
                    <a:lnL w="0" cap="flat" cmpd="sng" algn="ctr">
                      <a:noFill/>
                    </a:lnL>
                    <a:lnR w="0" cap="flat" cmpd="sng" algn="ctr">
                      <a:noFill/>
                    </a:lnR>
                    <a:lnT w="9525" cap="flat" cmpd="sng" algn="ctr">
                      <a:solidFill>
                        <a:srgbClr val="CDD0D9"/>
                      </a:solidFill>
                      <a:prstDash val="solid"/>
                      <a:round/>
                      <a:headEnd type="none" w="med" len="med"/>
                      <a:tailEnd type="none" w="med" len="med"/>
                    </a:lnT>
                    <a:lnB w="9525" cap="flat" cmpd="sng" algn="ctr">
                      <a:solidFill>
                        <a:srgbClr val="CDD0D9"/>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3151C"/>
                          </a:solidFill>
                          <a:latin typeface="Plus Jakarta Sans" pitchFamily="34" charset="0"/>
                          <a:ea typeface="Plus Jakarta Sans" pitchFamily="34" charset="-122"/>
                          <a:cs typeface="Plus Jakarta Sans" pitchFamily="34" charset="-120"/>
                        </a:rPr>
                        <a:t>$70,000</a:t>
                      </a:r>
                      <a:endParaRPr lang="en-US" sz="100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CDD0D9"/>
                      </a:solidFill>
                      <a:prstDash val="solid"/>
                      <a:round/>
                      <a:headEnd type="none" w="med" len="med"/>
                      <a:tailEnd type="none" w="med" len="med"/>
                    </a:lnT>
                    <a:lnB w="9525" cap="flat" cmpd="sng" algn="ctr">
                      <a:solidFill>
                        <a:srgbClr val="CDD0D9"/>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3151C"/>
                          </a:solidFill>
                          <a:latin typeface="Plus Jakarta Sans" pitchFamily="34" charset="0"/>
                          <a:ea typeface="Plus Jakarta Sans" pitchFamily="34" charset="-122"/>
                          <a:cs typeface="Plus Jakarta Sans" pitchFamily="34" charset="-120"/>
                        </a:rPr>
                        <a:t>$21,000 (30% of net)</a:t>
                      </a:r>
                      <a:endParaRPr lang="en-US" sz="100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CDD0D9"/>
                      </a:solidFill>
                      <a:prstDash val="solid"/>
                      <a:round/>
                      <a:headEnd type="none" w="med" len="med"/>
                      <a:tailEnd type="none" w="med" len="med"/>
                    </a:lnT>
                    <a:lnB w="9525" cap="flat" cmpd="sng" algn="ctr">
                      <a:solidFill>
                        <a:srgbClr val="CDD0D9"/>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3151C"/>
                          </a:solidFill>
                          <a:latin typeface="Plus Jakarta Sans" pitchFamily="34" charset="0"/>
                          <a:ea typeface="Plus Jakarta Sans" pitchFamily="34" charset="-122"/>
                          <a:cs typeface="Plus Jakarta Sans" pitchFamily="34" charset="-120"/>
                        </a:rPr>
                        <a:t>Recalculated; not wiped to zero</a:t>
                      </a:r>
                      <a:endParaRPr lang="en-US" sz="100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CDD0D9"/>
                      </a:solidFill>
                      <a:prstDash val="solid"/>
                      <a:round/>
                      <a:headEnd type="none" w="med" len="med"/>
                      <a:tailEnd type="none" w="med" len="med"/>
                    </a:lnT>
                    <a:lnB w="9525" cap="flat" cmpd="sng" algn="ctr">
                      <a:solidFill>
                        <a:srgbClr val="CDD0D9"/>
                      </a:solidFill>
                      <a:prstDash val="solid"/>
                      <a:round/>
                      <a:headEnd type="none" w="med" len="med"/>
                      <a:tailEnd type="none" w="med" len="med"/>
                    </a:lnB>
                    <a:solidFill>
                      <a:srgbClr val="FFFFFF"/>
                    </a:solidFill>
                  </a:tcPr>
                </a:tc>
              </a:tr>
              <a:tr h="393700">
                <a:tc>
                  <a:txBody>
                    <a:bodyPr/>
                    <a:lstStyle/>
                    <a:p>
                      <a:pPr algn="l" indent="0" marL="0">
                        <a:buNone/>
                      </a:pPr>
                      <a:r>
                        <a:rPr lang="en-US" sz="1000" dirty="0">
                          <a:solidFill>
                            <a:srgbClr val="13151C"/>
                          </a:solidFill>
                          <a:latin typeface="Plus Jakarta Sans SemiBold" pitchFamily="34" charset="0"/>
                          <a:ea typeface="Plus Jakarta Sans SemiBold" pitchFamily="34" charset="-122"/>
                          <a:cs typeface="Plus Jakarta Sans SemiBold" pitchFamily="34" charset="-120"/>
                        </a:rPr>
                        <a:t>50%</a:t>
                      </a:r>
                      <a:endParaRPr lang="en-US" sz="1000" dirty="0">
                        <a:latin typeface="Plus Jakarta Sans SemiBold" charset="0"/>
                        <a:ea typeface="Plus Jakarta Sans SemiBold" charset="0"/>
                        <a:cs typeface="Plus Jakarta Sans SemiBold" charset="0"/>
                      </a:endParaRPr>
                    </a:p>
                  </a:txBody>
                  <a:tcPr marL="101600" marR="101600" marT="38100" marB="38100" anchor="ctr">
                    <a:lnL w="0" cap="flat" cmpd="sng" algn="ctr">
                      <a:noFill/>
                    </a:lnL>
                    <a:lnR w="0" cap="flat" cmpd="sng" algn="ctr">
                      <a:noFill/>
                    </a:lnR>
                    <a:lnT w="9525" cap="flat" cmpd="sng" algn="ctr">
                      <a:solidFill>
                        <a:srgbClr val="CDD0D9"/>
                      </a:solidFill>
                      <a:prstDash val="solid"/>
                      <a:round/>
                      <a:headEnd type="none" w="med" len="med"/>
                      <a:tailEnd type="none" w="med" len="med"/>
                    </a:lnT>
                    <a:lnB w="9525" cap="flat" cmpd="sng" algn="ctr">
                      <a:solidFill>
                        <a:srgbClr val="CDD0D9"/>
                      </a:solidFill>
                      <a:prstDash val="solid"/>
                      <a:round/>
                      <a:headEnd type="none" w="med" len="med"/>
                      <a:tailEnd type="none" w="med" len="med"/>
                    </a:lnB>
                    <a:solidFill>
                      <a:srgbClr val="F7FBFD"/>
                    </a:solidFill>
                  </a:tcPr>
                </a:tc>
                <a:tc>
                  <a:txBody>
                    <a:bodyPr/>
                    <a:lstStyle/>
                    <a:p>
                      <a:pPr algn="ctr" indent="0" marL="0">
                        <a:buNone/>
                      </a:pPr>
                      <a:r>
                        <a:rPr lang="en-US" sz="1000" dirty="0">
                          <a:solidFill>
                            <a:srgbClr val="13151C"/>
                          </a:solidFill>
                          <a:latin typeface="Plus Jakarta Sans" pitchFamily="34" charset="0"/>
                          <a:ea typeface="Plus Jakarta Sans" pitchFamily="34" charset="-122"/>
                          <a:cs typeface="Plus Jakarta Sans" pitchFamily="34" charset="-120"/>
                        </a:rPr>
                        <a:t>$50,000</a:t>
                      </a:r>
                      <a:endParaRPr lang="en-US" sz="100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CDD0D9"/>
                      </a:solidFill>
                      <a:prstDash val="solid"/>
                      <a:round/>
                      <a:headEnd type="none" w="med" len="med"/>
                      <a:tailEnd type="none" w="med" len="med"/>
                    </a:lnT>
                    <a:lnB w="9525" cap="flat" cmpd="sng" algn="ctr">
                      <a:solidFill>
                        <a:srgbClr val="CDD0D9"/>
                      </a:solidFill>
                      <a:prstDash val="solid"/>
                      <a:round/>
                      <a:headEnd type="none" w="med" len="med"/>
                      <a:tailEnd type="none" w="med" len="med"/>
                    </a:lnB>
                    <a:solidFill>
                      <a:srgbClr val="F7FBFD"/>
                    </a:solidFill>
                  </a:tcPr>
                </a:tc>
                <a:tc>
                  <a:txBody>
                    <a:bodyPr/>
                    <a:lstStyle/>
                    <a:p>
                      <a:pPr algn="ctr" indent="0" marL="0">
                        <a:buNone/>
                      </a:pPr>
                      <a:r>
                        <a:rPr lang="en-US" sz="1000" dirty="0">
                          <a:solidFill>
                            <a:srgbClr val="13151C"/>
                          </a:solidFill>
                          <a:latin typeface="Plus Jakarta Sans" pitchFamily="34" charset="0"/>
                          <a:ea typeface="Plus Jakarta Sans" pitchFamily="34" charset="-122"/>
                          <a:cs typeface="Plus Jakarta Sans" pitchFamily="34" charset="-120"/>
                        </a:rPr>
                        <a:t>$5,000 (10% floor)</a:t>
                      </a:r>
                      <a:endParaRPr lang="en-US" sz="100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CDD0D9"/>
                      </a:solidFill>
                      <a:prstDash val="solid"/>
                      <a:round/>
                      <a:headEnd type="none" w="med" len="med"/>
                      <a:tailEnd type="none" w="med" len="med"/>
                    </a:lnT>
                    <a:lnB w="9525" cap="flat" cmpd="sng" algn="ctr">
                      <a:solidFill>
                        <a:srgbClr val="CDD0D9"/>
                      </a:solidFill>
                      <a:prstDash val="solid"/>
                      <a:round/>
                      <a:headEnd type="none" w="med" len="med"/>
                      <a:tailEnd type="none" w="med" len="med"/>
                    </a:lnB>
                    <a:solidFill>
                      <a:srgbClr val="F7FBFD"/>
                    </a:solidFill>
                  </a:tcPr>
                </a:tc>
                <a:tc>
                  <a:txBody>
                    <a:bodyPr/>
                    <a:lstStyle/>
                    <a:p>
                      <a:pPr algn="ctr" indent="0" marL="0">
                        <a:buNone/>
                      </a:pPr>
                      <a:r>
                        <a:rPr lang="en-US" sz="1000" dirty="0">
                          <a:solidFill>
                            <a:srgbClr val="13151C"/>
                          </a:solidFill>
                          <a:latin typeface="Plus Jakarta Sans" pitchFamily="34" charset="0"/>
                          <a:ea typeface="Plus Jakarta Sans" pitchFamily="34" charset="-122"/>
                          <a:cs typeface="Plus Jakarta Sans" pitchFamily="34" charset="-120"/>
                        </a:rPr>
                        <a:t>Strategic exception; stepped to floor</a:t>
                      </a:r>
                      <a:endParaRPr lang="en-US" sz="100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CDD0D9"/>
                      </a:solidFill>
                      <a:prstDash val="solid"/>
                      <a:round/>
                      <a:headEnd type="none" w="med" len="med"/>
                      <a:tailEnd type="none" w="med" len="med"/>
                    </a:lnT>
                    <a:lnB w="9525" cap="flat" cmpd="sng" algn="ctr">
                      <a:solidFill>
                        <a:srgbClr val="CDD0D9"/>
                      </a:solidFill>
                      <a:prstDash val="solid"/>
                      <a:round/>
                      <a:headEnd type="none" w="med" len="med"/>
                      <a:tailEnd type="none" w="med" len="med"/>
                    </a:lnB>
                    <a:solidFill>
                      <a:srgbClr val="F7FBFD"/>
                    </a:solidFill>
                  </a:tcPr>
                </a:tc>
              </a:tr>
            </a:tbl>
          </a:graphicData>
        </a:graphic>
      </p:graphicFrame>
      <p:sp>
        <p:nvSpPr>
          <p:cNvPr id="9" name="anim-2-8"/>
          <p:cNvSpPr txBox="1"/>
          <p:nvPr/>
        </p:nvSpPr>
        <p:spPr>
          <a:xfrm>
            <a:off x="304800" y="3810000"/>
            <a:ext cx="6692900" cy="698500"/>
          </a:xfrm>
          <a:prstGeom prst="rect">
            <a:avLst/>
          </a:prstGeom>
          <a:noFill/>
          <a:ln/>
        </p:spPr>
        <p:txBody>
          <a:bodyPr wrap="square" lIns="0" tIns="0" rIns="0" bIns="0" rtlCol="0" anchor="t"/>
          <a:lstStyle/>
          <a:p>
            <a:pPr algn="l" indent="0" marL="0">
              <a:lnSpc>
                <a:spcPct val="125000"/>
              </a:lnSpc>
              <a:buNone/>
            </a:pPr>
            <a:r>
              <a:rPr lang="en-US" sz="1050" dirty="0">
                <a:solidFill>
                  <a:srgbClr val="5A5C63"/>
                </a:solidFill>
                <a:latin typeface="Plus Jakarta Sans" pitchFamily="34" charset="0"/>
                <a:ea typeface="Plus Jakarta Sans" pitchFamily="34" charset="-122"/>
                <a:cs typeface="Plus Jakarta Sans" pitchFamily="34" charset="-120"/>
              </a:rPr>
              <a:t>All customer discounts need DignifyX approval before being shared. Commission is calculated on net eligible ARR, and protected minimums mean it is never wiped to zero.</a:t>
            </a:r>
            <a:endParaRPr lang="en-US" sz="1050" dirty="0"/>
          </a:p>
        </p:txBody>
      </p:sp>
      <p:sp>
        <p:nvSpPr>
          <p:cNvPr id="10" name="anim-3-9"/>
          <p:cNvSpPr/>
          <p:nvPr/>
        </p:nvSpPr>
        <p:spPr>
          <a:xfrm>
            <a:off x="0" y="4635500"/>
            <a:ext cx="7302500" cy="1206500"/>
          </a:xfrm>
          <a:prstGeom prst="rect">
            <a:avLst/>
          </a:prstGeom>
          <a:solidFill>
            <a:srgbClr val="EDF1FF"/>
          </a:solidFill>
          <a:ln/>
        </p:spPr>
      </p:sp>
      <p:sp>
        <p:nvSpPr>
          <p:cNvPr id="11" name="anim-3-10"/>
          <p:cNvSpPr/>
          <p:nvPr/>
        </p:nvSpPr>
        <p:spPr>
          <a:xfrm>
            <a:off x="0" y="4635500"/>
            <a:ext cx="7302500" cy="6350"/>
          </a:xfrm>
          <a:prstGeom prst="rect">
            <a:avLst/>
          </a:prstGeom>
          <a:solidFill>
            <a:srgbClr val="CDD0D9"/>
          </a:solidFill>
          <a:ln/>
        </p:spPr>
      </p:sp>
      <p:sp>
        <p:nvSpPr>
          <p:cNvPr id="12" name="anim-3-11"/>
          <p:cNvSpPr txBox="1"/>
          <p:nvPr/>
        </p:nvSpPr>
        <p:spPr>
          <a:xfrm>
            <a:off x="304800" y="4800600"/>
            <a:ext cx="6350000" cy="254000"/>
          </a:xfrm>
          <a:prstGeom prst="rect">
            <a:avLst/>
          </a:prstGeom>
          <a:noFill/>
          <a:ln/>
        </p:spPr>
        <p:txBody>
          <a:bodyPr wrap="square" lIns="0" tIns="0" rIns="0" bIns="0" rtlCol="0" anchor="t"/>
          <a:lstStyle/>
          <a:p>
            <a:pPr algn="l" indent="0" marL="0">
              <a:lnSpc>
                <a:spcPct val="112000"/>
              </a:lnSpc>
              <a:buNone/>
            </a:pPr>
            <a:r>
              <a:rPr lang="en-US" sz="1400" b="1" dirty="0">
                <a:solidFill>
                  <a:srgbClr val="194EFF"/>
                </a:solidFill>
                <a:latin typeface="Plus Jakarta Sans" pitchFamily="34" charset="0"/>
                <a:ea typeface="Plus Jakarta Sans" pitchFamily="34" charset="-122"/>
                <a:cs typeface="Plus Jakarta Sans" pitchFamily="34" charset="-120"/>
              </a:rPr>
              <a:t>Value Acceleration Credits</a:t>
            </a:r>
            <a:endParaRPr lang="en-US" sz="1400" dirty="0"/>
          </a:p>
        </p:txBody>
      </p:sp>
      <p:sp>
        <p:nvSpPr>
          <p:cNvPr id="13" name="anim-3-12"/>
          <p:cNvSpPr txBox="1"/>
          <p:nvPr/>
        </p:nvSpPr>
        <p:spPr>
          <a:xfrm>
            <a:off x="304800" y="5118100"/>
            <a:ext cx="6692900" cy="571500"/>
          </a:xfrm>
          <a:prstGeom prst="rect">
            <a:avLst/>
          </a:prstGeom>
          <a:noFill/>
          <a:ln/>
        </p:spPr>
        <p:txBody>
          <a:bodyPr wrap="square" lIns="0" tIns="0" rIns="0" bIns="0" rtlCol="0" anchor="t"/>
          <a:lstStyle/>
          <a:p>
            <a:pPr algn="l" indent="0" marL="0">
              <a:lnSpc>
                <a:spcPct val="125000"/>
              </a:lnSpc>
              <a:buNone/>
            </a:pPr>
            <a:r>
              <a:rPr lang="en-US" sz="1050" dirty="0">
                <a:solidFill>
                  <a:srgbClr val="13151C"/>
                </a:solidFill>
                <a:latin typeface="Plus Jakarta Sans" pitchFamily="34" charset="0"/>
                <a:ea typeface="Plus Jakarta Sans" pitchFamily="34" charset="-122"/>
                <a:cs typeface="Plus Jakarta Sans" pitchFamily="34" charset="-120"/>
              </a:rPr>
              <a:t>An approved non-discount mechanism to accelerate implementation, adoption or outcomes, helping you win without eroding price.</a:t>
            </a:r>
            <a:endParaRPr lang="en-US" sz="1050" dirty="0"/>
          </a:p>
        </p:txBody>
      </p:sp>
      <p:sp>
        <p:nvSpPr>
          <p:cNvPr id="14" name="anim-4-13"/>
          <p:cNvSpPr txBox="1"/>
          <p:nvPr/>
        </p:nvSpPr>
        <p:spPr>
          <a:xfrm>
            <a:off x="7607300" y="1409700"/>
            <a:ext cx="4318000" cy="165100"/>
          </a:xfrm>
          <a:prstGeom prst="rect">
            <a:avLst/>
          </a:prstGeom>
          <a:noFill/>
          <a:ln/>
        </p:spPr>
        <p:txBody>
          <a:bodyPr wrap="square" lIns="0" tIns="0" rIns="0" bIns="0" rtlCol="0" anchor="t"/>
          <a:lstStyle/>
          <a:p>
            <a:pPr algn="l" indent="0" marL="0">
              <a:lnSpc>
                <a:spcPct val="112000"/>
              </a:lnSpc>
              <a:buNone/>
            </a:pPr>
            <a:r>
              <a:rPr lang="en-US" sz="850" b="1" spc="150" kern="0" dirty="0">
                <a:solidFill>
                  <a:srgbClr val="194EFF"/>
                </a:solidFill>
                <a:latin typeface="Plus Jakarta Sans" pitchFamily="34" charset="0"/>
                <a:ea typeface="Plus Jakarta Sans" pitchFamily="34" charset="-122"/>
                <a:cs typeface="Plus Jakarta Sans" pitchFamily="34" charset="-120"/>
              </a:rPr>
              <a:t>PROTECTED COMMISSION MINIMUMS</a:t>
            </a:r>
            <a:endParaRPr lang="en-US" sz="850" dirty="0"/>
          </a:p>
        </p:txBody>
      </p:sp>
      <p:sp>
        <p:nvSpPr>
          <p:cNvPr id="15" name="anim-4-14"/>
          <p:cNvSpPr/>
          <p:nvPr/>
        </p:nvSpPr>
        <p:spPr>
          <a:xfrm>
            <a:off x="7308850" y="1663700"/>
            <a:ext cx="4883150" cy="6350"/>
          </a:xfrm>
          <a:prstGeom prst="rect">
            <a:avLst/>
          </a:prstGeom>
          <a:solidFill>
            <a:srgbClr val="CDD0D9"/>
          </a:solidFill>
          <a:ln/>
        </p:spPr>
      </p:sp>
      <p:sp>
        <p:nvSpPr>
          <p:cNvPr id="16" name="anim-4-15"/>
          <p:cNvSpPr/>
          <p:nvPr/>
        </p:nvSpPr>
        <p:spPr>
          <a:xfrm>
            <a:off x="7308850" y="1670050"/>
            <a:ext cx="2438400" cy="2082800"/>
          </a:xfrm>
          <a:prstGeom prst="rect">
            <a:avLst/>
          </a:prstGeom>
          <a:solidFill>
            <a:srgbClr val="F7FBFD"/>
          </a:solidFill>
          <a:ln/>
        </p:spPr>
      </p:sp>
      <p:pic>
        <p:nvPicPr>
          <p:cNvPr id="17" name="anim-4-16" descr="/tmp/claude-0/-home-user-hosting/7c832a48-0979-56aa-9fdf-7d53efb9dc7a/scratchpad/build/img/pointer.png">    </p:cNvPr>
          <p:cNvPicPr>
            <a:picLocks noChangeAspect="1"/>
          </p:cNvPicPr>
          <p:nvPr/>
        </p:nvPicPr>
        <p:blipFill>
          <a:blip r:embed="rId2"/>
          <a:stretch>
            <a:fillRect/>
          </a:stretch>
        </p:blipFill>
        <p:spPr>
          <a:xfrm>
            <a:off x="7550150" y="2311400"/>
            <a:ext cx="164066" cy="330200"/>
          </a:xfrm>
          <a:prstGeom prst="rect">
            <a:avLst/>
          </a:prstGeom>
        </p:spPr>
      </p:pic>
      <p:sp>
        <p:nvSpPr>
          <p:cNvPr id="18" name="anim-4-17"/>
          <p:cNvSpPr txBox="1"/>
          <p:nvPr/>
        </p:nvSpPr>
        <p:spPr>
          <a:xfrm>
            <a:off x="7791450" y="2044700"/>
            <a:ext cx="1803400" cy="698500"/>
          </a:xfrm>
          <a:prstGeom prst="rect">
            <a:avLst/>
          </a:prstGeom>
          <a:noFill/>
          <a:ln/>
        </p:spPr>
        <p:txBody>
          <a:bodyPr wrap="square" lIns="0" tIns="0" rIns="0" bIns="0" rtlCol="0" anchor="b"/>
          <a:lstStyle/>
          <a:p>
            <a:pPr algn="l" indent="0" marL="0">
              <a:lnSpc>
                <a:spcPct val="112000"/>
              </a:lnSpc>
              <a:buNone/>
            </a:pPr>
            <a:r>
              <a:rPr lang="en-US" sz="4200" b="1" dirty="0">
                <a:solidFill>
                  <a:srgbClr val="13151C"/>
                </a:solidFill>
                <a:latin typeface="Plus Jakarta Sans" pitchFamily="34" charset="0"/>
                <a:ea typeface="Plus Jakarta Sans" pitchFamily="34" charset="-122"/>
                <a:cs typeface="Plus Jakarta Sans" pitchFamily="34" charset="-120"/>
              </a:rPr>
              <a:t>10</a:t>
            </a:r>
            <a:pPr algn="l" indent="0" marL="0">
              <a:lnSpc>
                <a:spcPct val="112000"/>
              </a:lnSpc>
              <a:buNone/>
            </a:pPr>
            <a:r>
              <a:rPr lang="en-US" sz="2000" b="1" dirty="0">
                <a:solidFill>
                  <a:srgbClr val="194EFF"/>
                </a:solidFill>
                <a:latin typeface="Plus Jakarta Sans" pitchFamily="34" charset="0"/>
                <a:ea typeface="Plus Jakarta Sans" pitchFamily="34" charset="-122"/>
                <a:cs typeface="Plus Jakarta Sans" pitchFamily="34" charset="-120"/>
              </a:rPr>
              <a:t>%</a:t>
            </a:r>
            <a:endParaRPr lang="en-US" sz="4200" dirty="0"/>
          </a:p>
        </p:txBody>
      </p:sp>
      <p:sp>
        <p:nvSpPr>
          <p:cNvPr id="19" name="anim-4-18"/>
          <p:cNvSpPr txBox="1"/>
          <p:nvPr/>
        </p:nvSpPr>
        <p:spPr>
          <a:xfrm>
            <a:off x="7562850" y="2870200"/>
            <a:ext cx="1905000" cy="444500"/>
          </a:xfrm>
          <a:prstGeom prst="rect">
            <a:avLst/>
          </a:prstGeom>
          <a:noFill/>
          <a:ln/>
        </p:spPr>
        <p:txBody>
          <a:bodyPr wrap="square" lIns="0" tIns="0" rIns="0" bIns="0" rtlCol="0" anchor="t"/>
          <a:lstStyle/>
          <a:p>
            <a:pPr algn="l" indent="0" marL="0">
              <a:lnSpc>
                <a:spcPct val="112000"/>
              </a:lnSpc>
              <a:buNone/>
            </a:pPr>
            <a:r>
              <a:rPr lang="en-US" sz="1000" dirty="0">
                <a:solidFill>
                  <a:srgbClr val="5A5C63"/>
                </a:solidFill>
                <a:latin typeface="Plus Jakarta Sans" pitchFamily="34" charset="0"/>
                <a:ea typeface="Plus Jakarta Sans" pitchFamily="34" charset="-122"/>
                <a:cs typeface="Plus Jakarta Sans" pitchFamily="34" charset="-120"/>
              </a:rPr>
              <a:t>Partner-sourced sales partner</a:t>
            </a:r>
            <a:endParaRPr lang="en-US" sz="1000" dirty="0"/>
          </a:p>
        </p:txBody>
      </p:sp>
      <p:sp>
        <p:nvSpPr>
          <p:cNvPr id="20" name="anim-5-19"/>
          <p:cNvSpPr/>
          <p:nvPr/>
        </p:nvSpPr>
        <p:spPr>
          <a:xfrm>
            <a:off x="7308850" y="1663700"/>
            <a:ext cx="4883150" cy="6350"/>
          </a:xfrm>
          <a:prstGeom prst="rect">
            <a:avLst/>
          </a:prstGeom>
          <a:solidFill>
            <a:srgbClr val="CDD0D9"/>
          </a:solidFill>
          <a:ln/>
        </p:spPr>
      </p:sp>
      <p:sp>
        <p:nvSpPr>
          <p:cNvPr id="21" name="anim-5-20"/>
          <p:cNvSpPr/>
          <p:nvPr/>
        </p:nvSpPr>
        <p:spPr>
          <a:xfrm>
            <a:off x="9747250" y="1663700"/>
            <a:ext cx="6350" cy="2089150"/>
          </a:xfrm>
          <a:prstGeom prst="rect">
            <a:avLst/>
          </a:prstGeom>
          <a:solidFill>
            <a:srgbClr val="CDD0D9"/>
          </a:solidFill>
          <a:ln/>
        </p:spPr>
      </p:sp>
      <p:sp>
        <p:nvSpPr>
          <p:cNvPr id="22" name="anim-5-21"/>
          <p:cNvSpPr txBox="1"/>
          <p:nvPr/>
        </p:nvSpPr>
        <p:spPr>
          <a:xfrm>
            <a:off x="10001250" y="2044700"/>
            <a:ext cx="2032000" cy="698500"/>
          </a:xfrm>
          <a:prstGeom prst="rect">
            <a:avLst/>
          </a:prstGeom>
          <a:noFill/>
          <a:ln/>
        </p:spPr>
        <p:txBody>
          <a:bodyPr wrap="square" lIns="0" tIns="0" rIns="0" bIns="0" rtlCol="0" anchor="b"/>
          <a:lstStyle/>
          <a:p>
            <a:pPr algn="l" indent="0" marL="0">
              <a:lnSpc>
                <a:spcPct val="112000"/>
              </a:lnSpc>
              <a:buNone/>
            </a:pPr>
            <a:r>
              <a:rPr lang="en-US" sz="4200" b="1" dirty="0">
                <a:solidFill>
                  <a:srgbClr val="13151C"/>
                </a:solidFill>
                <a:latin typeface="Plus Jakarta Sans" pitchFamily="34" charset="0"/>
                <a:ea typeface="Plus Jakarta Sans" pitchFamily="34" charset="-122"/>
                <a:cs typeface="Plus Jakarta Sans" pitchFamily="34" charset="-120"/>
              </a:rPr>
              <a:t>7.5</a:t>
            </a:r>
            <a:pPr algn="l" indent="0" marL="0">
              <a:lnSpc>
                <a:spcPct val="112000"/>
              </a:lnSpc>
              <a:buNone/>
            </a:pPr>
            <a:r>
              <a:rPr lang="en-US" sz="2000" b="1" dirty="0">
                <a:solidFill>
                  <a:srgbClr val="194EFF"/>
                </a:solidFill>
                <a:latin typeface="Plus Jakarta Sans" pitchFamily="34" charset="0"/>
                <a:ea typeface="Plus Jakarta Sans" pitchFamily="34" charset="-122"/>
                <a:cs typeface="Plus Jakarta Sans" pitchFamily="34" charset="-120"/>
              </a:rPr>
              <a:t>%</a:t>
            </a:r>
            <a:endParaRPr lang="en-US" sz="4200" dirty="0"/>
          </a:p>
        </p:txBody>
      </p:sp>
      <p:sp>
        <p:nvSpPr>
          <p:cNvPr id="23" name="anim-5-22"/>
          <p:cNvSpPr txBox="1"/>
          <p:nvPr/>
        </p:nvSpPr>
        <p:spPr>
          <a:xfrm>
            <a:off x="10001250" y="2870200"/>
            <a:ext cx="1905000" cy="444500"/>
          </a:xfrm>
          <a:prstGeom prst="rect">
            <a:avLst/>
          </a:prstGeom>
          <a:noFill/>
          <a:ln/>
        </p:spPr>
        <p:txBody>
          <a:bodyPr wrap="square" lIns="0" tIns="0" rIns="0" bIns="0" rtlCol="0" anchor="t"/>
          <a:lstStyle/>
          <a:p>
            <a:pPr algn="l" indent="0" marL="0">
              <a:lnSpc>
                <a:spcPct val="112000"/>
              </a:lnSpc>
              <a:buNone/>
            </a:pPr>
            <a:r>
              <a:rPr lang="en-US" sz="1000" dirty="0">
                <a:solidFill>
                  <a:srgbClr val="5A5C63"/>
                </a:solidFill>
                <a:latin typeface="Plus Jakarta Sans" pitchFamily="34" charset="0"/>
                <a:ea typeface="Plus Jakarta Sans" pitchFamily="34" charset="-122"/>
                <a:cs typeface="Plus Jakarta Sans" pitchFamily="34" charset="-120"/>
              </a:rPr>
              <a:t>Partner-driven sales partner</a:t>
            </a:r>
            <a:endParaRPr lang="en-US" sz="1000" dirty="0"/>
          </a:p>
        </p:txBody>
      </p:sp>
      <p:sp>
        <p:nvSpPr>
          <p:cNvPr id="24" name="anim-6-23"/>
          <p:cNvSpPr/>
          <p:nvPr/>
        </p:nvSpPr>
        <p:spPr>
          <a:xfrm>
            <a:off x="7308850" y="3752850"/>
            <a:ext cx="4883150" cy="6350"/>
          </a:xfrm>
          <a:prstGeom prst="rect">
            <a:avLst/>
          </a:prstGeom>
          <a:solidFill>
            <a:srgbClr val="CDD0D9"/>
          </a:solidFill>
          <a:ln/>
        </p:spPr>
      </p:sp>
      <p:sp>
        <p:nvSpPr>
          <p:cNvPr id="25" name="anim-6-24"/>
          <p:cNvSpPr txBox="1"/>
          <p:nvPr/>
        </p:nvSpPr>
        <p:spPr>
          <a:xfrm>
            <a:off x="7562850" y="4133850"/>
            <a:ext cx="2032000" cy="698500"/>
          </a:xfrm>
          <a:prstGeom prst="rect">
            <a:avLst/>
          </a:prstGeom>
          <a:noFill/>
          <a:ln/>
        </p:spPr>
        <p:txBody>
          <a:bodyPr wrap="square" lIns="0" tIns="0" rIns="0" bIns="0" rtlCol="0" anchor="b"/>
          <a:lstStyle/>
          <a:p>
            <a:pPr algn="l" indent="0" marL="0">
              <a:lnSpc>
                <a:spcPct val="112000"/>
              </a:lnSpc>
              <a:buNone/>
            </a:pPr>
            <a:r>
              <a:rPr lang="en-US" sz="4200" b="1" dirty="0">
                <a:solidFill>
                  <a:srgbClr val="13151C"/>
                </a:solidFill>
                <a:latin typeface="Plus Jakarta Sans" pitchFamily="34" charset="0"/>
                <a:ea typeface="Plus Jakarta Sans" pitchFamily="34" charset="-122"/>
                <a:cs typeface="Plus Jakarta Sans" pitchFamily="34" charset="-120"/>
              </a:rPr>
              <a:t>05</a:t>
            </a:r>
            <a:pPr algn="l" indent="0" marL="0">
              <a:lnSpc>
                <a:spcPct val="112000"/>
              </a:lnSpc>
              <a:buNone/>
            </a:pPr>
            <a:r>
              <a:rPr lang="en-US" sz="2000" b="1" dirty="0">
                <a:solidFill>
                  <a:srgbClr val="194EFF"/>
                </a:solidFill>
                <a:latin typeface="Plus Jakarta Sans" pitchFamily="34" charset="0"/>
                <a:ea typeface="Plus Jakarta Sans" pitchFamily="34" charset="-122"/>
                <a:cs typeface="Plus Jakarta Sans" pitchFamily="34" charset="-120"/>
              </a:rPr>
              <a:t>%</a:t>
            </a:r>
            <a:endParaRPr lang="en-US" sz="4200" dirty="0"/>
          </a:p>
        </p:txBody>
      </p:sp>
      <p:sp>
        <p:nvSpPr>
          <p:cNvPr id="26" name="anim-6-25"/>
          <p:cNvSpPr txBox="1"/>
          <p:nvPr/>
        </p:nvSpPr>
        <p:spPr>
          <a:xfrm>
            <a:off x="7562850" y="4959350"/>
            <a:ext cx="1905000" cy="444500"/>
          </a:xfrm>
          <a:prstGeom prst="rect">
            <a:avLst/>
          </a:prstGeom>
          <a:noFill/>
          <a:ln/>
        </p:spPr>
        <p:txBody>
          <a:bodyPr wrap="square" lIns="0" tIns="0" rIns="0" bIns="0" rtlCol="0" anchor="t"/>
          <a:lstStyle/>
          <a:p>
            <a:pPr algn="l" indent="0" marL="0">
              <a:lnSpc>
                <a:spcPct val="112000"/>
              </a:lnSpc>
              <a:buNone/>
            </a:pPr>
            <a:r>
              <a:rPr lang="en-US" sz="1000" dirty="0">
                <a:solidFill>
                  <a:srgbClr val="5A5C63"/>
                </a:solidFill>
                <a:latin typeface="Plus Jakarta Sans" pitchFamily="34" charset="0"/>
                <a:ea typeface="Plus Jakarta Sans" pitchFamily="34" charset="-122"/>
                <a:cs typeface="Plus Jakarta Sans" pitchFamily="34" charset="-120"/>
              </a:rPr>
              <a:t>Partner-assisted / service partner</a:t>
            </a:r>
            <a:endParaRPr lang="en-US" sz="1000" dirty="0"/>
          </a:p>
        </p:txBody>
      </p:sp>
      <p:sp>
        <p:nvSpPr>
          <p:cNvPr id="27" name="anim-7-26"/>
          <p:cNvSpPr/>
          <p:nvPr/>
        </p:nvSpPr>
        <p:spPr>
          <a:xfrm>
            <a:off x="7308850" y="3752850"/>
            <a:ext cx="4883150" cy="6350"/>
          </a:xfrm>
          <a:prstGeom prst="rect">
            <a:avLst/>
          </a:prstGeom>
          <a:solidFill>
            <a:srgbClr val="CDD0D9"/>
          </a:solidFill>
          <a:ln/>
        </p:spPr>
      </p:sp>
      <p:sp>
        <p:nvSpPr>
          <p:cNvPr id="28" name="anim-7-27"/>
          <p:cNvSpPr/>
          <p:nvPr/>
        </p:nvSpPr>
        <p:spPr>
          <a:xfrm>
            <a:off x="9747250" y="3752850"/>
            <a:ext cx="6350" cy="2089150"/>
          </a:xfrm>
          <a:prstGeom prst="rect">
            <a:avLst/>
          </a:prstGeom>
          <a:solidFill>
            <a:srgbClr val="CDD0D9"/>
          </a:solidFill>
          <a:ln/>
        </p:spPr>
      </p:sp>
      <p:sp>
        <p:nvSpPr>
          <p:cNvPr id="29" name="anim-7-28"/>
          <p:cNvSpPr/>
          <p:nvPr/>
        </p:nvSpPr>
        <p:spPr>
          <a:xfrm>
            <a:off x="9747250" y="3759200"/>
            <a:ext cx="2438400" cy="2082800"/>
          </a:xfrm>
          <a:prstGeom prst="rect">
            <a:avLst/>
          </a:prstGeom>
          <a:solidFill>
            <a:srgbClr val="F7FBFD"/>
          </a:solidFill>
          <a:ln/>
        </p:spPr>
      </p:sp>
      <p:sp>
        <p:nvSpPr>
          <p:cNvPr id="30" name="anim-7-29"/>
          <p:cNvSpPr txBox="1"/>
          <p:nvPr/>
        </p:nvSpPr>
        <p:spPr>
          <a:xfrm>
            <a:off x="10001250" y="4133850"/>
            <a:ext cx="2032000" cy="698500"/>
          </a:xfrm>
          <a:prstGeom prst="rect">
            <a:avLst/>
          </a:prstGeom>
          <a:noFill/>
          <a:ln/>
        </p:spPr>
        <p:txBody>
          <a:bodyPr wrap="square" lIns="0" tIns="0" rIns="0" bIns="0" rtlCol="0" anchor="b"/>
          <a:lstStyle/>
          <a:p>
            <a:pPr algn="l" indent="0" marL="0">
              <a:lnSpc>
                <a:spcPct val="112000"/>
              </a:lnSpc>
              <a:buNone/>
            </a:pPr>
            <a:r>
              <a:rPr lang="en-US" sz="4200" b="1" dirty="0">
                <a:solidFill>
                  <a:srgbClr val="13151C"/>
                </a:solidFill>
                <a:latin typeface="Plus Jakarta Sans" pitchFamily="34" charset="0"/>
                <a:ea typeface="Plus Jakarta Sans" pitchFamily="34" charset="-122"/>
                <a:cs typeface="Plus Jakarta Sans" pitchFamily="34" charset="-120"/>
              </a:rPr>
              <a:t>03</a:t>
            </a:r>
            <a:pPr algn="l" indent="0" marL="0">
              <a:lnSpc>
                <a:spcPct val="112000"/>
              </a:lnSpc>
              <a:buNone/>
            </a:pPr>
            <a:r>
              <a:rPr lang="en-US" sz="2000" b="1" dirty="0">
                <a:solidFill>
                  <a:srgbClr val="194EFF"/>
                </a:solidFill>
                <a:latin typeface="Plus Jakarta Sans" pitchFamily="34" charset="0"/>
                <a:ea typeface="Plus Jakarta Sans" pitchFamily="34" charset="-122"/>
                <a:cs typeface="Plus Jakarta Sans" pitchFamily="34" charset="-120"/>
              </a:rPr>
              <a:t>%</a:t>
            </a:r>
            <a:endParaRPr lang="en-US" sz="4200" dirty="0"/>
          </a:p>
        </p:txBody>
      </p:sp>
      <p:sp>
        <p:nvSpPr>
          <p:cNvPr id="31" name="anim-7-30"/>
          <p:cNvSpPr txBox="1"/>
          <p:nvPr/>
        </p:nvSpPr>
        <p:spPr>
          <a:xfrm>
            <a:off x="10001250" y="4959350"/>
            <a:ext cx="1905000" cy="444500"/>
          </a:xfrm>
          <a:prstGeom prst="rect">
            <a:avLst/>
          </a:prstGeom>
          <a:noFill/>
          <a:ln/>
        </p:spPr>
        <p:txBody>
          <a:bodyPr wrap="square" lIns="0" tIns="0" rIns="0" bIns="0" rtlCol="0" anchor="t"/>
          <a:lstStyle/>
          <a:p>
            <a:pPr algn="l" indent="0" marL="0">
              <a:lnSpc>
                <a:spcPct val="112000"/>
              </a:lnSpc>
              <a:buNone/>
            </a:pPr>
            <a:r>
              <a:rPr lang="en-US" sz="1000" dirty="0">
                <a:solidFill>
                  <a:srgbClr val="5A5C63"/>
                </a:solidFill>
                <a:latin typeface="Plus Jakarta Sans" pitchFamily="34" charset="0"/>
                <a:ea typeface="Plus Jakarta Sans" pitchFamily="34" charset="-122"/>
                <a:cs typeface="Plus Jakarta Sans" pitchFamily="34" charset="-120"/>
              </a:rPr>
              <a:t>Referral partner</a:t>
            </a:r>
            <a:endParaRPr lang="en-US" sz="1000" dirty="0"/>
          </a:p>
        </p:txBody>
      </p:sp>
      <p:sp>
        <p:nvSpPr>
          <p:cNvPr id="32" name="anim-9-31"/>
          <p:cNvSpPr/>
          <p:nvPr/>
        </p:nvSpPr>
        <p:spPr>
          <a:xfrm>
            <a:off x="0" y="5842000"/>
            <a:ext cx="12192000" cy="1016000"/>
          </a:xfrm>
          <a:prstGeom prst="rect">
            <a:avLst/>
          </a:prstGeom>
          <a:solidFill>
            <a:srgbClr val="F5F9FB"/>
          </a:solidFill>
          <a:ln/>
        </p:spPr>
      </p:sp>
      <p:pic>
        <p:nvPicPr>
          <p:cNvPr id="33" name="anim-9-32" descr="/tmp/claude-0/-home-user-hosting/7c832a48-0979-56aa-9fdf-7d53efb9dc7a/scratchpad/build/img/motif-left.png">    </p:cNvPr>
          <p:cNvPicPr>
            <a:picLocks noChangeAspect="1"/>
          </p:cNvPicPr>
          <p:nvPr/>
        </p:nvPicPr>
        <p:blipFill>
          <a:blip r:embed="rId3"/>
          <a:stretch>
            <a:fillRect/>
          </a:stretch>
        </p:blipFill>
        <p:spPr>
          <a:xfrm>
            <a:off x="0" y="5842000"/>
            <a:ext cx="844550" cy="1016000"/>
          </a:xfrm>
          <a:prstGeom prst="rect">
            <a:avLst/>
          </a:prstGeom>
        </p:spPr>
      </p:pic>
      <p:pic>
        <p:nvPicPr>
          <p:cNvPr id="34" name="anim-9-33" descr="/tmp/claude-0/-home-user-hosting/7c832a48-0979-56aa-9fdf-7d53efb9dc7a/scratchpad/build/img/motif-right.png">    </p:cNvPr>
          <p:cNvPicPr>
            <a:picLocks noChangeAspect="1"/>
          </p:cNvPicPr>
          <p:nvPr/>
        </p:nvPicPr>
        <p:blipFill>
          <a:blip r:embed="rId4"/>
          <a:stretch>
            <a:fillRect/>
          </a:stretch>
        </p:blipFill>
        <p:spPr>
          <a:xfrm>
            <a:off x="11347450" y="5842000"/>
            <a:ext cx="844550" cy="1016000"/>
          </a:xfrm>
          <a:prstGeom prst="rect">
            <a:avLst/>
          </a:prstGeom>
        </p:spPr>
      </p:pic>
      <p:sp>
        <p:nvSpPr>
          <p:cNvPr id="35" name="anim-9-34"/>
          <p:cNvSpPr txBox="1"/>
          <p:nvPr/>
        </p:nvSpPr>
        <p:spPr>
          <a:xfrm>
            <a:off x="1079500" y="5969000"/>
            <a:ext cx="2095500" cy="558800"/>
          </a:xfrm>
          <a:prstGeom prst="rect">
            <a:avLst/>
          </a:prstGeom>
          <a:noFill/>
          <a:ln/>
        </p:spPr>
        <p:txBody>
          <a:bodyPr wrap="square" lIns="0" tIns="0" rIns="0" bIns="0" rtlCol="0" anchor="ctr"/>
          <a:lstStyle/>
          <a:p>
            <a:pPr algn="l" indent="0" marL="0">
              <a:lnSpc>
                <a:spcPct val="112000"/>
              </a:lnSpc>
              <a:buNone/>
            </a:pPr>
            <a:r>
              <a:rPr lang="en-US" sz="1200" b="1" dirty="0">
                <a:solidFill>
                  <a:srgbClr val="194EFF"/>
                </a:solidFill>
                <a:latin typeface="Plus Jakarta Sans" pitchFamily="34" charset="0"/>
                <a:ea typeface="Plus Jakarta Sans" pitchFamily="34" charset="-122"/>
                <a:cs typeface="Plus Jakarta Sans" pitchFamily="34" charset="-120"/>
              </a:rPr>
              <a:t>Floors, Not Zero</a:t>
            </a:r>
            <a:endParaRPr lang="en-US" sz="1200" dirty="0"/>
          </a:p>
        </p:txBody>
      </p:sp>
      <p:sp>
        <p:nvSpPr>
          <p:cNvPr id="36" name="anim-9-35"/>
          <p:cNvSpPr txBox="1"/>
          <p:nvPr/>
        </p:nvSpPr>
        <p:spPr>
          <a:xfrm>
            <a:off x="3302000" y="5969000"/>
            <a:ext cx="7810500" cy="558800"/>
          </a:xfrm>
          <a:prstGeom prst="rect">
            <a:avLst/>
          </a:prstGeom>
          <a:noFill/>
          <a:ln/>
        </p:spPr>
        <p:txBody>
          <a:bodyPr wrap="square" lIns="0" tIns="0" rIns="0" bIns="0" rtlCol="0" anchor="ctr"/>
          <a:lstStyle/>
          <a:p>
            <a:pPr algn="l" indent="0" marL="0">
              <a:lnSpc>
                <a:spcPct val="112000"/>
              </a:lnSpc>
              <a:buNone/>
            </a:pPr>
            <a:r>
              <a:rPr lang="en-US" sz="1100" dirty="0">
                <a:solidFill>
                  <a:srgbClr val="13151C"/>
                </a:solidFill>
                <a:latin typeface="Plus Jakarta Sans Medium" pitchFamily="34" charset="0"/>
                <a:ea typeface="Plus Jakarta Sans Medium" pitchFamily="34" charset="-122"/>
                <a:cs typeface="Plus Jakarta Sans Medium" pitchFamily="34" charset="-120"/>
              </a:rPr>
              <a:t>Discounts lower the commission base, never below the protected floor for your role.</a:t>
            </a:r>
            <a:endParaRPr lang="en-US" sz="1100" dirty="0"/>
          </a:p>
        </p:txBody>
      </p:sp>
      <p:sp>
        <p:nvSpPr>
          <p:cNvPr id="37" name="Text 30"/>
          <p:cNvSpPr txBox="1"/>
          <p:nvPr/>
        </p:nvSpPr>
        <p:spPr>
          <a:xfrm>
            <a:off x="1079500" y="6578600"/>
            <a:ext cx="10033000" cy="165100"/>
          </a:xfrm>
          <a:prstGeom prst="rect">
            <a:avLst/>
          </a:prstGeom>
          <a:noFill/>
          <a:ln/>
        </p:spPr>
        <p:txBody>
          <a:bodyPr wrap="square" lIns="0" tIns="0" rIns="0" bIns="0" rtlCol="0" anchor="t"/>
          <a:lstStyle/>
          <a:p>
            <a:pPr algn="ctr" indent="0" marL="0">
              <a:lnSpc>
                <a:spcPct val="112000"/>
              </a:lnSpc>
              <a:buNone/>
            </a:pPr>
            <a:r>
              <a:rPr lang="en-US" sz="750" dirty="0">
                <a:solidFill>
                  <a:srgbClr val="8A8C93"/>
                </a:solidFill>
                <a:latin typeface="Plus Jakarta Sans" pitchFamily="34" charset="0"/>
                <a:ea typeface="Plus Jakarta Sans" pitchFamily="34" charset="-122"/>
                <a:cs typeface="Plus Jakarta Sans" pitchFamily="34" charset="-120"/>
              </a:rPr>
              <a:t>Partner-Confidential · NDA · Contains commercial rate card · Programme description only; not a contract</a:t>
            </a:r>
            <a:endParaRPr lang="en-US" sz="75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500"/>
                                        <p:tgtEl>
                                          <p:spTgt spid="3"/>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4"/>
                                        </p:tgtEl>
                                        <p:attrNameLst>
                                          <p:attrName>style.visibility</p:attrName>
                                        </p:attrNameLst>
                                      </p:cBhvr>
                                      <p:to>
                                        <p:strVal val="visible"/>
                                      </p:to>
                                    </p:set>
                                    <p:animEffect transition="in" filter="fade">
                                      <p:cBhvr>
                                        <p:cTn id="13" dur="500"/>
                                        <p:tgtEl>
                                          <p:spTgt spid="4"/>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5"/>
                                        </p:tgtEl>
                                        <p:attrNameLst>
                                          <p:attrName>style.visibility</p:attrName>
                                        </p:attrNameLst>
                                      </p:cBhvr>
                                      <p:to>
                                        <p:strVal val="visible"/>
                                      </p:to>
                                    </p:set>
                                    <p:animEffect transition="in" filter="fade">
                                      <p:cBhvr>
                                        <p:cTn id="16" dur="500"/>
                                        <p:tgtEl>
                                          <p:spTgt spid="5"/>
                                        </p:tgtEl>
                                      </p:cBhvr>
                                    </p:animEffect>
                                  </p:childTnLst>
                                </p:cTn>
                              </p:par>
                              <p:par>
                                <p:cTn id="17" presetID="10" presetClass="entr" presetSubtype="0" fill="hold" grpId="0" nodeType="withEffect">
                                  <p:stCondLst>
                                    <p:cond delay="180"/>
                                  </p:stCondLst>
                                  <p:childTnLst>
                                    <p:set>
                                      <p:cBhvr>
                                        <p:cTn id="18" dur="1" fill="hold">
                                          <p:stCondLst>
                                            <p:cond delay="0"/>
                                          </p:stCondLst>
                                        </p:cTn>
                                        <p:tgtEl>
                                          <p:spTgt spid="6"/>
                                        </p:tgtEl>
                                        <p:attrNameLst>
                                          <p:attrName>style.visibility</p:attrName>
                                        </p:attrNameLst>
                                      </p:cBhvr>
                                      <p:to>
                                        <p:strVal val="visible"/>
                                      </p:to>
                                    </p:set>
                                    <p:animEffect transition="in" filter="fade">
                                      <p:cBhvr>
                                        <p:cTn id="19" dur="500"/>
                                        <p:tgtEl>
                                          <p:spTgt spid="6"/>
                                        </p:tgtEl>
                                      </p:cBhvr>
                                    </p:animEffect>
                                  </p:childTnLst>
                                </p:cTn>
                              </p:par>
                              <p:par>
                                <p:cTn id="20" presetID="10" presetClass="entr" presetSubtype="0" fill="hold" grpId="0" nodeType="withEffect">
                                  <p:stCondLst>
                                    <p:cond delay="180"/>
                                  </p:stCondLst>
                                  <p:childTnLst>
                                    <p:set>
                                      <p:cBhvr>
                                        <p:cTn id="21" dur="1" fill="hold">
                                          <p:stCondLst>
                                            <p:cond delay="0"/>
                                          </p:stCondLst>
                                        </p:cTn>
                                        <p:tgtEl>
                                          <p:spTgt spid="7"/>
                                        </p:tgtEl>
                                        <p:attrNameLst>
                                          <p:attrName>style.visibility</p:attrName>
                                        </p:attrNameLst>
                                      </p:cBhvr>
                                      <p:to>
                                        <p:strVal val="visible"/>
                                      </p:to>
                                    </p:set>
                                    <p:animEffect transition="in" filter="fade">
                                      <p:cBhvr>
                                        <p:cTn id="22" dur="500"/>
                                        <p:tgtEl>
                                          <p:spTgt spid="7"/>
                                        </p:tgtEl>
                                      </p:cBhvr>
                                    </p:animEffect>
                                  </p:childTnLst>
                                </p:cTn>
                              </p:par>
                              <p:par>
                                <p:cTn id="23" presetID="10" presetClass="entr" presetSubtype="0" fill="hold" grpId="0" nodeType="withEffect">
                                  <p:stCondLst>
                                    <p:cond delay="180"/>
                                  </p:stCondLst>
                                  <p:childTnLst>
                                    <p:set>
                                      <p:cBhvr>
                                        <p:cTn id="24" dur="1" fill="hold">
                                          <p:stCondLst>
                                            <p:cond delay="0"/>
                                          </p:stCondLst>
                                        </p:cTn>
                                        <p:tgtEl>
                                          <p:spTgt spid="13"/>
                                        </p:tgtEl>
                                        <p:attrNameLst>
                                          <p:attrName>style.visibility</p:attrName>
                                        </p:attrNameLst>
                                      </p:cBhvr>
                                      <p:to>
                                        <p:strVal val="visible"/>
                                      </p:to>
                                    </p:set>
                                    <p:animEffect transition="in" filter="fade">
                                      <p:cBhvr>
                                        <p:cTn id="25" dur="500"/>
                                        <p:tgtEl>
                                          <p:spTgt spid="13"/>
                                        </p:tgtEl>
                                      </p:cBhvr>
                                    </p:animEffect>
                                  </p:childTnLst>
                                </p:cTn>
                              </p:par>
                              <p:par>
                                <p:cTn id="26" presetID="10" presetClass="entr" presetSubtype="0" fill="hold" grpId="0" nodeType="withEffect">
                                  <p:stCondLst>
                                    <p:cond delay="180"/>
                                  </p:stCondLst>
                                  <p:childTnLst>
                                    <p:set>
                                      <p:cBhvr>
                                        <p:cTn id="27" dur="1" fill="hold">
                                          <p:stCondLst>
                                            <p:cond delay="0"/>
                                          </p:stCondLst>
                                        </p:cTn>
                                        <p:tgtEl>
                                          <p:spTgt spid="9"/>
                                        </p:tgtEl>
                                        <p:attrNameLst>
                                          <p:attrName>style.visibility</p:attrName>
                                        </p:attrNameLst>
                                      </p:cBhvr>
                                      <p:to>
                                        <p:strVal val="visible"/>
                                      </p:to>
                                    </p:set>
                                    <p:animEffect transition="in" filter="fade">
                                      <p:cBhvr>
                                        <p:cTn id="28" dur="500"/>
                                        <p:tgtEl>
                                          <p:spTgt spid="9"/>
                                        </p:tgtEl>
                                      </p:cBhvr>
                                    </p:animEffect>
                                  </p:childTnLst>
                                </p:cTn>
                              </p:par>
                              <p:par>
                                <p:cTn id="29" presetID="10" presetClass="entr" presetSubtype="0" fill="hold" grpId="0" nodeType="withEffect">
                                  <p:stCondLst>
                                    <p:cond delay="360"/>
                                  </p:stCondLst>
                                  <p:childTnLst>
                                    <p:set>
                                      <p:cBhvr>
                                        <p:cTn id="30" dur="1" fill="hold">
                                          <p:stCondLst>
                                            <p:cond delay="0"/>
                                          </p:stCondLst>
                                        </p:cTn>
                                        <p:tgtEl>
                                          <p:spTgt spid="10"/>
                                        </p:tgtEl>
                                        <p:attrNameLst>
                                          <p:attrName>style.visibility</p:attrName>
                                        </p:attrNameLst>
                                      </p:cBhvr>
                                      <p:to>
                                        <p:strVal val="visible"/>
                                      </p:to>
                                    </p:set>
                                    <p:animEffect transition="in" filter="fade">
                                      <p:cBhvr>
                                        <p:cTn id="31" dur="500"/>
                                        <p:tgtEl>
                                          <p:spTgt spid="10"/>
                                        </p:tgtEl>
                                      </p:cBhvr>
                                    </p:animEffect>
                                  </p:childTnLst>
                                </p:cTn>
                              </p:par>
                              <p:par>
                                <p:cTn id="32" presetID="10" presetClass="entr" presetSubtype="0" fill="hold" grpId="0" nodeType="withEffect">
                                  <p:stCondLst>
                                    <p:cond delay="360"/>
                                  </p:stCondLst>
                                  <p:childTnLst>
                                    <p:set>
                                      <p:cBhvr>
                                        <p:cTn id="33" dur="1" fill="hold">
                                          <p:stCondLst>
                                            <p:cond delay="0"/>
                                          </p:stCondLst>
                                        </p:cTn>
                                        <p:tgtEl>
                                          <p:spTgt spid="11"/>
                                        </p:tgtEl>
                                        <p:attrNameLst>
                                          <p:attrName>style.visibility</p:attrName>
                                        </p:attrNameLst>
                                      </p:cBhvr>
                                      <p:to>
                                        <p:strVal val="visible"/>
                                      </p:to>
                                    </p:set>
                                    <p:animEffect transition="in" filter="fade">
                                      <p:cBhvr>
                                        <p:cTn id="34" dur="500"/>
                                        <p:tgtEl>
                                          <p:spTgt spid="11"/>
                                        </p:tgtEl>
                                      </p:cBhvr>
                                    </p:animEffect>
                                  </p:childTnLst>
                                </p:cTn>
                              </p:par>
                              <p:par>
                                <p:cTn id="35" presetID="10" presetClass="entr" presetSubtype="0" fill="hold" grpId="0" nodeType="withEffect">
                                  <p:stCondLst>
                                    <p:cond delay="360"/>
                                  </p:stCondLst>
                                  <p:childTnLst>
                                    <p:set>
                                      <p:cBhvr>
                                        <p:cTn id="36" dur="1" fill="hold">
                                          <p:stCondLst>
                                            <p:cond delay="0"/>
                                          </p:stCondLst>
                                        </p:cTn>
                                        <p:tgtEl>
                                          <p:spTgt spid="12"/>
                                        </p:tgtEl>
                                        <p:attrNameLst>
                                          <p:attrName>style.visibility</p:attrName>
                                        </p:attrNameLst>
                                      </p:cBhvr>
                                      <p:to>
                                        <p:strVal val="visible"/>
                                      </p:to>
                                    </p:set>
                                    <p:animEffect transition="in" filter="fade">
                                      <p:cBhvr>
                                        <p:cTn id="37" dur="500"/>
                                        <p:tgtEl>
                                          <p:spTgt spid="12"/>
                                        </p:tgtEl>
                                      </p:cBhvr>
                                    </p:animEffect>
                                  </p:childTnLst>
                                </p:cTn>
                              </p:par>
                              <p:par>
                                <p:cTn id="38" presetID="10" presetClass="entr" presetSubtype="0" fill="hold" grpId="0" nodeType="withEffect">
                                  <p:stCondLst>
                                    <p:cond delay="360"/>
                                  </p:stCondLst>
                                  <p:childTnLst>
                                    <p:set>
                                      <p:cBhvr>
                                        <p:cTn id="39" dur="1" fill="hold">
                                          <p:stCondLst>
                                            <p:cond delay="0"/>
                                          </p:stCondLst>
                                        </p:cTn>
                                        <p:tgtEl>
                                          <p:spTgt spid="13"/>
                                        </p:tgtEl>
                                        <p:attrNameLst>
                                          <p:attrName>style.visibility</p:attrName>
                                        </p:attrNameLst>
                                      </p:cBhvr>
                                      <p:to>
                                        <p:strVal val="visible"/>
                                      </p:to>
                                    </p:set>
                                    <p:animEffect transition="in" filter="fade">
                                      <p:cBhvr>
                                        <p:cTn id="40" dur="500"/>
                                        <p:tgtEl>
                                          <p:spTgt spid="13"/>
                                        </p:tgtEl>
                                      </p:cBhvr>
                                    </p:animEffect>
                                  </p:childTnLst>
                                </p:cTn>
                              </p:par>
                              <p:par>
                                <p:cTn id="41" presetID="10" presetClass="entr" presetSubtype="0" fill="hold" grpId="0" nodeType="withEffect">
                                  <p:stCondLst>
                                    <p:cond delay="540"/>
                                  </p:stCondLst>
                                  <p:childTnLst>
                                    <p:set>
                                      <p:cBhvr>
                                        <p:cTn id="42" dur="1" fill="hold">
                                          <p:stCondLst>
                                            <p:cond delay="0"/>
                                          </p:stCondLst>
                                        </p:cTn>
                                        <p:tgtEl>
                                          <p:spTgt spid="14"/>
                                        </p:tgtEl>
                                        <p:attrNameLst>
                                          <p:attrName>style.visibility</p:attrName>
                                        </p:attrNameLst>
                                      </p:cBhvr>
                                      <p:to>
                                        <p:strVal val="visible"/>
                                      </p:to>
                                    </p:set>
                                    <p:animEffect transition="in" filter="fade">
                                      <p:cBhvr>
                                        <p:cTn id="43" dur="500"/>
                                        <p:tgtEl>
                                          <p:spTgt spid="14"/>
                                        </p:tgtEl>
                                      </p:cBhvr>
                                    </p:animEffect>
                                  </p:childTnLst>
                                </p:cTn>
                              </p:par>
                              <p:par>
                                <p:cTn id="44" presetID="10" presetClass="entr" presetSubtype="0" fill="hold" grpId="0" nodeType="withEffect">
                                  <p:stCondLst>
                                    <p:cond delay="540"/>
                                  </p:stCondLst>
                                  <p:childTnLst>
                                    <p:set>
                                      <p:cBhvr>
                                        <p:cTn id="45" dur="1" fill="hold">
                                          <p:stCondLst>
                                            <p:cond delay="0"/>
                                          </p:stCondLst>
                                        </p:cTn>
                                        <p:tgtEl>
                                          <p:spTgt spid="15"/>
                                        </p:tgtEl>
                                        <p:attrNameLst>
                                          <p:attrName>style.visibility</p:attrName>
                                        </p:attrNameLst>
                                      </p:cBhvr>
                                      <p:to>
                                        <p:strVal val="visible"/>
                                      </p:to>
                                    </p:set>
                                    <p:animEffect transition="in" filter="fade">
                                      <p:cBhvr>
                                        <p:cTn id="46" dur="500"/>
                                        <p:tgtEl>
                                          <p:spTgt spid="15"/>
                                        </p:tgtEl>
                                      </p:cBhvr>
                                    </p:animEffect>
                                  </p:childTnLst>
                                </p:cTn>
                              </p:par>
                              <p:par>
                                <p:cTn id="47" presetID="10" presetClass="entr" presetSubtype="0" fill="hold" grpId="0" nodeType="withEffect">
                                  <p:stCondLst>
                                    <p:cond delay="540"/>
                                  </p:stCondLst>
                                  <p:childTnLst>
                                    <p:set>
                                      <p:cBhvr>
                                        <p:cTn id="48" dur="1" fill="hold">
                                          <p:stCondLst>
                                            <p:cond delay="0"/>
                                          </p:stCondLst>
                                        </p:cTn>
                                        <p:tgtEl>
                                          <p:spTgt spid="16"/>
                                        </p:tgtEl>
                                        <p:attrNameLst>
                                          <p:attrName>style.visibility</p:attrName>
                                        </p:attrNameLst>
                                      </p:cBhvr>
                                      <p:to>
                                        <p:strVal val="visible"/>
                                      </p:to>
                                    </p:set>
                                    <p:animEffect transition="in" filter="fade">
                                      <p:cBhvr>
                                        <p:cTn id="49" dur="500"/>
                                        <p:tgtEl>
                                          <p:spTgt spid="16"/>
                                        </p:tgtEl>
                                      </p:cBhvr>
                                    </p:animEffect>
                                  </p:childTnLst>
                                </p:cTn>
                              </p:par>
                              <p:par>
                                <p:cTn id="50" presetID="10" presetClass="entr" presetSubtype="0" fill="hold" grpId="0" nodeType="withEffect">
                                  <p:stCondLst>
                                    <p:cond delay="540"/>
                                  </p:stCondLst>
                                  <p:childTnLst>
                                    <p:set>
                                      <p:cBhvr>
                                        <p:cTn id="51" dur="1" fill="hold">
                                          <p:stCondLst>
                                            <p:cond delay="0"/>
                                          </p:stCondLst>
                                        </p:cTn>
                                        <p:tgtEl>
                                          <p:spTgt spid="17"/>
                                        </p:tgtEl>
                                        <p:attrNameLst>
                                          <p:attrName>style.visibility</p:attrName>
                                        </p:attrNameLst>
                                      </p:cBhvr>
                                      <p:to>
                                        <p:strVal val="visible"/>
                                      </p:to>
                                    </p:set>
                                    <p:animEffect transition="in" filter="fade">
                                      <p:cBhvr>
                                        <p:cTn id="52" dur="500"/>
                                        <p:tgtEl>
                                          <p:spTgt spid="17"/>
                                        </p:tgtEl>
                                      </p:cBhvr>
                                    </p:animEffect>
                                  </p:childTnLst>
                                </p:cTn>
                              </p:par>
                              <p:par>
                                <p:cTn id="53" presetID="10" presetClass="entr" presetSubtype="0" fill="hold" grpId="0" nodeType="withEffect">
                                  <p:stCondLst>
                                    <p:cond delay="540"/>
                                  </p:stCondLst>
                                  <p:childTnLst>
                                    <p:set>
                                      <p:cBhvr>
                                        <p:cTn id="54" dur="1" fill="hold">
                                          <p:stCondLst>
                                            <p:cond delay="0"/>
                                          </p:stCondLst>
                                        </p:cTn>
                                        <p:tgtEl>
                                          <p:spTgt spid="18"/>
                                        </p:tgtEl>
                                        <p:attrNameLst>
                                          <p:attrName>style.visibility</p:attrName>
                                        </p:attrNameLst>
                                      </p:cBhvr>
                                      <p:to>
                                        <p:strVal val="visible"/>
                                      </p:to>
                                    </p:set>
                                    <p:animEffect transition="in" filter="fade">
                                      <p:cBhvr>
                                        <p:cTn id="55" dur="500"/>
                                        <p:tgtEl>
                                          <p:spTgt spid="18"/>
                                        </p:tgtEl>
                                      </p:cBhvr>
                                    </p:animEffect>
                                  </p:childTnLst>
                                </p:cTn>
                              </p:par>
                              <p:par>
                                <p:cTn id="56" presetID="10" presetClass="entr" presetSubtype="0" fill="hold" grpId="0" nodeType="withEffect">
                                  <p:stCondLst>
                                    <p:cond delay="540"/>
                                  </p:stCondLst>
                                  <p:childTnLst>
                                    <p:set>
                                      <p:cBhvr>
                                        <p:cTn id="57" dur="1" fill="hold">
                                          <p:stCondLst>
                                            <p:cond delay="0"/>
                                          </p:stCondLst>
                                        </p:cTn>
                                        <p:tgtEl>
                                          <p:spTgt spid="19"/>
                                        </p:tgtEl>
                                        <p:attrNameLst>
                                          <p:attrName>style.visibility</p:attrName>
                                        </p:attrNameLst>
                                      </p:cBhvr>
                                      <p:to>
                                        <p:strVal val="visible"/>
                                      </p:to>
                                    </p:set>
                                    <p:animEffect transition="in" filter="fade">
                                      <p:cBhvr>
                                        <p:cTn id="58" dur="500"/>
                                        <p:tgtEl>
                                          <p:spTgt spid="19"/>
                                        </p:tgtEl>
                                      </p:cBhvr>
                                    </p:animEffect>
                                  </p:childTnLst>
                                </p:cTn>
                              </p:par>
                              <p:par>
                                <p:cTn id="59" presetID="10" presetClass="entr" presetSubtype="0" fill="hold" grpId="0" nodeType="withEffect">
                                  <p:stCondLst>
                                    <p:cond delay="720"/>
                                  </p:stCondLst>
                                  <p:childTnLst>
                                    <p:set>
                                      <p:cBhvr>
                                        <p:cTn id="60" dur="1" fill="hold">
                                          <p:stCondLst>
                                            <p:cond delay="0"/>
                                          </p:stCondLst>
                                        </p:cTn>
                                        <p:tgtEl>
                                          <p:spTgt spid="20"/>
                                        </p:tgtEl>
                                        <p:attrNameLst>
                                          <p:attrName>style.visibility</p:attrName>
                                        </p:attrNameLst>
                                      </p:cBhvr>
                                      <p:to>
                                        <p:strVal val="visible"/>
                                      </p:to>
                                    </p:set>
                                    <p:animEffect transition="in" filter="fade">
                                      <p:cBhvr>
                                        <p:cTn id="61" dur="500"/>
                                        <p:tgtEl>
                                          <p:spTgt spid="20"/>
                                        </p:tgtEl>
                                      </p:cBhvr>
                                    </p:animEffect>
                                  </p:childTnLst>
                                </p:cTn>
                              </p:par>
                              <p:par>
                                <p:cTn id="62" presetID="10" presetClass="entr" presetSubtype="0" fill="hold" grpId="0" nodeType="withEffect">
                                  <p:stCondLst>
                                    <p:cond delay="720"/>
                                  </p:stCondLst>
                                  <p:childTnLst>
                                    <p:set>
                                      <p:cBhvr>
                                        <p:cTn id="63" dur="1" fill="hold">
                                          <p:stCondLst>
                                            <p:cond delay="0"/>
                                          </p:stCondLst>
                                        </p:cTn>
                                        <p:tgtEl>
                                          <p:spTgt spid="21"/>
                                        </p:tgtEl>
                                        <p:attrNameLst>
                                          <p:attrName>style.visibility</p:attrName>
                                        </p:attrNameLst>
                                      </p:cBhvr>
                                      <p:to>
                                        <p:strVal val="visible"/>
                                      </p:to>
                                    </p:set>
                                    <p:animEffect transition="in" filter="fade">
                                      <p:cBhvr>
                                        <p:cTn id="64" dur="500"/>
                                        <p:tgtEl>
                                          <p:spTgt spid="21"/>
                                        </p:tgtEl>
                                      </p:cBhvr>
                                    </p:animEffect>
                                  </p:childTnLst>
                                </p:cTn>
                              </p:par>
                              <p:par>
                                <p:cTn id="65" presetID="10" presetClass="entr" presetSubtype="0" fill="hold" grpId="0" nodeType="withEffect">
                                  <p:stCondLst>
                                    <p:cond delay="720"/>
                                  </p:stCondLst>
                                  <p:childTnLst>
                                    <p:set>
                                      <p:cBhvr>
                                        <p:cTn id="66" dur="1" fill="hold">
                                          <p:stCondLst>
                                            <p:cond delay="0"/>
                                          </p:stCondLst>
                                        </p:cTn>
                                        <p:tgtEl>
                                          <p:spTgt spid="22"/>
                                        </p:tgtEl>
                                        <p:attrNameLst>
                                          <p:attrName>style.visibility</p:attrName>
                                        </p:attrNameLst>
                                      </p:cBhvr>
                                      <p:to>
                                        <p:strVal val="visible"/>
                                      </p:to>
                                    </p:set>
                                    <p:animEffect transition="in" filter="fade">
                                      <p:cBhvr>
                                        <p:cTn id="67" dur="500"/>
                                        <p:tgtEl>
                                          <p:spTgt spid="22"/>
                                        </p:tgtEl>
                                      </p:cBhvr>
                                    </p:animEffect>
                                  </p:childTnLst>
                                </p:cTn>
                              </p:par>
                              <p:par>
                                <p:cTn id="68" presetID="10" presetClass="entr" presetSubtype="0" fill="hold" grpId="0" nodeType="withEffect">
                                  <p:stCondLst>
                                    <p:cond delay="720"/>
                                  </p:stCondLst>
                                  <p:childTnLst>
                                    <p:set>
                                      <p:cBhvr>
                                        <p:cTn id="69" dur="1" fill="hold">
                                          <p:stCondLst>
                                            <p:cond delay="0"/>
                                          </p:stCondLst>
                                        </p:cTn>
                                        <p:tgtEl>
                                          <p:spTgt spid="23"/>
                                        </p:tgtEl>
                                        <p:attrNameLst>
                                          <p:attrName>style.visibility</p:attrName>
                                        </p:attrNameLst>
                                      </p:cBhvr>
                                      <p:to>
                                        <p:strVal val="visible"/>
                                      </p:to>
                                    </p:set>
                                    <p:animEffect transition="in" filter="fade">
                                      <p:cBhvr>
                                        <p:cTn id="70" dur="500"/>
                                        <p:tgtEl>
                                          <p:spTgt spid="23"/>
                                        </p:tgtEl>
                                      </p:cBhvr>
                                    </p:animEffect>
                                  </p:childTnLst>
                                </p:cTn>
                              </p:par>
                              <p:par>
                                <p:cTn id="71" presetID="10" presetClass="entr" presetSubtype="0" fill="hold" grpId="0" nodeType="withEffect">
                                  <p:stCondLst>
                                    <p:cond delay="900"/>
                                  </p:stCondLst>
                                  <p:childTnLst>
                                    <p:set>
                                      <p:cBhvr>
                                        <p:cTn id="72" dur="1" fill="hold">
                                          <p:stCondLst>
                                            <p:cond delay="0"/>
                                          </p:stCondLst>
                                        </p:cTn>
                                        <p:tgtEl>
                                          <p:spTgt spid="24"/>
                                        </p:tgtEl>
                                        <p:attrNameLst>
                                          <p:attrName>style.visibility</p:attrName>
                                        </p:attrNameLst>
                                      </p:cBhvr>
                                      <p:to>
                                        <p:strVal val="visible"/>
                                      </p:to>
                                    </p:set>
                                    <p:animEffect transition="in" filter="fade">
                                      <p:cBhvr>
                                        <p:cTn id="73" dur="500"/>
                                        <p:tgtEl>
                                          <p:spTgt spid="24"/>
                                        </p:tgtEl>
                                      </p:cBhvr>
                                    </p:animEffect>
                                  </p:childTnLst>
                                </p:cTn>
                              </p:par>
                              <p:par>
                                <p:cTn id="74" presetID="10" presetClass="entr" presetSubtype="0" fill="hold" grpId="0" nodeType="withEffect">
                                  <p:stCondLst>
                                    <p:cond delay="900"/>
                                  </p:stCondLst>
                                  <p:childTnLst>
                                    <p:set>
                                      <p:cBhvr>
                                        <p:cTn id="75" dur="1" fill="hold">
                                          <p:stCondLst>
                                            <p:cond delay="0"/>
                                          </p:stCondLst>
                                        </p:cTn>
                                        <p:tgtEl>
                                          <p:spTgt spid="25"/>
                                        </p:tgtEl>
                                        <p:attrNameLst>
                                          <p:attrName>style.visibility</p:attrName>
                                        </p:attrNameLst>
                                      </p:cBhvr>
                                      <p:to>
                                        <p:strVal val="visible"/>
                                      </p:to>
                                    </p:set>
                                    <p:animEffect transition="in" filter="fade">
                                      <p:cBhvr>
                                        <p:cTn id="76" dur="500"/>
                                        <p:tgtEl>
                                          <p:spTgt spid="25"/>
                                        </p:tgtEl>
                                      </p:cBhvr>
                                    </p:animEffect>
                                  </p:childTnLst>
                                </p:cTn>
                              </p:par>
                              <p:par>
                                <p:cTn id="77" presetID="10" presetClass="entr" presetSubtype="0" fill="hold" grpId="0" nodeType="withEffect">
                                  <p:stCondLst>
                                    <p:cond delay="900"/>
                                  </p:stCondLst>
                                  <p:childTnLst>
                                    <p:set>
                                      <p:cBhvr>
                                        <p:cTn id="78" dur="1" fill="hold">
                                          <p:stCondLst>
                                            <p:cond delay="0"/>
                                          </p:stCondLst>
                                        </p:cTn>
                                        <p:tgtEl>
                                          <p:spTgt spid="26"/>
                                        </p:tgtEl>
                                        <p:attrNameLst>
                                          <p:attrName>style.visibility</p:attrName>
                                        </p:attrNameLst>
                                      </p:cBhvr>
                                      <p:to>
                                        <p:strVal val="visible"/>
                                      </p:to>
                                    </p:set>
                                    <p:animEffect transition="in" filter="fade">
                                      <p:cBhvr>
                                        <p:cTn id="79" dur="500"/>
                                        <p:tgtEl>
                                          <p:spTgt spid="26"/>
                                        </p:tgtEl>
                                      </p:cBhvr>
                                    </p:animEffect>
                                  </p:childTnLst>
                                </p:cTn>
                              </p:par>
                              <p:par>
                                <p:cTn id="80" presetID="10" presetClass="entr" presetSubtype="0" fill="hold" grpId="0" nodeType="withEffect">
                                  <p:stCondLst>
                                    <p:cond delay="1080"/>
                                  </p:stCondLst>
                                  <p:childTnLst>
                                    <p:set>
                                      <p:cBhvr>
                                        <p:cTn id="81" dur="1" fill="hold">
                                          <p:stCondLst>
                                            <p:cond delay="0"/>
                                          </p:stCondLst>
                                        </p:cTn>
                                        <p:tgtEl>
                                          <p:spTgt spid="27"/>
                                        </p:tgtEl>
                                        <p:attrNameLst>
                                          <p:attrName>style.visibility</p:attrName>
                                        </p:attrNameLst>
                                      </p:cBhvr>
                                      <p:to>
                                        <p:strVal val="visible"/>
                                      </p:to>
                                    </p:set>
                                    <p:animEffect transition="in" filter="fade">
                                      <p:cBhvr>
                                        <p:cTn id="82" dur="500"/>
                                        <p:tgtEl>
                                          <p:spTgt spid="27"/>
                                        </p:tgtEl>
                                      </p:cBhvr>
                                    </p:animEffect>
                                  </p:childTnLst>
                                </p:cTn>
                              </p:par>
                              <p:par>
                                <p:cTn id="83" presetID="10" presetClass="entr" presetSubtype="0" fill="hold" grpId="0" nodeType="withEffect">
                                  <p:stCondLst>
                                    <p:cond delay="1080"/>
                                  </p:stCondLst>
                                  <p:childTnLst>
                                    <p:set>
                                      <p:cBhvr>
                                        <p:cTn id="84" dur="1" fill="hold">
                                          <p:stCondLst>
                                            <p:cond delay="0"/>
                                          </p:stCondLst>
                                        </p:cTn>
                                        <p:tgtEl>
                                          <p:spTgt spid="28"/>
                                        </p:tgtEl>
                                        <p:attrNameLst>
                                          <p:attrName>style.visibility</p:attrName>
                                        </p:attrNameLst>
                                      </p:cBhvr>
                                      <p:to>
                                        <p:strVal val="visible"/>
                                      </p:to>
                                    </p:set>
                                    <p:animEffect transition="in" filter="fade">
                                      <p:cBhvr>
                                        <p:cTn id="85" dur="500"/>
                                        <p:tgtEl>
                                          <p:spTgt spid="28"/>
                                        </p:tgtEl>
                                      </p:cBhvr>
                                    </p:animEffect>
                                  </p:childTnLst>
                                </p:cTn>
                              </p:par>
                              <p:par>
                                <p:cTn id="86" presetID="10" presetClass="entr" presetSubtype="0" fill="hold" grpId="0" nodeType="withEffect">
                                  <p:stCondLst>
                                    <p:cond delay="1080"/>
                                  </p:stCondLst>
                                  <p:childTnLst>
                                    <p:set>
                                      <p:cBhvr>
                                        <p:cTn id="87" dur="1" fill="hold">
                                          <p:stCondLst>
                                            <p:cond delay="0"/>
                                          </p:stCondLst>
                                        </p:cTn>
                                        <p:tgtEl>
                                          <p:spTgt spid="29"/>
                                        </p:tgtEl>
                                        <p:attrNameLst>
                                          <p:attrName>style.visibility</p:attrName>
                                        </p:attrNameLst>
                                      </p:cBhvr>
                                      <p:to>
                                        <p:strVal val="visible"/>
                                      </p:to>
                                    </p:set>
                                    <p:animEffect transition="in" filter="fade">
                                      <p:cBhvr>
                                        <p:cTn id="88" dur="500"/>
                                        <p:tgtEl>
                                          <p:spTgt spid="29"/>
                                        </p:tgtEl>
                                      </p:cBhvr>
                                    </p:animEffect>
                                  </p:childTnLst>
                                </p:cTn>
                              </p:par>
                              <p:par>
                                <p:cTn id="89" presetID="10" presetClass="entr" presetSubtype="0" fill="hold" grpId="0" nodeType="withEffect">
                                  <p:stCondLst>
                                    <p:cond delay="1080"/>
                                  </p:stCondLst>
                                  <p:childTnLst>
                                    <p:set>
                                      <p:cBhvr>
                                        <p:cTn id="90" dur="1" fill="hold">
                                          <p:stCondLst>
                                            <p:cond delay="0"/>
                                          </p:stCondLst>
                                        </p:cTn>
                                        <p:tgtEl>
                                          <p:spTgt spid="30"/>
                                        </p:tgtEl>
                                        <p:attrNameLst>
                                          <p:attrName>style.visibility</p:attrName>
                                        </p:attrNameLst>
                                      </p:cBhvr>
                                      <p:to>
                                        <p:strVal val="visible"/>
                                      </p:to>
                                    </p:set>
                                    <p:animEffect transition="in" filter="fade">
                                      <p:cBhvr>
                                        <p:cTn id="91" dur="500"/>
                                        <p:tgtEl>
                                          <p:spTgt spid="30"/>
                                        </p:tgtEl>
                                      </p:cBhvr>
                                    </p:animEffect>
                                  </p:childTnLst>
                                </p:cTn>
                              </p:par>
                              <p:par>
                                <p:cTn id="92" presetID="10" presetClass="entr" presetSubtype="0" fill="hold" grpId="0" nodeType="withEffect">
                                  <p:stCondLst>
                                    <p:cond delay="1080"/>
                                  </p:stCondLst>
                                  <p:childTnLst>
                                    <p:set>
                                      <p:cBhvr>
                                        <p:cTn id="93" dur="1" fill="hold">
                                          <p:stCondLst>
                                            <p:cond delay="0"/>
                                          </p:stCondLst>
                                        </p:cTn>
                                        <p:tgtEl>
                                          <p:spTgt spid="31"/>
                                        </p:tgtEl>
                                        <p:attrNameLst>
                                          <p:attrName>style.visibility</p:attrName>
                                        </p:attrNameLst>
                                      </p:cBhvr>
                                      <p:to>
                                        <p:strVal val="visible"/>
                                      </p:to>
                                    </p:set>
                                    <p:animEffect transition="in" filter="fade">
                                      <p:cBhvr>
                                        <p:cTn id="94" dur="500"/>
                                        <p:tgtEl>
                                          <p:spTgt spid="31"/>
                                        </p:tgtEl>
                                      </p:cBhvr>
                                    </p:animEffect>
                                  </p:childTnLst>
                                </p:cTn>
                              </p:par>
                              <p:par>
                                <p:cTn id="95" presetID="10" presetClass="entr" presetSubtype="0" fill="hold" grpId="0" nodeType="withEffect">
                                  <p:stCondLst>
                                    <p:cond delay="1260"/>
                                  </p:stCondLst>
                                  <p:childTnLst>
                                    <p:set>
                                      <p:cBhvr>
                                        <p:cTn id="96" dur="1" fill="hold">
                                          <p:stCondLst>
                                            <p:cond delay="0"/>
                                          </p:stCondLst>
                                        </p:cTn>
                                        <p:tgtEl>
                                          <p:spTgt spid="32"/>
                                        </p:tgtEl>
                                        <p:attrNameLst>
                                          <p:attrName>style.visibility</p:attrName>
                                        </p:attrNameLst>
                                      </p:cBhvr>
                                      <p:to>
                                        <p:strVal val="visible"/>
                                      </p:to>
                                    </p:set>
                                    <p:animEffect transition="in" filter="fade">
                                      <p:cBhvr>
                                        <p:cTn id="97" dur="500"/>
                                        <p:tgtEl>
                                          <p:spTgt spid="32"/>
                                        </p:tgtEl>
                                      </p:cBhvr>
                                    </p:animEffect>
                                  </p:childTnLst>
                                </p:cTn>
                              </p:par>
                              <p:par>
                                <p:cTn id="98" presetID="10" presetClass="entr" presetSubtype="0" fill="hold" grpId="0" nodeType="withEffect">
                                  <p:stCondLst>
                                    <p:cond delay="1260"/>
                                  </p:stCondLst>
                                  <p:childTnLst>
                                    <p:set>
                                      <p:cBhvr>
                                        <p:cTn id="99" dur="1" fill="hold">
                                          <p:stCondLst>
                                            <p:cond delay="0"/>
                                          </p:stCondLst>
                                        </p:cTn>
                                        <p:tgtEl>
                                          <p:spTgt spid="33"/>
                                        </p:tgtEl>
                                        <p:attrNameLst>
                                          <p:attrName>style.visibility</p:attrName>
                                        </p:attrNameLst>
                                      </p:cBhvr>
                                      <p:to>
                                        <p:strVal val="visible"/>
                                      </p:to>
                                    </p:set>
                                    <p:animEffect transition="in" filter="fade">
                                      <p:cBhvr>
                                        <p:cTn id="100" dur="500"/>
                                        <p:tgtEl>
                                          <p:spTgt spid="33"/>
                                        </p:tgtEl>
                                      </p:cBhvr>
                                    </p:animEffect>
                                  </p:childTnLst>
                                </p:cTn>
                              </p:par>
                              <p:par>
                                <p:cTn id="101" presetID="10" presetClass="entr" presetSubtype="0" fill="hold" grpId="0" nodeType="withEffect">
                                  <p:stCondLst>
                                    <p:cond delay="1260"/>
                                  </p:stCondLst>
                                  <p:childTnLst>
                                    <p:set>
                                      <p:cBhvr>
                                        <p:cTn id="102" dur="1" fill="hold">
                                          <p:stCondLst>
                                            <p:cond delay="0"/>
                                          </p:stCondLst>
                                        </p:cTn>
                                        <p:tgtEl>
                                          <p:spTgt spid="34"/>
                                        </p:tgtEl>
                                        <p:attrNameLst>
                                          <p:attrName>style.visibility</p:attrName>
                                        </p:attrNameLst>
                                      </p:cBhvr>
                                      <p:to>
                                        <p:strVal val="visible"/>
                                      </p:to>
                                    </p:set>
                                    <p:animEffect transition="in" filter="fade">
                                      <p:cBhvr>
                                        <p:cTn id="103" dur="500"/>
                                        <p:tgtEl>
                                          <p:spTgt spid="34"/>
                                        </p:tgtEl>
                                      </p:cBhvr>
                                    </p:animEffect>
                                  </p:childTnLst>
                                </p:cTn>
                              </p:par>
                              <p:par>
                                <p:cTn id="104" presetID="10" presetClass="entr" presetSubtype="0" fill="hold" grpId="0" nodeType="withEffect">
                                  <p:stCondLst>
                                    <p:cond delay="1260"/>
                                  </p:stCondLst>
                                  <p:childTnLst>
                                    <p:set>
                                      <p:cBhvr>
                                        <p:cTn id="105" dur="1" fill="hold">
                                          <p:stCondLst>
                                            <p:cond delay="0"/>
                                          </p:stCondLst>
                                        </p:cTn>
                                        <p:tgtEl>
                                          <p:spTgt spid="35"/>
                                        </p:tgtEl>
                                        <p:attrNameLst>
                                          <p:attrName>style.visibility</p:attrName>
                                        </p:attrNameLst>
                                      </p:cBhvr>
                                      <p:to>
                                        <p:strVal val="visible"/>
                                      </p:to>
                                    </p:set>
                                    <p:animEffect transition="in" filter="fade">
                                      <p:cBhvr>
                                        <p:cTn id="106" dur="500"/>
                                        <p:tgtEl>
                                          <p:spTgt spid="35"/>
                                        </p:tgtEl>
                                      </p:cBhvr>
                                    </p:animEffect>
                                  </p:childTnLst>
                                </p:cTn>
                              </p:par>
                              <p:par>
                                <p:cTn id="107" presetID="10" presetClass="entr" presetSubtype="0" fill="hold" grpId="0" nodeType="withEffect">
                                  <p:stCondLst>
                                    <p:cond delay="1260"/>
                                  </p:stCondLst>
                                  <p:childTnLst>
                                    <p:set>
                                      <p:cBhvr>
                                        <p:cTn id="108" dur="1" fill="hold">
                                          <p:stCondLst>
                                            <p:cond delay="0"/>
                                          </p:stCondLst>
                                        </p:cTn>
                                        <p:tgtEl>
                                          <p:spTgt spid="36"/>
                                        </p:tgtEl>
                                        <p:attrNameLst>
                                          <p:attrName>style.visibility</p:attrName>
                                        </p:attrNameLst>
                                      </p:cBhvr>
                                      <p:to>
                                        <p:strVal val="visible"/>
                                      </p:to>
                                    </p:set>
                                    <p:animEffect transition="in" filter="fade">
                                      <p:cBhvr>
                                        <p:cTn id="109" dur="50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0" animBg="1"/>
      <p:bldP spid="7" grpId="0" animBg="1"/>
      <p:bldP spid="9" grpId="0" animBg="1"/>
      <p:bldP spid="10" grpId="0" animBg="1"/>
      <p:bldP spid="11" grpId="0" animBg="1"/>
      <p:bldP spid="12" grpId="0" animBg="1"/>
      <p:bldP spid="13" grpId="0" animBg="1"/>
      <p:bldP spid="14" grpId="0" animBg="1"/>
      <p:bldP spid="15" grpId="0" animBg="1"/>
      <p:bldP spid="16"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5" grpId="0" animBg="1"/>
      <p:bldP spid="36"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pic>
        <p:nvPicPr>
          <p:cNvPr id="2" name="anim-1-1" descr="/tmp/claude-0/-home-user-hosting/7c832a48-0979-56aa-9fdf-7d53efb9dc7a/scratchpad/build/img/pointer.png">    </p:cNvPr>
          <p:cNvPicPr>
            <a:picLocks noChangeAspect="1"/>
          </p:cNvPicPr>
          <p:nvPr/>
        </p:nvPicPr>
        <p:blipFill>
          <a:blip r:embed="rId1"/>
          <a:stretch>
            <a:fillRect/>
          </a:stretch>
        </p:blipFill>
        <p:spPr>
          <a:xfrm>
            <a:off x="304800" y="241300"/>
            <a:ext cx="107274" cy="215900"/>
          </a:xfrm>
          <a:prstGeom prst="rect">
            <a:avLst/>
          </a:prstGeom>
        </p:spPr>
      </p:pic>
      <p:sp>
        <p:nvSpPr>
          <p:cNvPr id="3" name="anim-1-2"/>
          <p:cNvSpPr txBox="1"/>
          <p:nvPr/>
        </p:nvSpPr>
        <p:spPr>
          <a:xfrm>
            <a:off x="482600" y="254000"/>
            <a:ext cx="10160000" cy="215900"/>
          </a:xfrm>
          <a:prstGeom prst="rect">
            <a:avLst/>
          </a:prstGeom>
          <a:noFill/>
          <a:ln/>
        </p:spPr>
        <p:txBody>
          <a:bodyPr wrap="square" lIns="0" tIns="0" rIns="0" bIns="0" rtlCol="0" anchor="t"/>
          <a:lstStyle/>
          <a:p>
            <a:pPr algn="l" indent="0" marL="0">
              <a:lnSpc>
                <a:spcPct val="112000"/>
              </a:lnSpc>
              <a:buNone/>
            </a:pPr>
            <a:r>
              <a:rPr lang="en-US" sz="1200" b="1" spc="100" kern="0" dirty="0">
                <a:solidFill>
                  <a:srgbClr val="194EFF"/>
                </a:solidFill>
                <a:latin typeface="Plus Jakarta Sans" pitchFamily="34" charset="0"/>
                <a:ea typeface="Plus Jakarta Sans" pitchFamily="34" charset="-122"/>
                <a:cs typeface="Plus Jakarta Sans" pitchFamily="34" charset="-120"/>
              </a:rPr>
              <a:t>SERVICE PARTNERS, ALLIANCES &amp; TECHNOLOGY</a:t>
            </a:r>
            <a:endParaRPr lang="en-US" sz="1200" dirty="0"/>
          </a:p>
        </p:txBody>
      </p:sp>
      <p:sp>
        <p:nvSpPr>
          <p:cNvPr id="4" name="anim-1-3"/>
          <p:cNvSpPr txBox="1"/>
          <p:nvPr/>
        </p:nvSpPr>
        <p:spPr>
          <a:xfrm>
            <a:off x="304800" y="546100"/>
            <a:ext cx="11582400" cy="406400"/>
          </a:xfrm>
          <a:prstGeom prst="rect">
            <a:avLst/>
          </a:prstGeom>
          <a:noFill/>
          <a:ln/>
        </p:spPr>
        <p:txBody>
          <a:bodyPr wrap="square" lIns="0" tIns="0" rIns="0" bIns="0" rtlCol="0" anchor="ctr"/>
          <a:lstStyle/>
          <a:p>
            <a:pPr algn="l" indent="0" marL="0">
              <a:lnSpc>
                <a:spcPct val="112000"/>
              </a:lnSpc>
              <a:buNone/>
            </a:pPr>
            <a:r>
              <a:rPr lang="en-US" sz="2000" b="1" dirty="0">
                <a:solidFill>
                  <a:srgbClr val="13151C"/>
                </a:solidFill>
                <a:latin typeface="Plus Jakarta Sans" pitchFamily="34" charset="0"/>
                <a:ea typeface="Plus Jakarta Sans" pitchFamily="34" charset="-122"/>
                <a:cs typeface="Plus Jakarta Sans" pitchFamily="34" charset="-120"/>
              </a:rPr>
              <a:t>Implementation track and </a:t>
            </a:r>
            <a:pPr algn="l" indent="0" marL="0">
              <a:lnSpc>
                <a:spcPct val="112000"/>
              </a:lnSpc>
              <a:buNone/>
            </a:pPr>
            <a:r>
              <a:rPr lang="en-US" sz="2000" b="1" dirty="0">
                <a:solidFill>
                  <a:srgbClr val="194EFF"/>
                </a:solidFill>
                <a:latin typeface="Plus Jakarta Sans" pitchFamily="34" charset="0"/>
                <a:ea typeface="Plus Jakarta Sans" pitchFamily="34" charset="-122"/>
                <a:cs typeface="Plus Jakarta Sans" pitchFamily="34" charset="-120"/>
              </a:rPr>
              <a:t>strategic</a:t>
            </a:r>
            <a:pPr algn="l" indent="0" marL="0">
              <a:lnSpc>
                <a:spcPct val="112000"/>
              </a:lnSpc>
              <a:buNone/>
            </a:pPr>
            <a:r>
              <a:rPr lang="en-US" sz="2000" b="1" dirty="0">
                <a:solidFill>
                  <a:srgbClr val="13151C"/>
                </a:solidFill>
                <a:latin typeface="Plus Jakarta Sans" pitchFamily="34" charset="0"/>
                <a:ea typeface="Plus Jakarta Sans" pitchFamily="34" charset="-122"/>
                <a:cs typeface="Plus Jakarta Sans" pitchFamily="34" charset="-120"/>
              </a:rPr>
              <a:t> motions</a:t>
            </a:r>
            <a:endParaRPr lang="en-US" sz="2000" dirty="0"/>
          </a:p>
        </p:txBody>
      </p:sp>
      <p:sp>
        <p:nvSpPr>
          <p:cNvPr id="5" name="anim-1-4"/>
          <p:cNvSpPr/>
          <p:nvPr/>
        </p:nvSpPr>
        <p:spPr>
          <a:xfrm>
            <a:off x="0" y="1244600"/>
            <a:ext cx="12192000" cy="6350"/>
          </a:xfrm>
          <a:prstGeom prst="rect">
            <a:avLst/>
          </a:prstGeom>
          <a:solidFill>
            <a:srgbClr val="CDD0D9"/>
          </a:solidFill>
          <a:ln/>
        </p:spPr>
      </p:sp>
      <p:sp>
        <p:nvSpPr>
          <p:cNvPr id="6" name="anim-2-5"/>
          <p:cNvSpPr/>
          <p:nvPr/>
        </p:nvSpPr>
        <p:spPr>
          <a:xfrm>
            <a:off x="6985000" y="1244600"/>
            <a:ext cx="6350" cy="4597400"/>
          </a:xfrm>
          <a:prstGeom prst="rect">
            <a:avLst/>
          </a:prstGeom>
          <a:solidFill>
            <a:srgbClr val="CDD0D9"/>
          </a:solidFill>
          <a:ln/>
        </p:spPr>
      </p:sp>
      <p:sp>
        <p:nvSpPr>
          <p:cNvPr id="7" name="anim-2-6"/>
          <p:cNvSpPr txBox="1"/>
          <p:nvPr/>
        </p:nvSpPr>
        <p:spPr>
          <a:xfrm>
            <a:off x="304800" y="1409700"/>
            <a:ext cx="6350000" cy="165100"/>
          </a:xfrm>
          <a:prstGeom prst="rect">
            <a:avLst/>
          </a:prstGeom>
          <a:noFill/>
          <a:ln/>
        </p:spPr>
        <p:txBody>
          <a:bodyPr wrap="square" lIns="0" tIns="0" rIns="0" bIns="0" rtlCol="0" anchor="t"/>
          <a:lstStyle/>
          <a:p>
            <a:pPr algn="l" indent="0" marL="0">
              <a:lnSpc>
                <a:spcPct val="112000"/>
              </a:lnSpc>
              <a:buNone/>
            </a:pPr>
            <a:r>
              <a:rPr lang="en-US" sz="850" b="1" spc="150" kern="0" dirty="0">
                <a:solidFill>
                  <a:srgbClr val="194EFF"/>
                </a:solidFill>
                <a:latin typeface="Plus Jakarta Sans" pitchFamily="34" charset="0"/>
                <a:ea typeface="Plus Jakarta Sans" pitchFamily="34" charset="-122"/>
                <a:cs typeface="Plus Jakarta Sans" pitchFamily="34" charset="-120"/>
              </a:rPr>
              <a:t>INFLUENCE FEES FOR DELIVERY PARTNERS</a:t>
            </a:r>
            <a:endParaRPr lang="en-US" sz="850" dirty="0"/>
          </a:p>
        </p:txBody>
      </p:sp>
      <p:graphicFrame>
        <p:nvGraphicFramePr>
          <p:cNvPr id="14" name="anim-2-7"/>
          <p:cNvGraphicFramePr>
            <a:graphicFrameLocks noGrp="1"/>
          </p:cNvGraphicFramePr>
          <p:nvPr>
            <p:extLst>
              <p:ext uri="{D42A27DB-BD31-4B8C-83A1-F6EECF244321}">
                <p14:modId xmlns:p14="http://schemas.microsoft.com/office/powerpoint/2010/main" val="1579011935"/>
              </p:ext>
            </p:extLst>
          </p:nvPr>
        </p:nvGraphicFramePr>
        <p:xfrm>
          <a:off x="304800" y="1663700"/>
          <a:ext cx="6375400" cy="914400"/>
        </p:xfrm>
        <a:graphic>
          <a:graphicData uri="http://schemas.openxmlformats.org/drawingml/2006/table">
            <a:tbl>
              <a:tblPr/>
              <a:tblGrid>
                <a:gridCol w="3048000"/>
                <a:gridCol w="3327400"/>
              </a:tblGrid>
              <a:tr h="584200">
                <a:tc>
                  <a:txBody>
                    <a:bodyPr/>
                    <a:lstStyle/>
                    <a:p>
                      <a:pPr algn="l" indent="0" marL="0">
                        <a:buNone/>
                      </a:pPr>
                      <a:r>
                        <a:rPr lang="en-US" sz="850" dirty="0">
                          <a:solidFill>
                            <a:srgbClr val="194EFF"/>
                          </a:solidFill>
                          <a:latin typeface="Plus Jakarta Sans SemiBold" pitchFamily="34" charset="0"/>
                          <a:ea typeface="Plus Jakarta Sans SemiBold" pitchFamily="34" charset="-122"/>
                          <a:cs typeface="Plus Jakarta Sans SemiBold" pitchFamily="34" charset="-120"/>
                        </a:rPr>
                        <a:t>Scenario</a:t>
                      </a:r>
                      <a:endParaRPr lang="en-US" sz="850" dirty="0">
                        <a:latin typeface="Plus Jakarta Sans SemiBold" charset="0"/>
                        <a:ea typeface="Plus Jakarta Sans SemiBold" charset="0"/>
                        <a:cs typeface="Plus Jakarta Sans SemiBold" charset="0"/>
                      </a:endParaRPr>
                    </a:p>
                  </a:txBody>
                  <a:tcPr marL="101600" marR="101600" marT="38100" marB="38100" anchor="ctr">
                    <a:lnL w="0" cap="flat" cmpd="sng" algn="ctr">
                      <a:noFill/>
                    </a:lnL>
                    <a:lnR w="0" cap="flat" cmpd="sng" algn="ctr">
                      <a:noFill/>
                    </a:lnR>
                    <a:lnT w="9525" cap="flat" cmpd="sng" algn="ctr">
                      <a:solidFill>
                        <a:srgbClr val="CDD0D9"/>
                      </a:solidFill>
                      <a:prstDash val="solid"/>
                      <a:round/>
                      <a:headEnd type="none" w="med" len="med"/>
                      <a:tailEnd type="none" w="med" len="med"/>
                    </a:lnT>
                    <a:lnB w="9525" cap="flat" cmpd="sng" algn="ctr">
                      <a:solidFill>
                        <a:srgbClr val="CDD0D9"/>
                      </a:solidFill>
                      <a:prstDash val="solid"/>
                      <a:round/>
                      <a:headEnd type="none" w="med" len="med"/>
                      <a:tailEnd type="none" w="med" len="med"/>
                    </a:lnB>
                    <a:solidFill>
                      <a:srgbClr val="EDF1FF"/>
                    </a:solidFill>
                  </a:tcPr>
                </a:tc>
                <a:tc>
                  <a:txBody>
                    <a:bodyPr/>
                    <a:lstStyle/>
                    <a:p>
                      <a:pPr algn="l" indent="0" marL="0">
                        <a:buNone/>
                      </a:pPr>
                      <a:r>
                        <a:rPr lang="en-US" sz="850" dirty="0">
                          <a:solidFill>
                            <a:srgbClr val="194EFF"/>
                          </a:solidFill>
                          <a:latin typeface="Plus Jakarta Sans SemiBold" pitchFamily="34" charset="0"/>
                          <a:ea typeface="Plus Jakarta Sans SemiBold" pitchFamily="34" charset="-122"/>
                          <a:cs typeface="Plus Jakarta Sans SemiBold" pitchFamily="34" charset="-120"/>
                        </a:rPr>
                        <a:t>Recommended treatment</a:t>
                      </a:r>
                      <a:endParaRPr lang="en-US" sz="850" dirty="0">
                        <a:latin typeface="Plus Jakarta Sans SemiBold" charset="0"/>
                        <a:ea typeface="Plus Jakarta Sans SemiBold" charset="0"/>
                        <a:cs typeface="Plus Jakarta Sans SemiBold" charset="0"/>
                      </a:endParaRPr>
                    </a:p>
                  </a:txBody>
                  <a:tcPr marL="101600" marR="101600" marT="38100" marB="38100" anchor="ctr">
                    <a:lnL w="0" cap="flat" cmpd="sng" algn="ctr">
                      <a:noFill/>
                    </a:lnL>
                    <a:lnR w="0" cap="flat" cmpd="sng" algn="ctr">
                      <a:noFill/>
                    </a:lnR>
                    <a:lnT w="9525" cap="flat" cmpd="sng" algn="ctr">
                      <a:solidFill>
                        <a:srgbClr val="CDD0D9"/>
                      </a:solidFill>
                      <a:prstDash val="solid"/>
                      <a:round/>
                      <a:headEnd type="none" w="med" len="med"/>
                      <a:tailEnd type="none" w="med" len="med"/>
                    </a:lnT>
                    <a:lnB w="9525" cap="flat" cmpd="sng" algn="ctr">
                      <a:solidFill>
                        <a:srgbClr val="CDD0D9"/>
                      </a:solidFill>
                      <a:prstDash val="solid"/>
                      <a:round/>
                      <a:headEnd type="none" w="med" len="med"/>
                      <a:tailEnd type="none" w="med" len="med"/>
                    </a:lnB>
                    <a:solidFill>
                      <a:srgbClr val="EDF1FF"/>
                    </a:solidFill>
                  </a:tcPr>
                </a:tc>
              </a:tr>
              <a:tr h="584200">
                <a:tc>
                  <a:txBody>
                    <a:bodyPr/>
                    <a:lstStyle/>
                    <a:p>
                      <a:pPr algn="l" indent="0" marL="0">
                        <a:buNone/>
                      </a:pPr>
                      <a:r>
                        <a:rPr lang="en-US" sz="950" dirty="0">
                          <a:solidFill>
                            <a:srgbClr val="13151C"/>
                          </a:solidFill>
                          <a:latin typeface="Plus Jakarta Sans SemiBold" pitchFamily="34" charset="0"/>
                          <a:ea typeface="Plus Jakarta Sans SemiBold" pitchFamily="34" charset="-122"/>
                          <a:cs typeface="Plus Jakarta Sans SemiBold" pitchFamily="34" charset="-120"/>
                        </a:rPr>
                        <a:t>Supports technical validation but does not lead the sale</a:t>
                      </a:r>
                      <a:endParaRPr lang="en-US" sz="950" dirty="0">
                        <a:latin typeface="Plus Jakarta Sans SemiBold" charset="0"/>
                        <a:ea typeface="Plus Jakarta Sans SemiBold" charset="0"/>
                        <a:cs typeface="Plus Jakarta Sans SemiBold" charset="0"/>
                      </a:endParaRPr>
                    </a:p>
                  </a:txBody>
                  <a:tcPr marL="101600" marR="101600" marT="38100" marB="38100" anchor="ctr">
                    <a:lnL w="0" cap="flat" cmpd="sng" algn="ctr">
                      <a:noFill/>
                    </a:lnL>
                    <a:lnR w="0" cap="flat" cmpd="sng" algn="ctr">
                      <a:noFill/>
                    </a:lnR>
                    <a:lnT w="9525" cap="flat" cmpd="sng" algn="ctr">
                      <a:solidFill>
                        <a:srgbClr val="CDD0D9"/>
                      </a:solidFill>
                      <a:prstDash val="solid"/>
                      <a:round/>
                      <a:headEnd type="none" w="med" len="med"/>
                      <a:tailEnd type="none" w="med" len="med"/>
                    </a:lnT>
                    <a:lnB w="9525" cap="flat" cmpd="sng" algn="ctr">
                      <a:solidFill>
                        <a:srgbClr val="CDD0D9"/>
                      </a:solidFill>
                      <a:prstDash val="solid"/>
                      <a:round/>
                      <a:headEnd type="none" w="med" len="med"/>
                      <a:tailEnd type="none" w="med" len="med"/>
                    </a:lnB>
                    <a:solidFill>
                      <a:srgbClr val="FFFFFF"/>
                    </a:solidFill>
                  </a:tcPr>
                </a:tc>
                <a:tc>
                  <a:txBody>
                    <a:bodyPr/>
                    <a:lstStyle/>
                    <a:p>
                      <a:pPr algn="l" indent="0" marL="0">
                        <a:buNone/>
                      </a:pPr>
                      <a:r>
                        <a:rPr lang="en-US" sz="950" dirty="0">
                          <a:solidFill>
                            <a:srgbClr val="13151C"/>
                          </a:solidFill>
                          <a:latin typeface="Plus Jakarta Sans" pitchFamily="34" charset="0"/>
                          <a:ea typeface="Plus Jakarta Sans" pitchFamily="34" charset="-122"/>
                          <a:cs typeface="Plus Jakarta Sans" pitchFamily="34" charset="-120"/>
                        </a:rPr>
                        <a:t>Up to 05% approved influence fee / success rebate when contribution is documented</a:t>
                      </a:r>
                      <a:endParaRPr lang="en-US" sz="95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CDD0D9"/>
                      </a:solidFill>
                      <a:prstDash val="solid"/>
                      <a:round/>
                      <a:headEnd type="none" w="med" len="med"/>
                      <a:tailEnd type="none" w="med" len="med"/>
                    </a:lnT>
                    <a:lnB w="9525" cap="flat" cmpd="sng" algn="ctr">
                      <a:solidFill>
                        <a:srgbClr val="CDD0D9"/>
                      </a:solidFill>
                      <a:prstDash val="solid"/>
                      <a:round/>
                      <a:headEnd type="none" w="med" len="med"/>
                      <a:tailEnd type="none" w="med" len="med"/>
                    </a:lnB>
                    <a:solidFill>
                      <a:srgbClr val="FFFFFF"/>
                    </a:solidFill>
                  </a:tcPr>
                </a:tc>
              </a:tr>
              <a:tr h="584200">
                <a:tc>
                  <a:txBody>
                    <a:bodyPr/>
                    <a:lstStyle/>
                    <a:p>
                      <a:pPr algn="l" indent="0" marL="0">
                        <a:buNone/>
                      </a:pPr>
                      <a:r>
                        <a:rPr lang="en-US" sz="950" dirty="0">
                          <a:solidFill>
                            <a:srgbClr val="13151C"/>
                          </a:solidFill>
                          <a:latin typeface="Plus Jakarta Sans SemiBold" pitchFamily="34" charset="0"/>
                          <a:ea typeface="Plus Jakarta Sans SemiBold" pitchFamily="34" charset="-122"/>
                          <a:cs typeface="Plus Jakarta Sans SemiBold" pitchFamily="34" charset="-120"/>
                        </a:rPr>
                        <a:t>Materially influences the executive decision</a:t>
                      </a:r>
                      <a:endParaRPr lang="en-US" sz="950" dirty="0">
                        <a:latin typeface="Plus Jakarta Sans SemiBold" charset="0"/>
                        <a:ea typeface="Plus Jakarta Sans SemiBold" charset="0"/>
                        <a:cs typeface="Plus Jakarta Sans SemiBold" charset="0"/>
                      </a:endParaRPr>
                    </a:p>
                  </a:txBody>
                  <a:tcPr marL="101600" marR="101600" marT="38100" marB="38100" anchor="ctr">
                    <a:lnL w="0" cap="flat" cmpd="sng" algn="ctr">
                      <a:noFill/>
                    </a:lnL>
                    <a:lnR w="0" cap="flat" cmpd="sng" algn="ctr">
                      <a:noFill/>
                    </a:lnR>
                    <a:lnT w="9525" cap="flat" cmpd="sng" algn="ctr">
                      <a:solidFill>
                        <a:srgbClr val="CDD0D9"/>
                      </a:solidFill>
                      <a:prstDash val="solid"/>
                      <a:round/>
                      <a:headEnd type="none" w="med" len="med"/>
                      <a:tailEnd type="none" w="med" len="med"/>
                    </a:lnT>
                    <a:lnB w="9525" cap="flat" cmpd="sng" algn="ctr">
                      <a:solidFill>
                        <a:srgbClr val="CDD0D9"/>
                      </a:solidFill>
                      <a:prstDash val="solid"/>
                      <a:round/>
                      <a:headEnd type="none" w="med" len="med"/>
                      <a:tailEnd type="none" w="med" len="med"/>
                    </a:lnB>
                    <a:solidFill>
                      <a:srgbClr val="F7FBFD"/>
                    </a:solidFill>
                  </a:tcPr>
                </a:tc>
                <a:tc>
                  <a:txBody>
                    <a:bodyPr/>
                    <a:lstStyle/>
                    <a:p>
                      <a:pPr algn="l" indent="0" marL="0">
                        <a:buNone/>
                      </a:pPr>
                      <a:r>
                        <a:rPr lang="en-US" sz="950" dirty="0">
                          <a:solidFill>
                            <a:srgbClr val="13151C"/>
                          </a:solidFill>
                          <a:latin typeface="Plus Jakarta Sans" pitchFamily="34" charset="0"/>
                          <a:ea typeface="Plus Jakarta Sans" pitchFamily="34" charset="-122"/>
                          <a:cs typeface="Plus Jakarta Sans" pitchFamily="34" charset="-120"/>
                        </a:rPr>
                        <a:t>Up to 10% approved influence fee / success rebate when evidence confirms contribution</a:t>
                      </a:r>
                      <a:endParaRPr lang="en-US" sz="95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CDD0D9"/>
                      </a:solidFill>
                      <a:prstDash val="solid"/>
                      <a:round/>
                      <a:headEnd type="none" w="med" len="med"/>
                      <a:tailEnd type="none" w="med" len="med"/>
                    </a:lnT>
                    <a:lnB w="9525" cap="flat" cmpd="sng" algn="ctr">
                      <a:solidFill>
                        <a:srgbClr val="CDD0D9"/>
                      </a:solidFill>
                      <a:prstDash val="solid"/>
                      <a:round/>
                      <a:headEnd type="none" w="med" len="med"/>
                      <a:tailEnd type="none" w="med" len="med"/>
                    </a:lnB>
                    <a:solidFill>
                      <a:srgbClr val="F7FBFD"/>
                    </a:solidFill>
                  </a:tcPr>
                </a:tc>
              </a:tr>
              <a:tr h="584200">
                <a:tc>
                  <a:txBody>
                    <a:bodyPr/>
                    <a:lstStyle/>
                    <a:p>
                      <a:pPr algn="l" indent="0" marL="0">
                        <a:buNone/>
                      </a:pPr>
                      <a:r>
                        <a:rPr lang="en-US" sz="950" dirty="0">
                          <a:solidFill>
                            <a:srgbClr val="13151C"/>
                          </a:solidFill>
                          <a:latin typeface="Plus Jakarta Sans SemiBold" pitchFamily="34" charset="0"/>
                          <a:ea typeface="Plus Jakarta Sans SemiBold" pitchFamily="34" charset="-122"/>
                          <a:cs typeface="Plus Jakarta Sans SemiBold" pitchFamily="34" charset="-120"/>
                        </a:rPr>
                        <a:t>Acts as approved prime contractor</a:t>
                      </a:r>
                      <a:endParaRPr lang="en-US" sz="950" dirty="0">
                        <a:latin typeface="Plus Jakarta Sans SemiBold" charset="0"/>
                        <a:ea typeface="Plus Jakarta Sans SemiBold" charset="0"/>
                        <a:cs typeface="Plus Jakarta Sans SemiBold" charset="0"/>
                      </a:endParaRPr>
                    </a:p>
                  </a:txBody>
                  <a:tcPr marL="101600" marR="101600" marT="38100" marB="38100" anchor="ctr">
                    <a:lnL w="0" cap="flat" cmpd="sng" algn="ctr">
                      <a:noFill/>
                    </a:lnL>
                    <a:lnR w="0" cap="flat" cmpd="sng" algn="ctr">
                      <a:noFill/>
                    </a:lnR>
                    <a:lnT w="9525" cap="flat" cmpd="sng" algn="ctr">
                      <a:solidFill>
                        <a:srgbClr val="CDD0D9"/>
                      </a:solidFill>
                      <a:prstDash val="solid"/>
                      <a:round/>
                      <a:headEnd type="none" w="med" len="med"/>
                      <a:tailEnd type="none" w="med" len="med"/>
                    </a:lnT>
                    <a:lnB w="9525" cap="flat" cmpd="sng" algn="ctr">
                      <a:solidFill>
                        <a:srgbClr val="CDD0D9"/>
                      </a:solidFill>
                      <a:prstDash val="solid"/>
                      <a:round/>
                      <a:headEnd type="none" w="med" len="med"/>
                      <a:tailEnd type="none" w="med" len="med"/>
                    </a:lnB>
                    <a:solidFill>
                      <a:srgbClr val="FFFFFF"/>
                    </a:solidFill>
                  </a:tcPr>
                </a:tc>
                <a:tc>
                  <a:txBody>
                    <a:bodyPr/>
                    <a:lstStyle/>
                    <a:p>
                      <a:pPr algn="l" indent="0" marL="0">
                        <a:buNone/>
                      </a:pPr>
                      <a:r>
                        <a:rPr lang="en-US" sz="950" dirty="0">
                          <a:solidFill>
                            <a:srgbClr val="13151C"/>
                          </a:solidFill>
                          <a:latin typeface="Plus Jakarta Sans" pitchFamily="34" charset="0"/>
                          <a:ea typeface="Plus Jakarta Sans" pitchFamily="34" charset="-122"/>
                          <a:cs typeface="Plus Jakarta Sans" pitchFamily="34" charset="-120"/>
                        </a:rPr>
                        <a:t>Case-by-case DignifyX approval</a:t>
                      </a:r>
                      <a:endParaRPr lang="en-US" sz="95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CDD0D9"/>
                      </a:solidFill>
                      <a:prstDash val="solid"/>
                      <a:round/>
                      <a:headEnd type="none" w="med" len="med"/>
                      <a:tailEnd type="none" w="med" len="med"/>
                    </a:lnT>
                    <a:lnB w="9525" cap="flat" cmpd="sng" algn="ctr">
                      <a:solidFill>
                        <a:srgbClr val="CDD0D9"/>
                      </a:solidFill>
                      <a:prstDash val="solid"/>
                      <a:round/>
                      <a:headEnd type="none" w="med" len="med"/>
                      <a:tailEnd type="none" w="med" len="med"/>
                    </a:lnB>
                    <a:solidFill>
                      <a:srgbClr val="FFFFFF"/>
                    </a:solidFill>
                  </a:tcPr>
                </a:tc>
              </a:tr>
              <a:tr h="584200">
                <a:tc>
                  <a:txBody>
                    <a:bodyPr/>
                    <a:lstStyle/>
                    <a:p>
                      <a:pPr algn="l" indent="0" marL="0">
                        <a:buNone/>
                      </a:pPr>
                      <a:r>
                        <a:rPr lang="en-US" sz="950" dirty="0">
                          <a:solidFill>
                            <a:srgbClr val="13151C"/>
                          </a:solidFill>
                          <a:latin typeface="Plus Jakarta Sans SemiBold" pitchFamily="34" charset="0"/>
                          <a:ea typeface="Plus Jakarta Sans SemiBold" pitchFamily="34" charset="-122"/>
                          <a:cs typeface="Plus Jakarta Sans SemiBold" pitchFamily="34" charset="-120"/>
                        </a:rPr>
                        <a:t>Subcontractor only, after the deal is won</a:t>
                      </a:r>
                      <a:endParaRPr lang="en-US" sz="950" dirty="0">
                        <a:latin typeface="Plus Jakarta Sans SemiBold" charset="0"/>
                        <a:ea typeface="Plus Jakarta Sans SemiBold" charset="0"/>
                        <a:cs typeface="Plus Jakarta Sans SemiBold" charset="0"/>
                      </a:endParaRPr>
                    </a:p>
                  </a:txBody>
                  <a:tcPr marL="101600" marR="101600" marT="38100" marB="38100" anchor="ctr">
                    <a:lnL w="0" cap="flat" cmpd="sng" algn="ctr">
                      <a:noFill/>
                    </a:lnL>
                    <a:lnR w="0" cap="flat" cmpd="sng" algn="ctr">
                      <a:noFill/>
                    </a:lnR>
                    <a:lnT w="9525" cap="flat" cmpd="sng" algn="ctr">
                      <a:solidFill>
                        <a:srgbClr val="CDD0D9"/>
                      </a:solidFill>
                      <a:prstDash val="solid"/>
                      <a:round/>
                      <a:headEnd type="none" w="med" len="med"/>
                      <a:tailEnd type="none" w="med" len="med"/>
                    </a:lnT>
                    <a:lnB w="9525" cap="flat" cmpd="sng" algn="ctr">
                      <a:solidFill>
                        <a:srgbClr val="CDD0D9"/>
                      </a:solidFill>
                      <a:prstDash val="solid"/>
                      <a:round/>
                      <a:headEnd type="none" w="med" len="med"/>
                      <a:tailEnd type="none" w="med" len="med"/>
                    </a:lnB>
                    <a:solidFill>
                      <a:srgbClr val="F7FBFD"/>
                    </a:solidFill>
                  </a:tcPr>
                </a:tc>
                <a:tc>
                  <a:txBody>
                    <a:bodyPr/>
                    <a:lstStyle/>
                    <a:p>
                      <a:pPr algn="l" indent="0" marL="0">
                        <a:buNone/>
                      </a:pPr>
                      <a:r>
                        <a:rPr lang="en-US" sz="950" dirty="0">
                          <a:solidFill>
                            <a:srgbClr val="13151C"/>
                          </a:solidFill>
                          <a:latin typeface="Plus Jakarta Sans" pitchFamily="34" charset="0"/>
                          <a:ea typeface="Plus Jakarta Sans" pitchFamily="34" charset="-122"/>
                          <a:cs typeface="Plus Jakarta Sans" pitchFamily="34" charset="-120"/>
                        </a:rPr>
                        <a:t>No influence fee unless separately approved</a:t>
                      </a:r>
                      <a:endParaRPr lang="en-US" sz="95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CDD0D9"/>
                      </a:solidFill>
                      <a:prstDash val="solid"/>
                      <a:round/>
                      <a:headEnd type="none" w="med" len="med"/>
                      <a:tailEnd type="none" w="med" len="med"/>
                    </a:lnT>
                    <a:lnB w="9525" cap="flat" cmpd="sng" algn="ctr">
                      <a:solidFill>
                        <a:srgbClr val="CDD0D9"/>
                      </a:solidFill>
                      <a:prstDash val="solid"/>
                      <a:round/>
                      <a:headEnd type="none" w="med" len="med"/>
                      <a:tailEnd type="none" w="med" len="med"/>
                    </a:lnB>
                    <a:solidFill>
                      <a:srgbClr val="F7FBFD"/>
                    </a:solidFill>
                  </a:tcPr>
                </a:tc>
              </a:tr>
            </a:tbl>
          </a:graphicData>
        </a:graphic>
      </p:graphicFrame>
      <p:sp>
        <p:nvSpPr>
          <p:cNvPr id="9" name="anim-2-8"/>
          <p:cNvSpPr txBox="1"/>
          <p:nvPr/>
        </p:nvSpPr>
        <p:spPr>
          <a:xfrm>
            <a:off x="304800" y="4724400"/>
            <a:ext cx="6375400" cy="952500"/>
          </a:xfrm>
          <a:prstGeom prst="rect">
            <a:avLst/>
          </a:prstGeom>
          <a:noFill/>
          <a:ln/>
        </p:spPr>
        <p:txBody>
          <a:bodyPr wrap="square" lIns="0" tIns="0" rIns="0" bIns="0" rtlCol="0" anchor="t"/>
          <a:lstStyle/>
          <a:p>
            <a:pPr algn="l" indent="0" marL="0">
              <a:lnSpc>
                <a:spcPct val="125000"/>
              </a:lnSpc>
              <a:buNone/>
            </a:pPr>
            <a:r>
              <a:rPr lang="en-US" sz="950" dirty="0">
                <a:solidFill>
                  <a:srgbClr val="5A5C63"/>
                </a:solidFill>
                <a:latin typeface="Plus Jakarta Sans" pitchFamily="34" charset="0"/>
                <a:ea typeface="Plus Jakarta Sans" pitchFamily="34" charset="-122"/>
                <a:cs typeface="Plus Jakarta Sans" pitchFamily="34" charset="-120"/>
              </a:rPr>
              <a:t>Implementation and service partners earn Year-2 / Year-3 and post-expiry renewal commission only if assigned by DignifyX, accountable for customer success and support, and approved in the opportunity record or commercial schedule.</a:t>
            </a:r>
            <a:endParaRPr lang="en-US" sz="950" dirty="0"/>
          </a:p>
        </p:txBody>
      </p:sp>
      <p:sp>
        <p:nvSpPr>
          <p:cNvPr id="10" name="anim-3-9"/>
          <p:cNvSpPr/>
          <p:nvPr/>
        </p:nvSpPr>
        <p:spPr>
          <a:xfrm>
            <a:off x="6991350" y="1250950"/>
            <a:ext cx="5200650" cy="1143000"/>
          </a:xfrm>
          <a:prstGeom prst="rect">
            <a:avLst/>
          </a:prstGeom>
          <a:solidFill>
            <a:srgbClr val="F7FBFD"/>
          </a:solidFill>
          <a:ln/>
        </p:spPr>
      </p:sp>
      <p:sp>
        <p:nvSpPr>
          <p:cNvPr id="11" name="anim-3-10"/>
          <p:cNvSpPr txBox="1"/>
          <p:nvPr/>
        </p:nvSpPr>
        <p:spPr>
          <a:xfrm>
            <a:off x="7245350" y="1428750"/>
            <a:ext cx="762000" cy="292100"/>
          </a:xfrm>
          <a:prstGeom prst="rect">
            <a:avLst/>
          </a:prstGeom>
          <a:noFill/>
          <a:ln/>
        </p:spPr>
        <p:txBody>
          <a:bodyPr wrap="square" lIns="0" tIns="0" rIns="0" bIns="0" rtlCol="0" anchor="t"/>
          <a:lstStyle/>
          <a:p>
            <a:pPr algn="l" indent="0" marL="0">
              <a:lnSpc>
                <a:spcPct val="112000"/>
              </a:lnSpc>
              <a:buNone/>
            </a:pPr>
            <a:r>
              <a:rPr lang="en-US" sz="1400" b="1" dirty="0">
                <a:solidFill>
                  <a:srgbClr val="194EFF"/>
                </a:solidFill>
                <a:latin typeface="Plus Jakarta Sans" pitchFamily="34" charset="0"/>
                <a:ea typeface="Plus Jakarta Sans" pitchFamily="34" charset="-122"/>
                <a:cs typeface="Plus Jakarta Sans" pitchFamily="34" charset="-120"/>
              </a:rPr>
              <a:t>01</a:t>
            </a:r>
            <a:endParaRPr lang="en-US" sz="1400" dirty="0"/>
          </a:p>
        </p:txBody>
      </p:sp>
      <p:sp>
        <p:nvSpPr>
          <p:cNvPr id="12" name="anim-3-11"/>
          <p:cNvSpPr txBox="1"/>
          <p:nvPr/>
        </p:nvSpPr>
        <p:spPr>
          <a:xfrm>
            <a:off x="7753350" y="1441450"/>
            <a:ext cx="4191000" cy="228600"/>
          </a:xfrm>
          <a:prstGeom prst="rect">
            <a:avLst/>
          </a:prstGeom>
          <a:noFill/>
          <a:ln/>
        </p:spPr>
        <p:txBody>
          <a:bodyPr wrap="square" lIns="0" tIns="0" rIns="0" bIns="0" rtlCol="0" anchor="t"/>
          <a:lstStyle/>
          <a:p>
            <a:pPr algn="l" indent="0" marL="0">
              <a:lnSpc>
                <a:spcPct val="112000"/>
              </a:lnSpc>
              <a:buNone/>
            </a:pPr>
            <a:r>
              <a:rPr lang="en-US" sz="1250" b="1" dirty="0">
                <a:solidFill>
                  <a:srgbClr val="13151C"/>
                </a:solidFill>
                <a:latin typeface="Plus Jakarta Sans" pitchFamily="34" charset="0"/>
                <a:ea typeface="Plus Jakarta Sans" pitchFamily="34" charset="-122"/>
                <a:cs typeface="Plus Jakarta Sans" pitchFamily="34" charset="-120"/>
              </a:rPr>
              <a:t>Cloud marketplace</a:t>
            </a:r>
            <a:endParaRPr lang="en-US" sz="1250" dirty="0"/>
          </a:p>
        </p:txBody>
      </p:sp>
      <p:sp>
        <p:nvSpPr>
          <p:cNvPr id="13" name="anim-3-12"/>
          <p:cNvSpPr txBox="1"/>
          <p:nvPr/>
        </p:nvSpPr>
        <p:spPr>
          <a:xfrm>
            <a:off x="7753350" y="1708150"/>
            <a:ext cx="4191000" cy="635000"/>
          </a:xfrm>
          <a:prstGeom prst="rect">
            <a:avLst/>
          </a:prstGeom>
          <a:noFill/>
          <a:ln/>
        </p:spPr>
        <p:txBody>
          <a:bodyPr wrap="square" lIns="0" tIns="0" rIns="0" bIns="0" rtlCol="0" anchor="t"/>
          <a:lstStyle/>
          <a:p>
            <a:pPr algn="l" indent="0" marL="0">
              <a:lnSpc>
                <a:spcPct val="112000"/>
              </a:lnSpc>
              <a:buNone/>
            </a:pPr>
            <a:r>
              <a:rPr lang="en-US" sz="900" dirty="0">
                <a:solidFill>
                  <a:srgbClr val="5A5C63"/>
                </a:solidFill>
                <a:latin typeface="Plus Jakarta Sans" pitchFamily="34" charset="0"/>
                <a:ea typeface="Plus Jakarta Sans" pitchFamily="34" charset="-122"/>
                <a:cs typeface="Plus Jakarta Sans" pitchFamily="34" charset="-120"/>
              </a:rPr>
              <a:t>Private offer or marketplace motion may follow hyperscaler-specific rules, fees, listing requirements and procurement routes.</a:t>
            </a:r>
            <a:endParaRPr lang="en-US" sz="900" dirty="0"/>
          </a:p>
        </p:txBody>
      </p:sp>
      <p:sp>
        <p:nvSpPr>
          <p:cNvPr id="14" name="anim-4-13"/>
          <p:cNvSpPr/>
          <p:nvPr/>
        </p:nvSpPr>
        <p:spPr>
          <a:xfrm>
            <a:off x="6991350" y="2400300"/>
            <a:ext cx="5200650" cy="6350"/>
          </a:xfrm>
          <a:prstGeom prst="rect">
            <a:avLst/>
          </a:prstGeom>
          <a:solidFill>
            <a:srgbClr val="CDD0D9"/>
          </a:solidFill>
          <a:ln/>
        </p:spPr>
      </p:sp>
      <p:sp>
        <p:nvSpPr>
          <p:cNvPr id="15" name="anim-4-14"/>
          <p:cNvSpPr txBox="1"/>
          <p:nvPr/>
        </p:nvSpPr>
        <p:spPr>
          <a:xfrm>
            <a:off x="7245350" y="2578100"/>
            <a:ext cx="762000" cy="292100"/>
          </a:xfrm>
          <a:prstGeom prst="rect">
            <a:avLst/>
          </a:prstGeom>
          <a:noFill/>
          <a:ln/>
        </p:spPr>
        <p:txBody>
          <a:bodyPr wrap="square" lIns="0" tIns="0" rIns="0" bIns="0" rtlCol="0" anchor="t"/>
          <a:lstStyle/>
          <a:p>
            <a:pPr algn="l" indent="0" marL="0">
              <a:lnSpc>
                <a:spcPct val="112000"/>
              </a:lnSpc>
              <a:buNone/>
            </a:pPr>
            <a:r>
              <a:rPr lang="en-US" sz="1400" b="1" dirty="0">
                <a:solidFill>
                  <a:srgbClr val="194EFF"/>
                </a:solidFill>
                <a:latin typeface="Plus Jakarta Sans" pitchFamily="34" charset="0"/>
                <a:ea typeface="Plus Jakarta Sans" pitchFamily="34" charset="-122"/>
                <a:cs typeface="Plus Jakarta Sans" pitchFamily="34" charset="-120"/>
              </a:rPr>
              <a:t>02</a:t>
            </a:r>
            <a:endParaRPr lang="en-US" sz="1400" dirty="0"/>
          </a:p>
        </p:txBody>
      </p:sp>
      <p:sp>
        <p:nvSpPr>
          <p:cNvPr id="16" name="anim-4-15"/>
          <p:cNvSpPr txBox="1"/>
          <p:nvPr/>
        </p:nvSpPr>
        <p:spPr>
          <a:xfrm>
            <a:off x="7753350" y="2590800"/>
            <a:ext cx="4191000" cy="228600"/>
          </a:xfrm>
          <a:prstGeom prst="rect">
            <a:avLst/>
          </a:prstGeom>
          <a:noFill/>
          <a:ln/>
        </p:spPr>
        <p:txBody>
          <a:bodyPr wrap="square" lIns="0" tIns="0" rIns="0" bIns="0" rtlCol="0" anchor="t"/>
          <a:lstStyle/>
          <a:p>
            <a:pPr algn="l" indent="0" marL="0">
              <a:lnSpc>
                <a:spcPct val="112000"/>
              </a:lnSpc>
              <a:buNone/>
            </a:pPr>
            <a:r>
              <a:rPr lang="en-US" sz="1250" b="1" dirty="0">
                <a:solidFill>
                  <a:srgbClr val="13151C"/>
                </a:solidFill>
                <a:latin typeface="Plus Jakarta Sans" pitchFamily="34" charset="0"/>
                <a:ea typeface="Plus Jakarta Sans" pitchFamily="34" charset="-122"/>
                <a:cs typeface="Plus Jakarta Sans" pitchFamily="34" charset="-120"/>
              </a:rPr>
              <a:t>Technology integration</a:t>
            </a:r>
            <a:endParaRPr lang="en-US" sz="1250" dirty="0"/>
          </a:p>
        </p:txBody>
      </p:sp>
      <p:sp>
        <p:nvSpPr>
          <p:cNvPr id="17" name="anim-4-16"/>
          <p:cNvSpPr txBox="1"/>
          <p:nvPr/>
        </p:nvSpPr>
        <p:spPr>
          <a:xfrm>
            <a:off x="7753350" y="2857500"/>
            <a:ext cx="4191000" cy="635000"/>
          </a:xfrm>
          <a:prstGeom prst="rect">
            <a:avLst/>
          </a:prstGeom>
          <a:noFill/>
          <a:ln/>
        </p:spPr>
        <p:txBody>
          <a:bodyPr wrap="square" lIns="0" tIns="0" rIns="0" bIns="0" rtlCol="0" anchor="t"/>
          <a:lstStyle/>
          <a:p>
            <a:pPr algn="l" indent="0" marL="0">
              <a:lnSpc>
                <a:spcPct val="112000"/>
              </a:lnSpc>
              <a:buNone/>
            </a:pPr>
            <a:r>
              <a:rPr lang="en-US" sz="900" dirty="0">
                <a:solidFill>
                  <a:srgbClr val="5A5C63"/>
                </a:solidFill>
                <a:latin typeface="Plus Jakarta Sans" pitchFamily="34" charset="0"/>
                <a:ea typeface="Plus Jakarta Sans" pitchFamily="34" charset="-122"/>
                <a:cs typeface="Plus Jakarta Sans" pitchFamily="34" charset="-120"/>
              </a:rPr>
              <a:t>Technical validation, integration scope, security and data-handling review, support model and approved messaging.</a:t>
            </a:r>
            <a:endParaRPr lang="en-US" sz="900" dirty="0"/>
          </a:p>
        </p:txBody>
      </p:sp>
      <p:sp>
        <p:nvSpPr>
          <p:cNvPr id="18" name="anim-5-17"/>
          <p:cNvSpPr/>
          <p:nvPr/>
        </p:nvSpPr>
        <p:spPr>
          <a:xfrm>
            <a:off x="6991350" y="3549650"/>
            <a:ext cx="5200650" cy="6350"/>
          </a:xfrm>
          <a:prstGeom prst="rect">
            <a:avLst/>
          </a:prstGeom>
          <a:solidFill>
            <a:srgbClr val="CDD0D9"/>
          </a:solidFill>
          <a:ln/>
        </p:spPr>
      </p:sp>
      <p:sp>
        <p:nvSpPr>
          <p:cNvPr id="19" name="anim-5-18"/>
          <p:cNvSpPr/>
          <p:nvPr/>
        </p:nvSpPr>
        <p:spPr>
          <a:xfrm>
            <a:off x="6991350" y="3549650"/>
            <a:ext cx="5200650" cy="1143000"/>
          </a:xfrm>
          <a:prstGeom prst="rect">
            <a:avLst/>
          </a:prstGeom>
          <a:solidFill>
            <a:srgbClr val="F7FBFD"/>
          </a:solidFill>
          <a:ln/>
        </p:spPr>
      </p:sp>
      <p:sp>
        <p:nvSpPr>
          <p:cNvPr id="20" name="anim-5-19"/>
          <p:cNvSpPr txBox="1"/>
          <p:nvPr/>
        </p:nvSpPr>
        <p:spPr>
          <a:xfrm>
            <a:off x="7245350" y="3727450"/>
            <a:ext cx="762000" cy="292100"/>
          </a:xfrm>
          <a:prstGeom prst="rect">
            <a:avLst/>
          </a:prstGeom>
          <a:noFill/>
          <a:ln/>
        </p:spPr>
        <p:txBody>
          <a:bodyPr wrap="square" lIns="0" tIns="0" rIns="0" bIns="0" rtlCol="0" anchor="t"/>
          <a:lstStyle/>
          <a:p>
            <a:pPr algn="l" indent="0" marL="0">
              <a:lnSpc>
                <a:spcPct val="112000"/>
              </a:lnSpc>
              <a:buNone/>
            </a:pPr>
            <a:r>
              <a:rPr lang="en-US" sz="1400" b="1" dirty="0">
                <a:solidFill>
                  <a:srgbClr val="194EFF"/>
                </a:solidFill>
                <a:latin typeface="Plus Jakarta Sans" pitchFamily="34" charset="0"/>
                <a:ea typeface="Plus Jakarta Sans" pitchFamily="34" charset="-122"/>
                <a:cs typeface="Plus Jakarta Sans" pitchFamily="34" charset="-120"/>
              </a:rPr>
              <a:t>03</a:t>
            </a:r>
            <a:endParaRPr lang="en-US" sz="1400" dirty="0"/>
          </a:p>
        </p:txBody>
      </p:sp>
      <p:sp>
        <p:nvSpPr>
          <p:cNvPr id="21" name="anim-5-20"/>
          <p:cNvSpPr txBox="1"/>
          <p:nvPr/>
        </p:nvSpPr>
        <p:spPr>
          <a:xfrm>
            <a:off x="7753350" y="3740150"/>
            <a:ext cx="4191000" cy="228600"/>
          </a:xfrm>
          <a:prstGeom prst="rect">
            <a:avLst/>
          </a:prstGeom>
          <a:noFill/>
          <a:ln/>
        </p:spPr>
        <p:txBody>
          <a:bodyPr wrap="square" lIns="0" tIns="0" rIns="0" bIns="0" rtlCol="0" anchor="t"/>
          <a:lstStyle/>
          <a:p>
            <a:pPr algn="l" indent="0" marL="0">
              <a:lnSpc>
                <a:spcPct val="112000"/>
              </a:lnSpc>
              <a:buNone/>
            </a:pPr>
            <a:r>
              <a:rPr lang="en-US" sz="1250" b="1" dirty="0">
                <a:solidFill>
                  <a:srgbClr val="13151C"/>
                </a:solidFill>
                <a:latin typeface="Plus Jakarta Sans" pitchFamily="34" charset="0"/>
                <a:ea typeface="Plus Jakarta Sans" pitchFamily="34" charset="-122"/>
                <a:cs typeface="Plus Jakarta Sans" pitchFamily="34" charset="-120"/>
              </a:rPr>
              <a:t>Strategic alliance</a:t>
            </a:r>
            <a:endParaRPr lang="en-US" sz="1250" dirty="0"/>
          </a:p>
        </p:txBody>
      </p:sp>
      <p:sp>
        <p:nvSpPr>
          <p:cNvPr id="22" name="anim-5-21"/>
          <p:cNvSpPr txBox="1"/>
          <p:nvPr/>
        </p:nvSpPr>
        <p:spPr>
          <a:xfrm>
            <a:off x="7753350" y="4006850"/>
            <a:ext cx="4191000" cy="635000"/>
          </a:xfrm>
          <a:prstGeom prst="rect">
            <a:avLst/>
          </a:prstGeom>
          <a:noFill/>
          <a:ln/>
        </p:spPr>
        <p:txBody>
          <a:bodyPr wrap="square" lIns="0" tIns="0" rIns="0" bIns="0" rtlCol="0" anchor="t"/>
          <a:lstStyle/>
          <a:p>
            <a:pPr algn="l" indent="0" marL="0">
              <a:lnSpc>
                <a:spcPct val="112000"/>
              </a:lnSpc>
              <a:buNone/>
            </a:pPr>
            <a:r>
              <a:rPr lang="en-US" sz="900" dirty="0">
                <a:solidFill>
                  <a:srgbClr val="5A5C63"/>
                </a:solidFill>
                <a:latin typeface="Plus Jakarta Sans" pitchFamily="34" charset="0"/>
                <a:ea typeface="Plus Jakarta Sans" pitchFamily="34" charset="-122"/>
                <a:cs typeface="Plus Jakarta Sans" pitchFamily="34" charset="-120"/>
              </a:rPr>
              <a:t>Executive sponsorship, joint business plan, target accounts, country coverage, co-marketing plan and governance cadence.</a:t>
            </a:r>
            <a:endParaRPr lang="en-US" sz="900" dirty="0"/>
          </a:p>
        </p:txBody>
      </p:sp>
      <p:sp>
        <p:nvSpPr>
          <p:cNvPr id="23" name="anim-6-22"/>
          <p:cNvSpPr/>
          <p:nvPr/>
        </p:nvSpPr>
        <p:spPr>
          <a:xfrm>
            <a:off x="6991350" y="4699000"/>
            <a:ext cx="5200650" cy="6350"/>
          </a:xfrm>
          <a:prstGeom prst="rect">
            <a:avLst/>
          </a:prstGeom>
          <a:solidFill>
            <a:srgbClr val="CDD0D9"/>
          </a:solidFill>
          <a:ln/>
        </p:spPr>
      </p:sp>
      <p:sp>
        <p:nvSpPr>
          <p:cNvPr id="24" name="anim-6-23"/>
          <p:cNvSpPr txBox="1"/>
          <p:nvPr/>
        </p:nvSpPr>
        <p:spPr>
          <a:xfrm>
            <a:off x="7245350" y="4876800"/>
            <a:ext cx="762000" cy="292100"/>
          </a:xfrm>
          <a:prstGeom prst="rect">
            <a:avLst/>
          </a:prstGeom>
          <a:noFill/>
          <a:ln/>
        </p:spPr>
        <p:txBody>
          <a:bodyPr wrap="square" lIns="0" tIns="0" rIns="0" bIns="0" rtlCol="0" anchor="t"/>
          <a:lstStyle/>
          <a:p>
            <a:pPr algn="l" indent="0" marL="0">
              <a:lnSpc>
                <a:spcPct val="112000"/>
              </a:lnSpc>
              <a:buNone/>
            </a:pPr>
            <a:r>
              <a:rPr lang="en-US" sz="1400" b="1" dirty="0">
                <a:solidFill>
                  <a:srgbClr val="194EFF"/>
                </a:solidFill>
                <a:latin typeface="Plus Jakarta Sans" pitchFamily="34" charset="0"/>
                <a:ea typeface="Plus Jakarta Sans" pitchFamily="34" charset="-122"/>
                <a:cs typeface="Plus Jakarta Sans" pitchFamily="34" charset="-120"/>
              </a:rPr>
              <a:t>04</a:t>
            </a:r>
            <a:endParaRPr lang="en-US" sz="1400" dirty="0"/>
          </a:p>
        </p:txBody>
      </p:sp>
      <p:sp>
        <p:nvSpPr>
          <p:cNvPr id="25" name="anim-6-24"/>
          <p:cNvSpPr txBox="1"/>
          <p:nvPr/>
        </p:nvSpPr>
        <p:spPr>
          <a:xfrm>
            <a:off x="7753350" y="4889500"/>
            <a:ext cx="4191000" cy="228600"/>
          </a:xfrm>
          <a:prstGeom prst="rect">
            <a:avLst/>
          </a:prstGeom>
          <a:noFill/>
          <a:ln/>
        </p:spPr>
        <p:txBody>
          <a:bodyPr wrap="square" lIns="0" tIns="0" rIns="0" bIns="0" rtlCol="0" anchor="t"/>
          <a:lstStyle/>
          <a:p>
            <a:pPr algn="l" indent="0" marL="0">
              <a:lnSpc>
                <a:spcPct val="112000"/>
              </a:lnSpc>
              <a:buNone/>
            </a:pPr>
            <a:r>
              <a:rPr lang="en-US" sz="1250" b="1" dirty="0">
                <a:solidFill>
                  <a:srgbClr val="13151C"/>
                </a:solidFill>
                <a:latin typeface="Plus Jakarta Sans" pitchFamily="34" charset="0"/>
                <a:ea typeface="Plus Jakarta Sans" pitchFamily="34" charset="-122"/>
                <a:cs typeface="Plus Jakarta Sans" pitchFamily="34" charset="-120"/>
              </a:rPr>
              <a:t>Managed service</a:t>
            </a:r>
            <a:endParaRPr lang="en-US" sz="1250" dirty="0"/>
          </a:p>
        </p:txBody>
      </p:sp>
      <p:sp>
        <p:nvSpPr>
          <p:cNvPr id="26" name="anim-6-25"/>
          <p:cNvSpPr txBox="1"/>
          <p:nvPr/>
        </p:nvSpPr>
        <p:spPr>
          <a:xfrm>
            <a:off x="7753350" y="5156200"/>
            <a:ext cx="4191000" cy="635000"/>
          </a:xfrm>
          <a:prstGeom prst="rect">
            <a:avLst/>
          </a:prstGeom>
          <a:noFill/>
          <a:ln/>
        </p:spPr>
        <p:txBody>
          <a:bodyPr wrap="square" lIns="0" tIns="0" rIns="0" bIns="0" rtlCol="0" anchor="t"/>
          <a:lstStyle/>
          <a:p>
            <a:pPr algn="l" indent="0" marL="0">
              <a:lnSpc>
                <a:spcPct val="112000"/>
              </a:lnSpc>
              <a:buNone/>
            </a:pPr>
            <a:r>
              <a:rPr lang="en-US" sz="900" dirty="0">
                <a:solidFill>
                  <a:srgbClr val="5A5C63"/>
                </a:solidFill>
                <a:latin typeface="Plus Jakarta Sans" pitchFamily="34" charset="0"/>
                <a:ea typeface="Plus Jakarta Sans" pitchFamily="34" charset="-122"/>
                <a:cs typeface="Plus Jakarta Sans" pitchFamily="34" charset="-120"/>
              </a:rPr>
              <a:t>Scope, customer responsibilities, support model, operational controls, compliance obligations and approval.</a:t>
            </a:r>
            <a:endParaRPr lang="en-US" sz="900" dirty="0"/>
          </a:p>
        </p:txBody>
      </p:sp>
      <p:sp>
        <p:nvSpPr>
          <p:cNvPr id="27" name="anim-9-26"/>
          <p:cNvSpPr/>
          <p:nvPr/>
        </p:nvSpPr>
        <p:spPr>
          <a:xfrm>
            <a:off x="0" y="5842000"/>
            <a:ext cx="12192000" cy="1016000"/>
          </a:xfrm>
          <a:prstGeom prst="rect">
            <a:avLst/>
          </a:prstGeom>
          <a:solidFill>
            <a:srgbClr val="F5F9FB"/>
          </a:solidFill>
          <a:ln/>
        </p:spPr>
      </p:sp>
      <p:pic>
        <p:nvPicPr>
          <p:cNvPr id="28" name="anim-9-27" descr="/tmp/claude-0/-home-user-hosting/7c832a48-0979-56aa-9fdf-7d53efb9dc7a/scratchpad/build/img/motif-left.png">    </p:cNvPr>
          <p:cNvPicPr>
            <a:picLocks noChangeAspect="1"/>
          </p:cNvPicPr>
          <p:nvPr/>
        </p:nvPicPr>
        <p:blipFill>
          <a:blip r:embed="rId2"/>
          <a:stretch>
            <a:fillRect/>
          </a:stretch>
        </p:blipFill>
        <p:spPr>
          <a:xfrm>
            <a:off x="0" y="5842000"/>
            <a:ext cx="844550" cy="1016000"/>
          </a:xfrm>
          <a:prstGeom prst="rect">
            <a:avLst/>
          </a:prstGeom>
        </p:spPr>
      </p:pic>
      <p:pic>
        <p:nvPicPr>
          <p:cNvPr id="29" name="anim-9-28" descr="/tmp/claude-0/-home-user-hosting/7c832a48-0979-56aa-9fdf-7d53efb9dc7a/scratchpad/build/img/motif-right.png">    </p:cNvPr>
          <p:cNvPicPr>
            <a:picLocks noChangeAspect="1"/>
          </p:cNvPicPr>
          <p:nvPr/>
        </p:nvPicPr>
        <p:blipFill>
          <a:blip r:embed="rId3"/>
          <a:stretch>
            <a:fillRect/>
          </a:stretch>
        </p:blipFill>
        <p:spPr>
          <a:xfrm>
            <a:off x="11347450" y="5842000"/>
            <a:ext cx="844550" cy="1016000"/>
          </a:xfrm>
          <a:prstGeom prst="rect">
            <a:avLst/>
          </a:prstGeom>
        </p:spPr>
      </p:pic>
      <p:sp>
        <p:nvSpPr>
          <p:cNvPr id="30" name="anim-9-29"/>
          <p:cNvSpPr txBox="1"/>
          <p:nvPr/>
        </p:nvSpPr>
        <p:spPr>
          <a:xfrm>
            <a:off x="1079500" y="5969000"/>
            <a:ext cx="2095500" cy="558800"/>
          </a:xfrm>
          <a:prstGeom prst="rect">
            <a:avLst/>
          </a:prstGeom>
          <a:noFill/>
          <a:ln/>
        </p:spPr>
        <p:txBody>
          <a:bodyPr wrap="square" lIns="0" tIns="0" rIns="0" bIns="0" rtlCol="0" anchor="ctr"/>
          <a:lstStyle/>
          <a:p>
            <a:pPr algn="l" indent="0" marL="0">
              <a:lnSpc>
                <a:spcPct val="112000"/>
              </a:lnSpc>
              <a:buNone/>
            </a:pPr>
            <a:r>
              <a:rPr lang="en-US" sz="1200" b="1" dirty="0">
                <a:solidFill>
                  <a:srgbClr val="194EFF"/>
                </a:solidFill>
                <a:latin typeface="Plus Jakarta Sans" pitchFamily="34" charset="0"/>
                <a:ea typeface="Plus Jakarta Sans" pitchFamily="34" charset="-122"/>
                <a:cs typeface="Plus Jakarta Sans" pitchFamily="34" charset="-120"/>
              </a:rPr>
              <a:t>Go Further Together</a:t>
            </a:r>
            <a:endParaRPr lang="en-US" sz="1200" dirty="0"/>
          </a:p>
        </p:txBody>
      </p:sp>
      <p:sp>
        <p:nvSpPr>
          <p:cNvPr id="31" name="anim-9-30"/>
          <p:cNvSpPr txBox="1"/>
          <p:nvPr/>
        </p:nvSpPr>
        <p:spPr>
          <a:xfrm>
            <a:off x="3302000" y="5969000"/>
            <a:ext cx="7810500" cy="558800"/>
          </a:xfrm>
          <a:prstGeom prst="rect">
            <a:avLst/>
          </a:prstGeom>
          <a:noFill/>
          <a:ln/>
        </p:spPr>
        <p:txBody>
          <a:bodyPr wrap="square" lIns="0" tIns="0" rIns="0" bIns="0" rtlCol="0" anchor="ctr"/>
          <a:lstStyle/>
          <a:p>
            <a:pPr algn="l" indent="0" marL="0">
              <a:lnSpc>
                <a:spcPct val="112000"/>
              </a:lnSpc>
              <a:buNone/>
            </a:pPr>
            <a:r>
              <a:rPr lang="en-US" sz="1100" dirty="0">
                <a:solidFill>
                  <a:srgbClr val="13151C"/>
                </a:solidFill>
                <a:latin typeface="Plus Jakarta Sans Medium" pitchFamily="34" charset="0"/>
                <a:ea typeface="Plus Jakarta Sans Medium" pitchFamily="34" charset="-122"/>
                <a:cs typeface="Plus Jakarta Sans Medium" pitchFamily="34" charset="-120"/>
              </a:rPr>
              <a:t>Delivery partners are rewarded when they shape the buying decision, and alliances grow through shared plans.</a:t>
            </a:r>
            <a:endParaRPr lang="en-US" sz="1100" dirty="0"/>
          </a:p>
        </p:txBody>
      </p:sp>
      <p:sp>
        <p:nvSpPr>
          <p:cNvPr id="32" name="Text 26"/>
          <p:cNvSpPr txBox="1"/>
          <p:nvPr/>
        </p:nvSpPr>
        <p:spPr>
          <a:xfrm>
            <a:off x="1079500" y="6578600"/>
            <a:ext cx="10033000" cy="165100"/>
          </a:xfrm>
          <a:prstGeom prst="rect">
            <a:avLst/>
          </a:prstGeom>
          <a:noFill/>
          <a:ln/>
        </p:spPr>
        <p:txBody>
          <a:bodyPr wrap="square" lIns="0" tIns="0" rIns="0" bIns="0" rtlCol="0" anchor="t"/>
          <a:lstStyle/>
          <a:p>
            <a:pPr algn="ctr" indent="0" marL="0">
              <a:lnSpc>
                <a:spcPct val="112000"/>
              </a:lnSpc>
              <a:buNone/>
            </a:pPr>
            <a:r>
              <a:rPr lang="en-US" sz="750" dirty="0">
                <a:solidFill>
                  <a:srgbClr val="8A8C93"/>
                </a:solidFill>
                <a:latin typeface="Plus Jakarta Sans" pitchFamily="34" charset="0"/>
                <a:ea typeface="Plus Jakarta Sans" pitchFamily="34" charset="-122"/>
                <a:cs typeface="Plus Jakarta Sans" pitchFamily="34" charset="-120"/>
              </a:rPr>
              <a:t>Partner-Confidential · NDA · Contains commercial rate card · Programme description only; not a contract</a:t>
            </a:r>
            <a:endParaRPr lang="en-US" sz="75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500"/>
                                        <p:tgtEl>
                                          <p:spTgt spid="3"/>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4"/>
                                        </p:tgtEl>
                                        <p:attrNameLst>
                                          <p:attrName>style.visibility</p:attrName>
                                        </p:attrNameLst>
                                      </p:cBhvr>
                                      <p:to>
                                        <p:strVal val="visible"/>
                                      </p:to>
                                    </p:set>
                                    <p:animEffect transition="in" filter="fade">
                                      <p:cBhvr>
                                        <p:cTn id="13" dur="500"/>
                                        <p:tgtEl>
                                          <p:spTgt spid="4"/>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5"/>
                                        </p:tgtEl>
                                        <p:attrNameLst>
                                          <p:attrName>style.visibility</p:attrName>
                                        </p:attrNameLst>
                                      </p:cBhvr>
                                      <p:to>
                                        <p:strVal val="visible"/>
                                      </p:to>
                                    </p:set>
                                    <p:animEffect transition="in" filter="fade">
                                      <p:cBhvr>
                                        <p:cTn id="16" dur="500"/>
                                        <p:tgtEl>
                                          <p:spTgt spid="5"/>
                                        </p:tgtEl>
                                      </p:cBhvr>
                                    </p:animEffect>
                                  </p:childTnLst>
                                </p:cTn>
                              </p:par>
                              <p:par>
                                <p:cTn id="17" presetID="10" presetClass="entr" presetSubtype="0" fill="hold" grpId="0" nodeType="withEffect">
                                  <p:stCondLst>
                                    <p:cond delay="180"/>
                                  </p:stCondLst>
                                  <p:childTnLst>
                                    <p:set>
                                      <p:cBhvr>
                                        <p:cTn id="18" dur="1" fill="hold">
                                          <p:stCondLst>
                                            <p:cond delay="0"/>
                                          </p:stCondLst>
                                        </p:cTn>
                                        <p:tgtEl>
                                          <p:spTgt spid="6"/>
                                        </p:tgtEl>
                                        <p:attrNameLst>
                                          <p:attrName>style.visibility</p:attrName>
                                        </p:attrNameLst>
                                      </p:cBhvr>
                                      <p:to>
                                        <p:strVal val="visible"/>
                                      </p:to>
                                    </p:set>
                                    <p:animEffect transition="in" filter="fade">
                                      <p:cBhvr>
                                        <p:cTn id="19" dur="500"/>
                                        <p:tgtEl>
                                          <p:spTgt spid="6"/>
                                        </p:tgtEl>
                                      </p:cBhvr>
                                    </p:animEffect>
                                  </p:childTnLst>
                                </p:cTn>
                              </p:par>
                              <p:par>
                                <p:cTn id="20" presetID="10" presetClass="entr" presetSubtype="0" fill="hold" grpId="0" nodeType="withEffect">
                                  <p:stCondLst>
                                    <p:cond delay="180"/>
                                  </p:stCondLst>
                                  <p:childTnLst>
                                    <p:set>
                                      <p:cBhvr>
                                        <p:cTn id="21" dur="1" fill="hold">
                                          <p:stCondLst>
                                            <p:cond delay="0"/>
                                          </p:stCondLst>
                                        </p:cTn>
                                        <p:tgtEl>
                                          <p:spTgt spid="7"/>
                                        </p:tgtEl>
                                        <p:attrNameLst>
                                          <p:attrName>style.visibility</p:attrName>
                                        </p:attrNameLst>
                                      </p:cBhvr>
                                      <p:to>
                                        <p:strVal val="visible"/>
                                      </p:to>
                                    </p:set>
                                    <p:animEffect transition="in" filter="fade">
                                      <p:cBhvr>
                                        <p:cTn id="22" dur="500"/>
                                        <p:tgtEl>
                                          <p:spTgt spid="7"/>
                                        </p:tgtEl>
                                      </p:cBhvr>
                                    </p:animEffect>
                                  </p:childTnLst>
                                </p:cTn>
                              </p:par>
                              <p:par>
                                <p:cTn id="23" presetID="10" presetClass="entr" presetSubtype="0" fill="hold" grpId="0" nodeType="withEffect">
                                  <p:stCondLst>
                                    <p:cond delay="180"/>
                                  </p:stCondLst>
                                  <p:childTnLst>
                                    <p:set>
                                      <p:cBhvr>
                                        <p:cTn id="24" dur="1" fill="hold">
                                          <p:stCondLst>
                                            <p:cond delay="0"/>
                                          </p:stCondLst>
                                        </p:cTn>
                                        <p:tgtEl>
                                          <p:spTgt spid="14"/>
                                        </p:tgtEl>
                                        <p:attrNameLst>
                                          <p:attrName>style.visibility</p:attrName>
                                        </p:attrNameLst>
                                      </p:cBhvr>
                                      <p:to>
                                        <p:strVal val="visible"/>
                                      </p:to>
                                    </p:set>
                                    <p:animEffect transition="in" filter="fade">
                                      <p:cBhvr>
                                        <p:cTn id="25" dur="500"/>
                                        <p:tgtEl>
                                          <p:spTgt spid="14"/>
                                        </p:tgtEl>
                                      </p:cBhvr>
                                    </p:animEffect>
                                  </p:childTnLst>
                                </p:cTn>
                              </p:par>
                              <p:par>
                                <p:cTn id="26" presetID="10" presetClass="entr" presetSubtype="0" fill="hold" grpId="0" nodeType="withEffect">
                                  <p:stCondLst>
                                    <p:cond delay="180"/>
                                  </p:stCondLst>
                                  <p:childTnLst>
                                    <p:set>
                                      <p:cBhvr>
                                        <p:cTn id="27" dur="1" fill="hold">
                                          <p:stCondLst>
                                            <p:cond delay="0"/>
                                          </p:stCondLst>
                                        </p:cTn>
                                        <p:tgtEl>
                                          <p:spTgt spid="9"/>
                                        </p:tgtEl>
                                        <p:attrNameLst>
                                          <p:attrName>style.visibility</p:attrName>
                                        </p:attrNameLst>
                                      </p:cBhvr>
                                      <p:to>
                                        <p:strVal val="visible"/>
                                      </p:to>
                                    </p:set>
                                    <p:animEffect transition="in" filter="fade">
                                      <p:cBhvr>
                                        <p:cTn id="28" dur="500"/>
                                        <p:tgtEl>
                                          <p:spTgt spid="9"/>
                                        </p:tgtEl>
                                      </p:cBhvr>
                                    </p:animEffect>
                                  </p:childTnLst>
                                </p:cTn>
                              </p:par>
                              <p:par>
                                <p:cTn id="29" presetID="10" presetClass="entr" presetSubtype="0" fill="hold" grpId="0" nodeType="withEffect">
                                  <p:stCondLst>
                                    <p:cond delay="360"/>
                                  </p:stCondLst>
                                  <p:childTnLst>
                                    <p:set>
                                      <p:cBhvr>
                                        <p:cTn id="30" dur="1" fill="hold">
                                          <p:stCondLst>
                                            <p:cond delay="0"/>
                                          </p:stCondLst>
                                        </p:cTn>
                                        <p:tgtEl>
                                          <p:spTgt spid="10"/>
                                        </p:tgtEl>
                                        <p:attrNameLst>
                                          <p:attrName>style.visibility</p:attrName>
                                        </p:attrNameLst>
                                      </p:cBhvr>
                                      <p:to>
                                        <p:strVal val="visible"/>
                                      </p:to>
                                    </p:set>
                                    <p:animEffect transition="in" filter="fade">
                                      <p:cBhvr>
                                        <p:cTn id="31" dur="500"/>
                                        <p:tgtEl>
                                          <p:spTgt spid="10"/>
                                        </p:tgtEl>
                                      </p:cBhvr>
                                    </p:animEffect>
                                  </p:childTnLst>
                                </p:cTn>
                              </p:par>
                              <p:par>
                                <p:cTn id="32" presetID="10" presetClass="entr" presetSubtype="0" fill="hold" grpId="0" nodeType="withEffect">
                                  <p:stCondLst>
                                    <p:cond delay="360"/>
                                  </p:stCondLst>
                                  <p:childTnLst>
                                    <p:set>
                                      <p:cBhvr>
                                        <p:cTn id="33" dur="1" fill="hold">
                                          <p:stCondLst>
                                            <p:cond delay="0"/>
                                          </p:stCondLst>
                                        </p:cTn>
                                        <p:tgtEl>
                                          <p:spTgt spid="11"/>
                                        </p:tgtEl>
                                        <p:attrNameLst>
                                          <p:attrName>style.visibility</p:attrName>
                                        </p:attrNameLst>
                                      </p:cBhvr>
                                      <p:to>
                                        <p:strVal val="visible"/>
                                      </p:to>
                                    </p:set>
                                    <p:animEffect transition="in" filter="fade">
                                      <p:cBhvr>
                                        <p:cTn id="34" dur="500"/>
                                        <p:tgtEl>
                                          <p:spTgt spid="11"/>
                                        </p:tgtEl>
                                      </p:cBhvr>
                                    </p:animEffect>
                                  </p:childTnLst>
                                </p:cTn>
                              </p:par>
                              <p:par>
                                <p:cTn id="35" presetID="10" presetClass="entr" presetSubtype="0" fill="hold" grpId="0" nodeType="withEffect">
                                  <p:stCondLst>
                                    <p:cond delay="360"/>
                                  </p:stCondLst>
                                  <p:childTnLst>
                                    <p:set>
                                      <p:cBhvr>
                                        <p:cTn id="36" dur="1" fill="hold">
                                          <p:stCondLst>
                                            <p:cond delay="0"/>
                                          </p:stCondLst>
                                        </p:cTn>
                                        <p:tgtEl>
                                          <p:spTgt spid="12"/>
                                        </p:tgtEl>
                                        <p:attrNameLst>
                                          <p:attrName>style.visibility</p:attrName>
                                        </p:attrNameLst>
                                      </p:cBhvr>
                                      <p:to>
                                        <p:strVal val="visible"/>
                                      </p:to>
                                    </p:set>
                                    <p:animEffect transition="in" filter="fade">
                                      <p:cBhvr>
                                        <p:cTn id="37" dur="500"/>
                                        <p:tgtEl>
                                          <p:spTgt spid="12"/>
                                        </p:tgtEl>
                                      </p:cBhvr>
                                    </p:animEffect>
                                  </p:childTnLst>
                                </p:cTn>
                              </p:par>
                              <p:par>
                                <p:cTn id="38" presetID="10" presetClass="entr" presetSubtype="0" fill="hold" grpId="0" nodeType="withEffect">
                                  <p:stCondLst>
                                    <p:cond delay="360"/>
                                  </p:stCondLst>
                                  <p:childTnLst>
                                    <p:set>
                                      <p:cBhvr>
                                        <p:cTn id="39" dur="1" fill="hold">
                                          <p:stCondLst>
                                            <p:cond delay="0"/>
                                          </p:stCondLst>
                                        </p:cTn>
                                        <p:tgtEl>
                                          <p:spTgt spid="13"/>
                                        </p:tgtEl>
                                        <p:attrNameLst>
                                          <p:attrName>style.visibility</p:attrName>
                                        </p:attrNameLst>
                                      </p:cBhvr>
                                      <p:to>
                                        <p:strVal val="visible"/>
                                      </p:to>
                                    </p:set>
                                    <p:animEffect transition="in" filter="fade">
                                      <p:cBhvr>
                                        <p:cTn id="40" dur="500"/>
                                        <p:tgtEl>
                                          <p:spTgt spid="13"/>
                                        </p:tgtEl>
                                      </p:cBhvr>
                                    </p:animEffect>
                                  </p:childTnLst>
                                </p:cTn>
                              </p:par>
                              <p:par>
                                <p:cTn id="41" presetID="10" presetClass="entr" presetSubtype="0" fill="hold" grpId="0" nodeType="withEffect">
                                  <p:stCondLst>
                                    <p:cond delay="540"/>
                                  </p:stCondLst>
                                  <p:childTnLst>
                                    <p:set>
                                      <p:cBhvr>
                                        <p:cTn id="42" dur="1" fill="hold">
                                          <p:stCondLst>
                                            <p:cond delay="0"/>
                                          </p:stCondLst>
                                        </p:cTn>
                                        <p:tgtEl>
                                          <p:spTgt spid="14"/>
                                        </p:tgtEl>
                                        <p:attrNameLst>
                                          <p:attrName>style.visibility</p:attrName>
                                        </p:attrNameLst>
                                      </p:cBhvr>
                                      <p:to>
                                        <p:strVal val="visible"/>
                                      </p:to>
                                    </p:set>
                                    <p:animEffect transition="in" filter="fade">
                                      <p:cBhvr>
                                        <p:cTn id="43" dur="500"/>
                                        <p:tgtEl>
                                          <p:spTgt spid="14"/>
                                        </p:tgtEl>
                                      </p:cBhvr>
                                    </p:animEffect>
                                  </p:childTnLst>
                                </p:cTn>
                              </p:par>
                              <p:par>
                                <p:cTn id="44" presetID="10" presetClass="entr" presetSubtype="0" fill="hold" grpId="0" nodeType="withEffect">
                                  <p:stCondLst>
                                    <p:cond delay="540"/>
                                  </p:stCondLst>
                                  <p:childTnLst>
                                    <p:set>
                                      <p:cBhvr>
                                        <p:cTn id="45" dur="1" fill="hold">
                                          <p:stCondLst>
                                            <p:cond delay="0"/>
                                          </p:stCondLst>
                                        </p:cTn>
                                        <p:tgtEl>
                                          <p:spTgt spid="15"/>
                                        </p:tgtEl>
                                        <p:attrNameLst>
                                          <p:attrName>style.visibility</p:attrName>
                                        </p:attrNameLst>
                                      </p:cBhvr>
                                      <p:to>
                                        <p:strVal val="visible"/>
                                      </p:to>
                                    </p:set>
                                    <p:animEffect transition="in" filter="fade">
                                      <p:cBhvr>
                                        <p:cTn id="46" dur="500"/>
                                        <p:tgtEl>
                                          <p:spTgt spid="15"/>
                                        </p:tgtEl>
                                      </p:cBhvr>
                                    </p:animEffect>
                                  </p:childTnLst>
                                </p:cTn>
                              </p:par>
                              <p:par>
                                <p:cTn id="47" presetID="10" presetClass="entr" presetSubtype="0" fill="hold" grpId="0" nodeType="withEffect">
                                  <p:stCondLst>
                                    <p:cond delay="540"/>
                                  </p:stCondLst>
                                  <p:childTnLst>
                                    <p:set>
                                      <p:cBhvr>
                                        <p:cTn id="48" dur="1" fill="hold">
                                          <p:stCondLst>
                                            <p:cond delay="0"/>
                                          </p:stCondLst>
                                        </p:cTn>
                                        <p:tgtEl>
                                          <p:spTgt spid="16"/>
                                        </p:tgtEl>
                                        <p:attrNameLst>
                                          <p:attrName>style.visibility</p:attrName>
                                        </p:attrNameLst>
                                      </p:cBhvr>
                                      <p:to>
                                        <p:strVal val="visible"/>
                                      </p:to>
                                    </p:set>
                                    <p:animEffect transition="in" filter="fade">
                                      <p:cBhvr>
                                        <p:cTn id="49" dur="500"/>
                                        <p:tgtEl>
                                          <p:spTgt spid="16"/>
                                        </p:tgtEl>
                                      </p:cBhvr>
                                    </p:animEffect>
                                  </p:childTnLst>
                                </p:cTn>
                              </p:par>
                              <p:par>
                                <p:cTn id="50" presetID="10" presetClass="entr" presetSubtype="0" fill="hold" grpId="0" nodeType="withEffect">
                                  <p:stCondLst>
                                    <p:cond delay="540"/>
                                  </p:stCondLst>
                                  <p:childTnLst>
                                    <p:set>
                                      <p:cBhvr>
                                        <p:cTn id="51" dur="1" fill="hold">
                                          <p:stCondLst>
                                            <p:cond delay="0"/>
                                          </p:stCondLst>
                                        </p:cTn>
                                        <p:tgtEl>
                                          <p:spTgt spid="17"/>
                                        </p:tgtEl>
                                        <p:attrNameLst>
                                          <p:attrName>style.visibility</p:attrName>
                                        </p:attrNameLst>
                                      </p:cBhvr>
                                      <p:to>
                                        <p:strVal val="visible"/>
                                      </p:to>
                                    </p:set>
                                    <p:animEffect transition="in" filter="fade">
                                      <p:cBhvr>
                                        <p:cTn id="52" dur="500"/>
                                        <p:tgtEl>
                                          <p:spTgt spid="17"/>
                                        </p:tgtEl>
                                      </p:cBhvr>
                                    </p:animEffect>
                                  </p:childTnLst>
                                </p:cTn>
                              </p:par>
                              <p:par>
                                <p:cTn id="53" presetID="10" presetClass="entr" presetSubtype="0" fill="hold" grpId="0" nodeType="withEffect">
                                  <p:stCondLst>
                                    <p:cond delay="720"/>
                                  </p:stCondLst>
                                  <p:childTnLst>
                                    <p:set>
                                      <p:cBhvr>
                                        <p:cTn id="54" dur="1" fill="hold">
                                          <p:stCondLst>
                                            <p:cond delay="0"/>
                                          </p:stCondLst>
                                        </p:cTn>
                                        <p:tgtEl>
                                          <p:spTgt spid="18"/>
                                        </p:tgtEl>
                                        <p:attrNameLst>
                                          <p:attrName>style.visibility</p:attrName>
                                        </p:attrNameLst>
                                      </p:cBhvr>
                                      <p:to>
                                        <p:strVal val="visible"/>
                                      </p:to>
                                    </p:set>
                                    <p:animEffect transition="in" filter="fade">
                                      <p:cBhvr>
                                        <p:cTn id="55" dur="500"/>
                                        <p:tgtEl>
                                          <p:spTgt spid="18"/>
                                        </p:tgtEl>
                                      </p:cBhvr>
                                    </p:animEffect>
                                  </p:childTnLst>
                                </p:cTn>
                              </p:par>
                              <p:par>
                                <p:cTn id="56" presetID="10" presetClass="entr" presetSubtype="0" fill="hold" grpId="0" nodeType="withEffect">
                                  <p:stCondLst>
                                    <p:cond delay="720"/>
                                  </p:stCondLst>
                                  <p:childTnLst>
                                    <p:set>
                                      <p:cBhvr>
                                        <p:cTn id="57" dur="1" fill="hold">
                                          <p:stCondLst>
                                            <p:cond delay="0"/>
                                          </p:stCondLst>
                                        </p:cTn>
                                        <p:tgtEl>
                                          <p:spTgt spid="19"/>
                                        </p:tgtEl>
                                        <p:attrNameLst>
                                          <p:attrName>style.visibility</p:attrName>
                                        </p:attrNameLst>
                                      </p:cBhvr>
                                      <p:to>
                                        <p:strVal val="visible"/>
                                      </p:to>
                                    </p:set>
                                    <p:animEffect transition="in" filter="fade">
                                      <p:cBhvr>
                                        <p:cTn id="58" dur="500"/>
                                        <p:tgtEl>
                                          <p:spTgt spid="19"/>
                                        </p:tgtEl>
                                      </p:cBhvr>
                                    </p:animEffect>
                                  </p:childTnLst>
                                </p:cTn>
                              </p:par>
                              <p:par>
                                <p:cTn id="59" presetID="10" presetClass="entr" presetSubtype="0" fill="hold" grpId="0" nodeType="withEffect">
                                  <p:stCondLst>
                                    <p:cond delay="720"/>
                                  </p:stCondLst>
                                  <p:childTnLst>
                                    <p:set>
                                      <p:cBhvr>
                                        <p:cTn id="60" dur="1" fill="hold">
                                          <p:stCondLst>
                                            <p:cond delay="0"/>
                                          </p:stCondLst>
                                        </p:cTn>
                                        <p:tgtEl>
                                          <p:spTgt spid="20"/>
                                        </p:tgtEl>
                                        <p:attrNameLst>
                                          <p:attrName>style.visibility</p:attrName>
                                        </p:attrNameLst>
                                      </p:cBhvr>
                                      <p:to>
                                        <p:strVal val="visible"/>
                                      </p:to>
                                    </p:set>
                                    <p:animEffect transition="in" filter="fade">
                                      <p:cBhvr>
                                        <p:cTn id="61" dur="500"/>
                                        <p:tgtEl>
                                          <p:spTgt spid="20"/>
                                        </p:tgtEl>
                                      </p:cBhvr>
                                    </p:animEffect>
                                  </p:childTnLst>
                                </p:cTn>
                              </p:par>
                              <p:par>
                                <p:cTn id="62" presetID="10" presetClass="entr" presetSubtype="0" fill="hold" grpId="0" nodeType="withEffect">
                                  <p:stCondLst>
                                    <p:cond delay="720"/>
                                  </p:stCondLst>
                                  <p:childTnLst>
                                    <p:set>
                                      <p:cBhvr>
                                        <p:cTn id="63" dur="1" fill="hold">
                                          <p:stCondLst>
                                            <p:cond delay="0"/>
                                          </p:stCondLst>
                                        </p:cTn>
                                        <p:tgtEl>
                                          <p:spTgt spid="21"/>
                                        </p:tgtEl>
                                        <p:attrNameLst>
                                          <p:attrName>style.visibility</p:attrName>
                                        </p:attrNameLst>
                                      </p:cBhvr>
                                      <p:to>
                                        <p:strVal val="visible"/>
                                      </p:to>
                                    </p:set>
                                    <p:animEffect transition="in" filter="fade">
                                      <p:cBhvr>
                                        <p:cTn id="64" dur="500"/>
                                        <p:tgtEl>
                                          <p:spTgt spid="21"/>
                                        </p:tgtEl>
                                      </p:cBhvr>
                                    </p:animEffect>
                                  </p:childTnLst>
                                </p:cTn>
                              </p:par>
                              <p:par>
                                <p:cTn id="65" presetID="10" presetClass="entr" presetSubtype="0" fill="hold" grpId="0" nodeType="withEffect">
                                  <p:stCondLst>
                                    <p:cond delay="720"/>
                                  </p:stCondLst>
                                  <p:childTnLst>
                                    <p:set>
                                      <p:cBhvr>
                                        <p:cTn id="66" dur="1" fill="hold">
                                          <p:stCondLst>
                                            <p:cond delay="0"/>
                                          </p:stCondLst>
                                        </p:cTn>
                                        <p:tgtEl>
                                          <p:spTgt spid="22"/>
                                        </p:tgtEl>
                                        <p:attrNameLst>
                                          <p:attrName>style.visibility</p:attrName>
                                        </p:attrNameLst>
                                      </p:cBhvr>
                                      <p:to>
                                        <p:strVal val="visible"/>
                                      </p:to>
                                    </p:set>
                                    <p:animEffect transition="in" filter="fade">
                                      <p:cBhvr>
                                        <p:cTn id="67" dur="500"/>
                                        <p:tgtEl>
                                          <p:spTgt spid="22"/>
                                        </p:tgtEl>
                                      </p:cBhvr>
                                    </p:animEffect>
                                  </p:childTnLst>
                                </p:cTn>
                              </p:par>
                              <p:par>
                                <p:cTn id="68" presetID="10" presetClass="entr" presetSubtype="0" fill="hold" grpId="0" nodeType="withEffect">
                                  <p:stCondLst>
                                    <p:cond delay="900"/>
                                  </p:stCondLst>
                                  <p:childTnLst>
                                    <p:set>
                                      <p:cBhvr>
                                        <p:cTn id="69" dur="1" fill="hold">
                                          <p:stCondLst>
                                            <p:cond delay="0"/>
                                          </p:stCondLst>
                                        </p:cTn>
                                        <p:tgtEl>
                                          <p:spTgt spid="23"/>
                                        </p:tgtEl>
                                        <p:attrNameLst>
                                          <p:attrName>style.visibility</p:attrName>
                                        </p:attrNameLst>
                                      </p:cBhvr>
                                      <p:to>
                                        <p:strVal val="visible"/>
                                      </p:to>
                                    </p:set>
                                    <p:animEffect transition="in" filter="fade">
                                      <p:cBhvr>
                                        <p:cTn id="70" dur="500"/>
                                        <p:tgtEl>
                                          <p:spTgt spid="23"/>
                                        </p:tgtEl>
                                      </p:cBhvr>
                                    </p:animEffect>
                                  </p:childTnLst>
                                </p:cTn>
                              </p:par>
                              <p:par>
                                <p:cTn id="71" presetID="10" presetClass="entr" presetSubtype="0" fill="hold" grpId="0" nodeType="withEffect">
                                  <p:stCondLst>
                                    <p:cond delay="900"/>
                                  </p:stCondLst>
                                  <p:childTnLst>
                                    <p:set>
                                      <p:cBhvr>
                                        <p:cTn id="72" dur="1" fill="hold">
                                          <p:stCondLst>
                                            <p:cond delay="0"/>
                                          </p:stCondLst>
                                        </p:cTn>
                                        <p:tgtEl>
                                          <p:spTgt spid="24"/>
                                        </p:tgtEl>
                                        <p:attrNameLst>
                                          <p:attrName>style.visibility</p:attrName>
                                        </p:attrNameLst>
                                      </p:cBhvr>
                                      <p:to>
                                        <p:strVal val="visible"/>
                                      </p:to>
                                    </p:set>
                                    <p:animEffect transition="in" filter="fade">
                                      <p:cBhvr>
                                        <p:cTn id="73" dur="500"/>
                                        <p:tgtEl>
                                          <p:spTgt spid="24"/>
                                        </p:tgtEl>
                                      </p:cBhvr>
                                    </p:animEffect>
                                  </p:childTnLst>
                                </p:cTn>
                              </p:par>
                              <p:par>
                                <p:cTn id="74" presetID="10" presetClass="entr" presetSubtype="0" fill="hold" grpId="0" nodeType="withEffect">
                                  <p:stCondLst>
                                    <p:cond delay="900"/>
                                  </p:stCondLst>
                                  <p:childTnLst>
                                    <p:set>
                                      <p:cBhvr>
                                        <p:cTn id="75" dur="1" fill="hold">
                                          <p:stCondLst>
                                            <p:cond delay="0"/>
                                          </p:stCondLst>
                                        </p:cTn>
                                        <p:tgtEl>
                                          <p:spTgt spid="25"/>
                                        </p:tgtEl>
                                        <p:attrNameLst>
                                          <p:attrName>style.visibility</p:attrName>
                                        </p:attrNameLst>
                                      </p:cBhvr>
                                      <p:to>
                                        <p:strVal val="visible"/>
                                      </p:to>
                                    </p:set>
                                    <p:animEffect transition="in" filter="fade">
                                      <p:cBhvr>
                                        <p:cTn id="76" dur="500"/>
                                        <p:tgtEl>
                                          <p:spTgt spid="25"/>
                                        </p:tgtEl>
                                      </p:cBhvr>
                                    </p:animEffect>
                                  </p:childTnLst>
                                </p:cTn>
                              </p:par>
                              <p:par>
                                <p:cTn id="77" presetID="10" presetClass="entr" presetSubtype="0" fill="hold" grpId="0" nodeType="withEffect">
                                  <p:stCondLst>
                                    <p:cond delay="900"/>
                                  </p:stCondLst>
                                  <p:childTnLst>
                                    <p:set>
                                      <p:cBhvr>
                                        <p:cTn id="78" dur="1" fill="hold">
                                          <p:stCondLst>
                                            <p:cond delay="0"/>
                                          </p:stCondLst>
                                        </p:cTn>
                                        <p:tgtEl>
                                          <p:spTgt spid="26"/>
                                        </p:tgtEl>
                                        <p:attrNameLst>
                                          <p:attrName>style.visibility</p:attrName>
                                        </p:attrNameLst>
                                      </p:cBhvr>
                                      <p:to>
                                        <p:strVal val="visible"/>
                                      </p:to>
                                    </p:set>
                                    <p:animEffect transition="in" filter="fade">
                                      <p:cBhvr>
                                        <p:cTn id="79" dur="500"/>
                                        <p:tgtEl>
                                          <p:spTgt spid="26"/>
                                        </p:tgtEl>
                                      </p:cBhvr>
                                    </p:animEffect>
                                  </p:childTnLst>
                                </p:cTn>
                              </p:par>
                              <p:par>
                                <p:cTn id="80" presetID="10" presetClass="entr" presetSubtype="0" fill="hold" grpId="0" nodeType="withEffect">
                                  <p:stCondLst>
                                    <p:cond delay="1080"/>
                                  </p:stCondLst>
                                  <p:childTnLst>
                                    <p:set>
                                      <p:cBhvr>
                                        <p:cTn id="81" dur="1" fill="hold">
                                          <p:stCondLst>
                                            <p:cond delay="0"/>
                                          </p:stCondLst>
                                        </p:cTn>
                                        <p:tgtEl>
                                          <p:spTgt spid="27"/>
                                        </p:tgtEl>
                                        <p:attrNameLst>
                                          <p:attrName>style.visibility</p:attrName>
                                        </p:attrNameLst>
                                      </p:cBhvr>
                                      <p:to>
                                        <p:strVal val="visible"/>
                                      </p:to>
                                    </p:set>
                                    <p:animEffect transition="in" filter="fade">
                                      <p:cBhvr>
                                        <p:cTn id="82" dur="500"/>
                                        <p:tgtEl>
                                          <p:spTgt spid="27"/>
                                        </p:tgtEl>
                                      </p:cBhvr>
                                    </p:animEffect>
                                  </p:childTnLst>
                                </p:cTn>
                              </p:par>
                              <p:par>
                                <p:cTn id="83" presetID="10" presetClass="entr" presetSubtype="0" fill="hold" grpId="0" nodeType="withEffect">
                                  <p:stCondLst>
                                    <p:cond delay="1080"/>
                                  </p:stCondLst>
                                  <p:childTnLst>
                                    <p:set>
                                      <p:cBhvr>
                                        <p:cTn id="84" dur="1" fill="hold">
                                          <p:stCondLst>
                                            <p:cond delay="0"/>
                                          </p:stCondLst>
                                        </p:cTn>
                                        <p:tgtEl>
                                          <p:spTgt spid="28"/>
                                        </p:tgtEl>
                                        <p:attrNameLst>
                                          <p:attrName>style.visibility</p:attrName>
                                        </p:attrNameLst>
                                      </p:cBhvr>
                                      <p:to>
                                        <p:strVal val="visible"/>
                                      </p:to>
                                    </p:set>
                                    <p:animEffect transition="in" filter="fade">
                                      <p:cBhvr>
                                        <p:cTn id="85" dur="500"/>
                                        <p:tgtEl>
                                          <p:spTgt spid="28"/>
                                        </p:tgtEl>
                                      </p:cBhvr>
                                    </p:animEffect>
                                  </p:childTnLst>
                                </p:cTn>
                              </p:par>
                              <p:par>
                                <p:cTn id="86" presetID="10" presetClass="entr" presetSubtype="0" fill="hold" grpId="0" nodeType="withEffect">
                                  <p:stCondLst>
                                    <p:cond delay="1080"/>
                                  </p:stCondLst>
                                  <p:childTnLst>
                                    <p:set>
                                      <p:cBhvr>
                                        <p:cTn id="87" dur="1" fill="hold">
                                          <p:stCondLst>
                                            <p:cond delay="0"/>
                                          </p:stCondLst>
                                        </p:cTn>
                                        <p:tgtEl>
                                          <p:spTgt spid="29"/>
                                        </p:tgtEl>
                                        <p:attrNameLst>
                                          <p:attrName>style.visibility</p:attrName>
                                        </p:attrNameLst>
                                      </p:cBhvr>
                                      <p:to>
                                        <p:strVal val="visible"/>
                                      </p:to>
                                    </p:set>
                                    <p:animEffect transition="in" filter="fade">
                                      <p:cBhvr>
                                        <p:cTn id="88" dur="500"/>
                                        <p:tgtEl>
                                          <p:spTgt spid="29"/>
                                        </p:tgtEl>
                                      </p:cBhvr>
                                    </p:animEffect>
                                  </p:childTnLst>
                                </p:cTn>
                              </p:par>
                              <p:par>
                                <p:cTn id="89" presetID="10" presetClass="entr" presetSubtype="0" fill="hold" grpId="0" nodeType="withEffect">
                                  <p:stCondLst>
                                    <p:cond delay="1080"/>
                                  </p:stCondLst>
                                  <p:childTnLst>
                                    <p:set>
                                      <p:cBhvr>
                                        <p:cTn id="90" dur="1" fill="hold">
                                          <p:stCondLst>
                                            <p:cond delay="0"/>
                                          </p:stCondLst>
                                        </p:cTn>
                                        <p:tgtEl>
                                          <p:spTgt spid="30"/>
                                        </p:tgtEl>
                                        <p:attrNameLst>
                                          <p:attrName>style.visibility</p:attrName>
                                        </p:attrNameLst>
                                      </p:cBhvr>
                                      <p:to>
                                        <p:strVal val="visible"/>
                                      </p:to>
                                    </p:set>
                                    <p:animEffect transition="in" filter="fade">
                                      <p:cBhvr>
                                        <p:cTn id="91" dur="500"/>
                                        <p:tgtEl>
                                          <p:spTgt spid="30"/>
                                        </p:tgtEl>
                                      </p:cBhvr>
                                    </p:animEffect>
                                  </p:childTnLst>
                                </p:cTn>
                              </p:par>
                              <p:par>
                                <p:cTn id="92" presetID="10" presetClass="entr" presetSubtype="0" fill="hold" grpId="0" nodeType="withEffect">
                                  <p:stCondLst>
                                    <p:cond delay="1080"/>
                                  </p:stCondLst>
                                  <p:childTnLst>
                                    <p:set>
                                      <p:cBhvr>
                                        <p:cTn id="93" dur="1" fill="hold">
                                          <p:stCondLst>
                                            <p:cond delay="0"/>
                                          </p:stCondLst>
                                        </p:cTn>
                                        <p:tgtEl>
                                          <p:spTgt spid="31"/>
                                        </p:tgtEl>
                                        <p:attrNameLst>
                                          <p:attrName>style.visibility</p:attrName>
                                        </p:attrNameLst>
                                      </p:cBhvr>
                                      <p:to>
                                        <p:strVal val="visible"/>
                                      </p:to>
                                    </p:set>
                                    <p:animEffect transition="in" filter="fade">
                                      <p:cBhvr>
                                        <p:cTn id="94"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0" animBg="1"/>
      <p:bldP spid="7"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30" grpId="0" animBg="1"/>
      <p:bldP spid="31"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pic>
        <p:nvPicPr>
          <p:cNvPr id="2" name="anim-1-1" descr="/tmp/claude-0/-home-user-hosting/7c832a48-0979-56aa-9fdf-7d53efb9dc7a/scratchpad/build/img/pointer.png">    </p:cNvPr>
          <p:cNvPicPr>
            <a:picLocks noChangeAspect="1"/>
          </p:cNvPicPr>
          <p:nvPr/>
        </p:nvPicPr>
        <p:blipFill>
          <a:blip r:embed="rId1"/>
          <a:stretch>
            <a:fillRect/>
          </a:stretch>
        </p:blipFill>
        <p:spPr>
          <a:xfrm>
            <a:off x="304800" y="241300"/>
            <a:ext cx="107274" cy="215900"/>
          </a:xfrm>
          <a:prstGeom prst="rect">
            <a:avLst/>
          </a:prstGeom>
        </p:spPr>
      </p:pic>
      <p:sp>
        <p:nvSpPr>
          <p:cNvPr id="3" name="anim-1-2"/>
          <p:cNvSpPr txBox="1"/>
          <p:nvPr/>
        </p:nvSpPr>
        <p:spPr>
          <a:xfrm>
            <a:off x="482600" y="254000"/>
            <a:ext cx="10160000" cy="215900"/>
          </a:xfrm>
          <a:prstGeom prst="rect">
            <a:avLst/>
          </a:prstGeom>
          <a:noFill/>
          <a:ln/>
        </p:spPr>
        <p:txBody>
          <a:bodyPr wrap="square" lIns="0" tIns="0" rIns="0" bIns="0" rtlCol="0" anchor="t"/>
          <a:lstStyle/>
          <a:p>
            <a:pPr algn="l" indent="0" marL="0">
              <a:lnSpc>
                <a:spcPct val="112000"/>
              </a:lnSpc>
              <a:buNone/>
            </a:pPr>
            <a:r>
              <a:rPr lang="en-US" sz="1200" b="1" spc="100" kern="0" dirty="0">
                <a:solidFill>
                  <a:srgbClr val="194EFF"/>
                </a:solidFill>
                <a:latin typeface="Plus Jakarta Sans" pitchFamily="34" charset="0"/>
                <a:ea typeface="Plus Jakarta Sans" pitchFamily="34" charset="-122"/>
                <a:cs typeface="Plus Jakarta Sans" pitchFamily="34" charset="-120"/>
              </a:rPr>
              <a:t>COUNTRY ELIGIBILITY &amp; CROSS-BORDER</a:t>
            </a:r>
            <a:endParaRPr lang="en-US" sz="1200" dirty="0"/>
          </a:p>
        </p:txBody>
      </p:sp>
      <p:sp>
        <p:nvSpPr>
          <p:cNvPr id="4" name="anim-1-3"/>
          <p:cNvSpPr txBox="1"/>
          <p:nvPr/>
        </p:nvSpPr>
        <p:spPr>
          <a:xfrm>
            <a:off x="304800" y="546100"/>
            <a:ext cx="11582400" cy="406400"/>
          </a:xfrm>
          <a:prstGeom prst="rect">
            <a:avLst/>
          </a:prstGeom>
          <a:noFill/>
          <a:ln/>
        </p:spPr>
        <p:txBody>
          <a:bodyPr wrap="square" lIns="0" tIns="0" rIns="0" bIns="0" rtlCol="0" anchor="ctr"/>
          <a:lstStyle/>
          <a:p>
            <a:pPr algn="l" indent="0" marL="0">
              <a:lnSpc>
                <a:spcPct val="112000"/>
              </a:lnSpc>
              <a:buNone/>
            </a:pPr>
            <a:r>
              <a:rPr lang="en-US" sz="2000" b="1" dirty="0">
                <a:solidFill>
                  <a:srgbClr val="13151C"/>
                </a:solidFill>
                <a:latin typeface="Plus Jakarta Sans" pitchFamily="34" charset="0"/>
                <a:ea typeface="Plus Jakarta Sans" pitchFamily="34" charset="-122"/>
                <a:cs typeface="Plus Jakarta Sans" pitchFamily="34" charset="-120"/>
              </a:rPr>
              <a:t>Sell across borders, </a:t>
            </a:r>
            <a:pPr algn="l" indent="0" marL="0">
              <a:lnSpc>
                <a:spcPct val="112000"/>
              </a:lnSpc>
              <a:buNone/>
            </a:pPr>
            <a:r>
              <a:rPr lang="en-US" sz="2000" b="1" dirty="0">
                <a:solidFill>
                  <a:srgbClr val="194EFF"/>
                </a:solidFill>
                <a:latin typeface="Plus Jakarta Sans" pitchFamily="34" charset="0"/>
                <a:ea typeface="Plus Jakarta Sans" pitchFamily="34" charset="-122"/>
                <a:cs typeface="Plus Jakarta Sans" pitchFamily="34" charset="-120"/>
              </a:rPr>
              <a:t>the right way</a:t>
            </a:r>
            <a:endParaRPr lang="en-US" sz="2000" dirty="0"/>
          </a:p>
        </p:txBody>
      </p:sp>
      <p:sp>
        <p:nvSpPr>
          <p:cNvPr id="5" name="anim-1-4"/>
          <p:cNvSpPr/>
          <p:nvPr/>
        </p:nvSpPr>
        <p:spPr>
          <a:xfrm>
            <a:off x="0" y="1244600"/>
            <a:ext cx="12192000" cy="6350"/>
          </a:xfrm>
          <a:prstGeom prst="rect">
            <a:avLst/>
          </a:prstGeom>
          <a:solidFill>
            <a:srgbClr val="CDD0D9"/>
          </a:solidFill>
          <a:ln/>
        </p:spPr>
      </p:sp>
      <p:sp>
        <p:nvSpPr>
          <p:cNvPr id="6" name="anim-2-5"/>
          <p:cNvSpPr/>
          <p:nvPr/>
        </p:nvSpPr>
        <p:spPr>
          <a:xfrm>
            <a:off x="6096000" y="1244600"/>
            <a:ext cx="6350" cy="2095500"/>
          </a:xfrm>
          <a:prstGeom prst="rect">
            <a:avLst/>
          </a:prstGeom>
          <a:solidFill>
            <a:srgbClr val="CDD0D9"/>
          </a:solidFill>
          <a:ln/>
        </p:spPr>
      </p:sp>
      <p:sp>
        <p:nvSpPr>
          <p:cNvPr id="7" name="anim-2-6"/>
          <p:cNvSpPr/>
          <p:nvPr/>
        </p:nvSpPr>
        <p:spPr>
          <a:xfrm>
            <a:off x="6102350" y="1250950"/>
            <a:ext cx="6089650" cy="2089150"/>
          </a:xfrm>
          <a:prstGeom prst="rect">
            <a:avLst/>
          </a:prstGeom>
          <a:solidFill>
            <a:srgbClr val="F5F9FB"/>
          </a:solidFill>
          <a:ln/>
        </p:spPr>
      </p:sp>
      <p:sp>
        <p:nvSpPr>
          <p:cNvPr id="8" name="anim-2-7"/>
          <p:cNvSpPr txBox="1"/>
          <p:nvPr/>
        </p:nvSpPr>
        <p:spPr>
          <a:xfrm>
            <a:off x="304800" y="1460500"/>
            <a:ext cx="5461000" cy="279400"/>
          </a:xfrm>
          <a:prstGeom prst="rect">
            <a:avLst/>
          </a:prstGeom>
          <a:noFill/>
          <a:ln/>
        </p:spPr>
        <p:txBody>
          <a:bodyPr wrap="square" lIns="0" tIns="0" rIns="0" bIns="0" rtlCol="0" anchor="t"/>
          <a:lstStyle/>
          <a:p>
            <a:pPr algn="l" indent="0" marL="0">
              <a:lnSpc>
                <a:spcPct val="112000"/>
              </a:lnSpc>
              <a:buNone/>
            </a:pPr>
            <a:r>
              <a:rPr lang="en-US" sz="1500" b="1" dirty="0">
                <a:solidFill>
                  <a:srgbClr val="194EFF"/>
                </a:solidFill>
                <a:latin typeface="Plus Jakarta Sans" pitchFamily="34" charset="0"/>
                <a:ea typeface="Plus Jakarta Sans" pitchFamily="34" charset="-122"/>
                <a:cs typeface="Plus Jakarta Sans" pitchFamily="34" charset="-120"/>
              </a:rPr>
              <a:t>Licensed in each country of sale</a:t>
            </a:r>
            <a:endParaRPr lang="en-US" sz="1500" dirty="0"/>
          </a:p>
        </p:txBody>
      </p:sp>
      <p:sp>
        <p:nvSpPr>
          <p:cNvPr id="9" name="anim-2-8"/>
          <p:cNvSpPr txBox="1"/>
          <p:nvPr/>
        </p:nvSpPr>
        <p:spPr>
          <a:xfrm>
            <a:off x="304800" y="1828800"/>
            <a:ext cx="5461000" cy="1270000"/>
          </a:xfrm>
          <a:prstGeom prst="rect">
            <a:avLst/>
          </a:prstGeom>
          <a:noFill/>
          <a:ln/>
        </p:spPr>
        <p:txBody>
          <a:bodyPr wrap="square" lIns="0" tIns="0" rIns="0" bIns="0" rtlCol="0" anchor="t"/>
          <a:lstStyle/>
          <a:p>
            <a:pPr algn="l" indent="0" marL="0">
              <a:lnSpc>
                <a:spcPct val="125000"/>
              </a:lnSpc>
              <a:buNone/>
            </a:pPr>
            <a:r>
              <a:rPr lang="en-US" sz="1100" dirty="0">
                <a:solidFill>
                  <a:srgbClr val="13151C"/>
                </a:solidFill>
                <a:latin typeface="Plus Jakarta Sans" pitchFamily="34" charset="0"/>
                <a:ea typeface="Plus Jakarta Sans" pitchFamily="34" charset="-122"/>
                <a:cs typeface="Plus Jakarta Sans" pitchFamily="34" charset="-120"/>
              </a:rPr>
              <a:t>Eligible for full role-based commission per country, under a per-country agreement or a master agreement with approved country annexes.</a:t>
            </a:r>
            <a:endParaRPr lang="en-US" sz="1100" dirty="0"/>
          </a:p>
        </p:txBody>
      </p:sp>
      <p:sp>
        <p:nvSpPr>
          <p:cNvPr id="10" name="anim-3-9"/>
          <p:cNvSpPr txBox="1"/>
          <p:nvPr/>
        </p:nvSpPr>
        <p:spPr>
          <a:xfrm>
            <a:off x="6400800" y="1460500"/>
            <a:ext cx="5461000" cy="279400"/>
          </a:xfrm>
          <a:prstGeom prst="rect">
            <a:avLst/>
          </a:prstGeom>
          <a:noFill/>
          <a:ln/>
        </p:spPr>
        <p:txBody>
          <a:bodyPr wrap="square" lIns="0" tIns="0" rIns="0" bIns="0" rtlCol="0" anchor="t"/>
          <a:lstStyle/>
          <a:p>
            <a:pPr algn="l" indent="0" marL="0">
              <a:lnSpc>
                <a:spcPct val="112000"/>
              </a:lnSpc>
              <a:buNone/>
            </a:pPr>
            <a:r>
              <a:rPr lang="en-US" sz="1500" b="1" dirty="0">
                <a:solidFill>
                  <a:srgbClr val="13151C"/>
                </a:solidFill>
                <a:latin typeface="Plus Jakarta Sans" pitchFamily="34" charset="0"/>
                <a:ea typeface="Plus Jakarta Sans" pitchFamily="34" charset="-122"/>
                <a:cs typeface="Plus Jakarta Sans" pitchFamily="34" charset="-120"/>
              </a:rPr>
              <a:t>Licensed at home only</a:t>
            </a:r>
            <a:endParaRPr lang="en-US" sz="1500" dirty="0"/>
          </a:p>
        </p:txBody>
      </p:sp>
      <p:sp>
        <p:nvSpPr>
          <p:cNvPr id="11" name="anim-3-10"/>
          <p:cNvSpPr txBox="1"/>
          <p:nvPr/>
        </p:nvSpPr>
        <p:spPr>
          <a:xfrm>
            <a:off x="6400800" y="1828800"/>
            <a:ext cx="5461000" cy="1270000"/>
          </a:xfrm>
          <a:prstGeom prst="rect">
            <a:avLst/>
          </a:prstGeom>
          <a:noFill/>
          <a:ln/>
        </p:spPr>
        <p:txBody>
          <a:bodyPr wrap="square" lIns="0" tIns="0" rIns="0" bIns="0" rtlCol="0" anchor="t"/>
          <a:lstStyle/>
          <a:p>
            <a:pPr algn="l" indent="0" marL="0">
              <a:lnSpc>
                <a:spcPct val="125000"/>
              </a:lnSpc>
              <a:buNone/>
            </a:pPr>
            <a:r>
              <a:rPr lang="en-US" sz="1100" dirty="0">
                <a:solidFill>
                  <a:srgbClr val="13151C"/>
                </a:solidFill>
                <a:latin typeface="Plus Jakarta Sans" pitchFamily="34" charset="0"/>
                <a:ea typeface="Plus Jakarta Sans" pitchFamily="34" charset="-122"/>
                <a:cs typeface="Plus Jakarta Sans" pitchFamily="34" charset="-120"/>
              </a:rPr>
              <a:t>Cannot contract, invoice or be paid as selling partner where not locally eligible. May be credited as referral / origination; a locally eligible partner or DignifyX entity becomes partner-of-record.</a:t>
            </a:r>
            <a:endParaRPr lang="en-US" sz="1100" dirty="0"/>
          </a:p>
        </p:txBody>
      </p:sp>
      <p:sp>
        <p:nvSpPr>
          <p:cNvPr id="12" name="anim-4-11"/>
          <p:cNvSpPr/>
          <p:nvPr/>
        </p:nvSpPr>
        <p:spPr>
          <a:xfrm>
            <a:off x="0" y="3340100"/>
            <a:ext cx="12192000" cy="6350"/>
          </a:xfrm>
          <a:prstGeom prst="rect">
            <a:avLst/>
          </a:prstGeom>
          <a:solidFill>
            <a:srgbClr val="CDD0D9"/>
          </a:solidFill>
          <a:ln/>
        </p:spPr>
      </p:sp>
      <p:sp>
        <p:nvSpPr>
          <p:cNvPr id="13" name="anim-4-12"/>
          <p:cNvSpPr txBox="1"/>
          <p:nvPr/>
        </p:nvSpPr>
        <p:spPr>
          <a:xfrm>
            <a:off x="304800" y="3479800"/>
            <a:ext cx="5715000" cy="165100"/>
          </a:xfrm>
          <a:prstGeom prst="rect">
            <a:avLst/>
          </a:prstGeom>
          <a:noFill/>
          <a:ln/>
        </p:spPr>
        <p:txBody>
          <a:bodyPr wrap="square" lIns="0" tIns="0" rIns="0" bIns="0" rtlCol="0" anchor="t"/>
          <a:lstStyle/>
          <a:p>
            <a:pPr algn="l" indent="0" marL="0">
              <a:lnSpc>
                <a:spcPct val="112000"/>
              </a:lnSpc>
              <a:buNone/>
            </a:pPr>
            <a:r>
              <a:rPr lang="en-US" sz="850" b="1" spc="150" kern="0" dirty="0">
                <a:solidFill>
                  <a:srgbClr val="194EFF"/>
                </a:solidFill>
                <a:latin typeface="Plus Jakarta Sans" pitchFamily="34" charset="0"/>
                <a:ea typeface="Plus Jakarta Sans" pitchFamily="34" charset="-122"/>
                <a:cs typeface="Plus Jakarta Sans" pitchFamily="34" charset="-120"/>
              </a:rPr>
              <a:t>THREE WAYS TO SELL ACROSS BORDERS</a:t>
            </a:r>
            <a:endParaRPr lang="en-US" sz="850" dirty="0"/>
          </a:p>
        </p:txBody>
      </p:sp>
      <p:sp>
        <p:nvSpPr>
          <p:cNvPr id="14" name="anim-4-13"/>
          <p:cNvSpPr/>
          <p:nvPr/>
        </p:nvSpPr>
        <p:spPr>
          <a:xfrm>
            <a:off x="0" y="3733800"/>
            <a:ext cx="12192000" cy="6350"/>
          </a:xfrm>
          <a:prstGeom prst="rect">
            <a:avLst/>
          </a:prstGeom>
          <a:solidFill>
            <a:srgbClr val="CDD0D9"/>
          </a:solidFill>
          <a:ln/>
        </p:spPr>
      </p:sp>
      <p:sp>
        <p:nvSpPr>
          <p:cNvPr id="15" name="anim-5-14"/>
          <p:cNvSpPr txBox="1"/>
          <p:nvPr/>
        </p:nvSpPr>
        <p:spPr>
          <a:xfrm>
            <a:off x="304800" y="3886200"/>
            <a:ext cx="635000" cy="444500"/>
          </a:xfrm>
          <a:prstGeom prst="rect">
            <a:avLst/>
          </a:prstGeom>
          <a:noFill/>
          <a:ln/>
        </p:spPr>
        <p:txBody>
          <a:bodyPr wrap="square" lIns="0" tIns="0" rIns="0" bIns="0" rtlCol="0" anchor="t"/>
          <a:lstStyle/>
          <a:p>
            <a:pPr algn="l" indent="0" marL="0">
              <a:lnSpc>
                <a:spcPct val="112000"/>
              </a:lnSpc>
              <a:buNone/>
            </a:pPr>
            <a:r>
              <a:rPr lang="en-US" sz="2800" b="1" dirty="0">
                <a:solidFill>
                  <a:srgbClr val="194EFF"/>
                </a:solidFill>
                <a:latin typeface="Plus Jakarta Sans" pitchFamily="34" charset="0"/>
                <a:ea typeface="Plus Jakarta Sans" pitchFamily="34" charset="-122"/>
                <a:cs typeface="Plus Jakarta Sans" pitchFamily="34" charset="-120"/>
              </a:rPr>
              <a:t>A</a:t>
            </a:r>
            <a:endParaRPr lang="en-US" sz="2800" dirty="0"/>
          </a:p>
        </p:txBody>
      </p:sp>
      <p:sp>
        <p:nvSpPr>
          <p:cNvPr id="16" name="anim-5-15"/>
          <p:cNvSpPr txBox="1"/>
          <p:nvPr/>
        </p:nvSpPr>
        <p:spPr>
          <a:xfrm>
            <a:off x="889000" y="3987800"/>
            <a:ext cx="2921000" cy="254000"/>
          </a:xfrm>
          <a:prstGeom prst="rect">
            <a:avLst/>
          </a:prstGeom>
          <a:noFill/>
          <a:ln/>
        </p:spPr>
        <p:txBody>
          <a:bodyPr wrap="square" lIns="0" tIns="0" rIns="0" bIns="0" rtlCol="0" anchor="t"/>
          <a:lstStyle/>
          <a:p>
            <a:pPr algn="l" indent="0" marL="0">
              <a:lnSpc>
                <a:spcPct val="112000"/>
              </a:lnSpc>
              <a:buNone/>
            </a:pPr>
            <a:r>
              <a:rPr lang="en-US" sz="1300" b="1" dirty="0">
                <a:solidFill>
                  <a:srgbClr val="13151C"/>
                </a:solidFill>
                <a:latin typeface="Plus Jakarta Sans" pitchFamily="34" charset="0"/>
                <a:ea typeface="Plus Jakarta Sans" pitchFamily="34" charset="-122"/>
                <a:cs typeface="Plus Jakarta Sans" pitchFamily="34" charset="-120"/>
              </a:rPr>
              <a:t>Origination / Referral</a:t>
            </a:r>
            <a:endParaRPr lang="en-US" sz="1300" dirty="0"/>
          </a:p>
        </p:txBody>
      </p:sp>
      <p:sp>
        <p:nvSpPr>
          <p:cNvPr id="17" name="anim-5-16"/>
          <p:cNvSpPr txBox="1"/>
          <p:nvPr/>
        </p:nvSpPr>
        <p:spPr>
          <a:xfrm>
            <a:off x="304800" y="4483100"/>
            <a:ext cx="3492500" cy="1206500"/>
          </a:xfrm>
          <a:prstGeom prst="rect">
            <a:avLst/>
          </a:prstGeom>
          <a:noFill/>
          <a:ln/>
        </p:spPr>
        <p:txBody>
          <a:bodyPr wrap="square" lIns="0" tIns="0" rIns="0" bIns="0" rtlCol="0" anchor="t"/>
          <a:lstStyle/>
          <a:p>
            <a:pPr algn="l" indent="0" marL="0">
              <a:lnSpc>
                <a:spcPct val="125000"/>
              </a:lnSpc>
              <a:buNone/>
            </a:pPr>
            <a:r>
              <a:rPr lang="en-US" sz="1000" dirty="0">
                <a:solidFill>
                  <a:srgbClr val="5A5C63"/>
                </a:solidFill>
                <a:latin typeface="Plus Jakarta Sans" pitchFamily="34" charset="0"/>
                <a:ea typeface="Plus Jakarta Sans" pitchFamily="34" charset="-122"/>
                <a:cs typeface="Plus Jakarta Sans" pitchFamily="34" charset="-120"/>
              </a:rPr>
              <a:t>DignifyX may approve a referral / origination fee; the local DignifyX entity or an approved local partner is partner-of-record.</a:t>
            </a:r>
            <a:endParaRPr lang="en-US" sz="1000" dirty="0"/>
          </a:p>
        </p:txBody>
      </p:sp>
      <p:sp>
        <p:nvSpPr>
          <p:cNvPr id="18" name="anim-6-17"/>
          <p:cNvSpPr/>
          <p:nvPr/>
        </p:nvSpPr>
        <p:spPr>
          <a:xfrm>
            <a:off x="4064000" y="3733800"/>
            <a:ext cx="6350" cy="2108200"/>
          </a:xfrm>
          <a:prstGeom prst="rect">
            <a:avLst/>
          </a:prstGeom>
          <a:solidFill>
            <a:srgbClr val="CDD0D9"/>
          </a:solidFill>
          <a:ln/>
        </p:spPr>
      </p:sp>
      <p:sp>
        <p:nvSpPr>
          <p:cNvPr id="19" name="anim-6-18"/>
          <p:cNvSpPr txBox="1"/>
          <p:nvPr/>
        </p:nvSpPr>
        <p:spPr>
          <a:xfrm>
            <a:off x="4368800" y="3886200"/>
            <a:ext cx="635000" cy="444500"/>
          </a:xfrm>
          <a:prstGeom prst="rect">
            <a:avLst/>
          </a:prstGeom>
          <a:noFill/>
          <a:ln/>
        </p:spPr>
        <p:txBody>
          <a:bodyPr wrap="square" lIns="0" tIns="0" rIns="0" bIns="0" rtlCol="0" anchor="t"/>
          <a:lstStyle/>
          <a:p>
            <a:pPr algn="l" indent="0" marL="0">
              <a:lnSpc>
                <a:spcPct val="112000"/>
              </a:lnSpc>
              <a:buNone/>
            </a:pPr>
            <a:r>
              <a:rPr lang="en-US" sz="2800" b="1" dirty="0">
                <a:solidFill>
                  <a:srgbClr val="194EFF"/>
                </a:solidFill>
                <a:latin typeface="Plus Jakarta Sans" pitchFamily="34" charset="0"/>
                <a:ea typeface="Plus Jakarta Sans" pitchFamily="34" charset="-122"/>
                <a:cs typeface="Plus Jakarta Sans" pitchFamily="34" charset="-120"/>
              </a:rPr>
              <a:t>B</a:t>
            </a:r>
            <a:endParaRPr lang="en-US" sz="2800" dirty="0"/>
          </a:p>
        </p:txBody>
      </p:sp>
      <p:sp>
        <p:nvSpPr>
          <p:cNvPr id="20" name="anim-6-19"/>
          <p:cNvSpPr txBox="1"/>
          <p:nvPr/>
        </p:nvSpPr>
        <p:spPr>
          <a:xfrm>
            <a:off x="4953000" y="3987800"/>
            <a:ext cx="2921000" cy="254000"/>
          </a:xfrm>
          <a:prstGeom prst="rect">
            <a:avLst/>
          </a:prstGeom>
          <a:noFill/>
          <a:ln/>
        </p:spPr>
        <p:txBody>
          <a:bodyPr wrap="square" lIns="0" tIns="0" rIns="0" bIns="0" rtlCol="0" anchor="t"/>
          <a:lstStyle/>
          <a:p>
            <a:pPr algn="l" indent="0" marL="0">
              <a:lnSpc>
                <a:spcPct val="112000"/>
              </a:lnSpc>
              <a:buNone/>
            </a:pPr>
            <a:r>
              <a:rPr lang="en-US" sz="1300" b="1" dirty="0">
                <a:solidFill>
                  <a:srgbClr val="13151C"/>
                </a:solidFill>
                <a:latin typeface="Plus Jakarta Sans" pitchFamily="34" charset="0"/>
                <a:ea typeface="Plus Jakarta Sans" pitchFamily="34" charset="-122"/>
                <a:cs typeface="Plus Jakarta Sans" pitchFamily="34" charset="-120"/>
              </a:rPr>
              <a:t>Local Registration</a:t>
            </a:r>
            <a:endParaRPr lang="en-US" sz="1300" dirty="0"/>
          </a:p>
        </p:txBody>
      </p:sp>
      <p:sp>
        <p:nvSpPr>
          <p:cNvPr id="21" name="anim-6-20"/>
          <p:cNvSpPr txBox="1"/>
          <p:nvPr/>
        </p:nvSpPr>
        <p:spPr>
          <a:xfrm>
            <a:off x="4368800" y="4483100"/>
            <a:ext cx="3492500" cy="1206500"/>
          </a:xfrm>
          <a:prstGeom prst="rect">
            <a:avLst/>
          </a:prstGeom>
          <a:noFill/>
          <a:ln/>
        </p:spPr>
        <p:txBody>
          <a:bodyPr wrap="square" lIns="0" tIns="0" rIns="0" bIns="0" rtlCol="0" anchor="t"/>
          <a:lstStyle/>
          <a:p>
            <a:pPr algn="l" indent="0" marL="0">
              <a:lnSpc>
                <a:spcPct val="125000"/>
              </a:lnSpc>
              <a:buNone/>
            </a:pPr>
            <a:r>
              <a:rPr lang="en-US" sz="1000" dirty="0">
                <a:solidFill>
                  <a:srgbClr val="5A5C63"/>
                </a:solidFill>
                <a:latin typeface="Plus Jakarta Sans" pitchFamily="34" charset="0"/>
                <a:ea typeface="Plus Jakarta Sans" pitchFamily="34" charset="-122"/>
                <a:cs typeface="Plus Jakarta Sans" pitchFamily="34" charset="-120"/>
              </a:rPr>
              <a:t>Establish or activate a local entity or registration; once approved, eligible for full local commission from the approval date.</a:t>
            </a:r>
            <a:endParaRPr lang="en-US" sz="1000" dirty="0"/>
          </a:p>
        </p:txBody>
      </p:sp>
      <p:sp>
        <p:nvSpPr>
          <p:cNvPr id="22" name="anim-7-21"/>
          <p:cNvSpPr/>
          <p:nvPr/>
        </p:nvSpPr>
        <p:spPr>
          <a:xfrm>
            <a:off x="8128000" y="3733800"/>
            <a:ext cx="6350" cy="2108200"/>
          </a:xfrm>
          <a:prstGeom prst="rect">
            <a:avLst/>
          </a:prstGeom>
          <a:solidFill>
            <a:srgbClr val="CDD0D9"/>
          </a:solidFill>
          <a:ln/>
        </p:spPr>
      </p:sp>
      <p:sp>
        <p:nvSpPr>
          <p:cNvPr id="23" name="anim-7-22"/>
          <p:cNvSpPr/>
          <p:nvPr/>
        </p:nvSpPr>
        <p:spPr>
          <a:xfrm>
            <a:off x="8134350" y="3740150"/>
            <a:ext cx="4057650" cy="2101850"/>
          </a:xfrm>
          <a:prstGeom prst="rect">
            <a:avLst/>
          </a:prstGeom>
          <a:solidFill>
            <a:srgbClr val="EDF1FF"/>
          </a:solidFill>
          <a:ln/>
        </p:spPr>
      </p:sp>
      <p:sp>
        <p:nvSpPr>
          <p:cNvPr id="24" name="anim-7-23"/>
          <p:cNvSpPr txBox="1"/>
          <p:nvPr/>
        </p:nvSpPr>
        <p:spPr>
          <a:xfrm>
            <a:off x="8432800" y="3886200"/>
            <a:ext cx="635000" cy="444500"/>
          </a:xfrm>
          <a:prstGeom prst="rect">
            <a:avLst/>
          </a:prstGeom>
          <a:noFill/>
          <a:ln/>
        </p:spPr>
        <p:txBody>
          <a:bodyPr wrap="square" lIns="0" tIns="0" rIns="0" bIns="0" rtlCol="0" anchor="t"/>
          <a:lstStyle/>
          <a:p>
            <a:pPr algn="l" indent="0" marL="0">
              <a:lnSpc>
                <a:spcPct val="112000"/>
              </a:lnSpc>
              <a:buNone/>
            </a:pPr>
            <a:r>
              <a:rPr lang="en-US" sz="2800" b="1" dirty="0">
                <a:solidFill>
                  <a:srgbClr val="194EFF"/>
                </a:solidFill>
                <a:latin typeface="Plus Jakarta Sans" pitchFamily="34" charset="0"/>
                <a:ea typeface="Plus Jakarta Sans" pitchFamily="34" charset="-122"/>
                <a:cs typeface="Plus Jakarta Sans" pitchFamily="34" charset="-120"/>
              </a:rPr>
              <a:t>C</a:t>
            </a:r>
            <a:endParaRPr lang="en-US" sz="2800" dirty="0"/>
          </a:p>
        </p:txBody>
      </p:sp>
      <p:sp>
        <p:nvSpPr>
          <p:cNvPr id="25" name="anim-7-24"/>
          <p:cNvSpPr txBox="1"/>
          <p:nvPr/>
        </p:nvSpPr>
        <p:spPr>
          <a:xfrm>
            <a:off x="9017000" y="3987800"/>
            <a:ext cx="2921000" cy="254000"/>
          </a:xfrm>
          <a:prstGeom prst="rect">
            <a:avLst/>
          </a:prstGeom>
          <a:noFill/>
          <a:ln/>
        </p:spPr>
        <p:txBody>
          <a:bodyPr wrap="square" lIns="0" tIns="0" rIns="0" bIns="0" rtlCol="0" anchor="t"/>
          <a:lstStyle/>
          <a:p>
            <a:pPr algn="l" indent="0" marL="0">
              <a:lnSpc>
                <a:spcPct val="112000"/>
              </a:lnSpc>
              <a:buNone/>
            </a:pPr>
            <a:r>
              <a:rPr lang="en-US" sz="1300" b="1" dirty="0">
                <a:solidFill>
                  <a:srgbClr val="13151C"/>
                </a:solidFill>
                <a:latin typeface="Plus Jakarta Sans" pitchFamily="34" charset="0"/>
                <a:ea typeface="Plus Jakarta Sans" pitchFamily="34" charset="-122"/>
                <a:cs typeface="Plus Jakarta Sans" pitchFamily="34" charset="-120"/>
              </a:rPr>
              <a:t>Master + Country Annexes</a:t>
            </a:r>
            <a:endParaRPr lang="en-US" sz="1300" dirty="0"/>
          </a:p>
        </p:txBody>
      </p:sp>
      <p:sp>
        <p:nvSpPr>
          <p:cNvPr id="26" name="anim-7-25"/>
          <p:cNvSpPr txBox="1"/>
          <p:nvPr/>
        </p:nvSpPr>
        <p:spPr>
          <a:xfrm>
            <a:off x="8432800" y="4483100"/>
            <a:ext cx="3492500" cy="1206500"/>
          </a:xfrm>
          <a:prstGeom prst="rect">
            <a:avLst/>
          </a:prstGeom>
          <a:noFill/>
          <a:ln/>
        </p:spPr>
        <p:txBody>
          <a:bodyPr wrap="square" lIns="0" tIns="0" rIns="0" bIns="0" rtlCol="0" anchor="t"/>
          <a:lstStyle/>
          <a:p>
            <a:pPr algn="l" indent="0" marL="0">
              <a:lnSpc>
                <a:spcPct val="125000"/>
              </a:lnSpc>
              <a:buNone/>
            </a:pPr>
            <a:r>
              <a:rPr lang="en-US" sz="1000" dirty="0">
                <a:solidFill>
                  <a:srgbClr val="5A5C63"/>
                </a:solidFill>
                <a:latin typeface="Plus Jakarta Sans" pitchFamily="34" charset="0"/>
                <a:ea typeface="Plus Jakarta Sans" pitchFamily="34" charset="-122"/>
                <a:cs typeface="Plus Jakarta Sans" pitchFamily="34" charset="-120"/>
              </a:rPr>
              <a:t>For approved multi-country partners; each annex defines contracting, tax, commission eligibility, data residency, delivery and support.</a:t>
            </a:r>
            <a:endParaRPr lang="en-US" sz="1000" dirty="0"/>
          </a:p>
        </p:txBody>
      </p:sp>
      <p:sp>
        <p:nvSpPr>
          <p:cNvPr id="27" name="anim-9-26"/>
          <p:cNvSpPr/>
          <p:nvPr/>
        </p:nvSpPr>
        <p:spPr>
          <a:xfrm>
            <a:off x="0" y="5842000"/>
            <a:ext cx="12192000" cy="1016000"/>
          </a:xfrm>
          <a:prstGeom prst="rect">
            <a:avLst/>
          </a:prstGeom>
          <a:solidFill>
            <a:srgbClr val="F5F9FB"/>
          </a:solidFill>
          <a:ln/>
        </p:spPr>
      </p:sp>
      <p:pic>
        <p:nvPicPr>
          <p:cNvPr id="28" name="anim-9-27" descr="/tmp/claude-0/-home-user-hosting/7c832a48-0979-56aa-9fdf-7d53efb9dc7a/scratchpad/build/img/motif-left.png">    </p:cNvPr>
          <p:cNvPicPr>
            <a:picLocks noChangeAspect="1"/>
          </p:cNvPicPr>
          <p:nvPr/>
        </p:nvPicPr>
        <p:blipFill>
          <a:blip r:embed="rId2"/>
          <a:stretch>
            <a:fillRect/>
          </a:stretch>
        </p:blipFill>
        <p:spPr>
          <a:xfrm>
            <a:off x="0" y="5842000"/>
            <a:ext cx="844550" cy="1016000"/>
          </a:xfrm>
          <a:prstGeom prst="rect">
            <a:avLst/>
          </a:prstGeom>
        </p:spPr>
      </p:pic>
      <p:pic>
        <p:nvPicPr>
          <p:cNvPr id="29" name="anim-9-28" descr="/tmp/claude-0/-home-user-hosting/7c832a48-0979-56aa-9fdf-7d53efb9dc7a/scratchpad/build/img/motif-right.png">    </p:cNvPr>
          <p:cNvPicPr>
            <a:picLocks noChangeAspect="1"/>
          </p:cNvPicPr>
          <p:nvPr/>
        </p:nvPicPr>
        <p:blipFill>
          <a:blip r:embed="rId3"/>
          <a:stretch>
            <a:fillRect/>
          </a:stretch>
        </p:blipFill>
        <p:spPr>
          <a:xfrm>
            <a:off x="11347450" y="5842000"/>
            <a:ext cx="844550" cy="1016000"/>
          </a:xfrm>
          <a:prstGeom prst="rect">
            <a:avLst/>
          </a:prstGeom>
        </p:spPr>
      </p:pic>
      <p:sp>
        <p:nvSpPr>
          <p:cNvPr id="30" name="anim-9-29"/>
          <p:cNvSpPr txBox="1"/>
          <p:nvPr/>
        </p:nvSpPr>
        <p:spPr>
          <a:xfrm>
            <a:off x="1079500" y="5969000"/>
            <a:ext cx="2095500" cy="558800"/>
          </a:xfrm>
          <a:prstGeom prst="rect">
            <a:avLst/>
          </a:prstGeom>
          <a:noFill/>
          <a:ln/>
        </p:spPr>
        <p:txBody>
          <a:bodyPr wrap="square" lIns="0" tIns="0" rIns="0" bIns="0" rtlCol="0" anchor="ctr"/>
          <a:lstStyle/>
          <a:p>
            <a:pPr algn="l" indent="0" marL="0">
              <a:lnSpc>
                <a:spcPct val="112000"/>
              </a:lnSpc>
              <a:buNone/>
            </a:pPr>
            <a:r>
              <a:rPr lang="en-US" sz="1200" b="1" dirty="0">
                <a:solidFill>
                  <a:srgbClr val="194EFF"/>
                </a:solidFill>
                <a:latin typeface="Plus Jakarta Sans" pitchFamily="34" charset="0"/>
                <a:ea typeface="Plus Jakarta Sans" pitchFamily="34" charset="-122"/>
                <a:cs typeface="Plus Jakarta Sans" pitchFamily="34" charset="-120"/>
              </a:rPr>
              <a:t>Partner-of-Record</a:t>
            </a:r>
            <a:endParaRPr lang="en-US" sz="1200" dirty="0"/>
          </a:p>
        </p:txBody>
      </p:sp>
      <p:sp>
        <p:nvSpPr>
          <p:cNvPr id="31" name="anim-9-30"/>
          <p:cNvSpPr txBox="1"/>
          <p:nvPr/>
        </p:nvSpPr>
        <p:spPr>
          <a:xfrm>
            <a:off x="3302000" y="5969000"/>
            <a:ext cx="7810500" cy="558800"/>
          </a:xfrm>
          <a:prstGeom prst="rect">
            <a:avLst/>
          </a:prstGeom>
          <a:noFill/>
          <a:ln/>
        </p:spPr>
        <p:txBody>
          <a:bodyPr wrap="square" lIns="0" tIns="0" rIns="0" bIns="0" rtlCol="0" anchor="ctr"/>
          <a:lstStyle/>
          <a:p>
            <a:pPr algn="l" indent="0" marL="0">
              <a:lnSpc>
                <a:spcPct val="112000"/>
              </a:lnSpc>
              <a:buNone/>
            </a:pPr>
            <a:r>
              <a:rPr lang="en-US" sz="1100" dirty="0">
                <a:solidFill>
                  <a:srgbClr val="13151C"/>
                </a:solidFill>
                <a:latin typeface="Plus Jakarta Sans Medium" pitchFamily="34" charset="0"/>
                <a:ea typeface="Plus Jakarta Sans Medium" pitchFamily="34" charset="-122"/>
                <a:cs typeface="Plus Jakarta Sans Medium" pitchFamily="34" charset="-120"/>
              </a:rPr>
              <a:t>Commission follows the entity legally eligible in the country, where it can lawfully transact, not where it found the opportunity.</a:t>
            </a:r>
            <a:endParaRPr lang="en-US" sz="1100" dirty="0"/>
          </a:p>
        </p:txBody>
      </p:sp>
      <p:sp>
        <p:nvSpPr>
          <p:cNvPr id="32" name="Text 27"/>
          <p:cNvSpPr txBox="1"/>
          <p:nvPr/>
        </p:nvSpPr>
        <p:spPr>
          <a:xfrm>
            <a:off x="1079500" y="6578600"/>
            <a:ext cx="10033000" cy="165100"/>
          </a:xfrm>
          <a:prstGeom prst="rect">
            <a:avLst/>
          </a:prstGeom>
          <a:noFill/>
          <a:ln/>
        </p:spPr>
        <p:txBody>
          <a:bodyPr wrap="square" lIns="0" tIns="0" rIns="0" bIns="0" rtlCol="0" anchor="t"/>
          <a:lstStyle/>
          <a:p>
            <a:pPr algn="ctr" indent="0" marL="0">
              <a:lnSpc>
                <a:spcPct val="112000"/>
              </a:lnSpc>
              <a:buNone/>
            </a:pPr>
            <a:r>
              <a:rPr lang="en-US" sz="750" dirty="0">
                <a:solidFill>
                  <a:srgbClr val="8A8C93"/>
                </a:solidFill>
                <a:latin typeface="Plus Jakarta Sans" pitchFamily="34" charset="0"/>
                <a:ea typeface="Plus Jakarta Sans" pitchFamily="34" charset="-122"/>
                <a:cs typeface="Plus Jakarta Sans" pitchFamily="34" charset="-120"/>
              </a:rPr>
              <a:t>Partner-Confidential · NDA · Contains commercial rate card · Programme description only; not a contract</a:t>
            </a:r>
            <a:endParaRPr lang="en-US" sz="75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500"/>
                                        <p:tgtEl>
                                          <p:spTgt spid="3"/>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4"/>
                                        </p:tgtEl>
                                        <p:attrNameLst>
                                          <p:attrName>style.visibility</p:attrName>
                                        </p:attrNameLst>
                                      </p:cBhvr>
                                      <p:to>
                                        <p:strVal val="visible"/>
                                      </p:to>
                                    </p:set>
                                    <p:animEffect transition="in" filter="fade">
                                      <p:cBhvr>
                                        <p:cTn id="13" dur="500"/>
                                        <p:tgtEl>
                                          <p:spTgt spid="4"/>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5"/>
                                        </p:tgtEl>
                                        <p:attrNameLst>
                                          <p:attrName>style.visibility</p:attrName>
                                        </p:attrNameLst>
                                      </p:cBhvr>
                                      <p:to>
                                        <p:strVal val="visible"/>
                                      </p:to>
                                    </p:set>
                                    <p:animEffect transition="in" filter="fade">
                                      <p:cBhvr>
                                        <p:cTn id="16" dur="500"/>
                                        <p:tgtEl>
                                          <p:spTgt spid="5"/>
                                        </p:tgtEl>
                                      </p:cBhvr>
                                    </p:animEffect>
                                  </p:childTnLst>
                                </p:cTn>
                              </p:par>
                              <p:par>
                                <p:cTn id="17" presetID="10" presetClass="entr" presetSubtype="0" fill="hold" grpId="0" nodeType="withEffect">
                                  <p:stCondLst>
                                    <p:cond delay="180"/>
                                  </p:stCondLst>
                                  <p:childTnLst>
                                    <p:set>
                                      <p:cBhvr>
                                        <p:cTn id="18" dur="1" fill="hold">
                                          <p:stCondLst>
                                            <p:cond delay="0"/>
                                          </p:stCondLst>
                                        </p:cTn>
                                        <p:tgtEl>
                                          <p:spTgt spid="6"/>
                                        </p:tgtEl>
                                        <p:attrNameLst>
                                          <p:attrName>style.visibility</p:attrName>
                                        </p:attrNameLst>
                                      </p:cBhvr>
                                      <p:to>
                                        <p:strVal val="visible"/>
                                      </p:to>
                                    </p:set>
                                    <p:animEffect transition="in" filter="fade">
                                      <p:cBhvr>
                                        <p:cTn id="19" dur="500"/>
                                        <p:tgtEl>
                                          <p:spTgt spid="6"/>
                                        </p:tgtEl>
                                      </p:cBhvr>
                                    </p:animEffect>
                                  </p:childTnLst>
                                </p:cTn>
                              </p:par>
                              <p:par>
                                <p:cTn id="20" presetID="10" presetClass="entr" presetSubtype="0" fill="hold" grpId="0" nodeType="withEffect">
                                  <p:stCondLst>
                                    <p:cond delay="180"/>
                                  </p:stCondLst>
                                  <p:childTnLst>
                                    <p:set>
                                      <p:cBhvr>
                                        <p:cTn id="21" dur="1" fill="hold">
                                          <p:stCondLst>
                                            <p:cond delay="0"/>
                                          </p:stCondLst>
                                        </p:cTn>
                                        <p:tgtEl>
                                          <p:spTgt spid="7"/>
                                        </p:tgtEl>
                                        <p:attrNameLst>
                                          <p:attrName>style.visibility</p:attrName>
                                        </p:attrNameLst>
                                      </p:cBhvr>
                                      <p:to>
                                        <p:strVal val="visible"/>
                                      </p:to>
                                    </p:set>
                                    <p:animEffect transition="in" filter="fade">
                                      <p:cBhvr>
                                        <p:cTn id="22" dur="500"/>
                                        <p:tgtEl>
                                          <p:spTgt spid="7"/>
                                        </p:tgtEl>
                                      </p:cBhvr>
                                    </p:animEffect>
                                  </p:childTnLst>
                                </p:cTn>
                              </p:par>
                              <p:par>
                                <p:cTn id="23" presetID="10" presetClass="entr" presetSubtype="0" fill="hold" grpId="0" nodeType="withEffect">
                                  <p:stCondLst>
                                    <p:cond delay="180"/>
                                  </p:stCondLst>
                                  <p:childTnLst>
                                    <p:set>
                                      <p:cBhvr>
                                        <p:cTn id="24" dur="1" fill="hold">
                                          <p:stCondLst>
                                            <p:cond delay="0"/>
                                          </p:stCondLst>
                                        </p:cTn>
                                        <p:tgtEl>
                                          <p:spTgt spid="8"/>
                                        </p:tgtEl>
                                        <p:attrNameLst>
                                          <p:attrName>style.visibility</p:attrName>
                                        </p:attrNameLst>
                                      </p:cBhvr>
                                      <p:to>
                                        <p:strVal val="visible"/>
                                      </p:to>
                                    </p:set>
                                    <p:animEffect transition="in" filter="fade">
                                      <p:cBhvr>
                                        <p:cTn id="25" dur="500"/>
                                        <p:tgtEl>
                                          <p:spTgt spid="8"/>
                                        </p:tgtEl>
                                      </p:cBhvr>
                                    </p:animEffect>
                                  </p:childTnLst>
                                </p:cTn>
                              </p:par>
                              <p:par>
                                <p:cTn id="26" presetID="10" presetClass="entr" presetSubtype="0" fill="hold" grpId="0" nodeType="withEffect">
                                  <p:stCondLst>
                                    <p:cond delay="180"/>
                                  </p:stCondLst>
                                  <p:childTnLst>
                                    <p:set>
                                      <p:cBhvr>
                                        <p:cTn id="27" dur="1" fill="hold">
                                          <p:stCondLst>
                                            <p:cond delay="0"/>
                                          </p:stCondLst>
                                        </p:cTn>
                                        <p:tgtEl>
                                          <p:spTgt spid="9"/>
                                        </p:tgtEl>
                                        <p:attrNameLst>
                                          <p:attrName>style.visibility</p:attrName>
                                        </p:attrNameLst>
                                      </p:cBhvr>
                                      <p:to>
                                        <p:strVal val="visible"/>
                                      </p:to>
                                    </p:set>
                                    <p:animEffect transition="in" filter="fade">
                                      <p:cBhvr>
                                        <p:cTn id="28" dur="500"/>
                                        <p:tgtEl>
                                          <p:spTgt spid="9"/>
                                        </p:tgtEl>
                                      </p:cBhvr>
                                    </p:animEffect>
                                  </p:childTnLst>
                                </p:cTn>
                              </p:par>
                              <p:par>
                                <p:cTn id="29" presetID="10" presetClass="entr" presetSubtype="0" fill="hold" grpId="0" nodeType="withEffect">
                                  <p:stCondLst>
                                    <p:cond delay="360"/>
                                  </p:stCondLst>
                                  <p:childTnLst>
                                    <p:set>
                                      <p:cBhvr>
                                        <p:cTn id="30" dur="1" fill="hold">
                                          <p:stCondLst>
                                            <p:cond delay="0"/>
                                          </p:stCondLst>
                                        </p:cTn>
                                        <p:tgtEl>
                                          <p:spTgt spid="10"/>
                                        </p:tgtEl>
                                        <p:attrNameLst>
                                          <p:attrName>style.visibility</p:attrName>
                                        </p:attrNameLst>
                                      </p:cBhvr>
                                      <p:to>
                                        <p:strVal val="visible"/>
                                      </p:to>
                                    </p:set>
                                    <p:animEffect transition="in" filter="fade">
                                      <p:cBhvr>
                                        <p:cTn id="31" dur="500"/>
                                        <p:tgtEl>
                                          <p:spTgt spid="10"/>
                                        </p:tgtEl>
                                      </p:cBhvr>
                                    </p:animEffect>
                                  </p:childTnLst>
                                </p:cTn>
                              </p:par>
                              <p:par>
                                <p:cTn id="32" presetID="10" presetClass="entr" presetSubtype="0" fill="hold" grpId="0" nodeType="withEffect">
                                  <p:stCondLst>
                                    <p:cond delay="360"/>
                                  </p:stCondLst>
                                  <p:childTnLst>
                                    <p:set>
                                      <p:cBhvr>
                                        <p:cTn id="33" dur="1" fill="hold">
                                          <p:stCondLst>
                                            <p:cond delay="0"/>
                                          </p:stCondLst>
                                        </p:cTn>
                                        <p:tgtEl>
                                          <p:spTgt spid="11"/>
                                        </p:tgtEl>
                                        <p:attrNameLst>
                                          <p:attrName>style.visibility</p:attrName>
                                        </p:attrNameLst>
                                      </p:cBhvr>
                                      <p:to>
                                        <p:strVal val="visible"/>
                                      </p:to>
                                    </p:set>
                                    <p:animEffect transition="in" filter="fade">
                                      <p:cBhvr>
                                        <p:cTn id="34" dur="500"/>
                                        <p:tgtEl>
                                          <p:spTgt spid="11"/>
                                        </p:tgtEl>
                                      </p:cBhvr>
                                    </p:animEffect>
                                  </p:childTnLst>
                                </p:cTn>
                              </p:par>
                              <p:par>
                                <p:cTn id="35" presetID="10" presetClass="entr" presetSubtype="0" fill="hold" grpId="0" nodeType="withEffect">
                                  <p:stCondLst>
                                    <p:cond delay="540"/>
                                  </p:stCondLst>
                                  <p:childTnLst>
                                    <p:set>
                                      <p:cBhvr>
                                        <p:cTn id="36" dur="1" fill="hold">
                                          <p:stCondLst>
                                            <p:cond delay="0"/>
                                          </p:stCondLst>
                                        </p:cTn>
                                        <p:tgtEl>
                                          <p:spTgt spid="12"/>
                                        </p:tgtEl>
                                        <p:attrNameLst>
                                          <p:attrName>style.visibility</p:attrName>
                                        </p:attrNameLst>
                                      </p:cBhvr>
                                      <p:to>
                                        <p:strVal val="visible"/>
                                      </p:to>
                                    </p:set>
                                    <p:animEffect transition="in" filter="fade">
                                      <p:cBhvr>
                                        <p:cTn id="37" dur="500"/>
                                        <p:tgtEl>
                                          <p:spTgt spid="12"/>
                                        </p:tgtEl>
                                      </p:cBhvr>
                                    </p:animEffect>
                                  </p:childTnLst>
                                </p:cTn>
                              </p:par>
                              <p:par>
                                <p:cTn id="38" presetID="10" presetClass="entr" presetSubtype="0" fill="hold" grpId="0" nodeType="withEffect">
                                  <p:stCondLst>
                                    <p:cond delay="540"/>
                                  </p:stCondLst>
                                  <p:childTnLst>
                                    <p:set>
                                      <p:cBhvr>
                                        <p:cTn id="39" dur="1" fill="hold">
                                          <p:stCondLst>
                                            <p:cond delay="0"/>
                                          </p:stCondLst>
                                        </p:cTn>
                                        <p:tgtEl>
                                          <p:spTgt spid="13"/>
                                        </p:tgtEl>
                                        <p:attrNameLst>
                                          <p:attrName>style.visibility</p:attrName>
                                        </p:attrNameLst>
                                      </p:cBhvr>
                                      <p:to>
                                        <p:strVal val="visible"/>
                                      </p:to>
                                    </p:set>
                                    <p:animEffect transition="in" filter="fade">
                                      <p:cBhvr>
                                        <p:cTn id="40" dur="500"/>
                                        <p:tgtEl>
                                          <p:spTgt spid="13"/>
                                        </p:tgtEl>
                                      </p:cBhvr>
                                    </p:animEffect>
                                  </p:childTnLst>
                                </p:cTn>
                              </p:par>
                              <p:par>
                                <p:cTn id="41" presetID="10" presetClass="entr" presetSubtype="0" fill="hold" grpId="0" nodeType="withEffect">
                                  <p:stCondLst>
                                    <p:cond delay="540"/>
                                  </p:stCondLst>
                                  <p:childTnLst>
                                    <p:set>
                                      <p:cBhvr>
                                        <p:cTn id="42" dur="1" fill="hold">
                                          <p:stCondLst>
                                            <p:cond delay="0"/>
                                          </p:stCondLst>
                                        </p:cTn>
                                        <p:tgtEl>
                                          <p:spTgt spid="14"/>
                                        </p:tgtEl>
                                        <p:attrNameLst>
                                          <p:attrName>style.visibility</p:attrName>
                                        </p:attrNameLst>
                                      </p:cBhvr>
                                      <p:to>
                                        <p:strVal val="visible"/>
                                      </p:to>
                                    </p:set>
                                    <p:animEffect transition="in" filter="fade">
                                      <p:cBhvr>
                                        <p:cTn id="43" dur="500"/>
                                        <p:tgtEl>
                                          <p:spTgt spid="14"/>
                                        </p:tgtEl>
                                      </p:cBhvr>
                                    </p:animEffect>
                                  </p:childTnLst>
                                </p:cTn>
                              </p:par>
                              <p:par>
                                <p:cTn id="44" presetID="10" presetClass="entr" presetSubtype="0" fill="hold" grpId="0" nodeType="withEffect">
                                  <p:stCondLst>
                                    <p:cond delay="720"/>
                                  </p:stCondLst>
                                  <p:childTnLst>
                                    <p:set>
                                      <p:cBhvr>
                                        <p:cTn id="45" dur="1" fill="hold">
                                          <p:stCondLst>
                                            <p:cond delay="0"/>
                                          </p:stCondLst>
                                        </p:cTn>
                                        <p:tgtEl>
                                          <p:spTgt spid="15"/>
                                        </p:tgtEl>
                                        <p:attrNameLst>
                                          <p:attrName>style.visibility</p:attrName>
                                        </p:attrNameLst>
                                      </p:cBhvr>
                                      <p:to>
                                        <p:strVal val="visible"/>
                                      </p:to>
                                    </p:set>
                                    <p:animEffect transition="in" filter="fade">
                                      <p:cBhvr>
                                        <p:cTn id="46" dur="500"/>
                                        <p:tgtEl>
                                          <p:spTgt spid="15"/>
                                        </p:tgtEl>
                                      </p:cBhvr>
                                    </p:animEffect>
                                  </p:childTnLst>
                                </p:cTn>
                              </p:par>
                              <p:par>
                                <p:cTn id="47" presetID="10" presetClass="entr" presetSubtype="0" fill="hold" grpId="0" nodeType="withEffect">
                                  <p:stCondLst>
                                    <p:cond delay="720"/>
                                  </p:stCondLst>
                                  <p:childTnLst>
                                    <p:set>
                                      <p:cBhvr>
                                        <p:cTn id="48" dur="1" fill="hold">
                                          <p:stCondLst>
                                            <p:cond delay="0"/>
                                          </p:stCondLst>
                                        </p:cTn>
                                        <p:tgtEl>
                                          <p:spTgt spid="16"/>
                                        </p:tgtEl>
                                        <p:attrNameLst>
                                          <p:attrName>style.visibility</p:attrName>
                                        </p:attrNameLst>
                                      </p:cBhvr>
                                      <p:to>
                                        <p:strVal val="visible"/>
                                      </p:to>
                                    </p:set>
                                    <p:animEffect transition="in" filter="fade">
                                      <p:cBhvr>
                                        <p:cTn id="49" dur="500"/>
                                        <p:tgtEl>
                                          <p:spTgt spid="16"/>
                                        </p:tgtEl>
                                      </p:cBhvr>
                                    </p:animEffect>
                                  </p:childTnLst>
                                </p:cTn>
                              </p:par>
                              <p:par>
                                <p:cTn id="50" presetID="10" presetClass="entr" presetSubtype="0" fill="hold" grpId="0" nodeType="withEffect">
                                  <p:stCondLst>
                                    <p:cond delay="720"/>
                                  </p:stCondLst>
                                  <p:childTnLst>
                                    <p:set>
                                      <p:cBhvr>
                                        <p:cTn id="51" dur="1" fill="hold">
                                          <p:stCondLst>
                                            <p:cond delay="0"/>
                                          </p:stCondLst>
                                        </p:cTn>
                                        <p:tgtEl>
                                          <p:spTgt spid="17"/>
                                        </p:tgtEl>
                                        <p:attrNameLst>
                                          <p:attrName>style.visibility</p:attrName>
                                        </p:attrNameLst>
                                      </p:cBhvr>
                                      <p:to>
                                        <p:strVal val="visible"/>
                                      </p:to>
                                    </p:set>
                                    <p:animEffect transition="in" filter="fade">
                                      <p:cBhvr>
                                        <p:cTn id="52" dur="500"/>
                                        <p:tgtEl>
                                          <p:spTgt spid="17"/>
                                        </p:tgtEl>
                                      </p:cBhvr>
                                    </p:animEffect>
                                  </p:childTnLst>
                                </p:cTn>
                              </p:par>
                              <p:par>
                                <p:cTn id="53" presetID="10" presetClass="entr" presetSubtype="0" fill="hold" grpId="0" nodeType="withEffect">
                                  <p:stCondLst>
                                    <p:cond delay="900"/>
                                  </p:stCondLst>
                                  <p:childTnLst>
                                    <p:set>
                                      <p:cBhvr>
                                        <p:cTn id="54" dur="1" fill="hold">
                                          <p:stCondLst>
                                            <p:cond delay="0"/>
                                          </p:stCondLst>
                                        </p:cTn>
                                        <p:tgtEl>
                                          <p:spTgt spid="18"/>
                                        </p:tgtEl>
                                        <p:attrNameLst>
                                          <p:attrName>style.visibility</p:attrName>
                                        </p:attrNameLst>
                                      </p:cBhvr>
                                      <p:to>
                                        <p:strVal val="visible"/>
                                      </p:to>
                                    </p:set>
                                    <p:animEffect transition="in" filter="fade">
                                      <p:cBhvr>
                                        <p:cTn id="55" dur="500"/>
                                        <p:tgtEl>
                                          <p:spTgt spid="18"/>
                                        </p:tgtEl>
                                      </p:cBhvr>
                                    </p:animEffect>
                                  </p:childTnLst>
                                </p:cTn>
                              </p:par>
                              <p:par>
                                <p:cTn id="56" presetID="10" presetClass="entr" presetSubtype="0" fill="hold" grpId="0" nodeType="withEffect">
                                  <p:stCondLst>
                                    <p:cond delay="900"/>
                                  </p:stCondLst>
                                  <p:childTnLst>
                                    <p:set>
                                      <p:cBhvr>
                                        <p:cTn id="57" dur="1" fill="hold">
                                          <p:stCondLst>
                                            <p:cond delay="0"/>
                                          </p:stCondLst>
                                        </p:cTn>
                                        <p:tgtEl>
                                          <p:spTgt spid="19"/>
                                        </p:tgtEl>
                                        <p:attrNameLst>
                                          <p:attrName>style.visibility</p:attrName>
                                        </p:attrNameLst>
                                      </p:cBhvr>
                                      <p:to>
                                        <p:strVal val="visible"/>
                                      </p:to>
                                    </p:set>
                                    <p:animEffect transition="in" filter="fade">
                                      <p:cBhvr>
                                        <p:cTn id="58" dur="500"/>
                                        <p:tgtEl>
                                          <p:spTgt spid="19"/>
                                        </p:tgtEl>
                                      </p:cBhvr>
                                    </p:animEffect>
                                  </p:childTnLst>
                                </p:cTn>
                              </p:par>
                              <p:par>
                                <p:cTn id="59" presetID="10" presetClass="entr" presetSubtype="0" fill="hold" grpId="0" nodeType="withEffect">
                                  <p:stCondLst>
                                    <p:cond delay="900"/>
                                  </p:stCondLst>
                                  <p:childTnLst>
                                    <p:set>
                                      <p:cBhvr>
                                        <p:cTn id="60" dur="1" fill="hold">
                                          <p:stCondLst>
                                            <p:cond delay="0"/>
                                          </p:stCondLst>
                                        </p:cTn>
                                        <p:tgtEl>
                                          <p:spTgt spid="20"/>
                                        </p:tgtEl>
                                        <p:attrNameLst>
                                          <p:attrName>style.visibility</p:attrName>
                                        </p:attrNameLst>
                                      </p:cBhvr>
                                      <p:to>
                                        <p:strVal val="visible"/>
                                      </p:to>
                                    </p:set>
                                    <p:animEffect transition="in" filter="fade">
                                      <p:cBhvr>
                                        <p:cTn id="61" dur="500"/>
                                        <p:tgtEl>
                                          <p:spTgt spid="20"/>
                                        </p:tgtEl>
                                      </p:cBhvr>
                                    </p:animEffect>
                                  </p:childTnLst>
                                </p:cTn>
                              </p:par>
                              <p:par>
                                <p:cTn id="62" presetID="10" presetClass="entr" presetSubtype="0" fill="hold" grpId="0" nodeType="withEffect">
                                  <p:stCondLst>
                                    <p:cond delay="900"/>
                                  </p:stCondLst>
                                  <p:childTnLst>
                                    <p:set>
                                      <p:cBhvr>
                                        <p:cTn id="63" dur="1" fill="hold">
                                          <p:stCondLst>
                                            <p:cond delay="0"/>
                                          </p:stCondLst>
                                        </p:cTn>
                                        <p:tgtEl>
                                          <p:spTgt spid="21"/>
                                        </p:tgtEl>
                                        <p:attrNameLst>
                                          <p:attrName>style.visibility</p:attrName>
                                        </p:attrNameLst>
                                      </p:cBhvr>
                                      <p:to>
                                        <p:strVal val="visible"/>
                                      </p:to>
                                    </p:set>
                                    <p:animEffect transition="in" filter="fade">
                                      <p:cBhvr>
                                        <p:cTn id="64" dur="500"/>
                                        <p:tgtEl>
                                          <p:spTgt spid="21"/>
                                        </p:tgtEl>
                                      </p:cBhvr>
                                    </p:animEffect>
                                  </p:childTnLst>
                                </p:cTn>
                              </p:par>
                              <p:par>
                                <p:cTn id="65" presetID="10" presetClass="entr" presetSubtype="0" fill="hold" grpId="0" nodeType="withEffect">
                                  <p:stCondLst>
                                    <p:cond delay="1080"/>
                                  </p:stCondLst>
                                  <p:childTnLst>
                                    <p:set>
                                      <p:cBhvr>
                                        <p:cTn id="66" dur="1" fill="hold">
                                          <p:stCondLst>
                                            <p:cond delay="0"/>
                                          </p:stCondLst>
                                        </p:cTn>
                                        <p:tgtEl>
                                          <p:spTgt spid="22"/>
                                        </p:tgtEl>
                                        <p:attrNameLst>
                                          <p:attrName>style.visibility</p:attrName>
                                        </p:attrNameLst>
                                      </p:cBhvr>
                                      <p:to>
                                        <p:strVal val="visible"/>
                                      </p:to>
                                    </p:set>
                                    <p:animEffect transition="in" filter="fade">
                                      <p:cBhvr>
                                        <p:cTn id="67" dur="500"/>
                                        <p:tgtEl>
                                          <p:spTgt spid="22"/>
                                        </p:tgtEl>
                                      </p:cBhvr>
                                    </p:animEffect>
                                  </p:childTnLst>
                                </p:cTn>
                              </p:par>
                              <p:par>
                                <p:cTn id="68" presetID="10" presetClass="entr" presetSubtype="0" fill="hold" grpId="0" nodeType="withEffect">
                                  <p:stCondLst>
                                    <p:cond delay="1080"/>
                                  </p:stCondLst>
                                  <p:childTnLst>
                                    <p:set>
                                      <p:cBhvr>
                                        <p:cTn id="69" dur="1" fill="hold">
                                          <p:stCondLst>
                                            <p:cond delay="0"/>
                                          </p:stCondLst>
                                        </p:cTn>
                                        <p:tgtEl>
                                          <p:spTgt spid="23"/>
                                        </p:tgtEl>
                                        <p:attrNameLst>
                                          <p:attrName>style.visibility</p:attrName>
                                        </p:attrNameLst>
                                      </p:cBhvr>
                                      <p:to>
                                        <p:strVal val="visible"/>
                                      </p:to>
                                    </p:set>
                                    <p:animEffect transition="in" filter="fade">
                                      <p:cBhvr>
                                        <p:cTn id="70" dur="500"/>
                                        <p:tgtEl>
                                          <p:spTgt spid="23"/>
                                        </p:tgtEl>
                                      </p:cBhvr>
                                    </p:animEffect>
                                  </p:childTnLst>
                                </p:cTn>
                              </p:par>
                              <p:par>
                                <p:cTn id="71" presetID="10" presetClass="entr" presetSubtype="0" fill="hold" grpId="0" nodeType="withEffect">
                                  <p:stCondLst>
                                    <p:cond delay="1080"/>
                                  </p:stCondLst>
                                  <p:childTnLst>
                                    <p:set>
                                      <p:cBhvr>
                                        <p:cTn id="72" dur="1" fill="hold">
                                          <p:stCondLst>
                                            <p:cond delay="0"/>
                                          </p:stCondLst>
                                        </p:cTn>
                                        <p:tgtEl>
                                          <p:spTgt spid="24"/>
                                        </p:tgtEl>
                                        <p:attrNameLst>
                                          <p:attrName>style.visibility</p:attrName>
                                        </p:attrNameLst>
                                      </p:cBhvr>
                                      <p:to>
                                        <p:strVal val="visible"/>
                                      </p:to>
                                    </p:set>
                                    <p:animEffect transition="in" filter="fade">
                                      <p:cBhvr>
                                        <p:cTn id="73" dur="500"/>
                                        <p:tgtEl>
                                          <p:spTgt spid="24"/>
                                        </p:tgtEl>
                                      </p:cBhvr>
                                    </p:animEffect>
                                  </p:childTnLst>
                                </p:cTn>
                              </p:par>
                              <p:par>
                                <p:cTn id="74" presetID="10" presetClass="entr" presetSubtype="0" fill="hold" grpId="0" nodeType="withEffect">
                                  <p:stCondLst>
                                    <p:cond delay="1080"/>
                                  </p:stCondLst>
                                  <p:childTnLst>
                                    <p:set>
                                      <p:cBhvr>
                                        <p:cTn id="75" dur="1" fill="hold">
                                          <p:stCondLst>
                                            <p:cond delay="0"/>
                                          </p:stCondLst>
                                        </p:cTn>
                                        <p:tgtEl>
                                          <p:spTgt spid="25"/>
                                        </p:tgtEl>
                                        <p:attrNameLst>
                                          <p:attrName>style.visibility</p:attrName>
                                        </p:attrNameLst>
                                      </p:cBhvr>
                                      <p:to>
                                        <p:strVal val="visible"/>
                                      </p:to>
                                    </p:set>
                                    <p:animEffect transition="in" filter="fade">
                                      <p:cBhvr>
                                        <p:cTn id="76" dur="500"/>
                                        <p:tgtEl>
                                          <p:spTgt spid="25"/>
                                        </p:tgtEl>
                                      </p:cBhvr>
                                    </p:animEffect>
                                  </p:childTnLst>
                                </p:cTn>
                              </p:par>
                              <p:par>
                                <p:cTn id="77" presetID="10" presetClass="entr" presetSubtype="0" fill="hold" grpId="0" nodeType="withEffect">
                                  <p:stCondLst>
                                    <p:cond delay="1080"/>
                                  </p:stCondLst>
                                  <p:childTnLst>
                                    <p:set>
                                      <p:cBhvr>
                                        <p:cTn id="78" dur="1" fill="hold">
                                          <p:stCondLst>
                                            <p:cond delay="0"/>
                                          </p:stCondLst>
                                        </p:cTn>
                                        <p:tgtEl>
                                          <p:spTgt spid="26"/>
                                        </p:tgtEl>
                                        <p:attrNameLst>
                                          <p:attrName>style.visibility</p:attrName>
                                        </p:attrNameLst>
                                      </p:cBhvr>
                                      <p:to>
                                        <p:strVal val="visible"/>
                                      </p:to>
                                    </p:set>
                                    <p:animEffect transition="in" filter="fade">
                                      <p:cBhvr>
                                        <p:cTn id="79" dur="500"/>
                                        <p:tgtEl>
                                          <p:spTgt spid="26"/>
                                        </p:tgtEl>
                                      </p:cBhvr>
                                    </p:animEffect>
                                  </p:childTnLst>
                                </p:cTn>
                              </p:par>
                              <p:par>
                                <p:cTn id="80" presetID="10" presetClass="entr" presetSubtype="0" fill="hold" grpId="0" nodeType="withEffect">
                                  <p:stCondLst>
                                    <p:cond delay="1260"/>
                                  </p:stCondLst>
                                  <p:childTnLst>
                                    <p:set>
                                      <p:cBhvr>
                                        <p:cTn id="81" dur="1" fill="hold">
                                          <p:stCondLst>
                                            <p:cond delay="0"/>
                                          </p:stCondLst>
                                        </p:cTn>
                                        <p:tgtEl>
                                          <p:spTgt spid="27"/>
                                        </p:tgtEl>
                                        <p:attrNameLst>
                                          <p:attrName>style.visibility</p:attrName>
                                        </p:attrNameLst>
                                      </p:cBhvr>
                                      <p:to>
                                        <p:strVal val="visible"/>
                                      </p:to>
                                    </p:set>
                                    <p:animEffect transition="in" filter="fade">
                                      <p:cBhvr>
                                        <p:cTn id="82" dur="500"/>
                                        <p:tgtEl>
                                          <p:spTgt spid="27"/>
                                        </p:tgtEl>
                                      </p:cBhvr>
                                    </p:animEffect>
                                  </p:childTnLst>
                                </p:cTn>
                              </p:par>
                              <p:par>
                                <p:cTn id="83" presetID="10" presetClass="entr" presetSubtype="0" fill="hold" grpId="0" nodeType="withEffect">
                                  <p:stCondLst>
                                    <p:cond delay="1260"/>
                                  </p:stCondLst>
                                  <p:childTnLst>
                                    <p:set>
                                      <p:cBhvr>
                                        <p:cTn id="84" dur="1" fill="hold">
                                          <p:stCondLst>
                                            <p:cond delay="0"/>
                                          </p:stCondLst>
                                        </p:cTn>
                                        <p:tgtEl>
                                          <p:spTgt spid="28"/>
                                        </p:tgtEl>
                                        <p:attrNameLst>
                                          <p:attrName>style.visibility</p:attrName>
                                        </p:attrNameLst>
                                      </p:cBhvr>
                                      <p:to>
                                        <p:strVal val="visible"/>
                                      </p:to>
                                    </p:set>
                                    <p:animEffect transition="in" filter="fade">
                                      <p:cBhvr>
                                        <p:cTn id="85" dur="500"/>
                                        <p:tgtEl>
                                          <p:spTgt spid="28"/>
                                        </p:tgtEl>
                                      </p:cBhvr>
                                    </p:animEffect>
                                  </p:childTnLst>
                                </p:cTn>
                              </p:par>
                              <p:par>
                                <p:cTn id="86" presetID="10" presetClass="entr" presetSubtype="0" fill="hold" grpId="0" nodeType="withEffect">
                                  <p:stCondLst>
                                    <p:cond delay="1260"/>
                                  </p:stCondLst>
                                  <p:childTnLst>
                                    <p:set>
                                      <p:cBhvr>
                                        <p:cTn id="87" dur="1" fill="hold">
                                          <p:stCondLst>
                                            <p:cond delay="0"/>
                                          </p:stCondLst>
                                        </p:cTn>
                                        <p:tgtEl>
                                          <p:spTgt spid="29"/>
                                        </p:tgtEl>
                                        <p:attrNameLst>
                                          <p:attrName>style.visibility</p:attrName>
                                        </p:attrNameLst>
                                      </p:cBhvr>
                                      <p:to>
                                        <p:strVal val="visible"/>
                                      </p:to>
                                    </p:set>
                                    <p:animEffect transition="in" filter="fade">
                                      <p:cBhvr>
                                        <p:cTn id="88" dur="500"/>
                                        <p:tgtEl>
                                          <p:spTgt spid="29"/>
                                        </p:tgtEl>
                                      </p:cBhvr>
                                    </p:animEffect>
                                  </p:childTnLst>
                                </p:cTn>
                              </p:par>
                              <p:par>
                                <p:cTn id="89" presetID="10" presetClass="entr" presetSubtype="0" fill="hold" grpId="0" nodeType="withEffect">
                                  <p:stCondLst>
                                    <p:cond delay="1260"/>
                                  </p:stCondLst>
                                  <p:childTnLst>
                                    <p:set>
                                      <p:cBhvr>
                                        <p:cTn id="90" dur="1" fill="hold">
                                          <p:stCondLst>
                                            <p:cond delay="0"/>
                                          </p:stCondLst>
                                        </p:cTn>
                                        <p:tgtEl>
                                          <p:spTgt spid="30"/>
                                        </p:tgtEl>
                                        <p:attrNameLst>
                                          <p:attrName>style.visibility</p:attrName>
                                        </p:attrNameLst>
                                      </p:cBhvr>
                                      <p:to>
                                        <p:strVal val="visible"/>
                                      </p:to>
                                    </p:set>
                                    <p:animEffect transition="in" filter="fade">
                                      <p:cBhvr>
                                        <p:cTn id="91" dur="500"/>
                                        <p:tgtEl>
                                          <p:spTgt spid="30"/>
                                        </p:tgtEl>
                                      </p:cBhvr>
                                    </p:animEffect>
                                  </p:childTnLst>
                                </p:cTn>
                              </p:par>
                              <p:par>
                                <p:cTn id="92" presetID="10" presetClass="entr" presetSubtype="0" fill="hold" grpId="0" nodeType="withEffect">
                                  <p:stCondLst>
                                    <p:cond delay="1260"/>
                                  </p:stCondLst>
                                  <p:childTnLst>
                                    <p:set>
                                      <p:cBhvr>
                                        <p:cTn id="93" dur="1" fill="hold">
                                          <p:stCondLst>
                                            <p:cond delay="0"/>
                                          </p:stCondLst>
                                        </p:cTn>
                                        <p:tgtEl>
                                          <p:spTgt spid="31"/>
                                        </p:tgtEl>
                                        <p:attrNameLst>
                                          <p:attrName>style.visibility</p:attrName>
                                        </p:attrNameLst>
                                      </p:cBhvr>
                                      <p:to>
                                        <p:strVal val="visible"/>
                                      </p:to>
                                    </p:set>
                                    <p:animEffect transition="in" filter="fade">
                                      <p:cBhvr>
                                        <p:cTn id="94"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30" grpId="0" animBg="1"/>
      <p:bldP spid="31"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name="Slide 1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anim-1-1" descr="/tmp/claude-0/-home-user-hosting/7c832a48-0979-56aa-9fdf-7d53efb9dc7a/scratchpad/build/imgd/chev-soft.png">    </p:cNvPr>
          <p:cNvPicPr>
            <a:picLocks noChangeAspect="1"/>
          </p:cNvPicPr>
          <p:nvPr/>
        </p:nvPicPr>
        <p:blipFill>
          <a:blip r:embed="rId2"/>
          <a:stretch>
            <a:fillRect/>
          </a:stretch>
        </p:blipFill>
        <p:spPr>
          <a:xfrm>
            <a:off x="-4171324" y="-488324"/>
            <a:ext cx="9231649" cy="12902981"/>
          </a:xfrm>
          <a:prstGeom prst="rect">
            <a:avLst/>
          </a:prstGeom>
        </p:spPr>
      </p:pic>
      <p:pic>
        <p:nvPicPr>
          <p:cNvPr id="3" name="anim-1-2" descr="/tmp/claude-0/-home-user-hosting/7c832a48-0979-56aa-9fdf-7d53efb9dc7a/scratchpad/build/imgd/chev-soft.png">    </p:cNvPr>
          <p:cNvPicPr>
            <a:picLocks noChangeAspect="1"/>
          </p:cNvPicPr>
          <p:nvPr/>
        </p:nvPicPr>
        <p:blipFill>
          <a:blip r:embed="rId3"/>
          <a:stretch>
            <a:fillRect/>
          </a:stretch>
        </p:blipFill>
        <p:spPr>
          <a:xfrm rot="10800000">
            <a:off x="7138026" y="-488324"/>
            <a:ext cx="9231649" cy="12902981"/>
          </a:xfrm>
          <a:prstGeom prst="rect">
            <a:avLst/>
          </a:prstGeom>
        </p:spPr>
      </p:pic>
      <p:pic>
        <p:nvPicPr>
          <p:cNvPr id="4" name="anim-2-3" descr="/tmp/claude-0/-home-user-hosting/7c832a48-0979-56aa-9fdf-7d53efb9dc7a/scratchpad/build/imgd/pointer.png">    </p:cNvPr>
          <p:cNvPicPr>
            <a:picLocks noChangeAspect="1"/>
          </p:cNvPicPr>
          <p:nvPr/>
        </p:nvPicPr>
        <p:blipFill>
          <a:blip r:embed="rId4"/>
          <a:stretch>
            <a:fillRect/>
          </a:stretch>
        </p:blipFill>
        <p:spPr>
          <a:xfrm>
            <a:off x="5584825" y="2743200"/>
            <a:ext cx="100964" cy="203200"/>
          </a:xfrm>
          <a:prstGeom prst="rect">
            <a:avLst/>
          </a:prstGeom>
        </p:spPr>
      </p:pic>
      <p:sp>
        <p:nvSpPr>
          <p:cNvPr id="5" name="anim-2-4"/>
          <p:cNvSpPr txBox="1"/>
          <p:nvPr/>
        </p:nvSpPr>
        <p:spPr>
          <a:xfrm>
            <a:off x="5762625" y="2755900"/>
            <a:ext cx="1098550" cy="190500"/>
          </a:xfrm>
          <a:prstGeom prst="rect">
            <a:avLst/>
          </a:prstGeom>
          <a:noFill/>
          <a:ln/>
        </p:spPr>
        <p:txBody>
          <a:bodyPr wrap="square" lIns="0" tIns="0" rIns="0" bIns="0" rtlCol="0" anchor="t"/>
          <a:lstStyle/>
          <a:p>
            <a:pPr algn="l" indent="0" marL="0">
              <a:lnSpc>
                <a:spcPct val="112000"/>
              </a:lnSpc>
              <a:buNone/>
            </a:pPr>
            <a:r>
              <a:rPr lang="en-US" sz="1000" spc="300" kern="0" dirty="0">
                <a:solidFill>
                  <a:srgbClr val="15B6FF"/>
                </a:solidFill>
                <a:latin typeface="Plus Jakarta Sans SemiBold" pitchFamily="34" charset="0"/>
                <a:ea typeface="Plus Jakarta Sans SemiBold" pitchFamily="34" charset="-122"/>
                <a:cs typeface="Plus Jakarta Sans SemiBold" pitchFamily="34" charset="-120"/>
              </a:rPr>
              <a:t>PART 03</a:t>
            </a:r>
            <a:endParaRPr lang="en-US" sz="1000" dirty="0"/>
          </a:p>
        </p:txBody>
      </p:sp>
      <p:sp>
        <p:nvSpPr>
          <p:cNvPr id="6" name="anim-2-5"/>
          <p:cNvSpPr txBox="1"/>
          <p:nvPr/>
        </p:nvSpPr>
        <p:spPr>
          <a:xfrm>
            <a:off x="1016000" y="3048000"/>
            <a:ext cx="10160000" cy="635000"/>
          </a:xfrm>
          <a:prstGeom prst="rect">
            <a:avLst/>
          </a:prstGeom>
          <a:noFill/>
          <a:ln/>
        </p:spPr>
        <p:txBody>
          <a:bodyPr wrap="square" lIns="0" tIns="0" rIns="0" bIns="0" rtlCol="0" anchor="ctr"/>
          <a:lstStyle/>
          <a:p>
            <a:pPr algn="ctr" indent="0" marL="0">
              <a:lnSpc>
                <a:spcPct val="112000"/>
              </a:lnSpc>
              <a:buNone/>
            </a:pPr>
            <a:r>
              <a:rPr lang="en-US" sz="4000" b="1" dirty="0">
                <a:solidFill>
                  <a:srgbClr val="FFFFFF"/>
                </a:solidFill>
                <a:latin typeface="Plus Jakarta Sans" pitchFamily="34" charset="0"/>
                <a:ea typeface="Plus Jakarta Sans" pitchFamily="34" charset="-122"/>
                <a:cs typeface="Plus Jakarta Sans" pitchFamily="34" charset="-120"/>
              </a:rPr>
              <a:t>SELLING TOGETHER</a:t>
            </a:r>
            <a:endParaRPr lang="en-US" sz="4000" dirty="0"/>
          </a:p>
        </p:txBody>
      </p:sp>
      <p:pic>
        <p:nvPicPr>
          <p:cNvPr id="7" name="anim-3-6" descr="/tmp/claude-0/-home-user-hosting/7c832a48-0979-56aa-9fdf-7d53efb9dc7a/scratchpad/build/imgd/logo-white.png">    </p:cNvPr>
          <p:cNvPicPr>
            <a:picLocks noChangeAspect="1"/>
          </p:cNvPicPr>
          <p:nvPr/>
        </p:nvPicPr>
        <p:blipFill>
          <a:blip r:embed="rId5"/>
          <a:stretch>
            <a:fillRect/>
          </a:stretch>
        </p:blipFill>
        <p:spPr>
          <a:xfrm>
            <a:off x="5251450" y="5759450"/>
            <a:ext cx="1682750" cy="406400"/>
          </a:xfrm>
          <a:prstGeom prst="rect">
            <a:avLst/>
          </a:prstGeom>
        </p:spPr>
      </p:pic>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500"/>
                                        <p:tgtEl>
                                          <p:spTgt spid="3"/>
                                        </p:tgtEl>
                                      </p:cBhvr>
                                    </p:animEffect>
                                  </p:childTnLst>
                                </p:cTn>
                              </p:par>
                              <p:par>
                                <p:cTn id="11" presetID="10" presetClass="entr" presetSubtype="0" fill="hold" grpId="0" nodeType="withEffect">
                                  <p:stCondLst>
                                    <p:cond delay="180"/>
                                  </p:stCondLst>
                                  <p:childTnLst>
                                    <p:set>
                                      <p:cBhvr>
                                        <p:cTn id="12" dur="1" fill="hold">
                                          <p:stCondLst>
                                            <p:cond delay="0"/>
                                          </p:stCondLst>
                                        </p:cTn>
                                        <p:tgtEl>
                                          <p:spTgt spid="4"/>
                                        </p:tgtEl>
                                        <p:attrNameLst>
                                          <p:attrName>style.visibility</p:attrName>
                                        </p:attrNameLst>
                                      </p:cBhvr>
                                      <p:to>
                                        <p:strVal val="visible"/>
                                      </p:to>
                                    </p:set>
                                    <p:animEffect transition="in" filter="fade">
                                      <p:cBhvr>
                                        <p:cTn id="13" dur="500"/>
                                        <p:tgtEl>
                                          <p:spTgt spid="4"/>
                                        </p:tgtEl>
                                      </p:cBhvr>
                                    </p:animEffect>
                                  </p:childTnLst>
                                </p:cTn>
                              </p:par>
                              <p:par>
                                <p:cTn id="14" presetID="10" presetClass="entr" presetSubtype="0" fill="hold" grpId="0" nodeType="withEffect">
                                  <p:stCondLst>
                                    <p:cond delay="180"/>
                                  </p:stCondLst>
                                  <p:childTnLst>
                                    <p:set>
                                      <p:cBhvr>
                                        <p:cTn id="15" dur="1" fill="hold">
                                          <p:stCondLst>
                                            <p:cond delay="0"/>
                                          </p:stCondLst>
                                        </p:cTn>
                                        <p:tgtEl>
                                          <p:spTgt spid="5"/>
                                        </p:tgtEl>
                                        <p:attrNameLst>
                                          <p:attrName>style.visibility</p:attrName>
                                        </p:attrNameLst>
                                      </p:cBhvr>
                                      <p:to>
                                        <p:strVal val="visible"/>
                                      </p:to>
                                    </p:set>
                                    <p:animEffect transition="in" filter="fade">
                                      <p:cBhvr>
                                        <p:cTn id="16" dur="500"/>
                                        <p:tgtEl>
                                          <p:spTgt spid="5"/>
                                        </p:tgtEl>
                                      </p:cBhvr>
                                    </p:animEffect>
                                  </p:childTnLst>
                                </p:cTn>
                              </p:par>
                              <p:par>
                                <p:cTn id="17" presetID="10" presetClass="entr" presetSubtype="0" fill="hold" grpId="0" nodeType="withEffect">
                                  <p:stCondLst>
                                    <p:cond delay="180"/>
                                  </p:stCondLst>
                                  <p:childTnLst>
                                    <p:set>
                                      <p:cBhvr>
                                        <p:cTn id="18" dur="1" fill="hold">
                                          <p:stCondLst>
                                            <p:cond delay="0"/>
                                          </p:stCondLst>
                                        </p:cTn>
                                        <p:tgtEl>
                                          <p:spTgt spid="6"/>
                                        </p:tgtEl>
                                        <p:attrNameLst>
                                          <p:attrName>style.visibility</p:attrName>
                                        </p:attrNameLst>
                                      </p:cBhvr>
                                      <p:to>
                                        <p:strVal val="visible"/>
                                      </p:to>
                                    </p:set>
                                    <p:animEffect transition="in" filter="fade">
                                      <p:cBhvr>
                                        <p:cTn id="19" dur="500"/>
                                        <p:tgtEl>
                                          <p:spTgt spid="6"/>
                                        </p:tgtEl>
                                      </p:cBhvr>
                                    </p:animEffect>
                                  </p:childTnLst>
                                </p:cTn>
                              </p:par>
                              <p:par>
                                <p:cTn id="20" presetID="10" presetClass="entr" presetSubtype="0" fill="hold" grpId="0" nodeType="withEffect">
                                  <p:stCondLst>
                                    <p:cond delay="360"/>
                                  </p:stCondLst>
                                  <p:childTnLst>
                                    <p:set>
                                      <p:cBhvr>
                                        <p:cTn id="21" dur="1" fill="hold">
                                          <p:stCondLst>
                                            <p:cond delay="0"/>
                                          </p:stCondLst>
                                        </p:cTn>
                                        <p:tgtEl>
                                          <p:spTgt spid="7"/>
                                        </p:tgtEl>
                                        <p:attrNameLst>
                                          <p:attrName>style.visibility</p:attrName>
                                        </p:attrNameLst>
                                      </p:cBhvr>
                                      <p:to>
                                        <p:strVal val="visible"/>
                                      </p:to>
                                    </p:set>
                                    <p:animEffect transition="in" filter="fade">
                                      <p:cBhvr>
                                        <p:cTn id="22"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name="Slide 1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tmp/claude-0/-home-user-hosting/7c832a48-0979-56aa-9fdf-7d53efb9dc7a/scratchpad/build/imgd/logo-white.png">    </p:cNvPr>
          <p:cNvPicPr>
            <a:picLocks noChangeAspect="1"/>
          </p:cNvPicPr>
          <p:nvPr/>
        </p:nvPicPr>
        <p:blipFill>
          <a:blip r:embed="rId2"/>
          <a:stretch>
            <a:fillRect/>
          </a:stretch>
        </p:blipFill>
        <p:spPr>
          <a:xfrm>
            <a:off x="10414000" y="355600"/>
            <a:ext cx="1270000" cy="304800"/>
          </a:xfrm>
          <a:prstGeom prst="rect">
            <a:avLst/>
          </a:prstGeom>
        </p:spPr>
      </p:pic>
      <p:sp>
        <p:nvSpPr>
          <p:cNvPr id="3" name="Text 0"/>
          <p:cNvSpPr/>
          <p:nvPr/>
        </p:nvSpPr>
        <p:spPr>
          <a:xfrm>
            <a:off x="177800" y="6134100"/>
            <a:ext cx="1270000" cy="571500"/>
          </a:xfrm>
          <a:prstGeom prst="rect">
            <a:avLst/>
          </a:prstGeom>
          <a:noFill/>
          <a:ln/>
        </p:spPr>
        <p:txBody>
          <a:bodyPr wrap="square" lIns="0" tIns="0" rIns="0" bIns="0" rtlCol="0" anchor="ctr"/>
          <a:lstStyle/>
          <a:p>
            <a:pPr indent="0" marL="0">
              <a:buNone/>
            </a:pPr>
            <a:r>
              <a:rPr lang="en-US" sz="3550" b="1" dirty="0">
                <a:solidFill>
                  <a:srgbClr val="3F8FF2">
                    <a:alpha val="30000"/>
                  </a:srgbClr>
                </a:solidFill>
                <a:latin typeface="Plus Jakarta Sans" pitchFamily="34" charset="0"/>
                <a:ea typeface="Plus Jakarta Sans" pitchFamily="34" charset="-122"/>
                <a:cs typeface="Plus Jakarta Sans" pitchFamily="34" charset="-120"/>
              </a:rPr>
              <a:t>16</a:t>
            </a:r>
            <a:endParaRPr lang="en-US" sz="3550" dirty="0"/>
          </a:p>
        </p:txBody>
      </p:sp>
      <p:sp>
        <p:nvSpPr>
          <p:cNvPr id="4" name="Text 1"/>
          <p:cNvSpPr txBox="1"/>
          <p:nvPr/>
        </p:nvSpPr>
        <p:spPr>
          <a:xfrm>
            <a:off x="6604000" y="6477000"/>
            <a:ext cx="5080000" cy="152400"/>
          </a:xfrm>
          <a:prstGeom prst="rect">
            <a:avLst/>
          </a:prstGeom>
          <a:noFill/>
          <a:ln/>
        </p:spPr>
        <p:txBody>
          <a:bodyPr wrap="square" lIns="0" tIns="0" rIns="0" bIns="0" rtlCol="0" anchor="t"/>
          <a:lstStyle/>
          <a:p>
            <a:pPr algn="r" indent="0" marL="0">
              <a:lnSpc>
                <a:spcPct val="112000"/>
              </a:lnSpc>
              <a:buNone/>
            </a:pPr>
            <a:r>
              <a:rPr lang="en-US" sz="750" dirty="0">
                <a:solidFill>
                  <a:srgbClr val="8C93A3"/>
                </a:solidFill>
                <a:latin typeface="Plus Jakarta Sans" pitchFamily="34" charset="0"/>
                <a:ea typeface="Plus Jakarta Sans" pitchFamily="34" charset="-122"/>
                <a:cs typeface="Plus Jakarta Sans" pitchFamily="34" charset="-120"/>
              </a:rPr>
              <a:t>Partner-Confidential · NDA · Programme description only; not a contract</a:t>
            </a:r>
            <a:endParaRPr lang="en-US" sz="750" dirty="0"/>
          </a:p>
        </p:txBody>
      </p:sp>
      <p:pic>
        <p:nvPicPr>
          <p:cNvPr id="5" name="anim-1-1" descr="/tmp/claude-0/-home-user-hosting/7c832a48-0979-56aa-9fdf-7d53efb9dc7a/scratchpad/build/imgd/pointer.png">    </p:cNvPr>
          <p:cNvPicPr>
            <a:picLocks noChangeAspect="1"/>
          </p:cNvPicPr>
          <p:nvPr/>
        </p:nvPicPr>
        <p:blipFill>
          <a:blip r:embed="rId3"/>
          <a:stretch>
            <a:fillRect/>
          </a:stretch>
        </p:blipFill>
        <p:spPr>
          <a:xfrm>
            <a:off x="508000" y="285750"/>
            <a:ext cx="100964" cy="203200"/>
          </a:xfrm>
          <a:prstGeom prst="rect">
            <a:avLst/>
          </a:prstGeom>
        </p:spPr>
      </p:pic>
      <p:sp>
        <p:nvSpPr>
          <p:cNvPr id="6" name="anim-1-2"/>
          <p:cNvSpPr txBox="1"/>
          <p:nvPr/>
        </p:nvSpPr>
        <p:spPr>
          <a:xfrm>
            <a:off x="673100" y="304800"/>
            <a:ext cx="8890000" cy="190500"/>
          </a:xfrm>
          <a:prstGeom prst="rect">
            <a:avLst/>
          </a:prstGeom>
          <a:noFill/>
          <a:ln/>
        </p:spPr>
        <p:txBody>
          <a:bodyPr wrap="square" lIns="0" tIns="0" rIns="0" bIns="0" rtlCol="0" anchor="t"/>
          <a:lstStyle/>
          <a:p>
            <a:pPr algn="l" indent="0" marL="0">
              <a:lnSpc>
                <a:spcPct val="112000"/>
              </a:lnSpc>
              <a:buNone/>
            </a:pPr>
            <a:r>
              <a:rPr lang="en-US" sz="1000" spc="200" kern="0" dirty="0">
                <a:solidFill>
                  <a:srgbClr val="15B6FF"/>
                </a:solidFill>
                <a:latin typeface="Plus Jakarta Sans SemiBold" pitchFamily="34" charset="0"/>
                <a:ea typeface="Plus Jakarta Sans SemiBold" pitchFamily="34" charset="-122"/>
                <a:cs typeface="Plus Jakarta Sans SemiBold" pitchFamily="34" charset="-120"/>
              </a:rPr>
              <a:t>DEAL REGISTRATION &amp; SALES COLLABORATION</a:t>
            </a:r>
            <a:endParaRPr lang="en-US" sz="1000" dirty="0"/>
          </a:p>
        </p:txBody>
      </p:sp>
      <p:sp>
        <p:nvSpPr>
          <p:cNvPr id="7" name="anim-1-3"/>
          <p:cNvSpPr txBox="1"/>
          <p:nvPr/>
        </p:nvSpPr>
        <p:spPr>
          <a:xfrm>
            <a:off x="508000" y="558800"/>
            <a:ext cx="9652000" cy="406400"/>
          </a:xfrm>
          <a:prstGeom prst="rect">
            <a:avLst/>
          </a:prstGeom>
          <a:noFill/>
          <a:ln/>
        </p:spPr>
        <p:txBody>
          <a:bodyPr wrap="square" lIns="0" tIns="0" rIns="0" bIns="0" rtlCol="0" anchor="ctr"/>
          <a:lstStyle/>
          <a:p>
            <a:pPr algn="l" indent="0" marL="0">
              <a:lnSpc>
                <a:spcPct val="112000"/>
              </a:lnSpc>
              <a:buNone/>
            </a:pPr>
            <a:r>
              <a:rPr lang="en-US" sz="2000" b="1" dirty="0">
                <a:solidFill>
                  <a:srgbClr val="FFFFFF"/>
                </a:solidFill>
                <a:latin typeface="Plus Jakarta Sans" pitchFamily="34" charset="0"/>
                <a:ea typeface="Plus Jakarta Sans" pitchFamily="34" charset="-122"/>
                <a:cs typeface="Plus Jakarta Sans" pitchFamily="34" charset="-120"/>
              </a:rPr>
              <a:t>Register </a:t>
            </a:r>
            <a:pPr algn="l" indent="0" marL="0">
              <a:lnSpc>
                <a:spcPct val="112000"/>
              </a:lnSpc>
              <a:buNone/>
            </a:pPr>
            <a:r>
              <a:rPr lang="en-US" sz="2000" b="1" i="1" dirty="0">
                <a:solidFill>
                  <a:srgbClr val="15B6FF"/>
                </a:solidFill>
                <a:latin typeface="Plus Jakarta Sans Light" pitchFamily="34" charset="0"/>
                <a:ea typeface="Plus Jakarta Sans Light" pitchFamily="34" charset="-122"/>
                <a:cs typeface="Plus Jakarta Sans Light" pitchFamily="34" charset="-120"/>
              </a:rPr>
              <a:t>early</a:t>
            </a:r>
            <a:pPr algn="l" indent="0" marL="0">
              <a:lnSpc>
                <a:spcPct val="112000"/>
              </a:lnSpc>
              <a:buNone/>
            </a:pPr>
            <a:r>
              <a:rPr lang="en-US" sz="2000" b="1" dirty="0">
                <a:solidFill>
                  <a:srgbClr val="FFFFFF"/>
                </a:solidFill>
                <a:latin typeface="Plus Jakarta Sans" pitchFamily="34" charset="0"/>
                <a:ea typeface="Plus Jakarta Sans" pitchFamily="34" charset="-122"/>
                <a:cs typeface="Plus Jakarta Sans" pitchFamily="34" charset="-120"/>
              </a:rPr>
              <a:t>. Stay protected.</a:t>
            </a:r>
            <a:endParaRPr lang="en-US" sz="2000" dirty="0"/>
          </a:p>
        </p:txBody>
      </p:sp>
      <p:sp>
        <p:nvSpPr>
          <p:cNvPr id="8" name="anim-2-4"/>
          <p:cNvSpPr/>
          <p:nvPr/>
        </p:nvSpPr>
        <p:spPr>
          <a:xfrm>
            <a:off x="508000" y="1308100"/>
            <a:ext cx="8001000" cy="2730500"/>
          </a:xfrm>
          <a:prstGeom prst="roundRect">
            <a:avLst>
              <a:gd name="adj" fmla="val 9302"/>
            </a:avLst>
          </a:prstGeom>
          <a:solidFill>
            <a:srgbClr val="FFFFFF">
              <a:alpha val="5000"/>
            </a:srgbClr>
          </a:solidFill>
          <a:ln w="9525">
            <a:solidFill>
              <a:srgbClr val="FFFFFF">
                <a:alpha val="12000"/>
              </a:srgbClr>
            </a:solidFill>
            <a:prstDash val="solid"/>
          </a:ln>
        </p:spPr>
      </p:sp>
      <p:graphicFrame>
        <p:nvGraphicFramePr>
          <p:cNvPr id="17" name="anim-2-5"/>
          <p:cNvGraphicFramePr>
            <a:graphicFrameLocks noGrp="1"/>
          </p:cNvGraphicFramePr>
          <p:nvPr>
            <p:extLst>
              <p:ext uri="{D42A27DB-BD31-4B8C-83A1-F6EECF244321}">
                <p14:modId xmlns:p14="http://schemas.microsoft.com/office/powerpoint/2010/main" val="1579011935"/>
              </p:ext>
            </p:extLst>
          </p:nvPr>
        </p:nvGraphicFramePr>
        <p:xfrm>
          <a:off x="711200" y="1460500"/>
          <a:ext cx="7594600" cy="914400"/>
        </p:xfrm>
        <a:graphic>
          <a:graphicData uri="http://schemas.openxmlformats.org/drawingml/2006/table">
            <a:tbl>
              <a:tblPr/>
              <a:tblGrid>
                <a:gridCol w="1397000"/>
                <a:gridCol w="2794000"/>
                <a:gridCol w="3403600"/>
              </a:tblGrid>
              <a:tr h="482600">
                <a:tc>
                  <a:txBody>
                    <a:bodyPr/>
                    <a:lstStyle/>
                    <a:p>
                      <a:pPr algn="l" indent="0" marL="0">
                        <a:buNone/>
                      </a:pPr>
                      <a:r>
                        <a:rPr lang="en-US" sz="800" dirty="0">
                          <a:solidFill>
                            <a:srgbClr val="FFFFFF"/>
                          </a:solidFill>
                          <a:latin typeface="Plus Jakarta Sans SemiBold" pitchFamily="34" charset="0"/>
                          <a:ea typeface="Plus Jakarta Sans SemiBold" pitchFamily="34" charset="-122"/>
                          <a:cs typeface="Plus Jakarta Sans SemiBold" pitchFamily="34" charset="-120"/>
                        </a:rPr>
                        <a:t>Role</a:t>
                      </a:r>
                      <a:endParaRPr lang="en-US" sz="800" dirty="0">
                        <a:latin typeface="Plus Jakarta Sans SemiBold" charset="0"/>
                        <a:ea typeface="Plus Jakarta Sans SemiBold" charset="0"/>
                        <a:cs typeface="Plus Jakarta Sans SemiBold" charset="0"/>
                      </a:endParaRPr>
                    </a:p>
                  </a:txBody>
                  <a:tcPr marL="101600" marR="101600" marT="38100" marB="38100" anchor="ctr">
                    <a:lnL w="0" cap="flat" cmpd="sng" algn="ctr">
                      <a:noFill/>
                    </a:lnL>
                    <a:lnR w="0" cap="flat" cmpd="sng" algn="ctr">
                      <a:noFill/>
                    </a:lnR>
                    <a:lnT w="9525" cap="flat" cmpd="sng" algn="ctr">
                      <a:solidFill>
                        <a:srgbClr val="2C3A4F"/>
                      </a:solidFill>
                      <a:prstDash val="solid"/>
                      <a:round/>
                      <a:headEnd type="none" w="med" len="med"/>
                      <a:tailEnd type="none" w="med" len="med"/>
                    </a:lnT>
                    <a:lnB w="9525" cap="flat" cmpd="sng" algn="ctr">
                      <a:solidFill>
                        <a:srgbClr val="2C3A4F"/>
                      </a:solidFill>
                      <a:prstDash val="solid"/>
                      <a:round/>
                      <a:headEnd type="none" w="med" len="med"/>
                      <a:tailEnd type="none" w="med" len="med"/>
                    </a:lnB>
                    <a:solidFill>
                      <a:srgbClr val="1E3570"/>
                    </a:solidFill>
                  </a:tcPr>
                </a:tc>
                <a:tc>
                  <a:txBody>
                    <a:bodyPr/>
                    <a:lstStyle/>
                    <a:p>
                      <a:pPr algn="l" indent="0" marL="0">
                        <a:buNone/>
                      </a:pPr>
                      <a:r>
                        <a:rPr lang="en-US" sz="800" dirty="0">
                          <a:solidFill>
                            <a:srgbClr val="FFFFFF"/>
                          </a:solidFill>
                          <a:latin typeface="Plus Jakarta Sans SemiBold" pitchFamily="34" charset="0"/>
                          <a:ea typeface="Plus Jakarta Sans SemiBold" pitchFamily="34" charset="-122"/>
                          <a:cs typeface="Plus Jakarta Sans SemiBold" pitchFamily="34" charset="-120"/>
                        </a:rPr>
                        <a:t>Definition</a:t>
                      </a:r>
                      <a:endParaRPr lang="en-US" sz="800" dirty="0">
                        <a:latin typeface="Plus Jakarta Sans SemiBold" charset="0"/>
                        <a:ea typeface="Plus Jakarta Sans SemiBold" charset="0"/>
                        <a:cs typeface="Plus Jakarta Sans SemiBold" charset="0"/>
                      </a:endParaRPr>
                    </a:p>
                  </a:txBody>
                  <a:tcPr marL="101600" marR="101600" marT="38100" marB="38100" anchor="ctr">
                    <a:lnL w="0" cap="flat" cmpd="sng" algn="ctr">
                      <a:noFill/>
                    </a:lnL>
                    <a:lnR w="0" cap="flat" cmpd="sng" algn="ctr">
                      <a:noFill/>
                    </a:lnR>
                    <a:lnT w="9525" cap="flat" cmpd="sng" algn="ctr">
                      <a:solidFill>
                        <a:srgbClr val="2C3A4F"/>
                      </a:solidFill>
                      <a:prstDash val="solid"/>
                      <a:round/>
                      <a:headEnd type="none" w="med" len="med"/>
                      <a:tailEnd type="none" w="med" len="med"/>
                    </a:lnT>
                    <a:lnB w="9525" cap="flat" cmpd="sng" algn="ctr">
                      <a:solidFill>
                        <a:srgbClr val="2C3A4F"/>
                      </a:solidFill>
                      <a:prstDash val="solid"/>
                      <a:round/>
                      <a:headEnd type="none" w="med" len="med"/>
                      <a:tailEnd type="none" w="med" len="med"/>
                    </a:lnB>
                    <a:solidFill>
                      <a:srgbClr val="1E3570"/>
                    </a:solidFill>
                  </a:tcPr>
                </a:tc>
                <a:tc>
                  <a:txBody>
                    <a:bodyPr/>
                    <a:lstStyle/>
                    <a:p>
                      <a:pPr algn="l" indent="0" marL="0">
                        <a:buNone/>
                      </a:pPr>
                      <a:r>
                        <a:rPr lang="en-US" sz="800" dirty="0">
                          <a:solidFill>
                            <a:srgbClr val="FFFFFF"/>
                          </a:solidFill>
                          <a:latin typeface="Plus Jakarta Sans SemiBold" pitchFamily="34" charset="0"/>
                          <a:ea typeface="Plus Jakarta Sans SemiBold" pitchFamily="34" charset="-122"/>
                          <a:cs typeface="Plus Jakarta Sans SemiBold" pitchFamily="34" charset="-120"/>
                        </a:rPr>
                        <a:t>Evidence required</a:t>
                      </a:r>
                      <a:endParaRPr lang="en-US" sz="800" dirty="0">
                        <a:latin typeface="Plus Jakarta Sans SemiBold" charset="0"/>
                        <a:ea typeface="Plus Jakarta Sans SemiBold" charset="0"/>
                        <a:cs typeface="Plus Jakarta Sans SemiBold" charset="0"/>
                      </a:endParaRPr>
                    </a:p>
                  </a:txBody>
                  <a:tcPr marL="101600" marR="101600" marT="38100" marB="38100" anchor="ctr">
                    <a:lnL w="0" cap="flat" cmpd="sng" algn="ctr">
                      <a:noFill/>
                    </a:lnL>
                    <a:lnR w="0" cap="flat" cmpd="sng" algn="ctr">
                      <a:noFill/>
                    </a:lnR>
                    <a:lnT w="9525" cap="flat" cmpd="sng" algn="ctr">
                      <a:solidFill>
                        <a:srgbClr val="2C3A4F"/>
                      </a:solidFill>
                      <a:prstDash val="solid"/>
                      <a:round/>
                      <a:headEnd type="none" w="med" len="med"/>
                      <a:tailEnd type="none" w="med" len="med"/>
                    </a:lnT>
                    <a:lnB w="9525" cap="flat" cmpd="sng" algn="ctr">
                      <a:solidFill>
                        <a:srgbClr val="2C3A4F"/>
                      </a:solidFill>
                      <a:prstDash val="solid"/>
                      <a:round/>
                      <a:headEnd type="none" w="med" len="med"/>
                      <a:tailEnd type="none" w="med" len="med"/>
                    </a:lnB>
                    <a:solidFill>
                      <a:srgbClr val="1E3570"/>
                    </a:solidFill>
                  </a:tcPr>
                </a:tc>
              </a:tr>
              <a:tr h="482600">
                <a:tc>
                  <a:txBody>
                    <a:bodyPr/>
                    <a:lstStyle/>
                    <a:p>
                      <a:pPr algn="l" indent="0" marL="0">
                        <a:buNone/>
                      </a:pPr>
                      <a:r>
                        <a:rPr lang="en-US" sz="900" dirty="0">
                          <a:solidFill>
                            <a:srgbClr val="FFFFFF"/>
                          </a:solidFill>
                          <a:latin typeface="Plus Jakarta Sans SemiBold" pitchFamily="34" charset="0"/>
                          <a:ea typeface="Plus Jakarta Sans SemiBold" pitchFamily="34" charset="-122"/>
                          <a:cs typeface="Plus Jakarta Sans SemiBold" pitchFamily="34" charset="-120"/>
                        </a:rPr>
                        <a:t>Partner-Sourced</a:t>
                      </a:r>
                      <a:endParaRPr lang="en-US" sz="900" dirty="0">
                        <a:latin typeface="Plus Jakarta Sans SemiBold" charset="0"/>
                        <a:ea typeface="Plus Jakarta Sans SemiBold" charset="0"/>
                        <a:cs typeface="Plus Jakarta Sans SemiBold" charset="0"/>
                      </a:endParaRPr>
                    </a:p>
                  </a:txBody>
                  <a:tcPr marL="101600" marR="101600" marT="38100" marB="38100" anchor="ctr">
                    <a:lnL w="0" cap="flat" cmpd="sng" algn="ctr">
                      <a:noFill/>
                    </a:lnL>
                    <a:lnR w="0" cap="flat" cmpd="sng" algn="ctr">
                      <a:noFill/>
                    </a:lnR>
                    <a:lnT w="9525" cap="flat" cmpd="sng" algn="ctr">
                      <a:solidFill>
                        <a:srgbClr val="2C3A4F"/>
                      </a:solidFill>
                      <a:prstDash val="solid"/>
                      <a:round/>
                      <a:headEnd type="none" w="med" len="med"/>
                      <a:tailEnd type="none" w="med" len="med"/>
                    </a:lnT>
                    <a:lnB w="9525" cap="flat" cmpd="sng" algn="ctr">
                      <a:solidFill>
                        <a:srgbClr val="2C3A4F"/>
                      </a:solidFill>
                      <a:prstDash val="solid"/>
                      <a:round/>
                      <a:headEnd type="none" w="med" len="med"/>
                      <a:tailEnd type="none" w="med" len="med"/>
                    </a:lnB>
                    <a:solidFill>
                      <a:srgbClr val="182638"/>
                    </a:solidFill>
                  </a:tcPr>
                </a:tc>
                <a:tc>
                  <a:txBody>
                    <a:bodyPr/>
                    <a:lstStyle/>
                    <a:p>
                      <a:pPr algn="l" indent="0" marL="0">
                        <a:buNone/>
                      </a:pPr>
                      <a:r>
                        <a:rPr lang="en-US" sz="900" dirty="0">
                          <a:solidFill>
                            <a:srgbClr val="C3C8D1"/>
                          </a:solidFill>
                          <a:latin typeface="Plus Jakarta Sans" pitchFamily="34" charset="0"/>
                          <a:ea typeface="Plus Jakarta Sans" pitchFamily="34" charset="-122"/>
                          <a:cs typeface="Plus Jakarta Sans" pitchFamily="34" charset="-120"/>
                        </a:rPr>
                        <a:t>Partner originated and actively drives the opportunity</a:t>
                      </a:r>
                      <a:endParaRPr lang="en-US" sz="90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2C3A4F"/>
                      </a:solidFill>
                      <a:prstDash val="solid"/>
                      <a:round/>
                      <a:headEnd type="none" w="med" len="med"/>
                      <a:tailEnd type="none" w="med" len="med"/>
                    </a:lnT>
                    <a:lnB w="9525" cap="flat" cmpd="sng" algn="ctr">
                      <a:solidFill>
                        <a:srgbClr val="2C3A4F"/>
                      </a:solidFill>
                      <a:prstDash val="solid"/>
                      <a:round/>
                      <a:headEnd type="none" w="med" len="med"/>
                      <a:tailEnd type="none" w="med" len="med"/>
                    </a:lnB>
                    <a:solidFill>
                      <a:srgbClr val="182638"/>
                    </a:solidFill>
                  </a:tcPr>
                </a:tc>
                <a:tc>
                  <a:txBody>
                    <a:bodyPr/>
                    <a:lstStyle/>
                    <a:p>
                      <a:pPr algn="l" indent="0" marL="0">
                        <a:buNone/>
                      </a:pPr>
                      <a:r>
                        <a:rPr lang="en-US" sz="900" dirty="0">
                          <a:solidFill>
                            <a:srgbClr val="C3C8D1"/>
                          </a:solidFill>
                          <a:latin typeface="Plus Jakarta Sans" pitchFamily="34" charset="0"/>
                          <a:ea typeface="Plus Jakarta Sans" pitchFamily="34" charset="-122"/>
                          <a:cs typeface="Plus Jakarta Sans" pitchFamily="34" charset="-120"/>
                        </a:rPr>
                        <a:t>Introduction, discovery, opportunity plan, decision process, active until close</a:t>
                      </a:r>
                      <a:endParaRPr lang="en-US" sz="90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2C3A4F"/>
                      </a:solidFill>
                      <a:prstDash val="solid"/>
                      <a:round/>
                      <a:headEnd type="none" w="med" len="med"/>
                      <a:tailEnd type="none" w="med" len="med"/>
                    </a:lnT>
                    <a:lnB w="9525" cap="flat" cmpd="sng" algn="ctr">
                      <a:solidFill>
                        <a:srgbClr val="2C3A4F"/>
                      </a:solidFill>
                      <a:prstDash val="solid"/>
                      <a:round/>
                      <a:headEnd type="none" w="med" len="med"/>
                      <a:tailEnd type="none" w="med" len="med"/>
                    </a:lnB>
                    <a:solidFill>
                      <a:srgbClr val="182638"/>
                    </a:solidFill>
                  </a:tcPr>
                </a:tc>
              </a:tr>
              <a:tr h="482600">
                <a:tc>
                  <a:txBody>
                    <a:bodyPr/>
                    <a:lstStyle/>
                    <a:p>
                      <a:pPr algn="l" indent="0" marL="0">
                        <a:buNone/>
                      </a:pPr>
                      <a:r>
                        <a:rPr lang="en-US" sz="900" dirty="0">
                          <a:solidFill>
                            <a:srgbClr val="FFFFFF"/>
                          </a:solidFill>
                          <a:latin typeface="Plus Jakarta Sans SemiBold" pitchFamily="34" charset="0"/>
                          <a:ea typeface="Plus Jakarta Sans SemiBold" pitchFamily="34" charset="-122"/>
                          <a:cs typeface="Plus Jakarta Sans SemiBold" pitchFamily="34" charset="-120"/>
                        </a:rPr>
                        <a:t>Partner-Driven</a:t>
                      </a:r>
                      <a:endParaRPr lang="en-US" sz="900" dirty="0">
                        <a:latin typeface="Plus Jakarta Sans SemiBold" charset="0"/>
                        <a:ea typeface="Plus Jakarta Sans SemiBold" charset="0"/>
                        <a:cs typeface="Plus Jakarta Sans SemiBold" charset="0"/>
                      </a:endParaRPr>
                    </a:p>
                  </a:txBody>
                  <a:tcPr marL="101600" marR="101600" marT="38100" marB="38100" anchor="ctr">
                    <a:lnL w="0" cap="flat" cmpd="sng" algn="ctr">
                      <a:noFill/>
                    </a:lnL>
                    <a:lnR w="0" cap="flat" cmpd="sng" algn="ctr">
                      <a:noFill/>
                    </a:lnR>
                    <a:lnT w="9525" cap="flat" cmpd="sng" algn="ctr">
                      <a:solidFill>
                        <a:srgbClr val="2C3A4F"/>
                      </a:solidFill>
                      <a:prstDash val="solid"/>
                      <a:round/>
                      <a:headEnd type="none" w="med" len="med"/>
                      <a:tailEnd type="none" w="med" len="med"/>
                    </a:lnT>
                    <a:lnB w="9525" cap="flat" cmpd="sng" algn="ctr">
                      <a:solidFill>
                        <a:srgbClr val="2C3A4F"/>
                      </a:solidFill>
                      <a:prstDash val="solid"/>
                      <a:round/>
                      <a:headEnd type="none" w="med" len="med"/>
                      <a:tailEnd type="none" w="med" len="med"/>
                    </a:lnB>
                    <a:solidFill>
                      <a:srgbClr val="1D2B3E"/>
                    </a:solidFill>
                  </a:tcPr>
                </a:tc>
                <a:tc>
                  <a:txBody>
                    <a:bodyPr/>
                    <a:lstStyle/>
                    <a:p>
                      <a:pPr algn="l" indent="0" marL="0">
                        <a:buNone/>
                      </a:pPr>
                      <a:r>
                        <a:rPr lang="en-US" sz="900" dirty="0">
                          <a:solidFill>
                            <a:srgbClr val="C3C8D1"/>
                          </a:solidFill>
                          <a:latin typeface="Plus Jakarta Sans" pitchFamily="34" charset="0"/>
                          <a:ea typeface="Plus Jakarta Sans" pitchFamily="34" charset="-122"/>
                          <a:cs typeface="Plus Jakarta Sans" pitchFamily="34" charset="-120"/>
                        </a:rPr>
                        <a:t>DignifyX generated the lead; partner leads the sales motion</a:t>
                      </a:r>
                      <a:endParaRPr lang="en-US" sz="90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2C3A4F"/>
                      </a:solidFill>
                      <a:prstDash val="solid"/>
                      <a:round/>
                      <a:headEnd type="none" w="med" len="med"/>
                      <a:tailEnd type="none" w="med" len="med"/>
                    </a:lnT>
                    <a:lnB w="9525" cap="flat" cmpd="sng" algn="ctr">
                      <a:solidFill>
                        <a:srgbClr val="2C3A4F"/>
                      </a:solidFill>
                      <a:prstDash val="solid"/>
                      <a:round/>
                      <a:headEnd type="none" w="med" len="med"/>
                      <a:tailEnd type="none" w="med" len="med"/>
                    </a:lnB>
                    <a:solidFill>
                      <a:srgbClr val="1D2B3E"/>
                    </a:solidFill>
                  </a:tcPr>
                </a:tc>
                <a:tc>
                  <a:txBody>
                    <a:bodyPr/>
                    <a:lstStyle/>
                    <a:p>
                      <a:pPr algn="l" indent="0" marL="0">
                        <a:buNone/>
                      </a:pPr>
                      <a:r>
                        <a:rPr lang="en-US" sz="900" dirty="0">
                          <a:solidFill>
                            <a:srgbClr val="C3C8D1"/>
                          </a:solidFill>
                          <a:latin typeface="Plus Jakarta Sans" pitchFamily="34" charset="0"/>
                          <a:ea typeface="Plus Jakarta Sans" pitchFamily="34" charset="-122"/>
                          <a:cs typeface="Plus Jakarta Sans" pitchFamily="34" charset="-120"/>
                        </a:rPr>
                        <a:t>Opportunity plan, customer meetings, proposal / demo / pilot, active execution</a:t>
                      </a:r>
                      <a:endParaRPr lang="en-US" sz="90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2C3A4F"/>
                      </a:solidFill>
                      <a:prstDash val="solid"/>
                      <a:round/>
                      <a:headEnd type="none" w="med" len="med"/>
                      <a:tailEnd type="none" w="med" len="med"/>
                    </a:lnT>
                    <a:lnB w="9525" cap="flat" cmpd="sng" algn="ctr">
                      <a:solidFill>
                        <a:srgbClr val="2C3A4F"/>
                      </a:solidFill>
                      <a:prstDash val="solid"/>
                      <a:round/>
                      <a:headEnd type="none" w="med" len="med"/>
                      <a:tailEnd type="none" w="med" len="med"/>
                    </a:lnB>
                    <a:solidFill>
                      <a:srgbClr val="1D2B3E"/>
                    </a:solidFill>
                  </a:tcPr>
                </a:tc>
              </a:tr>
              <a:tr h="482600">
                <a:tc>
                  <a:txBody>
                    <a:bodyPr/>
                    <a:lstStyle/>
                    <a:p>
                      <a:pPr algn="l" indent="0" marL="0">
                        <a:buNone/>
                      </a:pPr>
                      <a:r>
                        <a:rPr lang="en-US" sz="900" dirty="0">
                          <a:solidFill>
                            <a:srgbClr val="FFFFFF"/>
                          </a:solidFill>
                          <a:latin typeface="Plus Jakarta Sans SemiBold" pitchFamily="34" charset="0"/>
                          <a:ea typeface="Plus Jakarta Sans SemiBold" pitchFamily="34" charset="-122"/>
                          <a:cs typeface="Plus Jakarta Sans SemiBold" pitchFamily="34" charset="-120"/>
                        </a:rPr>
                        <a:t>Partner-Assisted</a:t>
                      </a:r>
                      <a:endParaRPr lang="en-US" sz="900" dirty="0">
                        <a:latin typeface="Plus Jakarta Sans SemiBold" charset="0"/>
                        <a:ea typeface="Plus Jakarta Sans SemiBold" charset="0"/>
                        <a:cs typeface="Plus Jakarta Sans SemiBold" charset="0"/>
                      </a:endParaRPr>
                    </a:p>
                  </a:txBody>
                  <a:tcPr marL="101600" marR="101600" marT="38100" marB="38100" anchor="ctr">
                    <a:lnL w="0" cap="flat" cmpd="sng" algn="ctr">
                      <a:noFill/>
                    </a:lnL>
                    <a:lnR w="0" cap="flat" cmpd="sng" algn="ctr">
                      <a:noFill/>
                    </a:lnR>
                    <a:lnT w="9525" cap="flat" cmpd="sng" algn="ctr">
                      <a:solidFill>
                        <a:srgbClr val="2C3A4F"/>
                      </a:solidFill>
                      <a:prstDash val="solid"/>
                      <a:round/>
                      <a:headEnd type="none" w="med" len="med"/>
                      <a:tailEnd type="none" w="med" len="med"/>
                    </a:lnT>
                    <a:lnB w="9525" cap="flat" cmpd="sng" algn="ctr">
                      <a:solidFill>
                        <a:srgbClr val="2C3A4F"/>
                      </a:solidFill>
                      <a:prstDash val="solid"/>
                      <a:round/>
                      <a:headEnd type="none" w="med" len="med"/>
                      <a:tailEnd type="none" w="med" len="med"/>
                    </a:lnB>
                    <a:solidFill>
                      <a:srgbClr val="182638"/>
                    </a:solidFill>
                  </a:tcPr>
                </a:tc>
                <a:tc>
                  <a:txBody>
                    <a:bodyPr/>
                    <a:lstStyle/>
                    <a:p>
                      <a:pPr algn="l" indent="0" marL="0">
                        <a:buNone/>
                      </a:pPr>
                      <a:r>
                        <a:rPr lang="en-US" sz="900" dirty="0">
                          <a:solidFill>
                            <a:srgbClr val="C3C8D1"/>
                          </a:solidFill>
                          <a:latin typeface="Plus Jakarta Sans" pitchFamily="34" charset="0"/>
                          <a:ea typeface="Plus Jakarta Sans" pitchFamily="34" charset="-122"/>
                          <a:cs typeface="Plus Jakarta Sans" pitchFamily="34" charset="-120"/>
                        </a:rPr>
                        <a:t>Material contribution without owning the full cycle</a:t>
                      </a:r>
                      <a:endParaRPr lang="en-US" sz="90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2C3A4F"/>
                      </a:solidFill>
                      <a:prstDash val="solid"/>
                      <a:round/>
                      <a:headEnd type="none" w="med" len="med"/>
                      <a:tailEnd type="none" w="med" len="med"/>
                    </a:lnT>
                    <a:lnB w="9525" cap="flat" cmpd="sng" algn="ctr">
                      <a:solidFill>
                        <a:srgbClr val="2C3A4F"/>
                      </a:solidFill>
                      <a:prstDash val="solid"/>
                      <a:round/>
                      <a:headEnd type="none" w="med" len="med"/>
                      <a:tailEnd type="none" w="med" len="med"/>
                    </a:lnB>
                    <a:solidFill>
                      <a:srgbClr val="182638"/>
                    </a:solidFill>
                  </a:tcPr>
                </a:tc>
                <a:tc>
                  <a:txBody>
                    <a:bodyPr/>
                    <a:lstStyle/>
                    <a:p>
                      <a:pPr algn="l" indent="0" marL="0">
                        <a:buNone/>
                      </a:pPr>
                      <a:r>
                        <a:rPr lang="en-US" sz="900" dirty="0">
                          <a:solidFill>
                            <a:srgbClr val="C3C8D1"/>
                          </a:solidFill>
                          <a:latin typeface="Plus Jakarta Sans" pitchFamily="34" charset="0"/>
                          <a:ea typeface="Plus Jakarta Sans" pitchFamily="34" charset="-122"/>
                          <a:cs typeface="Plus Jakarta Sans" pitchFamily="34" charset="-120"/>
                        </a:rPr>
                        <a:t>Workshop, domain advisory, executive intro, reference, architecture input</a:t>
                      </a:r>
                      <a:endParaRPr lang="en-US" sz="90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2C3A4F"/>
                      </a:solidFill>
                      <a:prstDash val="solid"/>
                      <a:round/>
                      <a:headEnd type="none" w="med" len="med"/>
                      <a:tailEnd type="none" w="med" len="med"/>
                    </a:lnT>
                    <a:lnB w="9525" cap="flat" cmpd="sng" algn="ctr">
                      <a:solidFill>
                        <a:srgbClr val="2C3A4F"/>
                      </a:solidFill>
                      <a:prstDash val="solid"/>
                      <a:round/>
                      <a:headEnd type="none" w="med" len="med"/>
                      <a:tailEnd type="none" w="med" len="med"/>
                    </a:lnB>
                    <a:solidFill>
                      <a:srgbClr val="182638"/>
                    </a:solidFill>
                  </a:tcPr>
                </a:tc>
              </a:tr>
              <a:tr h="482600">
                <a:tc>
                  <a:txBody>
                    <a:bodyPr/>
                    <a:lstStyle/>
                    <a:p>
                      <a:pPr algn="l" indent="0" marL="0">
                        <a:buNone/>
                      </a:pPr>
                      <a:r>
                        <a:rPr lang="en-US" sz="900" dirty="0">
                          <a:solidFill>
                            <a:srgbClr val="FFFFFF"/>
                          </a:solidFill>
                          <a:latin typeface="Plus Jakarta Sans SemiBold" pitchFamily="34" charset="0"/>
                          <a:ea typeface="Plus Jakarta Sans SemiBold" pitchFamily="34" charset="-122"/>
                          <a:cs typeface="Plus Jakarta Sans SemiBold" pitchFamily="34" charset="-120"/>
                        </a:rPr>
                        <a:t>Referral</a:t>
                      </a:r>
                      <a:endParaRPr lang="en-US" sz="900" dirty="0">
                        <a:latin typeface="Plus Jakarta Sans SemiBold" charset="0"/>
                        <a:ea typeface="Plus Jakarta Sans SemiBold" charset="0"/>
                        <a:cs typeface="Plus Jakarta Sans SemiBold" charset="0"/>
                      </a:endParaRPr>
                    </a:p>
                  </a:txBody>
                  <a:tcPr marL="101600" marR="101600" marT="38100" marB="38100" anchor="ctr">
                    <a:lnL w="0" cap="flat" cmpd="sng" algn="ctr">
                      <a:noFill/>
                    </a:lnL>
                    <a:lnR w="0" cap="flat" cmpd="sng" algn="ctr">
                      <a:noFill/>
                    </a:lnR>
                    <a:lnT w="9525" cap="flat" cmpd="sng" algn="ctr">
                      <a:solidFill>
                        <a:srgbClr val="2C3A4F"/>
                      </a:solidFill>
                      <a:prstDash val="solid"/>
                      <a:round/>
                      <a:headEnd type="none" w="med" len="med"/>
                      <a:tailEnd type="none" w="med" len="med"/>
                    </a:lnT>
                    <a:lnB w="9525" cap="flat" cmpd="sng" algn="ctr">
                      <a:solidFill>
                        <a:srgbClr val="2C3A4F"/>
                      </a:solidFill>
                      <a:prstDash val="solid"/>
                      <a:round/>
                      <a:headEnd type="none" w="med" len="med"/>
                      <a:tailEnd type="none" w="med" len="med"/>
                    </a:lnB>
                    <a:solidFill>
                      <a:srgbClr val="1D2B3E"/>
                    </a:solidFill>
                  </a:tcPr>
                </a:tc>
                <a:tc>
                  <a:txBody>
                    <a:bodyPr/>
                    <a:lstStyle/>
                    <a:p>
                      <a:pPr algn="l" indent="0" marL="0">
                        <a:buNone/>
                      </a:pPr>
                      <a:r>
                        <a:rPr lang="en-US" sz="900" dirty="0">
                          <a:solidFill>
                            <a:srgbClr val="C3C8D1"/>
                          </a:solidFill>
                          <a:latin typeface="Plus Jakarta Sans" pitchFamily="34" charset="0"/>
                          <a:ea typeface="Plus Jakarta Sans" pitchFamily="34" charset="-122"/>
                          <a:cs typeface="Plus Jakarta Sans" pitchFamily="34" charset="-120"/>
                        </a:rPr>
                        <a:t>Introduces a qualified prospect and hands off</a:t>
                      </a:r>
                      <a:endParaRPr lang="en-US" sz="90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2C3A4F"/>
                      </a:solidFill>
                      <a:prstDash val="solid"/>
                      <a:round/>
                      <a:headEnd type="none" w="med" len="med"/>
                      <a:tailEnd type="none" w="med" len="med"/>
                    </a:lnT>
                    <a:lnB w="9525" cap="flat" cmpd="sng" algn="ctr">
                      <a:solidFill>
                        <a:srgbClr val="2C3A4F"/>
                      </a:solidFill>
                      <a:prstDash val="solid"/>
                      <a:round/>
                      <a:headEnd type="none" w="med" len="med"/>
                      <a:tailEnd type="none" w="med" len="med"/>
                    </a:lnB>
                    <a:solidFill>
                      <a:srgbClr val="1D2B3E"/>
                    </a:solidFill>
                  </a:tcPr>
                </a:tc>
                <a:tc>
                  <a:txBody>
                    <a:bodyPr/>
                    <a:lstStyle/>
                    <a:p>
                      <a:pPr algn="l" indent="0" marL="0">
                        <a:buNone/>
                      </a:pPr>
                      <a:r>
                        <a:rPr lang="en-US" sz="900" dirty="0">
                          <a:solidFill>
                            <a:srgbClr val="C3C8D1"/>
                          </a:solidFill>
                          <a:latin typeface="Plus Jakarta Sans" pitchFamily="34" charset="0"/>
                          <a:ea typeface="Plus Jakarta Sans" pitchFamily="34" charset="-122"/>
                          <a:cs typeface="Plus Jakarta Sans" pitchFamily="34" charset="-120"/>
                        </a:rPr>
                        <a:t>Confirmed introduction and qualified meeting</a:t>
                      </a:r>
                      <a:endParaRPr lang="en-US" sz="90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2C3A4F"/>
                      </a:solidFill>
                      <a:prstDash val="solid"/>
                      <a:round/>
                      <a:headEnd type="none" w="med" len="med"/>
                      <a:tailEnd type="none" w="med" len="med"/>
                    </a:lnT>
                    <a:lnB w="9525" cap="flat" cmpd="sng" algn="ctr">
                      <a:solidFill>
                        <a:srgbClr val="2C3A4F"/>
                      </a:solidFill>
                      <a:prstDash val="solid"/>
                      <a:round/>
                      <a:headEnd type="none" w="med" len="med"/>
                      <a:tailEnd type="none" w="med" len="med"/>
                    </a:lnB>
                    <a:solidFill>
                      <a:srgbClr val="1D2B3E"/>
                    </a:solidFill>
                  </a:tcPr>
                </a:tc>
              </a:tr>
            </a:tbl>
          </a:graphicData>
        </a:graphic>
      </p:graphicFrame>
      <p:sp>
        <p:nvSpPr>
          <p:cNvPr id="10" name="anim-3-6"/>
          <p:cNvSpPr/>
          <p:nvPr/>
        </p:nvSpPr>
        <p:spPr>
          <a:xfrm>
            <a:off x="508000" y="4191000"/>
            <a:ext cx="8001000" cy="1320800"/>
          </a:xfrm>
          <a:prstGeom prst="roundRect">
            <a:avLst>
              <a:gd name="adj" fmla="val 13462"/>
            </a:avLst>
          </a:prstGeom>
          <a:solidFill>
            <a:srgbClr val="194EFF">
              <a:alpha val="30000"/>
            </a:srgbClr>
          </a:solidFill>
          <a:ln w="15875">
            <a:solidFill>
              <a:srgbClr val="194EFF"/>
            </a:solidFill>
            <a:prstDash val="solid"/>
          </a:ln>
        </p:spPr>
      </p:sp>
      <p:sp>
        <p:nvSpPr>
          <p:cNvPr id="11" name="anim-3-7"/>
          <p:cNvSpPr txBox="1"/>
          <p:nvPr/>
        </p:nvSpPr>
        <p:spPr>
          <a:xfrm>
            <a:off x="711200" y="4343400"/>
            <a:ext cx="3810000" cy="228600"/>
          </a:xfrm>
          <a:prstGeom prst="rect">
            <a:avLst/>
          </a:prstGeom>
          <a:noFill/>
          <a:ln/>
        </p:spPr>
        <p:txBody>
          <a:bodyPr wrap="square" lIns="0" tIns="0" rIns="0" bIns="0" rtlCol="0" anchor="t"/>
          <a:lstStyle/>
          <a:p>
            <a:pPr algn="l" indent="0" marL="0">
              <a:lnSpc>
                <a:spcPct val="112000"/>
              </a:lnSpc>
              <a:buNone/>
            </a:pPr>
            <a:r>
              <a:rPr lang="en-US" sz="1200" b="1" dirty="0">
                <a:solidFill>
                  <a:srgbClr val="15B6FF"/>
                </a:solidFill>
                <a:latin typeface="Plus Jakarta Sans" pitchFamily="34" charset="0"/>
                <a:ea typeface="Plus Jakarta Sans" pitchFamily="34" charset="-122"/>
                <a:cs typeface="Plus Jakarta Sans" pitchFamily="34" charset="-120"/>
              </a:rPr>
              <a:t>Registration fields</a:t>
            </a:r>
            <a:endParaRPr lang="en-US" sz="1200" dirty="0"/>
          </a:p>
        </p:txBody>
      </p:sp>
      <p:sp>
        <p:nvSpPr>
          <p:cNvPr id="12" name="anim-3-8"/>
          <p:cNvSpPr txBox="1"/>
          <p:nvPr/>
        </p:nvSpPr>
        <p:spPr>
          <a:xfrm>
            <a:off x="711200" y="4622800"/>
            <a:ext cx="7594600" cy="762000"/>
          </a:xfrm>
          <a:prstGeom prst="rect">
            <a:avLst/>
          </a:prstGeom>
          <a:noFill/>
          <a:ln/>
        </p:spPr>
        <p:txBody>
          <a:bodyPr wrap="square" lIns="0" tIns="0" rIns="0" bIns="0" rtlCol="0" anchor="t"/>
          <a:lstStyle/>
          <a:p>
            <a:pPr algn="l" indent="0" marL="0">
              <a:lnSpc>
                <a:spcPct val="125000"/>
              </a:lnSpc>
              <a:buNone/>
            </a:pPr>
            <a:r>
              <a:rPr lang="en-US" sz="950" dirty="0">
                <a:solidFill>
                  <a:srgbClr val="FFFFFF"/>
                </a:solidFill>
                <a:latin typeface="Plus Jakarta Sans" pitchFamily="34" charset="0"/>
                <a:ea typeface="Plus Jakarta Sans" pitchFamily="34" charset="-122"/>
                <a:cs typeface="Plus Jakarta Sans" pitchFamily="34" charset="-120"/>
              </a:rPr>
              <a:t>Customer legal name · Business unit · Use case · Customer pain / initiative · Estimated ARR · Stakeholders · Decision timeline · Partner contribution · Next step (confirmed meeting, workshop, RFP, proposal or executive discussion).</a:t>
            </a:r>
            <a:endParaRPr lang="en-US" sz="950" dirty="0"/>
          </a:p>
        </p:txBody>
      </p:sp>
      <p:sp>
        <p:nvSpPr>
          <p:cNvPr id="13" name="anim-4-9"/>
          <p:cNvSpPr/>
          <p:nvPr/>
        </p:nvSpPr>
        <p:spPr>
          <a:xfrm>
            <a:off x="8661400" y="1308100"/>
            <a:ext cx="3022600" cy="1301750"/>
          </a:xfrm>
          <a:prstGeom prst="roundRect">
            <a:avLst>
              <a:gd name="adj" fmla="val 13659"/>
            </a:avLst>
          </a:prstGeom>
          <a:solidFill>
            <a:srgbClr val="194EFF">
              <a:alpha val="30000"/>
            </a:srgbClr>
          </a:solidFill>
          <a:ln w="15875">
            <a:solidFill>
              <a:srgbClr val="194EFF"/>
            </a:solidFill>
            <a:prstDash val="solid"/>
          </a:ln>
        </p:spPr>
      </p:sp>
      <p:pic>
        <p:nvPicPr>
          <p:cNvPr id="14" name="anim-4-10" descr="/tmp/claude-0/-home-user-hosting/7c832a48-0979-56aa-9fdf-7d53efb9dc7a/scratchpad/build/imgd/pointer.png">    </p:cNvPr>
          <p:cNvPicPr>
            <a:picLocks noChangeAspect="1"/>
          </p:cNvPicPr>
          <p:nvPr/>
        </p:nvPicPr>
        <p:blipFill>
          <a:blip r:embed="rId4"/>
          <a:stretch>
            <a:fillRect/>
          </a:stretch>
        </p:blipFill>
        <p:spPr>
          <a:xfrm>
            <a:off x="8851900" y="1625600"/>
            <a:ext cx="157756" cy="317500"/>
          </a:xfrm>
          <a:prstGeom prst="rect">
            <a:avLst/>
          </a:prstGeom>
        </p:spPr>
      </p:pic>
      <p:sp>
        <p:nvSpPr>
          <p:cNvPr id="15" name="anim-4-11"/>
          <p:cNvSpPr txBox="1"/>
          <p:nvPr/>
        </p:nvSpPr>
        <p:spPr>
          <a:xfrm>
            <a:off x="9105900" y="1460500"/>
            <a:ext cx="2425700" cy="571500"/>
          </a:xfrm>
          <a:prstGeom prst="rect">
            <a:avLst/>
          </a:prstGeom>
          <a:noFill/>
          <a:ln/>
        </p:spPr>
        <p:txBody>
          <a:bodyPr wrap="square" lIns="0" tIns="0" rIns="0" bIns="0" rtlCol="0" anchor="b"/>
          <a:lstStyle/>
          <a:p>
            <a:pPr algn="l" indent="0" marL="0">
              <a:lnSpc>
                <a:spcPct val="112000"/>
              </a:lnSpc>
              <a:buNone/>
            </a:pPr>
            <a:r>
              <a:rPr lang="en-US" sz="3400" b="1" dirty="0">
                <a:solidFill>
                  <a:srgbClr val="FFFFFF"/>
                </a:solidFill>
                <a:latin typeface="Plus Jakarta Sans" pitchFamily="34" charset="0"/>
                <a:ea typeface="Plus Jakarta Sans" pitchFamily="34" charset="-122"/>
                <a:cs typeface="Plus Jakarta Sans" pitchFamily="34" charset="-120"/>
              </a:rPr>
              <a:t>90</a:t>
            </a:r>
            <a:pPr algn="l" indent="0" marL="0">
              <a:lnSpc>
                <a:spcPct val="112000"/>
              </a:lnSpc>
              <a:buNone/>
            </a:pPr>
            <a:r>
              <a:rPr lang="en-US" sz="1500" b="1" dirty="0">
                <a:solidFill>
                  <a:srgbClr val="15B6FF"/>
                </a:solidFill>
                <a:latin typeface="Plus Jakarta Sans" pitchFamily="34" charset="0"/>
                <a:ea typeface="Plus Jakarta Sans" pitchFamily="34" charset="-122"/>
                <a:cs typeface="Plus Jakarta Sans" pitchFamily="34" charset="-120"/>
              </a:rPr>
              <a:t> days</a:t>
            </a:r>
            <a:endParaRPr lang="en-US" sz="3400" dirty="0"/>
          </a:p>
        </p:txBody>
      </p:sp>
      <p:sp>
        <p:nvSpPr>
          <p:cNvPr id="16" name="anim-4-12"/>
          <p:cNvSpPr txBox="1"/>
          <p:nvPr/>
        </p:nvSpPr>
        <p:spPr>
          <a:xfrm>
            <a:off x="8864600" y="2133600"/>
            <a:ext cx="2667000" cy="381000"/>
          </a:xfrm>
          <a:prstGeom prst="rect">
            <a:avLst/>
          </a:prstGeom>
          <a:noFill/>
          <a:ln/>
        </p:spPr>
        <p:txBody>
          <a:bodyPr wrap="square" lIns="0" tIns="0" rIns="0" bIns="0" rtlCol="0" anchor="t"/>
          <a:lstStyle/>
          <a:p>
            <a:pPr algn="l" indent="0" marL="0">
              <a:lnSpc>
                <a:spcPct val="112000"/>
              </a:lnSpc>
              <a:buNone/>
            </a:pPr>
            <a:r>
              <a:rPr lang="en-US" sz="950" dirty="0">
                <a:solidFill>
                  <a:srgbClr val="C3C8D1"/>
                </a:solidFill>
                <a:latin typeface="Plus Jakarta Sans" pitchFamily="34" charset="0"/>
                <a:ea typeface="Plus Jakarta Sans" pitchFamily="34" charset="-122"/>
                <a:cs typeface="Plus Jakarta Sans" pitchFamily="34" charset="-120"/>
              </a:rPr>
              <a:t>Accepted registered lead</a:t>
            </a:r>
            <a:endParaRPr lang="en-US" sz="950" dirty="0"/>
          </a:p>
        </p:txBody>
      </p:sp>
      <p:sp>
        <p:nvSpPr>
          <p:cNvPr id="17" name="anim-5-13"/>
          <p:cNvSpPr/>
          <p:nvPr/>
        </p:nvSpPr>
        <p:spPr>
          <a:xfrm>
            <a:off x="8661400" y="2762250"/>
            <a:ext cx="3022600" cy="1301750"/>
          </a:xfrm>
          <a:prstGeom prst="roundRect">
            <a:avLst>
              <a:gd name="adj" fmla="val 13659"/>
            </a:avLst>
          </a:prstGeom>
          <a:solidFill>
            <a:srgbClr val="FFFFFF">
              <a:alpha val="5000"/>
            </a:srgbClr>
          </a:solidFill>
          <a:ln w="9525">
            <a:solidFill>
              <a:srgbClr val="FFFFFF">
                <a:alpha val="12000"/>
              </a:srgbClr>
            </a:solidFill>
            <a:prstDash val="solid"/>
          </a:ln>
        </p:spPr>
      </p:sp>
      <p:sp>
        <p:nvSpPr>
          <p:cNvPr id="18" name="anim-5-14"/>
          <p:cNvSpPr txBox="1"/>
          <p:nvPr/>
        </p:nvSpPr>
        <p:spPr>
          <a:xfrm>
            <a:off x="8864600" y="2914650"/>
            <a:ext cx="2667000" cy="571500"/>
          </a:xfrm>
          <a:prstGeom prst="rect">
            <a:avLst/>
          </a:prstGeom>
          <a:noFill/>
          <a:ln/>
        </p:spPr>
        <p:txBody>
          <a:bodyPr wrap="square" lIns="0" tIns="0" rIns="0" bIns="0" rtlCol="0" anchor="b"/>
          <a:lstStyle/>
          <a:p>
            <a:pPr algn="l" indent="0" marL="0">
              <a:lnSpc>
                <a:spcPct val="112000"/>
              </a:lnSpc>
              <a:buNone/>
            </a:pPr>
            <a:r>
              <a:rPr lang="en-US" sz="3400" b="1" dirty="0">
                <a:solidFill>
                  <a:srgbClr val="FFFFFF"/>
                </a:solidFill>
                <a:latin typeface="Plus Jakarta Sans" pitchFamily="34" charset="0"/>
                <a:ea typeface="Plus Jakarta Sans" pitchFamily="34" charset="-122"/>
                <a:cs typeface="Plus Jakarta Sans" pitchFamily="34" charset="-120"/>
              </a:rPr>
              <a:t>+180</a:t>
            </a:r>
            <a:pPr algn="l" indent="0" marL="0">
              <a:lnSpc>
                <a:spcPct val="112000"/>
              </a:lnSpc>
              <a:buNone/>
            </a:pPr>
            <a:r>
              <a:rPr lang="en-US" sz="1500" b="1" dirty="0">
                <a:solidFill>
                  <a:srgbClr val="15B6FF"/>
                </a:solidFill>
                <a:latin typeface="Plus Jakarta Sans" pitchFamily="34" charset="0"/>
                <a:ea typeface="Plus Jakarta Sans" pitchFamily="34" charset="-122"/>
                <a:cs typeface="Plus Jakarta Sans" pitchFamily="34" charset="-120"/>
              </a:rPr>
              <a:t> days</a:t>
            </a:r>
            <a:endParaRPr lang="en-US" sz="3400" dirty="0"/>
          </a:p>
        </p:txBody>
      </p:sp>
      <p:sp>
        <p:nvSpPr>
          <p:cNvPr id="19" name="anim-5-15"/>
          <p:cNvSpPr txBox="1"/>
          <p:nvPr/>
        </p:nvSpPr>
        <p:spPr>
          <a:xfrm>
            <a:off x="8864600" y="3587750"/>
            <a:ext cx="2667000" cy="381000"/>
          </a:xfrm>
          <a:prstGeom prst="rect">
            <a:avLst/>
          </a:prstGeom>
          <a:noFill/>
          <a:ln/>
        </p:spPr>
        <p:txBody>
          <a:bodyPr wrap="square" lIns="0" tIns="0" rIns="0" bIns="0" rtlCol="0" anchor="t"/>
          <a:lstStyle/>
          <a:p>
            <a:pPr algn="l" indent="0" marL="0">
              <a:lnSpc>
                <a:spcPct val="112000"/>
              </a:lnSpc>
              <a:buNone/>
            </a:pPr>
            <a:r>
              <a:rPr lang="en-US" sz="950" dirty="0">
                <a:solidFill>
                  <a:srgbClr val="C3C8D1"/>
                </a:solidFill>
                <a:latin typeface="Plus Jakarta Sans" pitchFamily="34" charset="0"/>
                <a:ea typeface="Plus Jakarta Sans" pitchFamily="34" charset="-122"/>
                <a:cs typeface="Plus Jakarta Sans" pitchFamily="34" charset="-120"/>
              </a:rPr>
              <a:t>Converted opportunity with approved action plan</a:t>
            </a:r>
            <a:endParaRPr lang="en-US" sz="950" dirty="0"/>
          </a:p>
        </p:txBody>
      </p:sp>
      <p:sp>
        <p:nvSpPr>
          <p:cNvPr id="20" name="anim-6-16"/>
          <p:cNvSpPr/>
          <p:nvPr/>
        </p:nvSpPr>
        <p:spPr>
          <a:xfrm>
            <a:off x="8661400" y="4216400"/>
            <a:ext cx="3022600" cy="1301750"/>
          </a:xfrm>
          <a:prstGeom prst="roundRect">
            <a:avLst>
              <a:gd name="adj" fmla="val 13659"/>
            </a:avLst>
          </a:prstGeom>
          <a:solidFill>
            <a:srgbClr val="FFFFFF">
              <a:alpha val="5000"/>
            </a:srgbClr>
          </a:solidFill>
          <a:ln w="9525">
            <a:solidFill>
              <a:srgbClr val="FFFFFF">
                <a:alpha val="12000"/>
              </a:srgbClr>
            </a:solidFill>
            <a:prstDash val="solid"/>
          </a:ln>
        </p:spPr>
      </p:sp>
      <p:sp>
        <p:nvSpPr>
          <p:cNvPr id="21" name="anim-6-17"/>
          <p:cNvSpPr txBox="1"/>
          <p:nvPr/>
        </p:nvSpPr>
        <p:spPr>
          <a:xfrm>
            <a:off x="8864600" y="4368800"/>
            <a:ext cx="2667000" cy="571500"/>
          </a:xfrm>
          <a:prstGeom prst="rect">
            <a:avLst/>
          </a:prstGeom>
          <a:noFill/>
          <a:ln/>
        </p:spPr>
        <p:txBody>
          <a:bodyPr wrap="square" lIns="0" tIns="0" rIns="0" bIns="0" rtlCol="0" anchor="b"/>
          <a:lstStyle/>
          <a:p>
            <a:pPr algn="l" indent="0" marL="0">
              <a:lnSpc>
                <a:spcPct val="112000"/>
              </a:lnSpc>
              <a:buNone/>
            </a:pPr>
            <a:r>
              <a:rPr lang="en-US" sz="3400" b="1" dirty="0">
                <a:solidFill>
                  <a:srgbClr val="FFFFFF"/>
                </a:solidFill>
                <a:latin typeface="Plus Jakarta Sans" pitchFamily="34" charset="0"/>
                <a:ea typeface="Plus Jakarta Sans" pitchFamily="34" charset="-122"/>
                <a:cs typeface="Plus Jakarta Sans" pitchFamily="34" charset="-120"/>
              </a:rPr>
              <a:t>Until</a:t>
            </a:r>
            <a:pPr algn="l" indent="0" marL="0">
              <a:lnSpc>
                <a:spcPct val="112000"/>
              </a:lnSpc>
              <a:buNone/>
            </a:pPr>
            <a:r>
              <a:rPr lang="en-US" sz="1500" b="1" dirty="0">
                <a:solidFill>
                  <a:srgbClr val="15B6FF"/>
                </a:solidFill>
                <a:latin typeface="Plus Jakarta Sans" pitchFamily="34" charset="0"/>
                <a:ea typeface="Plus Jakarta Sans" pitchFamily="34" charset="-122"/>
                <a:cs typeface="Plus Jakarta Sans" pitchFamily="34" charset="-120"/>
              </a:rPr>
              <a:t> decision</a:t>
            </a:r>
            <a:endParaRPr lang="en-US" sz="3400" dirty="0"/>
          </a:p>
        </p:txBody>
      </p:sp>
      <p:sp>
        <p:nvSpPr>
          <p:cNvPr id="22" name="anim-6-18"/>
          <p:cNvSpPr txBox="1"/>
          <p:nvPr/>
        </p:nvSpPr>
        <p:spPr>
          <a:xfrm>
            <a:off x="8864600" y="5041900"/>
            <a:ext cx="2667000" cy="381000"/>
          </a:xfrm>
          <a:prstGeom prst="rect">
            <a:avLst/>
          </a:prstGeom>
          <a:noFill/>
          <a:ln/>
        </p:spPr>
        <p:txBody>
          <a:bodyPr wrap="square" lIns="0" tIns="0" rIns="0" bIns="0" rtlCol="0" anchor="t"/>
          <a:lstStyle/>
          <a:p>
            <a:pPr algn="l" indent="0" marL="0">
              <a:lnSpc>
                <a:spcPct val="112000"/>
              </a:lnSpc>
              <a:buNone/>
            </a:pPr>
            <a:r>
              <a:rPr lang="en-US" sz="950" dirty="0">
                <a:solidFill>
                  <a:srgbClr val="C3C8D1"/>
                </a:solidFill>
                <a:latin typeface="Plus Jakarta Sans" pitchFamily="34" charset="0"/>
                <a:ea typeface="Plus Jakarta Sans" pitchFamily="34" charset="-122"/>
                <a:cs typeface="Plus Jakarta Sans" pitchFamily="34" charset="-120"/>
              </a:rPr>
              <a:t>Active RFP / tender, subject to tender rules</a:t>
            </a:r>
            <a:endParaRPr lang="en-US" sz="950" dirty="0"/>
          </a:p>
        </p:txBody>
      </p:sp>
      <p:sp>
        <p:nvSpPr>
          <p:cNvPr id="23" name="anim-9-19"/>
          <p:cNvSpPr/>
          <p:nvPr/>
        </p:nvSpPr>
        <p:spPr>
          <a:xfrm>
            <a:off x="508000" y="5664200"/>
            <a:ext cx="11176000" cy="406400"/>
          </a:xfrm>
          <a:prstGeom prst="roundRect">
            <a:avLst>
              <a:gd name="adj" fmla="val 50000"/>
            </a:avLst>
          </a:prstGeom>
          <a:solidFill>
            <a:srgbClr val="FFFFFF">
              <a:alpha val="4000"/>
            </a:srgbClr>
          </a:solidFill>
          <a:ln w="9525">
            <a:solidFill>
              <a:srgbClr val="FFFFFF">
                <a:alpha val="22000"/>
              </a:srgbClr>
            </a:solidFill>
            <a:prstDash val="solid"/>
          </a:ln>
        </p:spPr>
      </p:sp>
      <p:sp>
        <p:nvSpPr>
          <p:cNvPr id="24" name="anim-9-20"/>
          <p:cNvSpPr txBox="1"/>
          <p:nvPr/>
        </p:nvSpPr>
        <p:spPr>
          <a:xfrm>
            <a:off x="762000" y="5664200"/>
            <a:ext cx="2095500" cy="406400"/>
          </a:xfrm>
          <a:prstGeom prst="rect">
            <a:avLst/>
          </a:prstGeom>
          <a:noFill/>
          <a:ln/>
        </p:spPr>
        <p:txBody>
          <a:bodyPr wrap="square" lIns="0" tIns="0" rIns="0" bIns="0" rtlCol="0" anchor="ctr"/>
          <a:lstStyle/>
          <a:p>
            <a:pPr algn="l" indent="0" marL="0">
              <a:lnSpc>
                <a:spcPct val="112000"/>
              </a:lnSpc>
              <a:buNone/>
            </a:pPr>
            <a:r>
              <a:rPr lang="en-US" sz="1100" b="1" dirty="0">
                <a:solidFill>
                  <a:srgbClr val="15B6FF"/>
                </a:solidFill>
                <a:latin typeface="Plus Jakarta Sans" pitchFamily="34" charset="0"/>
                <a:ea typeface="Plus Jakarta Sans" pitchFamily="34" charset="-122"/>
                <a:cs typeface="Plus Jakarta Sans" pitchFamily="34" charset="-120"/>
              </a:rPr>
              <a:t>Approved Messaging</a:t>
            </a:r>
            <a:endParaRPr lang="en-US" sz="1100" dirty="0"/>
          </a:p>
        </p:txBody>
      </p:sp>
      <p:sp>
        <p:nvSpPr>
          <p:cNvPr id="25" name="anim-9-21"/>
          <p:cNvSpPr txBox="1"/>
          <p:nvPr/>
        </p:nvSpPr>
        <p:spPr>
          <a:xfrm>
            <a:off x="2921000" y="5664200"/>
            <a:ext cx="8572500" cy="406400"/>
          </a:xfrm>
          <a:prstGeom prst="rect">
            <a:avLst/>
          </a:prstGeom>
          <a:noFill/>
          <a:ln/>
        </p:spPr>
        <p:txBody>
          <a:bodyPr wrap="square" lIns="0" tIns="0" rIns="0" bIns="0" rtlCol="0" anchor="ctr"/>
          <a:lstStyle/>
          <a:p>
            <a:pPr algn="l" indent="0" marL="0">
              <a:lnSpc>
                <a:spcPct val="112000"/>
              </a:lnSpc>
              <a:buNone/>
            </a:pPr>
            <a:r>
              <a:rPr lang="en-US" sz="1000" dirty="0">
                <a:solidFill>
                  <a:srgbClr val="FFFFFF"/>
                </a:solidFill>
                <a:latin typeface="Plus Jakarta Sans Medium" pitchFamily="34" charset="0"/>
                <a:ea typeface="Plus Jakarta Sans Medium" pitchFamily="34" charset="-122"/>
                <a:cs typeface="Plus Jakarta Sans Medium" pitchFamily="34" charset="-120"/>
              </a:rPr>
              <a:t>Use DignifyX-approved messaging, pricing and materials. No unapproved commitments on roadmap, data residency, SLA or discounts.</a:t>
            </a:r>
            <a:endParaRPr lang="en-US" sz="10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500"/>
                                        <p:tgtEl>
                                          <p:spTgt spid="7"/>
                                        </p:tgtEl>
                                      </p:cBhvr>
                                    </p:animEffect>
                                  </p:childTnLst>
                                </p:cTn>
                              </p:par>
                              <p:par>
                                <p:cTn id="14" presetID="10" presetClass="entr" presetSubtype="0" fill="hold" grpId="0" nodeType="withEffect">
                                  <p:stCondLst>
                                    <p:cond delay="18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500"/>
                                        <p:tgtEl>
                                          <p:spTgt spid="8"/>
                                        </p:tgtEl>
                                      </p:cBhvr>
                                    </p:animEffect>
                                  </p:childTnLst>
                                </p:cTn>
                              </p:par>
                              <p:par>
                                <p:cTn id="17" presetID="10" presetClass="entr" presetSubtype="0" fill="hold" grpId="0" nodeType="withEffect">
                                  <p:stCondLst>
                                    <p:cond delay="180"/>
                                  </p:stCondLst>
                                  <p:childTnLst>
                                    <p:set>
                                      <p:cBhvr>
                                        <p:cTn id="18" dur="1" fill="hold">
                                          <p:stCondLst>
                                            <p:cond delay="0"/>
                                          </p:stCondLst>
                                        </p:cTn>
                                        <p:tgtEl>
                                          <p:spTgt spid="17"/>
                                        </p:tgtEl>
                                        <p:attrNameLst>
                                          <p:attrName>style.visibility</p:attrName>
                                        </p:attrNameLst>
                                      </p:cBhvr>
                                      <p:to>
                                        <p:strVal val="visible"/>
                                      </p:to>
                                    </p:set>
                                    <p:animEffect transition="in" filter="fade">
                                      <p:cBhvr>
                                        <p:cTn id="19" dur="500"/>
                                        <p:tgtEl>
                                          <p:spTgt spid="17"/>
                                        </p:tgtEl>
                                      </p:cBhvr>
                                    </p:animEffect>
                                  </p:childTnLst>
                                </p:cTn>
                              </p:par>
                              <p:par>
                                <p:cTn id="20" presetID="10" presetClass="entr" presetSubtype="0" fill="hold" grpId="0" nodeType="withEffect">
                                  <p:stCondLst>
                                    <p:cond delay="360"/>
                                  </p:stCondLst>
                                  <p:childTnLst>
                                    <p:set>
                                      <p:cBhvr>
                                        <p:cTn id="21" dur="1" fill="hold">
                                          <p:stCondLst>
                                            <p:cond delay="0"/>
                                          </p:stCondLst>
                                        </p:cTn>
                                        <p:tgtEl>
                                          <p:spTgt spid="10"/>
                                        </p:tgtEl>
                                        <p:attrNameLst>
                                          <p:attrName>style.visibility</p:attrName>
                                        </p:attrNameLst>
                                      </p:cBhvr>
                                      <p:to>
                                        <p:strVal val="visible"/>
                                      </p:to>
                                    </p:set>
                                    <p:animEffect transition="in" filter="fade">
                                      <p:cBhvr>
                                        <p:cTn id="22" dur="500"/>
                                        <p:tgtEl>
                                          <p:spTgt spid="10"/>
                                        </p:tgtEl>
                                      </p:cBhvr>
                                    </p:animEffect>
                                  </p:childTnLst>
                                </p:cTn>
                              </p:par>
                              <p:par>
                                <p:cTn id="23" presetID="10" presetClass="entr" presetSubtype="0" fill="hold" grpId="0" nodeType="withEffect">
                                  <p:stCondLst>
                                    <p:cond delay="360"/>
                                  </p:stCondLst>
                                  <p:childTnLst>
                                    <p:set>
                                      <p:cBhvr>
                                        <p:cTn id="24" dur="1" fill="hold">
                                          <p:stCondLst>
                                            <p:cond delay="0"/>
                                          </p:stCondLst>
                                        </p:cTn>
                                        <p:tgtEl>
                                          <p:spTgt spid="11"/>
                                        </p:tgtEl>
                                        <p:attrNameLst>
                                          <p:attrName>style.visibility</p:attrName>
                                        </p:attrNameLst>
                                      </p:cBhvr>
                                      <p:to>
                                        <p:strVal val="visible"/>
                                      </p:to>
                                    </p:set>
                                    <p:animEffect transition="in" filter="fade">
                                      <p:cBhvr>
                                        <p:cTn id="25" dur="500"/>
                                        <p:tgtEl>
                                          <p:spTgt spid="11"/>
                                        </p:tgtEl>
                                      </p:cBhvr>
                                    </p:animEffect>
                                  </p:childTnLst>
                                </p:cTn>
                              </p:par>
                              <p:par>
                                <p:cTn id="26" presetID="10" presetClass="entr" presetSubtype="0" fill="hold" grpId="0" nodeType="withEffect">
                                  <p:stCondLst>
                                    <p:cond delay="360"/>
                                  </p:stCondLst>
                                  <p:childTnLst>
                                    <p:set>
                                      <p:cBhvr>
                                        <p:cTn id="27" dur="1" fill="hold">
                                          <p:stCondLst>
                                            <p:cond delay="0"/>
                                          </p:stCondLst>
                                        </p:cTn>
                                        <p:tgtEl>
                                          <p:spTgt spid="12"/>
                                        </p:tgtEl>
                                        <p:attrNameLst>
                                          <p:attrName>style.visibility</p:attrName>
                                        </p:attrNameLst>
                                      </p:cBhvr>
                                      <p:to>
                                        <p:strVal val="visible"/>
                                      </p:to>
                                    </p:set>
                                    <p:animEffect transition="in" filter="fade">
                                      <p:cBhvr>
                                        <p:cTn id="28" dur="500"/>
                                        <p:tgtEl>
                                          <p:spTgt spid="12"/>
                                        </p:tgtEl>
                                      </p:cBhvr>
                                    </p:animEffect>
                                  </p:childTnLst>
                                </p:cTn>
                              </p:par>
                              <p:par>
                                <p:cTn id="29" presetID="10" presetClass="entr" presetSubtype="0" fill="hold" grpId="0" nodeType="withEffect">
                                  <p:stCondLst>
                                    <p:cond delay="540"/>
                                  </p:stCondLst>
                                  <p:childTnLst>
                                    <p:set>
                                      <p:cBhvr>
                                        <p:cTn id="30" dur="1" fill="hold">
                                          <p:stCondLst>
                                            <p:cond delay="0"/>
                                          </p:stCondLst>
                                        </p:cTn>
                                        <p:tgtEl>
                                          <p:spTgt spid="13"/>
                                        </p:tgtEl>
                                        <p:attrNameLst>
                                          <p:attrName>style.visibility</p:attrName>
                                        </p:attrNameLst>
                                      </p:cBhvr>
                                      <p:to>
                                        <p:strVal val="visible"/>
                                      </p:to>
                                    </p:set>
                                    <p:animEffect transition="in" filter="fade">
                                      <p:cBhvr>
                                        <p:cTn id="31" dur="500"/>
                                        <p:tgtEl>
                                          <p:spTgt spid="13"/>
                                        </p:tgtEl>
                                      </p:cBhvr>
                                    </p:animEffect>
                                  </p:childTnLst>
                                </p:cTn>
                              </p:par>
                              <p:par>
                                <p:cTn id="32" presetID="10" presetClass="entr" presetSubtype="0" fill="hold" grpId="0" nodeType="withEffect">
                                  <p:stCondLst>
                                    <p:cond delay="54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500"/>
                                        <p:tgtEl>
                                          <p:spTgt spid="14"/>
                                        </p:tgtEl>
                                      </p:cBhvr>
                                    </p:animEffect>
                                  </p:childTnLst>
                                </p:cTn>
                              </p:par>
                              <p:par>
                                <p:cTn id="35" presetID="10" presetClass="entr" presetSubtype="0" fill="hold" grpId="0" nodeType="withEffect">
                                  <p:stCondLst>
                                    <p:cond delay="540"/>
                                  </p:stCondLst>
                                  <p:childTnLst>
                                    <p:set>
                                      <p:cBhvr>
                                        <p:cTn id="36" dur="1" fill="hold">
                                          <p:stCondLst>
                                            <p:cond delay="0"/>
                                          </p:stCondLst>
                                        </p:cTn>
                                        <p:tgtEl>
                                          <p:spTgt spid="15"/>
                                        </p:tgtEl>
                                        <p:attrNameLst>
                                          <p:attrName>style.visibility</p:attrName>
                                        </p:attrNameLst>
                                      </p:cBhvr>
                                      <p:to>
                                        <p:strVal val="visible"/>
                                      </p:to>
                                    </p:set>
                                    <p:animEffect transition="in" filter="fade">
                                      <p:cBhvr>
                                        <p:cTn id="37" dur="500"/>
                                        <p:tgtEl>
                                          <p:spTgt spid="15"/>
                                        </p:tgtEl>
                                      </p:cBhvr>
                                    </p:animEffect>
                                  </p:childTnLst>
                                </p:cTn>
                              </p:par>
                              <p:par>
                                <p:cTn id="38" presetID="10" presetClass="entr" presetSubtype="0" fill="hold" grpId="0" nodeType="withEffect">
                                  <p:stCondLst>
                                    <p:cond delay="540"/>
                                  </p:stCondLst>
                                  <p:childTnLst>
                                    <p:set>
                                      <p:cBhvr>
                                        <p:cTn id="39" dur="1" fill="hold">
                                          <p:stCondLst>
                                            <p:cond delay="0"/>
                                          </p:stCondLst>
                                        </p:cTn>
                                        <p:tgtEl>
                                          <p:spTgt spid="16"/>
                                        </p:tgtEl>
                                        <p:attrNameLst>
                                          <p:attrName>style.visibility</p:attrName>
                                        </p:attrNameLst>
                                      </p:cBhvr>
                                      <p:to>
                                        <p:strVal val="visible"/>
                                      </p:to>
                                    </p:set>
                                    <p:animEffect transition="in" filter="fade">
                                      <p:cBhvr>
                                        <p:cTn id="40" dur="500"/>
                                        <p:tgtEl>
                                          <p:spTgt spid="16"/>
                                        </p:tgtEl>
                                      </p:cBhvr>
                                    </p:animEffect>
                                  </p:childTnLst>
                                </p:cTn>
                              </p:par>
                              <p:par>
                                <p:cTn id="41" presetID="10" presetClass="entr" presetSubtype="0" fill="hold" grpId="0" nodeType="withEffect">
                                  <p:stCondLst>
                                    <p:cond delay="720"/>
                                  </p:stCondLst>
                                  <p:childTnLst>
                                    <p:set>
                                      <p:cBhvr>
                                        <p:cTn id="42" dur="1" fill="hold">
                                          <p:stCondLst>
                                            <p:cond delay="0"/>
                                          </p:stCondLst>
                                        </p:cTn>
                                        <p:tgtEl>
                                          <p:spTgt spid="17"/>
                                        </p:tgtEl>
                                        <p:attrNameLst>
                                          <p:attrName>style.visibility</p:attrName>
                                        </p:attrNameLst>
                                      </p:cBhvr>
                                      <p:to>
                                        <p:strVal val="visible"/>
                                      </p:to>
                                    </p:set>
                                    <p:animEffect transition="in" filter="fade">
                                      <p:cBhvr>
                                        <p:cTn id="43" dur="500"/>
                                        <p:tgtEl>
                                          <p:spTgt spid="17"/>
                                        </p:tgtEl>
                                      </p:cBhvr>
                                    </p:animEffect>
                                  </p:childTnLst>
                                </p:cTn>
                              </p:par>
                              <p:par>
                                <p:cTn id="44" presetID="10" presetClass="entr" presetSubtype="0" fill="hold" grpId="0" nodeType="withEffect">
                                  <p:stCondLst>
                                    <p:cond delay="720"/>
                                  </p:stCondLst>
                                  <p:childTnLst>
                                    <p:set>
                                      <p:cBhvr>
                                        <p:cTn id="45" dur="1" fill="hold">
                                          <p:stCondLst>
                                            <p:cond delay="0"/>
                                          </p:stCondLst>
                                        </p:cTn>
                                        <p:tgtEl>
                                          <p:spTgt spid="18"/>
                                        </p:tgtEl>
                                        <p:attrNameLst>
                                          <p:attrName>style.visibility</p:attrName>
                                        </p:attrNameLst>
                                      </p:cBhvr>
                                      <p:to>
                                        <p:strVal val="visible"/>
                                      </p:to>
                                    </p:set>
                                    <p:animEffect transition="in" filter="fade">
                                      <p:cBhvr>
                                        <p:cTn id="46" dur="500"/>
                                        <p:tgtEl>
                                          <p:spTgt spid="18"/>
                                        </p:tgtEl>
                                      </p:cBhvr>
                                    </p:animEffect>
                                  </p:childTnLst>
                                </p:cTn>
                              </p:par>
                              <p:par>
                                <p:cTn id="47" presetID="10" presetClass="entr" presetSubtype="0" fill="hold" grpId="0" nodeType="withEffect">
                                  <p:stCondLst>
                                    <p:cond delay="720"/>
                                  </p:stCondLst>
                                  <p:childTnLst>
                                    <p:set>
                                      <p:cBhvr>
                                        <p:cTn id="48" dur="1" fill="hold">
                                          <p:stCondLst>
                                            <p:cond delay="0"/>
                                          </p:stCondLst>
                                        </p:cTn>
                                        <p:tgtEl>
                                          <p:spTgt spid="19"/>
                                        </p:tgtEl>
                                        <p:attrNameLst>
                                          <p:attrName>style.visibility</p:attrName>
                                        </p:attrNameLst>
                                      </p:cBhvr>
                                      <p:to>
                                        <p:strVal val="visible"/>
                                      </p:to>
                                    </p:set>
                                    <p:animEffect transition="in" filter="fade">
                                      <p:cBhvr>
                                        <p:cTn id="49" dur="500"/>
                                        <p:tgtEl>
                                          <p:spTgt spid="19"/>
                                        </p:tgtEl>
                                      </p:cBhvr>
                                    </p:animEffect>
                                  </p:childTnLst>
                                </p:cTn>
                              </p:par>
                              <p:par>
                                <p:cTn id="50" presetID="10" presetClass="entr" presetSubtype="0" fill="hold" grpId="0" nodeType="withEffect">
                                  <p:stCondLst>
                                    <p:cond delay="900"/>
                                  </p:stCondLst>
                                  <p:childTnLst>
                                    <p:set>
                                      <p:cBhvr>
                                        <p:cTn id="51" dur="1" fill="hold">
                                          <p:stCondLst>
                                            <p:cond delay="0"/>
                                          </p:stCondLst>
                                        </p:cTn>
                                        <p:tgtEl>
                                          <p:spTgt spid="20"/>
                                        </p:tgtEl>
                                        <p:attrNameLst>
                                          <p:attrName>style.visibility</p:attrName>
                                        </p:attrNameLst>
                                      </p:cBhvr>
                                      <p:to>
                                        <p:strVal val="visible"/>
                                      </p:to>
                                    </p:set>
                                    <p:animEffect transition="in" filter="fade">
                                      <p:cBhvr>
                                        <p:cTn id="52" dur="500"/>
                                        <p:tgtEl>
                                          <p:spTgt spid="20"/>
                                        </p:tgtEl>
                                      </p:cBhvr>
                                    </p:animEffect>
                                  </p:childTnLst>
                                </p:cTn>
                              </p:par>
                              <p:par>
                                <p:cTn id="53" presetID="10" presetClass="entr" presetSubtype="0" fill="hold" grpId="0" nodeType="withEffect">
                                  <p:stCondLst>
                                    <p:cond delay="900"/>
                                  </p:stCondLst>
                                  <p:childTnLst>
                                    <p:set>
                                      <p:cBhvr>
                                        <p:cTn id="54" dur="1" fill="hold">
                                          <p:stCondLst>
                                            <p:cond delay="0"/>
                                          </p:stCondLst>
                                        </p:cTn>
                                        <p:tgtEl>
                                          <p:spTgt spid="21"/>
                                        </p:tgtEl>
                                        <p:attrNameLst>
                                          <p:attrName>style.visibility</p:attrName>
                                        </p:attrNameLst>
                                      </p:cBhvr>
                                      <p:to>
                                        <p:strVal val="visible"/>
                                      </p:to>
                                    </p:set>
                                    <p:animEffect transition="in" filter="fade">
                                      <p:cBhvr>
                                        <p:cTn id="55" dur="500"/>
                                        <p:tgtEl>
                                          <p:spTgt spid="21"/>
                                        </p:tgtEl>
                                      </p:cBhvr>
                                    </p:animEffect>
                                  </p:childTnLst>
                                </p:cTn>
                              </p:par>
                              <p:par>
                                <p:cTn id="56" presetID="10" presetClass="entr" presetSubtype="0" fill="hold" grpId="0" nodeType="withEffect">
                                  <p:stCondLst>
                                    <p:cond delay="900"/>
                                  </p:stCondLst>
                                  <p:childTnLst>
                                    <p:set>
                                      <p:cBhvr>
                                        <p:cTn id="57" dur="1" fill="hold">
                                          <p:stCondLst>
                                            <p:cond delay="0"/>
                                          </p:stCondLst>
                                        </p:cTn>
                                        <p:tgtEl>
                                          <p:spTgt spid="22"/>
                                        </p:tgtEl>
                                        <p:attrNameLst>
                                          <p:attrName>style.visibility</p:attrName>
                                        </p:attrNameLst>
                                      </p:cBhvr>
                                      <p:to>
                                        <p:strVal val="visible"/>
                                      </p:to>
                                    </p:set>
                                    <p:animEffect transition="in" filter="fade">
                                      <p:cBhvr>
                                        <p:cTn id="58" dur="500"/>
                                        <p:tgtEl>
                                          <p:spTgt spid="22"/>
                                        </p:tgtEl>
                                      </p:cBhvr>
                                    </p:animEffect>
                                  </p:childTnLst>
                                </p:cTn>
                              </p:par>
                              <p:par>
                                <p:cTn id="59" presetID="10" presetClass="entr" presetSubtype="0" fill="hold" grpId="0" nodeType="withEffect">
                                  <p:stCondLst>
                                    <p:cond delay="1080"/>
                                  </p:stCondLst>
                                  <p:childTnLst>
                                    <p:set>
                                      <p:cBhvr>
                                        <p:cTn id="60" dur="1" fill="hold">
                                          <p:stCondLst>
                                            <p:cond delay="0"/>
                                          </p:stCondLst>
                                        </p:cTn>
                                        <p:tgtEl>
                                          <p:spTgt spid="23"/>
                                        </p:tgtEl>
                                        <p:attrNameLst>
                                          <p:attrName>style.visibility</p:attrName>
                                        </p:attrNameLst>
                                      </p:cBhvr>
                                      <p:to>
                                        <p:strVal val="visible"/>
                                      </p:to>
                                    </p:set>
                                    <p:animEffect transition="in" filter="fade">
                                      <p:cBhvr>
                                        <p:cTn id="61" dur="500"/>
                                        <p:tgtEl>
                                          <p:spTgt spid="23"/>
                                        </p:tgtEl>
                                      </p:cBhvr>
                                    </p:animEffect>
                                  </p:childTnLst>
                                </p:cTn>
                              </p:par>
                              <p:par>
                                <p:cTn id="62" presetID="10" presetClass="entr" presetSubtype="0" fill="hold" grpId="0" nodeType="withEffect">
                                  <p:stCondLst>
                                    <p:cond delay="1080"/>
                                  </p:stCondLst>
                                  <p:childTnLst>
                                    <p:set>
                                      <p:cBhvr>
                                        <p:cTn id="63" dur="1" fill="hold">
                                          <p:stCondLst>
                                            <p:cond delay="0"/>
                                          </p:stCondLst>
                                        </p:cTn>
                                        <p:tgtEl>
                                          <p:spTgt spid="24"/>
                                        </p:tgtEl>
                                        <p:attrNameLst>
                                          <p:attrName>style.visibility</p:attrName>
                                        </p:attrNameLst>
                                      </p:cBhvr>
                                      <p:to>
                                        <p:strVal val="visible"/>
                                      </p:to>
                                    </p:set>
                                    <p:animEffect transition="in" filter="fade">
                                      <p:cBhvr>
                                        <p:cTn id="64" dur="500"/>
                                        <p:tgtEl>
                                          <p:spTgt spid="24"/>
                                        </p:tgtEl>
                                      </p:cBhvr>
                                    </p:animEffect>
                                  </p:childTnLst>
                                </p:cTn>
                              </p:par>
                              <p:par>
                                <p:cTn id="65" presetID="10" presetClass="entr" presetSubtype="0" fill="hold" grpId="0" nodeType="withEffect">
                                  <p:stCondLst>
                                    <p:cond delay="1080"/>
                                  </p:stCondLst>
                                  <p:childTnLst>
                                    <p:set>
                                      <p:cBhvr>
                                        <p:cTn id="66" dur="1" fill="hold">
                                          <p:stCondLst>
                                            <p:cond delay="0"/>
                                          </p:stCondLst>
                                        </p:cTn>
                                        <p:tgtEl>
                                          <p:spTgt spid="25"/>
                                        </p:tgtEl>
                                        <p:attrNameLst>
                                          <p:attrName>style.visibility</p:attrName>
                                        </p:attrNameLst>
                                      </p:cBhvr>
                                      <p:to>
                                        <p:strVal val="visible"/>
                                      </p:to>
                                    </p:set>
                                    <p:animEffect transition="in" filter="fade">
                                      <p:cBhvr>
                                        <p:cTn id="67"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10" grpId="0" animBg="1"/>
      <p:bldP spid="11" grpId="0" animBg="1"/>
      <p:bldP spid="12" grpId="0" animBg="1"/>
      <p:bldP spid="13"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name="Slide 1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tmp/claude-0/-home-user-hosting/7c832a48-0979-56aa-9fdf-7d53efb9dc7a/scratchpad/build/imgd/logo-white.png">    </p:cNvPr>
          <p:cNvPicPr>
            <a:picLocks noChangeAspect="1"/>
          </p:cNvPicPr>
          <p:nvPr/>
        </p:nvPicPr>
        <p:blipFill>
          <a:blip r:embed="rId2"/>
          <a:stretch>
            <a:fillRect/>
          </a:stretch>
        </p:blipFill>
        <p:spPr>
          <a:xfrm>
            <a:off x="10414000" y="355600"/>
            <a:ext cx="1270000" cy="304800"/>
          </a:xfrm>
          <a:prstGeom prst="rect">
            <a:avLst/>
          </a:prstGeom>
        </p:spPr>
      </p:pic>
      <p:sp>
        <p:nvSpPr>
          <p:cNvPr id="3" name="Text 0"/>
          <p:cNvSpPr/>
          <p:nvPr/>
        </p:nvSpPr>
        <p:spPr>
          <a:xfrm>
            <a:off x="177800" y="6134100"/>
            <a:ext cx="1270000" cy="571500"/>
          </a:xfrm>
          <a:prstGeom prst="rect">
            <a:avLst/>
          </a:prstGeom>
          <a:noFill/>
          <a:ln/>
        </p:spPr>
        <p:txBody>
          <a:bodyPr wrap="square" lIns="0" tIns="0" rIns="0" bIns="0" rtlCol="0" anchor="ctr"/>
          <a:lstStyle/>
          <a:p>
            <a:pPr indent="0" marL="0">
              <a:buNone/>
            </a:pPr>
            <a:r>
              <a:rPr lang="en-US" sz="3550" b="1" dirty="0">
                <a:solidFill>
                  <a:srgbClr val="3F8FF2">
                    <a:alpha val="30000"/>
                  </a:srgbClr>
                </a:solidFill>
                <a:latin typeface="Plus Jakarta Sans" pitchFamily="34" charset="0"/>
                <a:ea typeface="Plus Jakarta Sans" pitchFamily="34" charset="-122"/>
                <a:cs typeface="Plus Jakarta Sans" pitchFamily="34" charset="-120"/>
              </a:rPr>
              <a:t>17</a:t>
            </a:r>
            <a:endParaRPr lang="en-US" sz="3550" dirty="0"/>
          </a:p>
        </p:txBody>
      </p:sp>
      <p:sp>
        <p:nvSpPr>
          <p:cNvPr id="4" name="Text 1"/>
          <p:cNvSpPr txBox="1"/>
          <p:nvPr/>
        </p:nvSpPr>
        <p:spPr>
          <a:xfrm>
            <a:off x="6604000" y="6477000"/>
            <a:ext cx="5080000" cy="152400"/>
          </a:xfrm>
          <a:prstGeom prst="rect">
            <a:avLst/>
          </a:prstGeom>
          <a:noFill/>
          <a:ln/>
        </p:spPr>
        <p:txBody>
          <a:bodyPr wrap="square" lIns="0" tIns="0" rIns="0" bIns="0" rtlCol="0" anchor="t"/>
          <a:lstStyle/>
          <a:p>
            <a:pPr algn="r" indent="0" marL="0">
              <a:lnSpc>
                <a:spcPct val="112000"/>
              </a:lnSpc>
              <a:buNone/>
            </a:pPr>
            <a:r>
              <a:rPr lang="en-US" sz="750" dirty="0">
                <a:solidFill>
                  <a:srgbClr val="8C93A3"/>
                </a:solidFill>
                <a:latin typeface="Plus Jakarta Sans" pitchFamily="34" charset="0"/>
                <a:ea typeface="Plus Jakarta Sans" pitchFamily="34" charset="-122"/>
                <a:cs typeface="Plus Jakarta Sans" pitchFamily="34" charset="-120"/>
              </a:rPr>
              <a:t>Partner-Confidential · NDA · Programme description only; not a contract</a:t>
            </a:r>
            <a:endParaRPr lang="en-US" sz="750" dirty="0"/>
          </a:p>
        </p:txBody>
      </p:sp>
      <p:pic>
        <p:nvPicPr>
          <p:cNvPr id="5" name="anim-1-1" descr="/tmp/claude-0/-home-user-hosting/7c832a48-0979-56aa-9fdf-7d53efb9dc7a/scratchpad/build/imgd/pointer.png">    </p:cNvPr>
          <p:cNvPicPr>
            <a:picLocks noChangeAspect="1"/>
          </p:cNvPicPr>
          <p:nvPr/>
        </p:nvPicPr>
        <p:blipFill>
          <a:blip r:embed="rId3"/>
          <a:stretch>
            <a:fillRect/>
          </a:stretch>
        </p:blipFill>
        <p:spPr>
          <a:xfrm>
            <a:off x="508000" y="285750"/>
            <a:ext cx="100964" cy="203200"/>
          </a:xfrm>
          <a:prstGeom prst="rect">
            <a:avLst/>
          </a:prstGeom>
        </p:spPr>
      </p:pic>
      <p:sp>
        <p:nvSpPr>
          <p:cNvPr id="6" name="anim-1-2"/>
          <p:cNvSpPr txBox="1"/>
          <p:nvPr/>
        </p:nvSpPr>
        <p:spPr>
          <a:xfrm>
            <a:off x="673100" y="304800"/>
            <a:ext cx="8890000" cy="190500"/>
          </a:xfrm>
          <a:prstGeom prst="rect">
            <a:avLst/>
          </a:prstGeom>
          <a:noFill/>
          <a:ln/>
        </p:spPr>
        <p:txBody>
          <a:bodyPr wrap="square" lIns="0" tIns="0" rIns="0" bIns="0" rtlCol="0" anchor="t"/>
          <a:lstStyle/>
          <a:p>
            <a:pPr algn="l" indent="0" marL="0">
              <a:lnSpc>
                <a:spcPct val="112000"/>
              </a:lnSpc>
              <a:buNone/>
            </a:pPr>
            <a:r>
              <a:rPr lang="en-US" sz="1000" spc="200" kern="0" dirty="0">
                <a:solidFill>
                  <a:srgbClr val="15B6FF"/>
                </a:solidFill>
                <a:latin typeface="Plus Jakarta Sans SemiBold" pitchFamily="34" charset="0"/>
                <a:ea typeface="Plus Jakarta Sans SemiBold" pitchFamily="34" charset="-122"/>
                <a:cs typeface="Plus Jakarta Sans SemiBold" pitchFamily="34" charset="-120"/>
              </a:rPr>
              <a:t>RFP, TENDER, RENEWAL &amp; ASSIGNMENT RULES</a:t>
            </a:r>
            <a:endParaRPr lang="en-US" sz="1000" dirty="0"/>
          </a:p>
        </p:txBody>
      </p:sp>
      <p:sp>
        <p:nvSpPr>
          <p:cNvPr id="7" name="anim-1-3"/>
          <p:cNvSpPr txBox="1"/>
          <p:nvPr/>
        </p:nvSpPr>
        <p:spPr>
          <a:xfrm>
            <a:off x="508000" y="558800"/>
            <a:ext cx="9652000" cy="406400"/>
          </a:xfrm>
          <a:prstGeom prst="rect">
            <a:avLst/>
          </a:prstGeom>
          <a:noFill/>
          <a:ln/>
        </p:spPr>
        <p:txBody>
          <a:bodyPr wrap="square" lIns="0" tIns="0" rIns="0" bIns="0" rtlCol="0" anchor="ctr"/>
          <a:lstStyle/>
          <a:p>
            <a:pPr algn="l" indent="0" marL="0">
              <a:lnSpc>
                <a:spcPct val="112000"/>
              </a:lnSpc>
              <a:buNone/>
            </a:pPr>
            <a:r>
              <a:rPr lang="en-US" sz="2000" b="1" dirty="0">
                <a:solidFill>
                  <a:srgbClr val="FFFFFF"/>
                </a:solidFill>
                <a:latin typeface="Plus Jakarta Sans" pitchFamily="34" charset="0"/>
                <a:ea typeface="Plus Jakarta Sans" pitchFamily="34" charset="-122"/>
                <a:cs typeface="Plus Jakarta Sans" pitchFamily="34" charset="-120"/>
              </a:rPr>
              <a:t>Compete fairly. Keep customers. </a:t>
            </a:r>
            <a:pPr algn="l" indent="0" marL="0">
              <a:lnSpc>
                <a:spcPct val="112000"/>
              </a:lnSpc>
              <a:buNone/>
            </a:pPr>
            <a:r>
              <a:rPr lang="en-US" sz="2000" b="1" i="1" dirty="0">
                <a:solidFill>
                  <a:srgbClr val="15B6FF"/>
                </a:solidFill>
                <a:latin typeface="Plus Jakarta Sans Light" pitchFamily="34" charset="0"/>
                <a:ea typeface="Plus Jakarta Sans Light" pitchFamily="34" charset="-122"/>
                <a:cs typeface="Plus Jakarta Sans Light" pitchFamily="34" charset="-120"/>
              </a:rPr>
              <a:t>Keep earning.</a:t>
            </a:r>
            <a:endParaRPr lang="en-US" sz="2000" dirty="0"/>
          </a:p>
        </p:txBody>
      </p:sp>
      <p:sp>
        <p:nvSpPr>
          <p:cNvPr id="8" name="anim-2-4"/>
          <p:cNvSpPr/>
          <p:nvPr/>
        </p:nvSpPr>
        <p:spPr>
          <a:xfrm>
            <a:off x="508000" y="1308100"/>
            <a:ext cx="5511800" cy="4203700"/>
          </a:xfrm>
          <a:prstGeom prst="roundRect">
            <a:avLst>
              <a:gd name="adj" fmla="val 6042"/>
            </a:avLst>
          </a:prstGeom>
          <a:solidFill>
            <a:srgbClr val="FFFFFF">
              <a:alpha val="5000"/>
            </a:srgbClr>
          </a:solidFill>
          <a:ln w="9525">
            <a:solidFill>
              <a:srgbClr val="FFFFFF">
                <a:alpha val="12000"/>
              </a:srgbClr>
            </a:solidFill>
            <a:prstDash val="solid"/>
          </a:ln>
        </p:spPr>
      </p:sp>
      <p:sp>
        <p:nvSpPr>
          <p:cNvPr id="9" name="anim-2-5"/>
          <p:cNvSpPr txBox="1"/>
          <p:nvPr/>
        </p:nvSpPr>
        <p:spPr>
          <a:xfrm>
            <a:off x="711200" y="1460500"/>
            <a:ext cx="5080000" cy="165100"/>
          </a:xfrm>
          <a:prstGeom prst="rect">
            <a:avLst/>
          </a:prstGeom>
          <a:noFill/>
          <a:ln/>
        </p:spPr>
        <p:txBody>
          <a:bodyPr wrap="square" lIns="0" tIns="0" rIns="0" bIns="0" rtlCol="0" anchor="t"/>
          <a:lstStyle/>
          <a:p>
            <a:pPr algn="l" indent="0" marL="0">
              <a:lnSpc>
                <a:spcPct val="112000"/>
              </a:lnSpc>
              <a:buNone/>
            </a:pPr>
            <a:r>
              <a:rPr lang="en-US" sz="800" spc="200" kern="0" dirty="0">
                <a:solidFill>
                  <a:srgbClr val="15B6FF"/>
                </a:solidFill>
                <a:latin typeface="Plus Jakarta Sans SemiBold" pitchFamily="34" charset="0"/>
                <a:ea typeface="Plus Jakarta Sans SemiBold" pitchFamily="34" charset="-122"/>
                <a:cs typeface="Plus Jakarta Sans SemiBold" pitchFamily="34" charset="-120"/>
              </a:rPr>
              <a:t>RFP AND TENDER</a:t>
            </a:r>
            <a:endParaRPr lang="en-US" sz="800" dirty="0"/>
          </a:p>
        </p:txBody>
      </p:sp>
      <p:graphicFrame>
        <p:nvGraphicFramePr>
          <p:cNvPr id="18" name="anim-2-6"/>
          <p:cNvGraphicFramePr>
            <a:graphicFrameLocks noGrp="1"/>
          </p:cNvGraphicFramePr>
          <p:nvPr>
            <p:extLst>
              <p:ext uri="{D42A27DB-BD31-4B8C-83A1-F6EECF244321}">
                <p14:modId xmlns:p14="http://schemas.microsoft.com/office/powerpoint/2010/main" val="1579011935"/>
              </p:ext>
            </p:extLst>
          </p:nvPr>
        </p:nvGraphicFramePr>
        <p:xfrm>
          <a:off x="711200" y="1701800"/>
          <a:ext cx="5105400" cy="914400"/>
        </p:xfrm>
        <a:graphic>
          <a:graphicData uri="http://schemas.openxmlformats.org/drawingml/2006/table">
            <a:tbl>
              <a:tblPr/>
              <a:tblGrid>
                <a:gridCol w="1714500"/>
                <a:gridCol w="3390900"/>
              </a:tblGrid>
              <a:tr h="609600">
                <a:tc>
                  <a:txBody>
                    <a:bodyPr/>
                    <a:lstStyle/>
                    <a:p>
                      <a:pPr algn="l" indent="0" marL="0">
                        <a:buNone/>
                      </a:pPr>
                      <a:r>
                        <a:rPr lang="en-US" sz="800" dirty="0">
                          <a:solidFill>
                            <a:srgbClr val="FFFFFF"/>
                          </a:solidFill>
                          <a:latin typeface="Plus Jakarta Sans SemiBold" pitchFamily="34" charset="0"/>
                          <a:ea typeface="Plus Jakarta Sans SemiBold" pitchFamily="34" charset="-122"/>
                          <a:cs typeface="Plus Jakarta Sans SemiBold" pitchFamily="34" charset="-120"/>
                        </a:rPr>
                        <a:t>Situation</a:t>
                      </a:r>
                      <a:endParaRPr lang="en-US" sz="800" dirty="0">
                        <a:latin typeface="Plus Jakarta Sans SemiBold" charset="0"/>
                        <a:ea typeface="Plus Jakarta Sans SemiBold" charset="0"/>
                        <a:cs typeface="Plus Jakarta Sans SemiBold" charset="0"/>
                      </a:endParaRPr>
                    </a:p>
                  </a:txBody>
                  <a:tcPr marL="101600" marR="101600" marT="38100" marB="38100" anchor="ctr">
                    <a:lnL w="0" cap="flat" cmpd="sng" algn="ctr">
                      <a:noFill/>
                    </a:lnL>
                    <a:lnR w="0" cap="flat" cmpd="sng" algn="ctr">
                      <a:noFill/>
                    </a:lnR>
                    <a:lnT w="9525" cap="flat" cmpd="sng" algn="ctr">
                      <a:solidFill>
                        <a:srgbClr val="2C3A4F"/>
                      </a:solidFill>
                      <a:prstDash val="solid"/>
                      <a:round/>
                      <a:headEnd type="none" w="med" len="med"/>
                      <a:tailEnd type="none" w="med" len="med"/>
                    </a:lnT>
                    <a:lnB w="9525" cap="flat" cmpd="sng" algn="ctr">
                      <a:solidFill>
                        <a:srgbClr val="2C3A4F"/>
                      </a:solidFill>
                      <a:prstDash val="solid"/>
                      <a:round/>
                      <a:headEnd type="none" w="med" len="med"/>
                      <a:tailEnd type="none" w="med" len="med"/>
                    </a:lnB>
                    <a:solidFill>
                      <a:srgbClr val="1E3570"/>
                    </a:solidFill>
                  </a:tcPr>
                </a:tc>
                <a:tc>
                  <a:txBody>
                    <a:bodyPr/>
                    <a:lstStyle/>
                    <a:p>
                      <a:pPr algn="l" indent="0" marL="0">
                        <a:buNone/>
                      </a:pPr>
                      <a:r>
                        <a:rPr lang="en-US" sz="800" dirty="0">
                          <a:solidFill>
                            <a:srgbClr val="FFFFFF"/>
                          </a:solidFill>
                          <a:latin typeface="Plus Jakarta Sans SemiBold" pitchFamily="34" charset="0"/>
                          <a:ea typeface="Plus Jakarta Sans SemiBold" pitchFamily="34" charset="-122"/>
                          <a:cs typeface="Plus Jakarta Sans SemiBold" pitchFamily="34" charset="-120"/>
                        </a:rPr>
                        <a:t>Rule</a:t>
                      </a:r>
                      <a:endParaRPr lang="en-US" sz="800" dirty="0">
                        <a:latin typeface="Plus Jakarta Sans SemiBold" charset="0"/>
                        <a:ea typeface="Plus Jakarta Sans SemiBold" charset="0"/>
                        <a:cs typeface="Plus Jakarta Sans SemiBold" charset="0"/>
                      </a:endParaRPr>
                    </a:p>
                  </a:txBody>
                  <a:tcPr marL="101600" marR="101600" marT="38100" marB="38100" anchor="ctr">
                    <a:lnL w="0" cap="flat" cmpd="sng" algn="ctr">
                      <a:noFill/>
                    </a:lnL>
                    <a:lnR w="0" cap="flat" cmpd="sng" algn="ctr">
                      <a:noFill/>
                    </a:lnR>
                    <a:lnT w="9525" cap="flat" cmpd="sng" algn="ctr">
                      <a:solidFill>
                        <a:srgbClr val="2C3A4F"/>
                      </a:solidFill>
                      <a:prstDash val="solid"/>
                      <a:round/>
                      <a:headEnd type="none" w="med" len="med"/>
                      <a:tailEnd type="none" w="med" len="med"/>
                    </a:lnT>
                    <a:lnB w="9525" cap="flat" cmpd="sng" algn="ctr">
                      <a:solidFill>
                        <a:srgbClr val="2C3A4F"/>
                      </a:solidFill>
                      <a:prstDash val="solid"/>
                      <a:round/>
                      <a:headEnd type="none" w="med" len="med"/>
                      <a:tailEnd type="none" w="med" len="med"/>
                    </a:lnB>
                    <a:solidFill>
                      <a:srgbClr val="1E3570"/>
                    </a:solidFill>
                  </a:tcPr>
                </a:tc>
              </a:tr>
              <a:tr h="609600">
                <a:tc>
                  <a:txBody>
                    <a:bodyPr/>
                    <a:lstStyle/>
                    <a:p>
                      <a:pPr algn="l" indent="0" marL="0">
                        <a:buNone/>
                      </a:pPr>
                      <a:r>
                        <a:rPr lang="en-US" sz="900" dirty="0">
                          <a:solidFill>
                            <a:srgbClr val="FFFFFF"/>
                          </a:solidFill>
                          <a:latin typeface="Plus Jakarta Sans SemiBold" pitchFamily="34" charset="0"/>
                          <a:ea typeface="Plus Jakarta Sans SemiBold" pitchFamily="34" charset="-122"/>
                          <a:cs typeface="Plus Jakarta Sans SemiBold" pitchFamily="34" charset="-120"/>
                        </a:rPr>
                        <a:t>Registered before RFP</a:t>
                      </a:r>
                      <a:endParaRPr lang="en-US" sz="900" dirty="0">
                        <a:latin typeface="Plus Jakarta Sans SemiBold" charset="0"/>
                        <a:ea typeface="Plus Jakarta Sans SemiBold" charset="0"/>
                        <a:cs typeface="Plus Jakarta Sans SemiBold" charset="0"/>
                      </a:endParaRPr>
                    </a:p>
                  </a:txBody>
                  <a:tcPr marL="101600" marR="101600" marT="38100" marB="38100" anchor="ctr">
                    <a:lnL w="0" cap="flat" cmpd="sng" algn="ctr">
                      <a:noFill/>
                    </a:lnL>
                    <a:lnR w="0" cap="flat" cmpd="sng" algn="ctr">
                      <a:noFill/>
                    </a:lnR>
                    <a:lnT w="9525" cap="flat" cmpd="sng" algn="ctr">
                      <a:solidFill>
                        <a:srgbClr val="2C3A4F"/>
                      </a:solidFill>
                      <a:prstDash val="solid"/>
                      <a:round/>
                      <a:headEnd type="none" w="med" len="med"/>
                      <a:tailEnd type="none" w="med" len="med"/>
                    </a:lnT>
                    <a:lnB w="9525" cap="flat" cmpd="sng" algn="ctr">
                      <a:solidFill>
                        <a:srgbClr val="2C3A4F"/>
                      </a:solidFill>
                      <a:prstDash val="solid"/>
                      <a:round/>
                      <a:headEnd type="none" w="med" len="med"/>
                      <a:tailEnd type="none" w="med" len="med"/>
                    </a:lnB>
                    <a:solidFill>
                      <a:srgbClr val="182638"/>
                    </a:solidFill>
                  </a:tcPr>
                </a:tc>
                <a:tc>
                  <a:txBody>
                    <a:bodyPr/>
                    <a:lstStyle/>
                    <a:p>
                      <a:pPr algn="l" indent="0" marL="0">
                        <a:buNone/>
                      </a:pPr>
                      <a:r>
                        <a:rPr lang="en-US" sz="900" dirty="0">
                          <a:solidFill>
                            <a:srgbClr val="C3C8D1"/>
                          </a:solidFill>
                          <a:latin typeface="Plus Jakarta Sans" pitchFamily="34" charset="0"/>
                          <a:ea typeface="Plus Jakarta Sans" pitchFamily="34" charset="-122"/>
                          <a:cs typeface="Plus Jakarta Sans" pitchFamily="34" charset="-120"/>
                        </a:rPr>
                        <a:t>Keeps priority for role, credit and commission where permitted</a:t>
                      </a:r>
                      <a:endParaRPr lang="en-US" sz="90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2C3A4F"/>
                      </a:solidFill>
                      <a:prstDash val="solid"/>
                      <a:round/>
                      <a:headEnd type="none" w="med" len="med"/>
                      <a:tailEnd type="none" w="med" len="med"/>
                    </a:lnT>
                    <a:lnB w="9525" cap="flat" cmpd="sng" algn="ctr">
                      <a:solidFill>
                        <a:srgbClr val="2C3A4F"/>
                      </a:solidFill>
                      <a:prstDash val="solid"/>
                      <a:round/>
                      <a:headEnd type="none" w="med" len="med"/>
                      <a:tailEnd type="none" w="med" len="med"/>
                    </a:lnB>
                    <a:solidFill>
                      <a:srgbClr val="182638"/>
                    </a:solidFill>
                  </a:tcPr>
                </a:tc>
              </a:tr>
              <a:tr h="609600">
                <a:tc>
                  <a:txBody>
                    <a:bodyPr/>
                    <a:lstStyle/>
                    <a:p>
                      <a:pPr algn="l" indent="0" marL="0">
                        <a:buNone/>
                      </a:pPr>
                      <a:r>
                        <a:rPr lang="en-US" sz="900" dirty="0">
                          <a:solidFill>
                            <a:srgbClr val="FFFFFF"/>
                          </a:solidFill>
                          <a:latin typeface="Plus Jakarta Sans SemiBold" pitchFamily="34" charset="0"/>
                          <a:ea typeface="Plus Jakarta Sans SemiBold" pitchFamily="34" charset="-122"/>
                          <a:cs typeface="Plus Jakarta Sans SemiBold" pitchFamily="34" charset="-120"/>
                        </a:rPr>
                        <a:t>Multiple partners, open tender</a:t>
                      </a:r>
                      <a:endParaRPr lang="en-US" sz="900" dirty="0">
                        <a:latin typeface="Plus Jakarta Sans SemiBold" charset="0"/>
                        <a:ea typeface="Plus Jakarta Sans SemiBold" charset="0"/>
                        <a:cs typeface="Plus Jakarta Sans SemiBold" charset="0"/>
                      </a:endParaRPr>
                    </a:p>
                  </a:txBody>
                  <a:tcPr marL="101600" marR="101600" marT="38100" marB="38100" anchor="ctr">
                    <a:lnL w="0" cap="flat" cmpd="sng" algn="ctr">
                      <a:noFill/>
                    </a:lnL>
                    <a:lnR w="0" cap="flat" cmpd="sng" algn="ctr">
                      <a:noFill/>
                    </a:lnR>
                    <a:lnT w="9525" cap="flat" cmpd="sng" algn="ctr">
                      <a:solidFill>
                        <a:srgbClr val="2C3A4F"/>
                      </a:solidFill>
                      <a:prstDash val="solid"/>
                      <a:round/>
                      <a:headEnd type="none" w="med" len="med"/>
                      <a:tailEnd type="none" w="med" len="med"/>
                    </a:lnT>
                    <a:lnB w="9525" cap="flat" cmpd="sng" algn="ctr">
                      <a:solidFill>
                        <a:srgbClr val="2C3A4F"/>
                      </a:solidFill>
                      <a:prstDash val="solid"/>
                      <a:round/>
                      <a:headEnd type="none" w="med" len="med"/>
                      <a:tailEnd type="none" w="med" len="med"/>
                    </a:lnB>
                    <a:solidFill>
                      <a:srgbClr val="1D2B3E"/>
                    </a:solidFill>
                  </a:tcPr>
                </a:tc>
                <a:tc>
                  <a:txBody>
                    <a:bodyPr/>
                    <a:lstStyle/>
                    <a:p>
                      <a:pPr algn="l" indent="0" marL="0">
                        <a:buNone/>
                      </a:pPr>
                      <a:r>
                        <a:rPr lang="en-US" sz="900" dirty="0">
                          <a:solidFill>
                            <a:srgbClr val="C3C8D1"/>
                          </a:solidFill>
                          <a:latin typeface="Plus Jakarta Sans" pitchFamily="34" charset="0"/>
                          <a:ea typeface="Plus Jakarta Sans" pitchFamily="34" charset="-122"/>
                          <a:cs typeface="Plus Jakarta Sans" pitchFamily="34" charset="-120"/>
                        </a:rPr>
                        <a:t>Same approved base price, discount envelope and messaging</a:t>
                      </a:r>
                      <a:endParaRPr lang="en-US" sz="90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2C3A4F"/>
                      </a:solidFill>
                      <a:prstDash val="solid"/>
                      <a:round/>
                      <a:headEnd type="none" w="med" len="med"/>
                      <a:tailEnd type="none" w="med" len="med"/>
                    </a:lnT>
                    <a:lnB w="9525" cap="flat" cmpd="sng" algn="ctr">
                      <a:solidFill>
                        <a:srgbClr val="2C3A4F"/>
                      </a:solidFill>
                      <a:prstDash val="solid"/>
                      <a:round/>
                      <a:headEnd type="none" w="med" len="med"/>
                      <a:tailEnd type="none" w="med" len="med"/>
                    </a:lnB>
                    <a:solidFill>
                      <a:srgbClr val="1D2B3E"/>
                    </a:solidFill>
                  </a:tcPr>
                </a:tc>
              </a:tr>
              <a:tr h="609600">
                <a:tc>
                  <a:txBody>
                    <a:bodyPr/>
                    <a:lstStyle/>
                    <a:p>
                      <a:pPr algn="l" indent="0" marL="0">
                        <a:buNone/>
                      </a:pPr>
                      <a:r>
                        <a:rPr lang="en-US" sz="900" dirty="0">
                          <a:solidFill>
                            <a:srgbClr val="FFFFFF"/>
                          </a:solidFill>
                          <a:latin typeface="Plus Jakarta Sans SemiBold" pitchFamily="34" charset="0"/>
                          <a:ea typeface="Plus Jakarta Sans SemiBold" pitchFamily="34" charset="-122"/>
                          <a:cs typeface="Plus Jakarta Sans SemiBold" pitchFamily="34" charset="-120"/>
                        </a:rPr>
                        <a:t>Winning partner</a:t>
                      </a:r>
                      <a:endParaRPr lang="en-US" sz="900" dirty="0">
                        <a:latin typeface="Plus Jakarta Sans SemiBold" charset="0"/>
                        <a:ea typeface="Plus Jakarta Sans SemiBold" charset="0"/>
                        <a:cs typeface="Plus Jakarta Sans SemiBold" charset="0"/>
                      </a:endParaRPr>
                    </a:p>
                  </a:txBody>
                  <a:tcPr marL="101600" marR="101600" marT="38100" marB="38100" anchor="ctr">
                    <a:lnL w="0" cap="flat" cmpd="sng" algn="ctr">
                      <a:noFill/>
                    </a:lnL>
                    <a:lnR w="0" cap="flat" cmpd="sng" algn="ctr">
                      <a:noFill/>
                    </a:lnR>
                    <a:lnT w="9525" cap="flat" cmpd="sng" algn="ctr">
                      <a:solidFill>
                        <a:srgbClr val="2C3A4F"/>
                      </a:solidFill>
                      <a:prstDash val="solid"/>
                      <a:round/>
                      <a:headEnd type="none" w="med" len="med"/>
                      <a:tailEnd type="none" w="med" len="med"/>
                    </a:lnT>
                    <a:lnB w="9525" cap="flat" cmpd="sng" algn="ctr">
                      <a:solidFill>
                        <a:srgbClr val="2C3A4F"/>
                      </a:solidFill>
                      <a:prstDash val="solid"/>
                      <a:round/>
                      <a:headEnd type="none" w="med" len="med"/>
                      <a:tailEnd type="none" w="med" len="med"/>
                    </a:lnB>
                    <a:solidFill>
                      <a:srgbClr val="182638"/>
                    </a:solidFill>
                  </a:tcPr>
                </a:tc>
                <a:tc>
                  <a:txBody>
                    <a:bodyPr/>
                    <a:lstStyle/>
                    <a:p>
                      <a:pPr algn="l" indent="0" marL="0">
                        <a:buNone/>
                      </a:pPr>
                      <a:r>
                        <a:rPr lang="en-US" sz="900" dirty="0">
                          <a:solidFill>
                            <a:srgbClr val="C3C8D1"/>
                          </a:solidFill>
                          <a:latin typeface="Plus Jakarta Sans" pitchFamily="34" charset="0"/>
                          <a:ea typeface="Plus Jakarta Sans" pitchFamily="34" charset="-122"/>
                          <a:cs typeface="Plus Jakarta Sans" pitchFamily="34" charset="-120"/>
                        </a:rPr>
                        <a:t>Only the winner earns, unless a referral / influence role was approved in writing pre-bid</a:t>
                      </a:r>
                      <a:endParaRPr lang="en-US" sz="90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2C3A4F"/>
                      </a:solidFill>
                      <a:prstDash val="solid"/>
                      <a:round/>
                      <a:headEnd type="none" w="med" len="med"/>
                      <a:tailEnd type="none" w="med" len="med"/>
                    </a:lnT>
                    <a:lnB w="9525" cap="flat" cmpd="sng" algn="ctr">
                      <a:solidFill>
                        <a:srgbClr val="2C3A4F"/>
                      </a:solidFill>
                      <a:prstDash val="solid"/>
                      <a:round/>
                      <a:headEnd type="none" w="med" len="med"/>
                      <a:tailEnd type="none" w="med" len="med"/>
                    </a:lnB>
                    <a:solidFill>
                      <a:srgbClr val="182638"/>
                    </a:solidFill>
                  </a:tcPr>
                </a:tc>
              </a:tr>
              <a:tr h="609600">
                <a:tc>
                  <a:txBody>
                    <a:bodyPr/>
                    <a:lstStyle/>
                    <a:p>
                      <a:pPr algn="l" indent="0" marL="0">
                        <a:buNone/>
                      </a:pPr>
                      <a:r>
                        <a:rPr lang="en-US" sz="900" dirty="0">
                          <a:solidFill>
                            <a:srgbClr val="FFFFFF"/>
                          </a:solidFill>
                          <a:latin typeface="Plus Jakarta Sans SemiBold" pitchFamily="34" charset="0"/>
                          <a:ea typeface="Plus Jakarta Sans SemiBold" pitchFamily="34" charset="-122"/>
                          <a:cs typeface="Plus Jakarta Sans SemiBold" pitchFamily="34" charset="-120"/>
                        </a:rPr>
                        <a:t>Open tender, no registration</a:t>
                      </a:r>
                      <a:endParaRPr lang="en-US" sz="900" dirty="0">
                        <a:latin typeface="Plus Jakarta Sans SemiBold" charset="0"/>
                        <a:ea typeface="Plus Jakarta Sans SemiBold" charset="0"/>
                        <a:cs typeface="Plus Jakarta Sans SemiBold" charset="0"/>
                      </a:endParaRPr>
                    </a:p>
                  </a:txBody>
                  <a:tcPr marL="101600" marR="101600" marT="38100" marB="38100" anchor="ctr">
                    <a:lnL w="0" cap="flat" cmpd="sng" algn="ctr">
                      <a:noFill/>
                    </a:lnL>
                    <a:lnR w="0" cap="flat" cmpd="sng" algn="ctr">
                      <a:noFill/>
                    </a:lnR>
                    <a:lnT w="9525" cap="flat" cmpd="sng" algn="ctr">
                      <a:solidFill>
                        <a:srgbClr val="2C3A4F"/>
                      </a:solidFill>
                      <a:prstDash val="solid"/>
                      <a:round/>
                      <a:headEnd type="none" w="med" len="med"/>
                      <a:tailEnd type="none" w="med" len="med"/>
                    </a:lnT>
                    <a:lnB w="9525" cap="flat" cmpd="sng" algn="ctr">
                      <a:solidFill>
                        <a:srgbClr val="2C3A4F"/>
                      </a:solidFill>
                      <a:prstDash val="solid"/>
                      <a:round/>
                      <a:headEnd type="none" w="med" len="med"/>
                      <a:tailEnd type="none" w="med" len="med"/>
                    </a:lnB>
                    <a:solidFill>
                      <a:srgbClr val="1D2B3E"/>
                    </a:solidFill>
                  </a:tcPr>
                </a:tc>
                <a:tc>
                  <a:txBody>
                    <a:bodyPr/>
                    <a:lstStyle/>
                    <a:p>
                      <a:pPr algn="l" indent="0" marL="0">
                        <a:buNone/>
                      </a:pPr>
                      <a:r>
                        <a:rPr lang="en-US" sz="900" dirty="0">
                          <a:solidFill>
                            <a:srgbClr val="C3C8D1"/>
                          </a:solidFill>
                          <a:latin typeface="Plus Jakarta Sans" pitchFamily="34" charset="0"/>
                          <a:ea typeface="Plus Jakarta Sans" pitchFamily="34" charset="-122"/>
                          <a:cs typeface="Plus Jakarta Sans" pitchFamily="34" charset="-120"/>
                        </a:rPr>
                        <a:t>DignifyX may approve a fixed participation fee or driven rate; no automatic commission</a:t>
                      </a:r>
                      <a:endParaRPr lang="en-US" sz="90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2C3A4F"/>
                      </a:solidFill>
                      <a:prstDash val="solid"/>
                      <a:round/>
                      <a:headEnd type="none" w="med" len="med"/>
                      <a:tailEnd type="none" w="med" len="med"/>
                    </a:lnT>
                    <a:lnB w="9525" cap="flat" cmpd="sng" algn="ctr">
                      <a:solidFill>
                        <a:srgbClr val="2C3A4F"/>
                      </a:solidFill>
                      <a:prstDash val="solid"/>
                      <a:round/>
                      <a:headEnd type="none" w="med" len="med"/>
                      <a:tailEnd type="none" w="med" len="med"/>
                    </a:lnB>
                    <a:solidFill>
                      <a:srgbClr val="1D2B3E"/>
                    </a:solidFill>
                  </a:tcPr>
                </a:tc>
              </a:tr>
              <a:tr h="609600">
                <a:tc>
                  <a:txBody>
                    <a:bodyPr/>
                    <a:lstStyle/>
                    <a:p>
                      <a:pPr algn="l" indent="0" marL="0">
                        <a:buNone/>
                      </a:pPr>
                      <a:r>
                        <a:rPr lang="en-US" sz="900" dirty="0">
                          <a:solidFill>
                            <a:srgbClr val="FFFFFF"/>
                          </a:solidFill>
                          <a:latin typeface="Plus Jakarta Sans SemiBold" pitchFamily="34" charset="0"/>
                          <a:ea typeface="Plus Jakarta Sans SemiBold" pitchFamily="34" charset="-122"/>
                          <a:cs typeface="Plus Jakarta Sans SemiBold" pitchFamily="34" charset="-120"/>
                        </a:rPr>
                        <a:t>Discount cap</a:t>
                      </a:r>
                      <a:endParaRPr lang="en-US" sz="900" dirty="0">
                        <a:latin typeface="Plus Jakarta Sans SemiBold" charset="0"/>
                        <a:ea typeface="Plus Jakarta Sans SemiBold" charset="0"/>
                        <a:cs typeface="Plus Jakarta Sans SemiBold" charset="0"/>
                      </a:endParaRPr>
                    </a:p>
                  </a:txBody>
                  <a:tcPr marL="101600" marR="101600" marT="38100" marB="38100" anchor="ctr">
                    <a:lnL w="0" cap="flat" cmpd="sng" algn="ctr">
                      <a:noFill/>
                    </a:lnL>
                    <a:lnR w="0" cap="flat" cmpd="sng" algn="ctr">
                      <a:noFill/>
                    </a:lnR>
                    <a:lnT w="9525" cap="flat" cmpd="sng" algn="ctr">
                      <a:solidFill>
                        <a:srgbClr val="2C3A4F"/>
                      </a:solidFill>
                      <a:prstDash val="solid"/>
                      <a:round/>
                      <a:headEnd type="none" w="med" len="med"/>
                      <a:tailEnd type="none" w="med" len="med"/>
                    </a:lnT>
                    <a:lnB w="9525" cap="flat" cmpd="sng" algn="ctr">
                      <a:solidFill>
                        <a:srgbClr val="2C3A4F"/>
                      </a:solidFill>
                      <a:prstDash val="solid"/>
                      <a:round/>
                      <a:headEnd type="none" w="med" len="med"/>
                      <a:tailEnd type="none" w="med" len="med"/>
                    </a:lnB>
                    <a:solidFill>
                      <a:srgbClr val="182638"/>
                    </a:solidFill>
                  </a:tcPr>
                </a:tc>
                <a:tc>
                  <a:txBody>
                    <a:bodyPr/>
                    <a:lstStyle/>
                    <a:p>
                      <a:pPr algn="l" indent="0" marL="0">
                        <a:buNone/>
                      </a:pPr>
                      <a:r>
                        <a:rPr lang="en-US" sz="900" dirty="0">
                          <a:solidFill>
                            <a:srgbClr val="C3C8D1"/>
                          </a:solidFill>
                          <a:latin typeface="Plus Jakarta Sans" pitchFamily="34" charset="0"/>
                          <a:ea typeface="Plus Jakarta Sans" pitchFamily="34" charset="-122"/>
                          <a:cs typeface="Plus Jakarta Sans" pitchFamily="34" charset="-120"/>
                        </a:rPr>
                        <a:t>No partner may exceed it; exceptions need DignifyX approval</a:t>
                      </a:r>
                      <a:endParaRPr lang="en-US" sz="90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2C3A4F"/>
                      </a:solidFill>
                      <a:prstDash val="solid"/>
                      <a:round/>
                      <a:headEnd type="none" w="med" len="med"/>
                      <a:tailEnd type="none" w="med" len="med"/>
                    </a:lnT>
                    <a:lnB w="9525" cap="flat" cmpd="sng" algn="ctr">
                      <a:solidFill>
                        <a:srgbClr val="2C3A4F"/>
                      </a:solidFill>
                      <a:prstDash val="solid"/>
                      <a:round/>
                      <a:headEnd type="none" w="med" len="med"/>
                      <a:tailEnd type="none" w="med" len="med"/>
                    </a:lnB>
                    <a:solidFill>
                      <a:srgbClr val="182638"/>
                    </a:solidFill>
                  </a:tcPr>
                </a:tc>
              </a:tr>
            </a:tbl>
          </a:graphicData>
        </a:graphic>
      </p:graphicFrame>
      <p:sp>
        <p:nvSpPr>
          <p:cNvPr id="11" name="anim-3-7"/>
          <p:cNvSpPr/>
          <p:nvPr/>
        </p:nvSpPr>
        <p:spPr>
          <a:xfrm>
            <a:off x="6172200" y="1308100"/>
            <a:ext cx="5511800" cy="4203700"/>
          </a:xfrm>
          <a:prstGeom prst="roundRect">
            <a:avLst>
              <a:gd name="adj" fmla="val 6042"/>
            </a:avLst>
          </a:prstGeom>
          <a:solidFill>
            <a:srgbClr val="FFFFFF">
              <a:alpha val="5000"/>
            </a:srgbClr>
          </a:solidFill>
          <a:ln w="9525">
            <a:solidFill>
              <a:srgbClr val="FFFFFF">
                <a:alpha val="12000"/>
              </a:srgbClr>
            </a:solidFill>
            <a:prstDash val="solid"/>
          </a:ln>
        </p:spPr>
      </p:sp>
      <p:sp>
        <p:nvSpPr>
          <p:cNvPr id="12" name="anim-3-8"/>
          <p:cNvSpPr txBox="1"/>
          <p:nvPr/>
        </p:nvSpPr>
        <p:spPr>
          <a:xfrm>
            <a:off x="6375400" y="1460500"/>
            <a:ext cx="5080000" cy="165100"/>
          </a:xfrm>
          <a:prstGeom prst="rect">
            <a:avLst/>
          </a:prstGeom>
          <a:noFill/>
          <a:ln/>
        </p:spPr>
        <p:txBody>
          <a:bodyPr wrap="square" lIns="0" tIns="0" rIns="0" bIns="0" rtlCol="0" anchor="t"/>
          <a:lstStyle/>
          <a:p>
            <a:pPr algn="l" indent="0" marL="0">
              <a:lnSpc>
                <a:spcPct val="112000"/>
              </a:lnSpc>
              <a:buNone/>
            </a:pPr>
            <a:r>
              <a:rPr lang="en-US" sz="800" spc="200" kern="0" dirty="0">
                <a:solidFill>
                  <a:srgbClr val="15B6FF"/>
                </a:solidFill>
                <a:latin typeface="Plus Jakarta Sans SemiBold" pitchFamily="34" charset="0"/>
                <a:ea typeface="Plus Jakarta Sans SemiBold" pitchFamily="34" charset="-122"/>
                <a:cs typeface="Plus Jakarta Sans SemiBold" pitchFamily="34" charset="-120"/>
              </a:rPr>
              <a:t>RENEWAL AND ASSIGNMENT</a:t>
            </a:r>
            <a:endParaRPr lang="en-US" sz="800" dirty="0"/>
          </a:p>
        </p:txBody>
      </p:sp>
      <p:graphicFrame>
        <p:nvGraphicFramePr>
          <p:cNvPr id="35" name="anim-3-9"/>
          <p:cNvGraphicFramePr>
            <a:graphicFrameLocks noGrp="1"/>
          </p:cNvGraphicFramePr>
          <p:nvPr>
            <p:extLst>
              <p:ext uri="{D42A27DB-BD31-4B8C-83A1-F6EECF244321}">
                <p14:modId xmlns:p14="http://schemas.microsoft.com/office/powerpoint/2010/main" val="1579011935"/>
              </p:ext>
            </p:extLst>
          </p:nvPr>
        </p:nvGraphicFramePr>
        <p:xfrm>
          <a:off x="6375400" y="1701800"/>
          <a:ext cx="5105400" cy="914400"/>
        </p:xfrm>
        <a:graphic>
          <a:graphicData uri="http://schemas.openxmlformats.org/drawingml/2006/table">
            <a:tbl>
              <a:tblPr/>
              <a:tblGrid>
                <a:gridCol w="1714500"/>
                <a:gridCol w="3390900"/>
              </a:tblGrid>
              <a:tr h="609600">
                <a:tc>
                  <a:txBody>
                    <a:bodyPr/>
                    <a:lstStyle/>
                    <a:p>
                      <a:pPr algn="l" indent="0" marL="0">
                        <a:buNone/>
                      </a:pPr>
                      <a:r>
                        <a:rPr lang="en-US" sz="800" dirty="0">
                          <a:solidFill>
                            <a:srgbClr val="FFFFFF"/>
                          </a:solidFill>
                          <a:latin typeface="Plus Jakarta Sans SemiBold" pitchFamily="34" charset="0"/>
                          <a:ea typeface="Plus Jakarta Sans SemiBold" pitchFamily="34" charset="-122"/>
                          <a:cs typeface="Plus Jakarta Sans SemiBold" pitchFamily="34" charset="-120"/>
                        </a:rPr>
                        <a:t>Area</a:t>
                      </a:r>
                      <a:endParaRPr lang="en-US" sz="800" dirty="0">
                        <a:latin typeface="Plus Jakarta Sans SemiBold" charset="0"/>
                        <a:ea typeface="Plus Jakarta Sans SemiBold" charset="0"/>
                        <a:cs typeface="Plus Jakarta Sans SemiBold" charset="0"/>
                      </a:endParaRPr>
                    </a:p>
                  </a:txBody>
                  <a:tcPr marL="101600" marR="101600" marT="38100" marB="38100" anchor="ctr">
                    <a:lnL w="0" cap="flat" cmpd="sng" algn="ctr">
                      <a:noFill/>
                    </a:lnL>
                    <a:lnR w="0" cap="flat" cmpd="sng" algn="ctr">
                      <a:noFill/>
                    </a:lnR>
                    <a:lnT w="9525" cap="flat" cmpd="sng" algn="ctr">
                      <a:solidFill>
                        <a:srgbClr val="2C3A4F"/>
                      </a:solidFill>
                      <a:prstDash val="solid"/>
                      <a:round/>
                      <a:headEnd type="none" w="med" len="med"/>
                      <a:tailEnd type="none" w="med" len="med"/>
                    </a:lnT>
                    <a:lnB w="9525" cap="flat" cmpd="sng" algn="ctr">
                      <a:solidFill>
                        <a:srgbClr val="2C3A4F"/>
                      </a:solidFill>
                      <a:prstDash val="solid"/>
                      <a:round/>
                      <a:headEnd type="none" w="med" len="med"/>
                      <a:tailEnd type="none" w="med" len="med"/>
                    </a:lnB>
                    <a:solidFill>
                      <a:srgbClr val="1E3570"/>
                    </a:solidFill>
                  </a:tcPr>
                </a:tc>
                <a:tc>
                  <a:txBody>
                    <a:bodyPr/>
                    <a:lstStyle/>
                    <a:p>
                      <a:pPr algn="l" indent="0" marL="0">
                        <a:buNone/>
                      </a:pPr>
                      <a:r>
                        <a:rPr lang="en-US" sz="800" dirty="0">
                          <a:solidFill>
                            <a:srgbClr val="FFFFFF"/>
                          </a:solidFill>
                          <a:latin typeface="Plus Jakarta Sans SemiBold" pitchFamily="34" charset="0"/>
                          <a:ea typeface="Plus Jakarta Sans SemiBold" pitchFamily="34" charset="-122"/>
                          <a:cs typeface="Plus Jakarta Sans SemiBold" pitchFamily="34" charset="-120"/>
                        </a:rPr>
                        <a:t>Rule</a:t>
                      </a:r>
                      <a:endParaRPr lang="en-US" sz="800" dirty="0">
                        <a:latin typeface="Plus Jakarta Sans SemiBold" charset="0"/>
                        <a:ea typeface="Plus Jakarta Sans SemiBold" charset="0"/>
                        <a:cs typeface="Plus Jakarta Sans SemiBold" charset="0"/>
                      </a:endParaRPr>
                    </a:p>
                  </a:txBody>
                  <a:tcPr marL="101600" marR="101600" marT="38100" marB="38100" anchor="ctr">
                    <a:lnL w="0" cap="flat" cmpd="sng" algn="ctr">
                      <a:noFill/>
                    </a:lnL>
                    <a:lnR w="0" cap="flat" cmpd="sng" algn="ctr">
                      <a:noFill/>
                    </a:lnR>
                    <a:lnT w="9525" cap="flat" cmpd="sng" algn="ctr">
                      <a:solidFill>
                        <a:srgbClr val="2C3A4F"/>
                      </a:solidFill>
                      <a:prstDash val="solid"/>
                      <a:round/>
                      <a:headEnd type="none" w="med" len="med"/>
                      <a:tailEnd type="none" w="med" len="med"/>
                    </a:lnT>
                    <a:lnB w="9525" cap="flat" cmpd="sng" algn="ctr">
                      <a:solidFill>
                        <a:srgbClr val="2C3A4F"/>
                      </a:solidFill>
                      <a:prstDash val="solid"/>
                      <a:round/>
                      <a:headEnd type="none" w="med" len="med"/>
                      <a:tailEnd type="none" w="med" len="med"/>
                    </a:lnB>
                    <a:solidFill>
                      <a:srgbClr val="1E3570"/>
                    </a:solidFill>
                  </a:tcPr>
                </a:tc>
              </a:tr>
              <a:tr h="609600">
                <a:tc>
                  <a:txBody>
                    <a:bodyPr/>
                    <a:lstStyle/>
                    <a:p>
                      <a:pPr algn="l" indent="0" marL="0">
                        <a:buNone/>
                      </a:pPr>
                      <a:r>
                        <a:rPr lang="en-US" sz="900" dirty="0">
                          <a:solidFill>
                            <a:srgbClr val="FFFFFF"/>
                          </a:solidFill>
                          <a:latin typeface="Plus Jakarta Sans SemiBold" pitchFamily="34" charset="0"/>
                          <a:ea typeface="Plus Jakarta Sans SemiBold" pitchFamily="34" charset="-122"/>
                          <a:cs typeface="Plus Jakarta Sans SemiBold" pitchFamily="34" charset="-120"/>
                        </a:rPr>
                        <a:t>Renewal eligibility</a:t>
                      </a:r>
                      <a:endParaRPr lang="en-US" sz="900" dirty="0">
                        <a:latin typeface="Plus Jakarta Sans SemiBold" charset="0"/>
                        <a:ea typeface="Plus Jakarta Sans SemiBold" charset="0"/>
                        <a:cs typeface="Plus Jakarta Sans SemiBold" charset="0"/>
                      </a:endParaRPr>
                    </a:p>
                  </a:txBody>
                  <a:tcPr marL="101600" marR="101600" marT="38100" marB="38100" anchor="ctr">
                    <a:lnL w="0" cap="flat" cmpd="sng" algn="ctr">
                      <a:noFill/>
                    </a:lnL>
                    <a:lnR w="0" cap="flat" cmpd="sng" algn="ctr">
                      <a:noFill/>
                    </a:lnR>
                    <a:lnT w="9525" cap="flat" cmpd="sng" algn="ctr">
                      <a:solidFill>
                        <a:srgbClr val="2C3A4F"/>
                      </a:solidFill>
                      <a:prstDash val="solid"/>
                      <a:round/>
                      <a:headEnd type="none" w="med" len="med"/>
                      <a:tailEnd type="none" w="med" len="med"/>
                    </a:lnT>
                    <a:lnB w="9525" cap="flat" cmpd="sng" algn="ctr">
                      <a:solidFill>
                        <a:srgbClr val="2C3A4F"/>
                      </a:solidFill>
                      <a:prstDash val="solid"/>
                      <a:round/>
                      <a:headEnd type="none" w="med" len="med"/>
                      <a:tailEnd type="none" w="med" len="med"/>
                    </a:lnB>
                    <a:solidFill>
                      <a:srgbClr val="182638"/>
                    </a:solidFill>
                  </a:tcPr>
                </a:tc>
                <a:tc>
                  <a:txBody>
                    <a:bodyPr/>
                    <a:lstStyle/>
                    <a:p>
                      <a:pPr algn="l" indent="0" marL="0">
                        <a:buNone/>
                      </a:pPr>
                      <a:r>
                        <a:rPr lang="en-US" sz="900" dirty="0">
                          <a:solidFill>
                            <a:srgbClr val="C3C8D1"/>
                          </a:solidFill>
                          <a:latin typeface="Plus Jakarta Sans" pitchFamily="34" charset="0"/>
                          <a:ea typeface="Plus Jakarta Sans" pitchFamily="34" charset="-122"/>
                          <a:cs typeface="Plus Jakarta Sans" pitchFamily="34" charset="-120"/>
                        </a:rPr>
                        <a:t>Remain assigned, support customer success, no unresolved partner-caused escalation</a:t>
                      </a:r>
                      <a:endParaRPr lang="en-US" sz="90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2C3A4F"/>
                      </a:solidFill>
                      <a:prstDash val="solid"/>
                      <a:round/>
                      <a:headEnd type="none" w="med" len="med"/>
                      <a:tailEnd type="none" w="med" len="med"/>
                    </a:lnT>
                    <a:lnB w="9525" cap="flat" cmpd="sng" algn="ctr">
                      <a:solidFill>
                        <a:srgbClr val="2C3A4F"/>
                      </a:solidFill>
                      <a:prstDash val="solid"/>
                      <a:round/>
                      <a:headEnd type="none" w="med" len="med"/>
                      <a:tailEnd type="none" w="med" len="med"/>
                    </a:lnB>
                    <a:solidFill>
                      <a:srgbClr val="182638"/>
                    </a:solidFill>
                  </a:tcPr>
                </a:tc>
              </a:tr>
              <a:tr h="609600">
                <a:tc>
                  <a:txBody>
                    <a:bodyPr/>
                    <a:lstStyle/>
                    <a:p>
                      <a:pPr algn="l" indent="0" marL="0">
                        <a:buNone/>
                      </a:pPr>
                      <a:r>
                        <a:rPr lang="en-US" sz="900" dirty="0">
                          <a:solidFill>
                            <a:srgbClr val="FFFFFF"/>
                          </a:solidFill>
                          <a:latin typeface="Plus Jakarta Sans SemiBold" pitchFamily="34" charset="0"/>
                          <a:ea typeface="Plus Jakarta Sans SemiBold" pitchFamily="34" charset="-122"/>
                          <a:cs typeface="Plus Jakarta Sans SemiBold" pitchFamily="34" charset="-120"/>
                        </a:rPr>
                        <a:t>Post-expiry renewal</a:t>
                      </a:r>
                      <a:endParaRPr lang="en-US" sz="900" dirty="0">
                        <a:latin typeface="Plus Jakarta Sans SemiBold" charset="0"/>
                        <a:ea typeface="Plus Jakarta Sans SemiBold" charset="0"/>
                        <a:cs typeface="Plus Jakarta Sans SemiBold" charset="0"/>
                      </a:endParaRPr>
                    </a:p>
                  </a:txBody>
                  <a:tcPr marL="101600" marR="101600" marT="38100" marB="38100" anchor="ctr">
                    <a:lnL w="0" cap="flat" cmpd="sng" algn="ctr">
                      <a:noFill/>
                    </a:lnL>
                    <a:lnR w="0" cap="flat" cmpd="sng" algn="ctr">
                      <a:noFill/>
                    </a:lnR>
                    <a:lnT w="9525" cap="flat" cmpd="sng" algn="ctr">
                      <a:solidFill>
                        <a:srgbClr val="2C3A4F"/>
                      </a:solidFill>
                      <a:prstDash val="solid"/>
                      <a:round/>
                      <a:headEnd type="none" w="med" len="med"/>
                      <a:tailEnd type="none" w="med" len="med"/>
                    </a:lnT>
                    <a:lnB w="9525" cap="flat" cmpd="sng" algn="ctr">
                      <a:solidFill>
                        <a:srgbClr val="2C3A4F"/>
                      </a:solidFill>
                      <a:prstDash val="solid"/>
                      <a:round/>
                      <a:headEnd type="none" w="med" len="med"/>
                      <a:tailEnd type="none" w="med" len="med"/>
                    </a:lnB>
                    <a:solidFill>
                      <a:srgbClr val="1D2B3E"/>
                    </a:solidFill>
                  </a:tcPr>
                </a:tc>
                <a:tc>
                  <a:txBody>
                    <a:bodyPr/>
                    <a:lstStyle/>
                    <a:p>
                      <a:pPr algn="l" indent="0" marL="0">
                        <a:buNone/>
                      </a:pPr>
                      <a:r>
                        <a:rPr lang="en-US" sz="900" dirty="0">
                          <a:solidFill>
                            <a:srgbClr val="C3C8D1"/>
                          </a:solidFill>
                          <a:latin typeface="Plus Jakarta Sans" pitchFamily="34" charset="0"/>
                          <a:ea typeface="Plus Jakarta Sans" pitchFamily="34" charset="-122"/>
                          <a:cs typeface="Plus Jakarta Sans" pitchFamily="34" charset="-120"/>
                        </a:rPr>
                        <a:t>Based on level at the renewal event; Y2 / Y3 follow New ARR treatment</a:t>
                      </a:r>
                      <a:endParaRPr lang="en-US" sz="90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2C3A4F"/>
                      </a:solidFill>
                      <a:prstDash val="solid"/>
                      <a:round/>
                      <a:headEnd type="none" w="med" len="med"/>
                      <a:tailEnd type="none" w="med" len="med"/>
                    </a:lnT>
                    <a:lnB w="9525" cap="flat" cmpd="sng" algn="ctr">
                      <a:solidFill>
                        <a:srgbClr val="2C3A4F"/>
                      </a:solidFill>
                      <a:prstDash val="solid"/>
                      <a:round/>
                      <a:headEnd type="none" w="med" len="med"/>
                      <a:tailEnd type="none" w="med" len="med"/>
                    </a:lnB>
                    <a:solidFill>
                      <a:srgbClr val="1D2B3E"/>
                    </a:solidFill>
                  </a:tcPr>
                </a:tc>
              </a:tr>
              <a:tr h="609600">
                <a:tc>
                  <a:txBody>
                    <a:bodyPr/>
                    <a:lstStyle/>
                    <a:p>
                      <a:pPr algn="l" indent="0" marL="0">
                        <a:buNone/>
                      </a:pPr>
                      <a:r>
                        <a:rPr lang="en-US" sz="900" dirty="0">
                          <a:solidFill>
                            <a:srgbClr val="FFFFFF"/>
                          </a:solidFill>
                          <a:latin typeface="Plus Jakarta Sans SemiBold" pitchFamily="34" charset="0"/>
                          <a:ea typeface="Plus Jakarta Sans SemiBold" pitchFamily="34" charset="-122"/>
                          <a:cs typeface="Plus Jakarta Sans SemiBold" pitchFamily="34" charset="-120"/>
                        </a:rPr>
                        <a:t>Customer reassignment</a:t>
                      </a:r>
                      <a:endParaRPr lang="en-US" sz="900" dirty="0">
                        <a:latin typeface="Plus Jakarta Sans SemiBold" charset="0"/>
                        <a:ea typeface="Plus Jakarta Sans SemiBold" charset="0"/>
                        <a:cs typeface="Plus Jakarta Sans SemiBold" charset="0"/>
                      </a:endParaRPr>
                    </a:p>
                  </a:txBody>
                  <a:tcPr marL="101600" marR="101600" marT="38100" marB="38100" anchor="ctr">
                    <a:lnL w="0" cap="flat" cmpd="sng" algn="ctr">
                      <a:noFill/>
                    </a:lnL>
                    <a:lnR w="0" cap="flat" cmpd="sng" algn="ctr">
                      <a:noFill/>
                    </a:lnR>
                    <a:lnT w="9525" cap="flat" cmpd="sng" algn="ctr">
                      <a:solidFill>
                        <a:srgbClr val="2C3A4F"/>
                      </a:solidFill>
                      <a:prstDash val="solid"/>
                      <a:round/>
                      <a:headEnd type="none" w="med" len="med"/>
                      <a:tailEnd type="none" w="med" len="med"/>
                    </a:lnT>
                    <a:lnB w="9525" cap="flat" cmpd="sng" algn="ctr">
                      <a:solidFill>
                        <a:srgbClr val="2C3A4F"/>
                      </a:solidFill>
                      <a:prstDash val="solid"/>
                      <a:round/>
                      <a:headEnd type="none" w="med" len="med"/>
                      <a:tailEnd type="none" w="med" len="med"/>
                    </a:lnB>
                    <a:solidFill>
                      <a:srgbClr val="182638"/>
                    </a:solidFill>
                  </a:tcPr>
                </a:tc>
                <a:tc>
                  <a:txBody>
                    <a:bodyPr/>
                    <a:lstStyle/>
                    <a:p>
                      <a:pPr algn="l" indent="0" marL="0">
                        <a:buNone/>
                      </a:pPr>
                      <a:r>
                        <a:rPr lang="en-US" sz="900" dirty="0">
                          <a:solidFill>
                            <a:srgbClr val="C3C8D1"/>
                          </a:solidFill>
                          <a:latin typeface="Plus Jakarta Sans" pitchFamily="34" charset="0"/>
                          <a:ea typeface="Plus Jakarta Sans" pitchFamily="34" charset="-122"/>
                          <a:cs typeface="Plus Jakarta Sans" pitchFamily="34" charset="-120"/>
                        </a:rPr>
                        <a:t>A written customer request may override; prior partner loses future credit</a:t>
                      </a:r>
                      <a:endParaRPr lang="en-US" sz="90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2C3A4F"/>
                      </a:solidFill>
                      <a:prstDash val="solid"/>
                      <a:round/>
                      <a:headEnd type="none" w="med" len="med"/>
                      <a:tailEnd type="none" w="med" len="med"/>
                    </a:lnT>
                    <a:lnB w="9525" cap="flat" cmpd="sng" algn="ctr">
                      <a:solidFill>
                        <a:srgbClr val="2C3A4F"/>
                      </a:solidFill>
                      <a:prstDash val="solid"/>
                      <a:round/>
                      <a:headEnd type="none" w="med" len="med"/>
                      <a:tailEnd type="none" w="med" len="med"/>
                    </a:lnB>
                    <a:solidFill>
                      <a:srgbClr val="182638"/>
                    </a:solidFill>
                  </a:tcPr>
                </a:tc>
              </a:tr>
              <a:tr h="609600">
                <a:tc>
                  <a:txBody>
                    <a:bodyPr/>
                    <a:lstStyle/>
                    <a:p>
                      <a:pPr algn="l" indent="0" marL="0">
                        <a:buNone/>
                      </a:pPr>
                      <a:r>
                        <a:rPr lang="en-US" sz="900" dirty="0">
                          <a:solidFill>
                            <a:srgbClr val="FFFFFF"/>
                          </a:solidFill>
                          <a:latin typeface="Plus Jakarta Sans SemiBold" pitchFamily="34" charset="0"/>
                          <a:ea typeface="Plus Jakarta Sans SemiBold" pitchFamily="34" charset="-122"/>
                          <a:cs typeface="Plus Jakarta Sans SemiBold" pitchFamily="34" charset="-120"/>
                        </a:rPr>
                        <a:t>New assigned partner</a:t>
                      </a:r>
                      <a:endParaRPr lang="en-US" sz="900" dirty="0">
                        <a:latin typeface="Plus Jakarta Sans SemiBold" charset="0"/>
                        <a:ea typeface="Plus Jakarta Sans SemiBold" charset="0"/>
                        <a:cs typeface="Plus Jakarta Sans SemiBold" charset="0"/>
                      </a:endParaRPr>
                    </a:p>
                  </a:txBody>
                  <a:tcPr marL="101600" marR="101600" marT="38100" marB="38100" anchor="ctr">
                    <a:lnL w="0" cap="flat" cmpd="sng" algn="ctr">
                      <a:noFill/>
                    </a:lnL>
                    <a:lnR w="0" cap="flat" cmpd="sng" algn="ctr">
                      <a:noFill/>
                    </a:lnR>
                    <a:lnT w="9525" cap="flat" cmpd="sng" algn="ctr">
                      <a:solidFill>
                        <a:srgbClr val="2C3A4F"/>
                      </a:solidFill>
                      <a:prstDash val="solid"/>
                      <a:round/>
                      <a:headEnd type="none" w="med" len="med"/>
                      <a:tailEnd type="none" w="med" len="med"/>
                    </a:lnT>
                    <a:lnB w="9525" cap="flat" cmpd="sng" algn="ctr">
                      <a:solidFill>
                        <a:srgbClr val="2C3A4F"/>
                      </a:solidFill>
                      <a:prstDash val="solid"/>
                      <a:round/>
                      <a:headEnd type="none" w="med" len="med"/>
                      <a:tailEnd type="none" w="med" len="med"/>
                    </a:lnB>
                    <a:solidFill>
                      <a:srgbClr val="1D2B3E"/>
                    </a:solidFill>
                  </a:tcPr>
                </a:tc>
                <a:tc>
                  <a:txBody>
                    <a:bodyPr/>
                    <a:lstStyle/>
                    <a:p>
                      <a:pPr algn="l" indent="0" marL="0">
                        <a:buNone/>
                      </a:pPr>
                      <a:r>
                        <a:rPr lang="en-US" sz="900" dirty="0">
                          <a:solidFill>
                            <a:srgbClr val="C3C8D1"/>
                          </a:solidFill>
                          <a:latin typeface="Plus Jakarta Sans" pitchFamily="34" charset="0"/>
                          <a:ea typeface="Plus Jakarta Sans" pitchFamily="34" charset="-122"/>
                          <a:cs typeface="Plus Jakarta Sans" pitchFamily="34" charset="-120"/>
                        </a:rPr>
                        <a:t>Eligible only if assigned ≥180 days before renewal, unless approved</a:t>
                      </a:r>
                      <a:endParaRPr lang="en-US" sz="90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2C3A4F"/>
                      </a:solidFill>
                      <a:prstDash val="solid"/>
                      <a:round/>
                      <a:headEnd type="none" w="med" len="med"/>
                      <a:tailEnd type="none" w="med" len="med"/>
                    </a:lnT>
                    <a:lnB w="9525" cap="flat" cmpd="sng" algn="ctr">
                      <a:solidFill>
                        <a:srgbClr val="2C3A4F"/>
                      </a:solidFill>
                      <a:prstDash val="solid"/>
                      <a:round/>
                      <a:headEnd type="none" w="med" len="med"/>
                      <a:tailEnd type="none" w="med" len="med"/>
                    </a:lnB>
                    <a:solidFill>
                      <a:srgbClr val="1D2B3E"/>
                    </a:solidFill>
                  </a:tcPr>
                </a:tc>
              </a:tr>
              <a:tr h="609600">
                <a:tc>
                  <a:txBody>
                    <a:bodyPr/>
                    <a:lstStyle/>
                    <a:p>
                      <a:pPr algn="l" indent="0" marL="0">
                        <a:buNone/>
                      </a:pPr>
                      <a:r>
                        <a:rPr lang="en-US" sz="900" dirty="0">
                          <a:solidFill>
                            <a:srgbClr val="FFFFFF"/>
                          </a:solidFill>
                          <a:latin typeface="Plus Jakarta Sans SemiBold" pitchFamily="34" charset="0"/>
                          <a:ea typeface="Plus Jakarta Sans SemiBold" pitchFamily="34" charset="-122"/>
                          <a:cs typeface="Plus Jakarta Sans SemiBold" pitchFamily="34" charset="-120"/>
                        </a:rPr>
                        <a:t>Missed renewal</a:t>
                      </a:r>
                      <a:endParaRPr lang="en-US" sz="900" dirty="0">
                        <a:latin typeface="Plus Jakarta Sans SemiBold" charset="0"/>
                        <a:ea typeface="Plus Jakarta Sans SemiBold" charset="0"/>
                        <a:cs typeface="Plus Jakarta Sans SemiBold" charset="0"/>
                      </a:endParaRPr>
                    </a:p>
                  </a:txBody>
                  <a:tcPr marL="101600" marR="101600" marT="38100" marB="38100" anchor="ctr">
                    <a:lnL w="0" cap="flat" cmpd="sng" algn="ctr">
                      <a:noFill/>
                    </a:lnL>
                    <a:lnR w="0" cap="flat" cmpd="sng" algn="ctr">
                      <a:noFill/>
                    </a:lnR>
                    <a:lnT w="9525" cap="flat" cmpd="sng" algn="ctr">
                      <a:solidFill>
                        <a:srgbClr val="2C3A4F"/>
                      </a:solidFill>
                      <a:prstDash val="solid"/>
                      <a:round/>
                      <a:headEnd type="none" w="med" len="med"/>
                      <a:tailEnd type="none" w="med" len="med"/>
                    </a:lnT>
                    <a:lnB w="9525" cap="flat" cmpd="sng" algn="ctr">
                      <a:solidFill>
                        <a:srgbClr val="2C3A4F"/>
                      </a:solidFill>
                      <a:prstDash val="solid"/>
                      <a:round/>
                      <a:headEnd type="none" w="med" len="med"/>
                      <a:tailEnd type="none" w="med" len="med"/>
                    </a:lnB>
                    <a:solidFill>
                      <a:srgbClr val="182638"/>
                    </a:solidFill>
                  </a:tcPr>
                </a:tc>
                <a:tc>
                  <a:txBody>
                    <a:bodyPr/>
                    <a:lstStyle/>
                    <a:p>
                      <a:pPr algn="l" indent="0" marL="0">
                        <a:buNone/>
                      </a:pPr>
                      <a:r>
                        <a:rPr lang="en-US" sz="900" dirty="0">
                          <a:solidFill>
                            <a:srgbClr val="C3C8D1"/>
                          </a:solidFill>
                          <a:latin typeface="Plus Jakarta Sans" pitchFamily="34" charset="0"/>
                          <a:ea typeface="Plus Jakarta Sans" pitchFamily="34" charset="-122"/>
                          <a:cs typeface="Plus Jakarta Sans" pitchFamily="34" charset="-120"/>
                        </a:rPr>
                        <a:t>DignifyX may engage directly, reassign and deny renewal commission</a:t>
                      </a:r>
                      <a:endParaRPr lang="en-US" sz="90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2C3A4F"/>
                      </a:solidFill>
                      <a:prstDash val="solid"/>
                      <a:round/>
                      <a:headEnd type="none" w="med" len="med"/>
                      <a:tailEnd type="none" w="med" len="med"/>
                    </a:lnT>
                    <a:lnB w="9525" cap="flat" cmpd="sng" algn="ctr">
                      <a:solidFill>
                        <a:srgbClr val="2C3A4F"/>
                      </a:solidFill>
                      <a:prstDash val="solid"/>
                      <a:round/>
                      <a:headEnd type="none" w="med" len="med"/>
                      <a:tailEnd type="none" w="med" len="med"/>
                    </a:lnB>
                    <a:solidFill>
                      <a:srgbClr val="182638"/>
                    </a:solidFill>
                  </a:tcPr>
                </a:tc>
              </a:tr>
            </a:tbl>
          </a:graphicData>
        </a:graphic>
      </p:graphicFrame>
      <p:sp>
        <p:nvSpPr>
          <p:cNvPr id="14" name="anim-9-10"/>
          <p:cNvSpPr/>
          <p:nvPr/>
        </p:nvSpPr>
        <p:spPr>
          <a:xfrm>
            <a:off x="508000" y="5664200"/>
            <a:ext cx="11176000" cy="406400"/>
          </a:xfrm>
          <a:prstGeom prst="roundRect">
            <a:avLst>
              <a:gd name="adj" fmla="val 50000"/>
            </a:avLst>
          </a:prstGeom>
          <a:solidFill>
            <a:srgbClr val="FFFFFF">
              <a:alpha val="4000"/>
            </a:srgbClr>
          </a:solidFill>
          <a:ln w="9525">
            <a:solidFill>
              <a:srgbClr val="FFFFFF">
                <a:alpha val="22000"/>
              </a:srgbClr>
            </a:solidFill>
            <a:prstDash val="solid"/>
          </a:ln>
        </p:spPr>
      </p:sp>
      <p:sp>
        <p:nvSpPr>
          <p:cNvPr id="15" name="anim-9-11"/>
          <p:cNvSpPr txBox="1"/>
          <p:nvPr/>
        </p:nvSpPr>
        <p:spPr>
          <a:xfrm>
            <a:off x="762000" y="5664200"/>
            <a:ext cx="2095500" cy="406400"/>
          </a:xfrm>
          <a:prstGeom prst="rect">
            <a:avLst/>
          </a:prstGeom>
          <a:noFill/>
          <a:ln/>
        </p:spPr>
        <p:txBody>
          <a:bodyPr wrap="square" lIns="0" tIns="0" rIns="0" bIns="0" rtlCol="0" anchor="ctr"/>
          <a:lstStyle/>
          <a:p>
            <a:pPr algn="l" indent="0" marL="0">
              <a:lnSpc>
                <a:spcPct val="112000"/>
              </a:lnSpc>
              <a:buNone/>
            </a:pPr>
            <a:r>
              <a:rPr lang="en-US" sz="1100" b="1" dirty="0">
                <a:solidFill>
                  <a:srgbClr val="15B6FF"/>
                </a:solidFill>
                <a:latin typeface="Plus Jakarta Sans" pitchFamily="34" charset="0"/>
                <a:ea typeface="Plus Jakarta Sans" pitchFamily="34" charset="-122"/>
                <a:cs typeface="Plus Jakarta Sans" pitchFamily="34" charset="-120"/>
              </a:rPr>
              <a:t>One Position</a:t>
            </a:r>
            <a:endParaRPr lang="en-US" sz="1100" dirty="0"/>
          </a:p>
        </p:txBody>
      </p:sp>
      <p:sp>
        <p:nvSpPr>
          <p:cNvPr id="16" name="anim-9-12"/>
          <p:cNvSpPr txBox="1"/>
          <p:nvPr/>
        </p:nvSpPr>
        <p:spPr>
          <a:xfrm>
            <a:off x="2921000" y="5664200"/>
            <a:ext cx="8572500" cy="406400"/>
          </a:xfrm>
          <a:prstGeom prst="rect">
            <a:avLst/>
          </a:prstGeom>
          <a:noFill/>
          <a:ln/>
        </p:spPr>
        <p:txBody>
          <a:bodyPr wrap="square" lIns="0" tIns="0" rIns="0" bIns="0" rtlCol="0" anchor="ctr"/>
          <a:lstStyle/>
          <a:p>
            <a:pPr algn="l" indent="0" marL="0">
              <a:lnSpc>
                <a:spcPct val="112000"/>
              </a:lnSpc>
              <a:buNone/>
            </a:pPr>
            <a:r>
              <a:rPr lang="en-US" sz="1050" dirty="0">
                <a:solidFill>
                  <a:srgbClr val="FFFFFF"/>
                </a:solidFill>
                <a:latin typeface="Plus Jakarta Sans Medium" pitchFamily="34" charset="0"/>
                <a:ea typeface="Plus Jakarta Sans Medium" pitchFamily="34" charset="-122"/>
                <a:cs typeface="Plus Jakarta Sans Medium" pitchFamily="34" charset="-120"/>
              </a:rPr>
              <a:t>One opportunity, one approved DignifyX price, message and commercial position.</a:t>
            </a:r>
            <a:endParaRPr lang="en-US" sz="105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500"/>
                                        <p:tgtEl>
                                          <p:spTgt spid="7"/>
                                        </p:tgtEl>
                                      </p:cBhvr>
                                    </p:animEffect>
                                  </p:childTnLst>
                                </p:cTn>
                              </p:par>
                              <p:par>
                                <p:cTn id="14" presetID="10" presetClass="entr" presetSubtype="0" fill="hold" grpId="0" nodeType="withEffect">
                                  <p:stCondLst>
                                    <p:cond delay="18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500"/>
                                        <p:tgtEl>
                                          <p:spTgt spid="8"/>
                                        </p:tgtEl>
                                      </p:cBhvr>
                                    </p:animEffect>
                                  </p:childTnLst>
                                </p:cTn>
                              </p:par>
                              <p:par>
                                <p:cTn id="17" presetID="10" presetClass="entr" presetSubtype="0" fill="hold" grpId="0" nodeType="withEffect">
                                  <p:stCondLst>
                                    <p:cond delay="18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500"/>
                                        <p:tgtEl>
                                          <p:spTgt spid="9"/>
                                        </p:tgtEl>
                                      </p:cBhvr>
                                    </p:animEffect>
                                  </p:childTnLst>
                                </p:cTn>
                              </p:par>
                              <p:par>
                                <p:cTn id="20" presetID="10" presetClass="entr" presetSubtype="0" fill="hold" grpId="0" nodeType="withEffect">
                                  <p:stCondLst>
                                    <p:cond delay="180"/>
                                  </p:stCondLst>
                                  <p:childTnLst>
                                    <p:set>
                                      <p:cBhvr>
                                        <p:cTn id="21" dur="1" fill="hold">
                                          <p:stCondLst>
                                            <p:cond delay="0"/>
                                          </p:stCondLst>
                                        </p:cTn>
                                        <p:tgtEl>
                                          <p:spTgt spid="18"/>
                                        </p:tgtEl>
                                        <p:attrNameLst>
                                          <p:attrName>style.visibility</p:attrName>
                                        </p:attrNameLst>
                                      </p:cBhvr>
                                      <p:to>
                                        <p:strVal val="visible"/>
                                      </p:to>
                                    </p:set>
                                    <p:animEffect transition="in" filter="fade">
                                      <p:cBhvr>
                                        <p:cTn id="22" dur="500"/>
                                        <p:tgtEl>
                                          <p:spTgt spid="18"/>
                                        </p:tgtEl>
                                      </p:cBhvr>
                                    </p:animEffect>
                                  </p:childTnLst>
                                </p:cTn>
                              </p:par>
                              <p:par>
                                <p:cTn id="23" presetID="10" presetClass="entr" presetSubtype="0" fill="hold" grpId="0" nodeType="withEffect">
                                  <p:stCondLst>
                                    <p:cond delay="360"/>
                                  </p:stCondLst>
                                  <p:childTnLst>
                                    <p:set>
                                      <p:cBhvr>
                                        <p:cTn id="24" dur="1" fill="hold">
                                          <p:stCondLst>
                                            <p:cond delay="0"/>
                                          </p:stCondLst>
                                        </p:cTn>
                                        <p:tgtEl>
                                          <p:spTgt spid="11"/>
                                        </p:tgtEl>
                                        <p:attrNameLst>
                                          <p:attrName>style.visibility</p:attrName>
                                        </p:attrNameLst>
                                      </p:cBhvr>
                                      <p:to>
                                        <p:strVal val="visible"/>
                                      </p:to>
                                    </p:set>
                                    <p:animEffect transition="in" filter="fade">
                                      <p:cBhvr>
                                        <p:cTn id="25" dur="500"/>
                                        <p:tgtEl>
                                          <p:spTgt spid="11"/>
                                        </p:tgtEl>
                                      </p:cBhvr>
                                    </p:animEffect>
                                  </p:childTnLst>
                                </p:cTn>
                              </p:par>
                              <p:par>
                                <p:cTn id="26" presetID="10" presetClass="entr" presetSubtype="0" fill="hold" grpId="0" nodeType="withEffect">
                                  <p:stCondLst>
                                    <p:cond delay="360"/>
                                  </p:stCondLst>
                                  <p:childTnLst>
                                    <p:set>
                                      <p:cBhvr>
                                        <p:cTn id="27" dur="1" fill="hold">
                                          <p:stCondLst>
                                            <p:cond delay="0"/>
                                          </p:stCondLst>
                                        </p:cTn>
                                        <p:tgtEl>
                                          <p:spTgt spid="12"/>
                                        </p:tgtEl>
                                        <p:attrNameLst>
                                          <p:attrName>style.visibility</p:attrName>
                                        </p:attrNameLst>
                                      </p:cBhvr>
                                      <p:to>
                                        <p:strVal val="visible"/>
                                      </p:to>
                                    </p:set>
                                    <p:animEffect transition="in" filter="fade">
                                      <p:cBhvr>
                                        <p:cTn id="28" dur="500"/>
                                        <p:tgtEl>
                                          <p:spTgt spid="12"/>
                                        </p:tgtEl>
                                      </p:cBhvr>
                                    </p:animEffect>
                                  </p:childTnLst>
                                </p:cTn>
                              </p:par>
                              <p:par>
                                <p:cTn id="29" presetID="10" presetClass="entr" presetSubtype="0" fill="hold" grpId="0" nodeType="withEffect">
                                  <p:stCondLst>
                                    <p:cond delay="360"/>
                                  </p:stCondLst>
                                  <p:childTnLst>
                                    <p:set>
                                      <p:cBhvr>
                                        <p:cTn id="30" dur="1" fill="hold">
                                          <p:stCondLst>
                                            <p:cond delay="0"/>
                                          </p:stCondLst>
                                        </p:cTn>
                                        <p:tgtEl>
                                          <p:spTgt spid="35"/>
                                        </p:tgtEl>
                                        <p:attrNameLst>
                                          <p:attrName>style.visibility</p:attrName>
                                        </p:attrNameLst>
                                      </p:cBhvr>
                                      <p:to>
                                        <p:strVal val="visible"/>
                                      </p:to>
                                    </p:set>
                                    <p:animEffect transition="in" filter="fade">
                                      <p:cBhvr>
                                        <p:cTn id="31" dur="500"/>
                                        <p:tgtEl>
                                          <p:spTgt spid="35"/>
                                        </p:tgtEl>
                                      </p:cBhvr>
                                    </p:animEffect>
                                  </p:childTnLst>
                                </p:cTn>
                              </p:par>
                              <p:par>
                                <p:cTn id="32" presetID="10" presetClass="entr" presetSubtype="0" fill="hold" grpId="0" nodeType="withEffect">
                                  <p:stCondLst>
                                    <p:cond delay="54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500"/>
                                        <p:tgtEl>
                                          <p:spTgt spid="14"/>
                                        </p:tgtEl>
                                      </p:cBhvr>
                                    </p:animEffect>
                                  </p:childTnLst>
                                </p:cTn>
                              </p:par>
                              <p:par>
                                <p:cTn id="35" presetID="10" presetClass="entr" presetSubtype="0" fill="hold" grpId="0" nodeType="withEffect">
                                  <p:stCondLst>
                                    <p:cond delay="540"/>
                                  </p:stCondLst>
                                  <p:childTnLst>
                                    <p:set>
                                      <p:cBhvr>
                                        <p:cTn id="36" dur="1" fill="hold">
                                          <p:stCondLst>
                                            <p:cond delay="0"/>
                                          </p:stCondLst>
                                        </p:cTn>
                                        <p:tgtEl>
                                          <p:spTgt spid="15"/>
                                        </p:tgtEl>
                                        <p:attrNameLst>
                                          <p:attrName>style.visibility</p:attrName>
                                        </p:attrNameLst>
                                      </p:cBhvr>
                                      <p:to>
                                        <p:strVal val="visible"/>
                                      </p:to>
                                    </p:set>
                                    <p:animEffect transition="in" filter="fade">
                                      <p:cBhvr>
                                        <p:cTn id="37" dur="500"/>
                                        <p:tgtEl>
                                          <p:spTgt spid="15"/>
                                        </p:tgtEl>
                                      </p:cBhvr>
                                    </p:animEffect>
                                  </p:childTnLst>
                                </p:cTn>
                              </p:par>
                              <p:par>
                                <p:cTn id="38" presetID="10" presetClass="entr" presetSubtype="0" fill="hold" grpId="0" nodeType="withEffect">
                                  <p:stCondLst>
                                    <p:cond delay="540"/>
                                  </p:stCondLst>
                                  <p:childTnLst>
                                    <p:set>
                                      <p:cBhvr>
                                        <p:cTn id="39" dur="1" fill="hold">
                                          <p:stCondLst>
                                            <p:cond delay="0"/>
                                          </p:stCondLst>
                                        </p:cTn>
                                        <p:tgtEl>
                                          <p:spTgt spid="16"/>
                                        </p:tgtEl>
                                        <p:attrNameLst>
                                          <p:attrName>style.visibility</p:attrName>
                                        </p:attrNameLst>
                                      </p:cBhvr>
                                      <p:to>
                                        <p:strVal val="visible"/>
                                      </p:to>
                                    </p:set>
                                    <p:animEffect transition="in" filter="fade">
                                      <p:cBhvr>
                                        <p:cTn id="40"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9" grpId="0" animBg="1"/>
      <p:bldP spid="11" grpId="0" animBg="1"/>
      <p:bldP spid="12" grpId="0" animBg="1"/>
      <p:bldP spid="14" grpId="0" animBg="1"/>
      <p:bldP spid="15" grpId="0" animBg="1"/>
      <p:bldP spid="16"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name="Slide 1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tmp/claude-0/-home-user-hosting/7c832a48-0979-56aa-9fdf-7d53efb9dc7a/scratchpad/build/imgd/logo-white.png">    </p:cNvPr>
          <p:cNvPicPr>
            <a:picLocks noChangeAspect="1"/>
          </p:cNvPicPr>
          <p:nvPr/>
        </p:nvPicPr>
        <p:blipFill>
          <a:blip r:embed="rId2"/>
          <a:stretch>
            <a:fillRect/>
          </a:stretch>
        </p:blipFill>
        <p:spPr>
          <a:xfrm>
            <a:off x="10414000" y="355600"/>
            <a:ext cx="1270000" cy="304800"/>
          </a:xfrm>
          <a:prstGeom prst="rect">
            <a:avLst/>
          </a:prstGeom>
        </p:spPr>
      </p:pic>
      <p:sp>
        <p:nvSpPr>
          <p:cNvPr id="3" name="Text 0"/>
          <p:cNvSpPr/>
          <p:nvPr/>
        </p:nvSpPr>
        <p:spPr>
          <a:xfrm>
            <a:off x="177800" y="6134100"/>
            <a:ext cx="1270000" cy="571500"/>
          </a:xfrm>
          <a:prstGeom prst="rect">
            <a:avLst/>
          </a:prstGeom>
          <a:noFill/>
          <a:ln/>
        </p:spPr>
        <p:txBody>
          <a:bodyPr wrap="square" lIns="0" tIns="0" rIns="0" bIns="0" rtlCol="0" anchor="ctr"/>
          <a:lstStyle/>
          <a:p>
            <a:pPr indent="0" marL="0">
              <a:buNone/>
            </a:pPr>
            <a:r>
              <a:rPr lang="en-US" sz="3550" b="1" dirty="0">
                <a:solidFill>
                  <a:srgbClr val="3F8FF2">
                    <a:alpha val="30000"/>
                  </a:srgbClr>
                </a:solidFill>
                <a:latin typeface="Plus Jakarta Sans" pitchFamily="34" charset="0"/>
                <a:ea typeface="Plus Jakarta Sans" pitchFamily="34" charset="-122"/>
                <a:cs typeface="Plus Jakarta Sans" pitchFamily="34" charset="-120"/>
              </a:rPr>
              <a:t>18</a:t>
            </a:r>
            <a:endParaRPr lang="en-US" sz="3550" dirty="0"/>
          </a:p>
        </p:txBody>
      </p:sp>
      <p:sp>
        <p:nvSpPr>
          <p:cNvPr id="4" name="Text 1"/>
          <p:cNvSpPr txBox="1"/>
          <p:nvPr/>
        </p:nvSpPr>
        <p:spPr>
          <a:xfrm>
            <a:off x="6604000" y="6477000"/>
            <a:ext cx="5080000" cy="152400"/>
          </a:xfrm>
          <a:prstGeom prst="rect">
            <a:avLst/>
          </a:prstGeom>
          <a:noFill/>
          <a:ln/>
        </p:spPr>
        <p:txBody>
          <a:bodyPr wrap="square" lIns="0" tIns="0" rIns="0" bIns="0" rtlCol="0" anchor="t"/>
          <a:lstStyle/>
          <a:p>
            <a:pPr algn="r" indent="0" marL="0">
              <a:lnSpc>
                <a:spcPct val="112000"/>
              </a:lnSpc>
              <a:buNone/>
            </a:pPr>
            <a:r>
              <a:rPr lang="en-US" sz="750" dirty="0">
                <a:solidFill>
                  <a:srgbClr val="8C93A3"/>
                </a:solidFill>
                <a:latin typeface="Plus Jakarta Sans" pitchFamily="34" charset="0"/>
                <a:ea typeface="Plus Jakarta Sans" pitchFamily="34" charset="-122"/>
                <a:cs typeface="Plus Jakarta Sans" pitchFamily="34" charset="-120"/>
              </a:rPr>
              <a:t>Partner-Confidential · NDA · Programme description only; not a contract</a:t>
            </a:r>
            <a:endParaRPr lang="en-US" sz="750" dirty="0"/>
          </a:p>
        </p:txBody>
      </p:sp>
      <p:pic>
        <p:nvPicPr>
          <p:cNvPr id="5" name="anim-1-1" descr="/tmp/claude-0/-home-user-hosting/7c832a48-0979-56aa-9fdf-7d53efb9dc7a/scratchpad/build/imgd/pointer.png">    </p:cNvPr>
          <p:cNvPicPr>
            <a:picLocks noChangeAspect="1"/>
          </p:cNvPicPr>
          <p:nvPr/>
        </p:nvPicPr>
        <p:blipFill>
          <a:blip r:embed="rId3"/>
          <a:stretch>
            <a:fillRect/>
          </a:stretch>
        </p:blipFill>
        <p:spPr>
          <a:xfrm>
            <a:off x="508000" y="285750"/>
            <a:ext cx="100964" cy="203200"/>
          </a:xfrm>
          <a:prstGeom prst="rect">
            <a:avLst/>
          </a:prstGeom>
        </p:spPr>
      </p:pic>
      <p:sp>
        <p:nvSpPr>
          <p:cNvPr id="6" name="anim-1-2"/>
          <p:cNvSpPr txBox="1"/>
          <p:nvPr/>
        </p:nvSpPr>
        <p:spPr>
          <a:xfrm>
            <a:off x="673100" y="304800"/>
            <a:ext cx="8890000" cy="190500"/>
          </a:xfrm>
          <a:prstGeom prst="rect">
            <a:avLst/>
          </a:prstGeom>
          <a:noFill/>
          <a:ln/>
        </p:spPr>
        <p:txBody>
          <a:bodyPr wrap="square" lIns="0" tIns="0" rIns="0" bIns="0" rtlCol="0" anchor="t"/>
          <a:lstStyle/>
          <a:p>
            <a:pPr algn="l" indent="0" marL="0">
              <a:lnSpc>
                <a:spcPct val="112000"/>
              </a:lnSpc>
              <a:buNone/>
            </a:pPr>
            <a:r>
              <a:rPr lang="en-US" sz="1000" spc="200" kern="0" dirty="0">
                <a:solidFill>
                  <a:srgbClr val="15B6FF"/>
                </a:solidFill>
                <a:latin typeface="Plus Jakarta Sans SemiBold" pitchFamily="34" charset="0"/>
                <a:ea typeface="Plus Jakarta Sans SemiBold" pitchFamily="34" charset="-122"/>
                <a:cs typeface="Plus Jakarta Sans SemiBold" pitchFamily="34" charset="-120"/>
              </a:rPr>
              <a:t>CO-MARKETING &amp; PROMOTION FUNDS</a:t>
            </a:r>
            <a:endParaRPr lang="en-US" sz="1000" dirty="0"/>
          </a:p>
        </p:txBody>
      </p:sp>
      <p:sp>
        <p:nvSpPr>
          <p:cNvPr id="7" name="anim-1-3"/>
          <p:cNvSpPr txBox="1"/>
          <p:nvPr/>
        </p:nvSpPr>
        <p:spPr>
          <a:xfrm>
            <a:off x="508000" y="558800"/>
            <a:ext cx="9652000" cy="406400"/>
          </a:xfrm>
          <a:prstGeom prst="rect">
            <a:avLst/>
          </a:prstGeom>
          <a:noFill/>
          <a:ln/>
        </p:spPr>
        <p:txBody>
          <a:bodyPr wrap="square" lIns="0" tIns="0" rIns="0" bIns="0" rtlCol="0" anchor="ctr"/>
          <a:lstStyle/>
          <a:p>
            <a:pPr algn="l" indent="0" marL="0">
              <a:lnSpc>
                <a:spcPct val="112000"/>
              </a:lnSpc>
              <a:buNone/>
            </a:pPr>
            <a:r>
              <a:rPr lang="en-US" sz="2000" b="1" dirty="0">
                <a:solidFill>
                  <a:srgbClr val="FFFFFF"/>
                </a:solidFill>
                <a:latin typeface="Plus Jakarta Sans" pitchFamily="34" charset="0"/>
                <a:ea typeface="Plus Jakarta Sans" pitchFamily="34" charset="-122"/>
                <a:cs typeface="Plus Jakarta Sans" pitchFamily="34" charset="-120"/>
              </a:rPr>
              <a:t>Market </a:t>
            </a:r>
            <a:pPr algn="l" indent="0" marL="0">
              <a:lnSpc>
                <a:spcPct val="112000"/>
              </a:lnSpc>
              <a:buNone/>
            </a:pPr>
            <a:r>
              <a:rPr lang="en-US" sz="2000" b="1" i="1" dirty="0">
                <a:solidFill>
                  <a:srgbClr val="15B6FF"/>
                </a:solidFill>
                <a:latin typeface="Plus Jakarta Sans Light" pitchFamily="34" charset="0"/>
                <a:ea typeface="Plus Jakarta Sans Light" pitchFamily="34" charset="-122"/>
                <a:cs typeface="Plus Jakarta Sans Light" pitchFamily="34" charset="-120"/>
              </a:rPr>
              <a:t>together</a:t>
            </a:r>
            <a:endParaRPr lang="en-US" sz="2000" dirty="0"/>
          </a:p>
        </p:txBody>
      </p:sp>
      <p:sp>
        <p:nvSpPr>
          <p:cNvPr id="8" name="anim-2-4"/>
          <p:cNvSpPr/>
          <p:nvPr/>
        </p:nvSpPr>
        <p:spPr>
          <a:xfrm>
            <a:off x="508000" y="1308100"/>
            <a:ext cx="4191000" cy="4203700"/>
          </a:xfrm>
          <a:prstGeom prst="roundRect">
            <a:avLst>
              <a:gd name="adj" fmla="val 6061"/>
            </a:avLst>
          </a:prstGeom>
          <a:solidFill>
            <a:srgbClr val="FFFFFF">
              <a:alpha val="5000"/>
            </a:srgbClr>
          </a:solidFill>
          <a:ln w="9525">
            <a:solidFill>
              <a:srgbClr val="FFFFFF">
                <a:alpha val="12000"/>
              </a:srgbClr>
            </a:solidFill>
            <a:prstDash val="solid"/>
          </a:ln>
        </p:spPr>
      </p:sp>
      <p:sp>
        <p:nvSpPr>
          <p:cNvPr id="9" name="anim-2-5"/>
          <p:cNvSpPr txBox="1"/>
          <p:nvPr/>
        </p:nvSpPr>
        <p:spPr>
          <a:xfrm>
            <a:off x="711200" y="1460500"/>
            <a:ext cx="3810000" cy="165100"/>
          </a:xfrm>
          <a:prstGeom prst="rect">
            <a:avLst/>
          </a:prstGeom>
          <a:noFill/>
          <a:ln/>
        </p:spPr>
        <p:txBody>
          <a:bodyPr wrap="square" lIns="0" tIns="0" rIns="0" bIns="0" rtlCol="0" anchor="t"/>
          <a:lstStyle/>
          <a:p>
            <a:pPr algn="l" indent="0" marL="0">
              <a:lnSpc>
                <a:spcPct val="112000"/>
              </a:lnSpc>
              <a:buNone/>
            </a:pPr>
            <a:r>
              <a:rPr lang="en-US" sz="800" spc="200" kern="0" dirty="0">
                <a:solidFill>
                  <a:srgbClr val="15B6FF"/>
                </a:solidFill>
                <a:latin typeface="Plus Jakarta Sans SemiBold" pitchFamily="34" charset="0"/>
                <a:ea typeface="Plus Jakarta Sans SemiBold" pitchFamily="34" charset="-122"/>
                <a:cs typeface="Plus Jakarta Sans SemiBold" pitchFamily="34" charset="-120"/>
              </a:rPr>
              <a:t>ANNUAL FUNDS BY LEVEL</a:t>
            </a:r>
            <a:endParaRPr lang="en-US" sz="800" dirty="0"/>
          </a:p>
        </p:txBody>
      </p:sp>
      <p:graphicFrame>
        <p:nvGraphicFramePr>
          <p:cNvPr id="19" name="anim-2-6"/>
          <p:cNvGraphicFramePr>
            <a:graphicFrameLocks noGrp="1"/>
          </p:cNvGraphicFramePr>
          <p:nvPr>
            <p:extLst>
              <p:ext uri="{D42A27DB-BD31-4B8C-83A1-F6EECF244321}">
                <p14:modId xmlns:p14="http://schemas.microsoft.com/office/powerpoint/2010/main" val="1579011935"/>
              </p:ext>
            </p:extLst>
          </p:nvPr>
        </p:nvGraphicFramePr>
        <p:xfrm>
          <a:off x="711200" y="1701800"/>
          <a:ext cx="3784600" cy="914400"/>
        </p:xfrm>
        <a:graphic>
          <a:graphicData uri="http://schemas.openxmlformats.org/drawingml/2006/table">
            <a:tbl>
              <a:tblPr/>
              <a:tblGrid>
                <a:gridCol w="1270000"/>
                <a:gridCol w="1371600"/>
                <a:gridCol w="1143000"/>
              </a:tblGrid>
              <a:tr h="393700">
                <a:tc>
                  <a:txBody>
                    <a:bodyPr/>
                    <a:lstStyle/>
                    <a:p>
                      <a:pPr algn="l" indent="0" marL="0">
                        <a:buNone/>
                      </a:pPr>
                      <a:r>
                        <a:rPr lang="en-US" sz="800" dirty="0">
                          <a:solidFill>
                            <a:srgbClr val="FFFFFF"/>
                          </a:solidFill>
                          <a:latin typeface="Plus Jakarta Sans SemiBold" pitchFamily="34" charset="0"/>
                          <a:ea typeface="Plus Jakarta Sans SemiBold" pitchFamily="34" charset="-122"/>
                          <a:cs typeface="Plus Jakarta Sans SemiBold" pitchFamily="34" charset="-120"/>
                        </a:rPr>
                        <a:t>Level</a:t>
                      </a:r>
                      <a:endParaRPr lang="en-US" sz="800" dirty="0">
                        <a:latin typeface="Plus Jakarta Sans SemiBold" charset="0"/>
                        <a:ea typeface="Plus Jakarta Sans SemiBold" charset="0"/>
                        <a:cs typeface="Plus Jakarta Sans SemiBold" charset="0"/>
                      </a:endParaRPr>
                    </a:p>
                  </a:txBody>
                  <a:tcPr marL="101600" marR="101600" marT="38100" marB="38100" anchor="ctr">
                    <a:lnL w="0" cap="flat" cmpd="sng" algn="ctr">
                      <a:noFill/>
                    </a:lnL>
                    <a:lnR w="0" cap="flat" cmpd="sng" algn="ctr">
                      <a:noFill/>
                    </a:lnR>
                    <a:lnT w="9525" cap="flat" cmpd="sng" algn="ctr">
                      <a:solidFill>
                        <a:srgbClr val="2C3A4F"/>
                      </a:solidFill>
                      <a:prstDash val="solid"/>
                      <a:round/>
                      <a:headEnd type="none" w="med" len="med"/>
                      <a:tailEnd type="none" w="med" len="med"/>
                    </a:lnT>
                    <a:lnB w="9525" cap="flat" cmpd="sng" algn="ctr">
                      <a:solidFill>
                        <a:srgbClr val="2C3A4F"/>
                      </a:solidFill>
                      <a:prstDash val="solid"/>
                      <a:round/>
                      <a:headEnd type="none" w="med" len="med"/>
                      <a:tailEnd type="none" w="med" len="med"/>
                    </a:lnB>
                    <a:solidFill>
                      <a:srgbClr val="1E3570"/>
                    </a:solidFill>
                  </a:tcPr>
                </a:tc>
                <a:tc>
                  <a:txBody>
                    <a:bodyPr/>
                    <a:lstStyle/>
                    <a:p>
                      <a:pPr algn="ctr" indent="0" marL="0">
                        <a:buNone/>
                      </a:pPr>
                      <a:r>
                        <a:rPr lang="en-US" sz="800" dirty="0">
                          <a:solidFill>
                            <a:srgbClr val="FFFFFF"/>
                          </a:solidFill>
                          <a:latin typeface="Plus Jakarta Sans SemiBold" pitchFamily="34" charset="0"/>
                          <a:ea typeface="Plus Jakarta Sans SemiBold" pitchFamily="34" charset="-122"/>
                          <a:cs typeface="Plus Jakarta Sans SemiBold" pitchFamily="34" charset="-120"/>
                        </a:rPr>
                        <a:t>Co-marketing</a:t>
                      </a:r>
                      <a:endParaRPr lang="en-US" sz="800" dirty="0">
                        <a:latin typeface="Plus Jakarta Sans SemiBold" charset="0"/>
                        <a:ea typeface="Plus Jakarta Sans SemiBold" charset="0"/>
                        <a:cs typeface="Plus Jakarta Sans SemiBold" charset="0"/>
                      </a:endParaRPr>
                    </a:p>
                  </a:txBody>
                  <a:tcPr marL="101600" marR="101600" marT="38100" marB="38100" anchor="ctr">
                    <a:lnL w="0" cap="flat" cmpd="sng" algn="ctr">
                      <a:noFill/>
                    </a:lnL>
                    <a:lnR w="0" cap="flat" cmpd="sng" algn="ctr">
                      <a:noFill/>
                    </a:lnR>
                    <a:lnT w="9525" cap="flat" cmpd="sng" algn="ctr">
                      <a:solidFill>
                        <a:srgbClr val="2C3A4F"/>
                      </a:solidFill>
                      <a:prstDash val="solid"/>
                      <a:round/>
                      <a:headEnd type="none" w="med" len="med"/>
                      <a:tailEnd type="none" w="med" len="med"/>
                    </a:lnT>
                    <a:lnB w="9525" cap="flat" cmpd="sng" algn="ctr">
                      <a:solidFill>
                        <a:srgbClr val="2C3A4F"/>
                      </a:solidFill>
                      <a:prstDash val="solid"/>
                      <a:round/>
                      <a:headEnd type="none" w="med" len="med"/>
                      <a:tailEnd type="none" w="med" len="med"/>
                    </a:lnB>
                    <a:solidFill>
                      <a:srgbClr val="1E3570"/>
                    </a:solidFill>
                  </a:tcPr>
                </a:tc>
                <a:tc>
                  <a:txBody>
                    <a:bodyPr/>
                    <a:lstStyle/>
                    <a:p>
                      <a:pPr algn="ctr" indent="0" marL="0">
                        <a:buNone/>
                      </a:pPr>
                      <a:r>
                        <a:rPr lang="en-US" sz="800" dirty="0">
                          <a:solidFill>
                            <a:srgbClr val="FFFFFF"/>
                          </a:solidFill>
                          <a:latin typeface="Plus Jakarta Sans SemiBold" pitchFamily="34" charset="0"/>
                          <a:ea typeface="Plus Jakarta Sans SemiBold" pitchFamily="34" charset="-122"/>
                          <a:cs typeface="Plus Jakarta Sans SemiBold" pitchFamily="34" charset="-120"/>
                        </a:rPr>
                        <a:t>Promotion</a:t>
                      </a:r>
                      <a:endParaRPr lang="en-US" sz="800" dirty="0">
                        <a:latin typeface="Plus Jakarta Sans SemiBold" charset="0"/>
                        <a:ea typeface="Plus Jakarta Sans SemiBold" charset="0"/>
                        <a:cs typeface="Plus Jakarta Sans SemiBold" charset="0"/>
                      </a:endParaRPr>
                    </a:p>
                  </a:txBody>
                  <a:tcPr marL="101600" marR="101600" marT="38100" marB="38100" anchor="ctr">
                    <a:lnL w="0" cap="flat" cmpd="sng" algn="ctr">
                      <a:noFill/>
                    </a:lnL>
                    <a:lnR w="0" cap="flat" cmpd="sng" algn="ctr">
                      <a:noFill/>
                    </a:lnR>
                    <a:lnT w="9525" cap="flat" cmpd="sng" algn="ctr">
                      <a:solidFill>
                        <a:srgbClr val="2C3A4F"/>
                      </a:solidFill>
                      <a:prstDash val="solid"/>
                      <a:round/>
                      <a:headEnd type="none" w="med" len="med"/>
                      <a:tailEnd type="none" w="med" len="med"/>
                    </a:lnT>
                    <a:lnB w="9525" cap="flat" cmpd="sng" algn="ctr">
                      <a:solidFill>
                        <a:srgbClr val="2C3A4F"/>
                      </a:solidFill>
                      <a:prstDash val="solid"/>
                      <a:round/>
                      <a:headEnd type="none" w="med" len="med"/>
                      <a:tailEnd type="none" w="med" len="med"/>
                    </a:lnB>
                    <a:solidFill>
                      <a:srgbClr val="1E3570"/>
                    </a:solidFill>
                  </a:tcPr>
                </a:tc>
              </a:tr>
              <a:tr h="393700">
                <a:tc>
                  <a:txBody>
                    <a:bodyPr/>
                    <a:lstStyle/>
                    <a:p>
                      <a:pPr algn="l" indent="0" marL="0">
                        <a:buNone/>
                      </a:pPr>
                      <a:r>
                        <a:rPr lang="en-US" sz="950" dirty="0">
                          <a:solidFill>
                            <a:srgbClr val="FFFFFF"/>
                          </a:solidFill>
                          <a:latin typeface="Plus Jakarta Sans SemiBold" pitchFamily="34" charset="0"/>
                          <a:ea typeface="Plus Jakarta Sans SemiBold" pitchFamily="34" charset="-122"/>
                          <a:cs typeface="Plus Jakarta Sans SemiBold" pitchFamily="34" charset="-120"/>
                        </a:rPr>
                        <a:t>Registered</a:t>
                      </a:r>
                      <a:endParaRPr lang="en-US" sz="950" dirty="0">
                        <a:latin typeface="Plus Jakarta Sans SemiBold" charset="0"/>
                        <a:ea typeface="Plus Jakarta Sans SemiBold" charset="0"/>
                        <a:cs typeface="Plus Jakarta Sans SemiBold" charset="0"/>
                      </a:endParaRPr>
                    </a:p>
                  </a:txBody>
                  <a:tcPr marL="101600" marR="101600" marT="38100" marB="38100" anchor="ctr">
                    <a:lnL w="0" cap="flat" cmpd="sng" algn="ctr">
                      <a:noFill/>
                    </a:lnL>
                    <a:lnR w="0" cap="flat" cmpd="sng" algn="ctr">
                      <a:noFill/>
                    </a:lnR>
                    <a:lnT w="9525" cap="flat" cmpd="sng" algn="ctr">
                      <a:solidFill>
                        <a:srgbClr val="2C3A4F"/>
                      </a:solidFill>
                      <a:prstDash val="solid"/>
                      <a:round/>
                      <a:headEnd type="none" w="med" len="med"/>
                      <a:tailEnd type="none" w="med" len="med"/>
                    </a:lnT>
                    <a:lnB w="9525" cap="flat" cmpd="sng" algn="ctr">
                      <a:solidFill>
                        <a:srgbClr val="2C3A4F"/>
                      </a:solidFill>
                      <a:prstDash val="solid"/>
                      <a:round/>
                      <a:headEnd type="none" w="med" len="med"/>
                      <a:tailEnd type="none" w="med" len="med"/>
                    </a:lnB>
                    <a:solidFill>
                      <a:srgbClr val="182638"/>
                    </a:solidFill>
                  </a:tcPr>
                </a:tc>
                <a:tc>
                  <a:txBody>
                    <a:bodyPr/>
                    <a:lstStyle/>
                    <a:p>
                      <a:pPr algn="ctr" indent="0" marL="0">
                        <a:buNone/>
                      </a:pPr>
                      <a:r>
                        <a:rPr lang="en-US" sz="950" dirty="0">
                          <a:solidFill>
                            <a:srgbClr val="C3C8D1"/>
                          </a:solidFill>
                          <a:latin typeface="Plus Jakarta Sans" pitchFamily="34" charset="0"/>
                          <a:ea typeface="Plus Jakarta Sans" pitchFamily="34" charset="-122"/>
                          <a:cs typeface="Plus Jakarta Sans" pitchFamily="34" charset="-120"/>
                        </a:rPr>
                        <a:t>Not eligible</a:t>
                      </a:r>
                      <a:endParaRPr lang="en-US" sz="95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2C3A4F"/>
                      </a:solidFill>
                      <a:prstDash val="solid"/>
                      <a:round/>
                      <a:headEnd type="none" w="med" len="med"/>
                      <a:tailEnd type="none" w="med" len="med"/>
                    </a:lnT>
                    <a:lnB w="9525" cap="flat" cmpd="sng" algn="ctr">
                      <a:solidFill>
                        <a:srgbClr val="2C3A4F"/>
                      </a:solidFill>
                      <a:prstDash val="solid"/>
                      <a:round/>
                      <a:headEnd type="none" w="med" len="med"/>
                      <a:tailEnd type="none" w="med" len="med"/>
                    </a:lnB>
                    <a:solidFill>
                      <a:srgbClr val="182638"/>
                    </a:solidFill>
                  </a:tcPr>
                </a:tc>
                <a:tc>
                  <a:txBody>
                    <a:bodyPr/>
                    <a:lstStyle/>
                    <a:p>
                      <a:pPr algn="ctr" indent="0" marL="0">
                        <a:buNone/>
                      </a:pPr>
                      <a:r>
                        <a:rPr lang="en-US" sz="950" dirty="0">
                          <a:solidFill>
                            <a:srgbClr val="C3C8D1"/>
                          </a:solidFill>
                          <a:latin typeface="Plus Jakarta Sans" pitchFamily="34" charset="0"/>
                          <a:ea typeface="Plus Jakarta Sans" pitchFamily="34" charset="-122"/>
                          <a:cs typeface="Plus Jakarta Sans" pitchFamily="34" charset="-120"/>
                        </a:rPr>
                        <a:t>$0</a:t>
                      </a:r>
                      <a:endParaRPr lang="en-US" sz="95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2C3A4F"/>
                      </a:solidFill>
                      <a:prstDash val="solid"/>
                      <a:round/>
                      <a:headEnd type="none" w="med" len="med"/>
                      <a:tailEnd type="none" w="med" len="med"/>
                    </a:lnT>
                    <a:lnB w="9525" cap="flat" cmpd="sng" algn="ctr">
                      <a:solidFill>
                        <a:srgbClr val="2C3A4F"/>
                      </a:solidFill>
                      <a:prstDash val="solid"/>
                      <a:round/>
                      <a:headEnd type="none" w="med" len="med"/>
                      <a:tailEnd type="none" w="med" len="med"/>
                    </a:lnB>
                    <a:solidFill>
                      <a:srgbClr val="182638"/>
                    </a:solidFill>
                  </a:tcPr>
                </a:tc>
              </a:tr>
              <a:tr h="393700">
                <a:tc>
                  <a:txBody>
                    <a:bodyPr/>
                    <a:lstStyle/>
                    <a:p>
                      <a:pPr algn="l" indent="0" marL="0">
                        <a:buNone/>
                      </a:pPr>
                      <a:r>
                        <a:rPr lang="en-US" sz="950" dirty="0">
                          <a:solidFill>
                            <a:srgbClr val="FFFFFF"/>
                          </a:solidFill>
                          <a:latin typeface="Plus Jakarta Sans SemiBold" pitchFamily="34" charset="0"/>
                          <a:ea typeface="Plus Jakarta Sans SemiBold" pitchFamily="34" charset="-122"/>
                          <a:cs typeface="Plus Jakarta Sans SemiBold" pitchFamily="34" charset="-120"/>
                        </a:rPr>
                        <a:t>Silver</a:t>
                      </a:r>
                      <a:endParaRPr lang="en-US" sz="950" dirty="0">
                        <a:latin typeface="Plus Jakarta Sans SemiBold" charset="0"/>
                        <a:ea typeface="Plus Jakarta Sans SemiBold" charset="0"/>
                        <a:cs typeface="Plus Jakarta Sans SemiBold" charset="0"/>
                      </a:endParaRPr>
                    </a:p>
                  </a:txBody>
                  <a:tcPr marL="101600" marR="101600" marT="38100" marB="38100" anchor="ctr">
                    <a:lnL w="0" cap="flat" cmpd="sng" algn="ctr">
                      <a:noFill/>
                    </a:lnL>
                    <a:lnR w="0" cap="flat" cmpd="sng" algn="ctr">
                      <a:noFill/>
                    </a:lnR>
                    <a:lnT w="9525" cap="flat" cmpd="sng" algn="ctr">
                      <a:solidFill>
                        <a:srgbClr val="2C3A4F"/>
                      </a:solidFill>
                      <a:prstDash val="solid"/>
                      <a:round/>
                      <a:headEnd type="none" w="med" len="med"/>
                      <a:tailEnd type="none" w="med" len="med"/>
                    </a:lnT>
                    <a:lnB w="9525" cap="flat" cmpd="sng" algn="ctr">
                      <a:solidFill>
                        <a:srgbClr val="2C3A4F"/>
                      </a:solidFill>
                      <a:prstDash val="solid"/>
                      <a:round/>
                      <a:headEnd type="none" w="med" len="med"/>
                      <a:tailEnd type="none" w="med" len="med"/>
                    </a:lnB>
                    <a:solidFill>
                      <a:srgbClr val="1D2B3E"/>
                    </a:solidFill>
                  </a:tcPr>
                </a:tc>
                <a:tc>
                  <a:txBody>
                    <a:bodyPr/>
                    <a:lstStyle/>
                    <a:p>
                      <a:pPr algn="ctr" indent="0" marL="0">
                        <a:buNone/>
                      </a:pPr>
                      <a:r>
                        <a:rPr lang="en-US" sz="950" dirty="0">
                          <a:solidFill>
                            <a:srgbClr val="C3C8D1"/>
                          </a:solidFill>
                          <a:latin typeface="Plus Jakarta Sans" pitchFamily="34" charset="0"/>
                          <a:ea typeface="Plus Jakarta Sans" pitchFamily="34" charset="-122"/>
                          <a:cs typeface="Plus Jakarta Sans" pitchFamily="34" charset="-120"/>
                        </a:rPr>
                        <a:t>Up to $2,500</a:t>
                      </a:r>
                      <a:endParaRPr lang="en-US" sz="95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2C3A4F"/>
                      </a:solidFill>
                      <a:prstDash val="solid"/>
                      <a:round/>
                      <a:headEnd type="none" w="med" len="med"/>
                      <a:tailEnd type="none" w="med" len="med"/>
                    </a:lnT>
                    <a:lnB w="9525" cap="flat" cmpd="sng" algn="ctr">
                      <a:solidFill>
                        <a:srgbClr val="2C3A4F"/>
                      </a:solidFill>
                      <a:prstDash val="solid"/>
                      <a:round/>
                      <a:headEnd type="none" w="med" len="med"/>
                      <a:tailEnd type="none" w="med" len="med"/>
                    </a:lnB>
                    <a:solidFill>
                      <a:srgbClr val="1D2B3E"/>
                    </a:solidFill>
                  </a:tcPr>
                </a:tc>
                <a:tc>
                  <a:txBody>
                    <a:bodyPr/>
                    <a:lstStyle/>
                    <a:p>
                      <a:pPr algn="ctr" indent="0" marL="0">
                        <a:buNone/>
                      </a:pPr>
                      <a:r>
                        <a:rPr lang="en-US" sz="950" dirty="0">
                          <a:solidFill>
                            <a:srgbClr val="C3C8D1"/>
                          </a:solidFill>
                          <a:latin typeface="Plus Jakarta Sans" pitchFamily="34" charset="0"/>
                          <a:ea typeface="Plus Jakarta Sans" pitchFamily="34" charset="-122"/>
                          <a:cs typeface="Plus Jakarta Sans" pitchFamily="34" charset="-120"/>
                        </a:rPr>
                        <a:t>$1,000</a:t>
                      </a:r>
                      <a:endParaRPr lang="en-US" sz="95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2C3A4F"/>
                      </a:solidFill>
                      <a:prstDash val="solid"/>
                      <a:round/>
                      <a:headEnd type="none" w="med" len="med"/>
                      <a:tailEnd type="none" w="med" len="med"/>
                    </a:lnT>
                    <a:lnB w="9525" cap="flat" cmpd="sng" algn="ctr">
                      <a:solidFill>
                        <a:srgbClr val="2C3A4F"/>
                      </a:solidFill>
                      <a:prstDash val="solid"/>
                      <a:round/>
                      <a:headEnd type="none" w="med" len="med"/>
                      <a:tailEnd type="none" w="med" len="med"/>
                    </a:lnB>
                    <a:solidFill>
                      <a:srgbClr val="1D2B3E"/>
                    </a:solidFill>
                  </a:tcPr>
                </a:tc>
              </a:tr>
              <a:tr h="393700">
                <a:tc>
                  <a:txBody>
                    <a:bodyPr/>
                    <a:lstStyle/>
                    <a:p>
                      <a:pPr algn="l" indent="0" marL="0">
                        <a:buNone/>
                      </a:pPr>
                      <a:r>
                        <a:rPr lang="en-US" sz="950" dirty="0">
                          <a:solidFill>
                            <a:srgbClr val="FFFFFF"/>
                          </a:solidFill>
                          <a:latin typeface="Plus Jakarta Sans SemiBold" pitchFamily="34" charset="0"/>
                          <a:ea typeface="Plus Jakarta Sans SemiBold" pitchFamily="34" charset="-122"/>
                          <a:cs typeface="Plus Jakarta Sans SemiBold" pitchFamily="34" charset="-120"/>
                        </a:rPr>
                        <a:t>Gold</a:t>
                      </a:r>
                      <a:endParaRPr lang="en-US" sz="950" dirty="0">
                        <a:latin typeface="Plus Jakarta Sans SemiBold" charset="0"/>
                        <a:ea typeface="Plus Jakarta Sans SemiBold" charset="0"/>
                        <a:cs typeface="Plus Jakarta Sans SemiBold" charset="0"/>
                      </a:endParaRPr>
                    </a:p>
                  </a:txBody>
                  <a:tcPr marL="101600" marR="101600" marT="38100" marB="38100" anchor="ctr">
                    <a:lnL w="0" cap="flat" cmpd="sng" algn="ctr">
                      <a:noFill/>
                    </a:lnL>
                    <a:lnR w="0" cap="flat" cmpd="sng" algn="ctr">
                      <a:noFill/>
                    </a:lnR>
                    <a:lnT w="9525" cap="flat" cmpd="sng" algn="ctr">
                      <a:solidFill>
                        <a:srgbClr val="2C3A4F"/>
                      </a:solidFill>
                      <a:prstDash val="solid"/>
                      <a:round/>
                      <a:headEnd type="none" w="med" len="med"/>
                      <a:tailEnd type="none" w="med" len="med"/>
                    </a:lnT>
                    <a:lnB w="9525" cap="flat" cmpd="sng" algn="ctr">
                      <a:solidFill>
                        <a:srgbClr val="2C3A4F"/>
                      </a:solidFill>
                      <a:prstDash val="solid"/>
                      <a:round/>
                      <a:headEnd type="none" w="med" len="med"/>
                      <a:tailEnd type="none" w="med" len="med"/>
                    </a:lnB>
                    <a:solidFill>
                      <a:srgbClr val="182638"/>
                    </a:solidFill>
                  </a:tcPr>
                </a:tc>
                <a:tc>
                  <a:txBody>
                    <a:bodyPr/>
                    <a:lstStyle/>
                    <a:p>
                      <a:pPr algn="ctr" indent="0" marL="0">
                        <a:buNone/>
                      </a:pPr>
                      <a:r>
                        <a:rPr lang="en-US" sz="950" dirty="0">
                          <a:solidFill>
                            <a:srgbClr val="C3C8D1"/>
                          </a:solidFill>
                          <a:latin typeface="Plus Jakarta Sans" pitchFamily="34" charset="0"/>
                          <a:ea typeface="Plus Jakarta Sans" pitchFamily="34" charset="-122"/>
                          <a:cs typeface="Plus Jakarta Sans" pitchFamily="34" charset="-120"/>
                        </a:rPr>
                        <a:t>Up to $7,500</a:t>
                      </a:r>
                      <a:endParaRPr lang="en-US" sz="95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2C3A4F"/>
                      </a:solidFill>
                      <a:prstDash val="solid"/>
                      <a:round/>
                      <a:headEnd type="none" w="med" len="med"/>
                      <a:tailEnd type="none" w="med" len="med"/>
                    </a:lnT>
                    <a:lnB w="9525" cap="flat" cmpd="sng" algn="ctr">
                      <a:solidFill>
                        <a:srgbClr val="2C3A4F"/>
                      </a:solidFill>
                      <a:prstDash val="solid"/>
                      <a:round/>
                      <a:headEnd type="none" w="med" len="med"/>
                      <a:tailEnd type="none" w="med" len="med"/>
                    </a:lnB>
                    <a:solidFill>
                      <a:srgbClr val="182638"/>
                    </a:solidFill>
                  </a:tcPr>
                </a:tc>
                <a:tc>
                  <a:txBody>
                    <a:bodyPr/>
                    <a:lstStyle/>
                    <a:p>
                      <a:pPr algn="ctr" indent="0" marL="0">
                        <a:buNone/>
                      </a:pPr>
                      <a:r>
                        <a:rPr lang="en-US" sz="950" dirty="0">
                          <a:solidFill>
                            <a:srgbClr val="C3C8D1"/>
                          </a:solidFill>
                          <a:latin typeface="Plus Jakarta Sans" pitchFamily="34" charset="0"/>
                          <a:ea typeface="Plus Jakarta Sans" pitchFamily="34" charset="-122"/>
                          <a:cs typeface="Plus Jakarta Sans" pitchFamily="34" charset="-120"/>
                        </a:rPr>
                        <a:t>$3,000</a:t>
                      </a:r>
                      <a:endParaRPr lang="en-US" sz="95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2C3A4F"/>
                      </a:solidFill>
                      <a:prstDash val="solid"/>
                      <a:round/>
                      <a:headEnd type="none" w="med" len="med"/>
                      <a:tailEnd type="none" w="med" len="med"/>
                    </a:lnT>
                    <a:lnB w="9525" cap="flat" cmpd="sng" algn="ctr">
                      <a:solidFill>
                        <a:srgbClr val="2C3A4F"/>
                      </a:solidFill>
                      <a:prstDash val="solid"/>
                      <a:round/>
                      <a:headEnd type="none" w="med" len="med"/>
                      <a:tailEnd type="none" w="med" len="med"/>
                    </a:lnB>
                    <a:solidFill>
                      <a:srgbClr val="182638"/>
                    </a:solidFill>
                  </a:tcPr>
                </a:tc>
              </a:tr>
              <a:tr h="393700">
                <a:tc>
                  <a:txBody>
                    <a:bodyPr/>
                    <a:lstStyle/>
                    <a:p>
                      <a:pPr algn="l" indent="0" marL="0">
                        <a:buNone/>
                      </a:pPr>
                      <a:r>
                        <a:rPr lang="en-US" sz="950" dirty="0">
                          <a:solidFill>
                            <a:srgbClr val="FFFFFF"/>
                          </a:solidFill>
                          <a:latin typeface="Plus Jakarta Sans SemiBold" pitchFamily="34" charset="0"/>
                          <a:ea typeface="Plus Jakarta Sans SemiBold" pitchFamily="34" charset="-122"/>
                          <a:cs typeface="Plus Jakarta Sans SemiBold" pitchFamily="34" charset="-120"/>
                        </a:rPr>
                        <a:t>Platinum</a:t>
                      </a:r>
                      <a:endParaRPr lang="en-US" sz="950" dirty="0">
                        <a:latin typeface="Plus Jakarta Sans SemiBold" charset="0"/>
                        <a:ea typeface="Plus Jakarta Sans SemiBold" charset="0"/>
                        <a:cs typeface="Plus Jakarta Sans SemiBold" charset="0"/>
                      </a:endParaRPr>
                    </a:p>
                  </a:txBody>
                  <a:tcPr marL="101600" marR="101600" marT="38100" marB="38100" anchor="ctr">
                    <a:lnL w="0" cap="flat" cmpd="sng" algn="ctr">
                      <a:noFill/>
                    </a:lnL>
                    <a:lnR w="0" cap="flat" cmpd="sng" algn="ctr">
                      <a:noFill/>
                    </a:lnR>
                    <a:lnT w="9525" cap="flat" cmpd="sng" algn="ctr">
                      <a:solidFill>
                        <a:srgbClr val="2C3A4F"/>
                      </a:solidFill>
                      <a:prstDash val="solid"/>
                      <a:round/>
                      <a:headEnd type="none" w="med" len="med"/>
                      <a:tailEnd type="none" w="med" len="med"/>
                    </a:lnT>
                    <a:lnB w="9525" cap="flat" cmpd="sng" algn="ctr">
                      <a:solidFill>
                        <a:srgbClr val="2C3A4F"/>
                      </a:solidFill>
                      <a:prstDash val="solid"/>
                      <a:round/>
                      <a:headEnd type="none" w="med" len="med"/>
                      <a:tailEnd type="none" w="med" len="med"/>
                    </a:lnB>
                    <a:solidFill>
                      <a:srgbClr val="1D2B3E"/>
                    </a:solidFill>
                  </a:tcPr>
                </a:tc>
                <a:tc>
                  <a:txBody>
                    <a:bodyPr/>
                    <a:lstStyle/>
                    <a:p>
                      <a:pPr algn="ctr" indent="0" marL="0">
                        <a:buNone/>
                      </a:pPr>
                      <a:r>
                        <a:rPr lang="en-US" sz="950" dirty="0">
                          <a:solidFill>
                            <a:srgbClr val="C3C8D1"/>
                          </a:solidFill>
                          <a:latin typeface="Plus Jakarta Sans" pitchFamily="34" charset="0"/>
                          <a:ea typeface="Plus Jakarta Sans" pitchFamily="34" charset="-122"/>
                          <a:cs typeface="Plus Jakarta Sans" pitchFamily="34" charset="-120"/>
                        </a:rPr>
                        <a:t>Up to $15,000</a:t>
                      </a:r>
                      <a:endParaRPr lang="en-US" sz="95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2C3A4F"/>
                      </a:solidFill>
                      <a:prstDash val="solid"/>
                      <a:round/>
                      <a:headEnd type="none" w="med" len="med"/>
                      <a:tailEnd type="none" w="med" len="med"/>
                    </a:lnT>
                    <a:lnB w="9525" cap="flat" cmpd="sng" algn="ctr">
                      <a:solidFill>
                        <a:srgbClr val="2C3A4F"/>
                      </a:solidFill>
                      <a:prstDash val="solid"/>
                      <a:round/>
                      <a:headEnd type="none" w="med" len="med"/>
                      <a:tailEnd type="none" w="med" len="med"/>
                    </a:lnB>
                    <a:solidFill>
                      <a:srgbClr val="1D2B3E"/>
                    </a:solidFill>
                  </a:tcPr>
                </a:tc>
                <a:tc>
                  <a:txBody>
                    <a:bodyPr/>
                    <a:lstStyle/>
                    <a:p>
                      <a:pPr algn="ctr" indent="0" marL="0">
                        <a:buNone/>
                      </a:pPr>
                      <a:r>
                        <a:rPr lang="en-US" sz="950" dirty="0">
                          <a:solidFill>
                            <a:srgbClr val="C3C8D1"/>
                          </a:solidFill>
                          <a:latin typeface="Plus Jakarta Sans" pitchFamily="34" charset="0"/>
                          <a:ea typeface="Plus Jakarta Sans" pitchFamily="34" charset="-122"/>
                          <a:cs typeface="Plus Jakarta Sans" pitchFamily="34" charset="-120"/>
                        </a:rPr>
                        <a:t>$7,500</a:t>
                      </a:r>
                      <a:endParaRPr lang="en-US" sz="95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2C3A4F"/>
                      </a:solidFill>
                      <a:prstDash val="solid"/>
                      <a:round/>
                      <a:headEnd type="none" w="med" len="med"/>
                      <a:tailEnd type="none" w="med" len="med"/>
                    </a:lnT>
                    <a:lnB w="9525" cap="flat" cmpd="sng" algn="ctr">
                      <a:solidFill>
                        <a:srgbClr val="2C3A4F"/>
                      </a:solidFill>
                      <a:prstDash val="solid"/>
                      <a:round/>
                      <a:headEnd type="none" w="med" len="med"/>
                      <a:tailEnd type="none" w="med" len="med"/>
                    </a:lnB>
                    <a:solidFill>
                      <a:srgbClr val="1D2B3E"/>
                    </a:solidFill>
                  </a:tcPr>
                </a:tc>
              </a:tr>
              <a:tr h="393700">
                <a:tc>
                  <a:txBody>
                    <a:bodyPr/>
                    <a:lstStyle/>
                    <a:p>
                      <a:pPr algn="l" indent="0" marL="0">
                        <a:buNone/>
                      </a:pPr>
                      <a:r>
                        <a:rPr lang="en-US" sz="950" dirty="0">
                          <a:solidFill>
                            <a:srgbClr val="FFFFFF"/>
                          </a:solidFill>
                          <a:latin typeface="Plus Jakarta Sans SemiBold" pitchFamily="34" charset="0"/>
                          <a:ea typeface="Plus Jakarta Sans SemiBold" pitchFamily="34" charset="-122"/>
                          <a:cs typeface="Plus Jakarta Sans SemiBold" pitchFamily="34" charset="-120"/>
                        </a:rPr>
                        <a:t>Elite</a:t>
                      </a:r>
                      <a:endParaRPr lang="en-US" sz="950" dirty="0">
                        <a:latin typeface="Plus Jakarta Sans SemiBold" charset="0"/>
                        <a:ea typeface="Plus Jakarta Sans SemiBold" charset="0"/>
                        <a:cs typeface="Plus Jakarta Sans SemiBold" charset="0"/>
                      </a:endParaRPr>
                    </a:p>
                  </a:txBody>
                  <a:tcPr marL="101600" marR="101600" marT="38100" marB="38100" anchor="ctr">
                    <a:lnL w="0" cap="flat" cmpd="sng" algn="ctr">
                      <a:noFill/>
                    </a:lnL>
                    <a:lnR w="0" cap="flat" cmpd="sng" algn="ctr">
                      <a:noFill/>
                    </a:lnR>
                    <a:lnT w="9525" cap="flat" cmpd="sng" algn="ctr">
                      <a:solidFill>
                        <a:srgbClr val="2C3A4F"/>
                      </a:solidFill>
                      <a:prstDash val="solid"/>
                      <a:round/>
                      <a:headEnd type="none" w="med" len="med"/>
                      <a:tailEnd type="none" w="med" len="med"/>
                    </a:lnT>
                    <a:lnB w="9525" cap="flat" cmpd="sng" algn="ctr">
                      <a:solidFill>
                        <a:srgbClr val="2C3A4F"/>
                      </a:solidFill>
                      <a:prstDash val="solid"/>
                      <a:round/>
                      <a:headEnd type="none" w="med" len="med"/>
                      <a:tailEnd type="none" w="med" len="med"/>
                    </a:lnB>
                    <a:solidFill>
                      <a:srgbClr val="182638"/>
                    </a:solidFill>
                  </a:tcPr>
                </a:tc>
                <a:tc>
                  <a:txBody>
                    <a:bodyPr/>
                    <a:lstStyle/>
                    <a:p>
                      <a:pPr algn="ctr" indent="0" marL="0">
                        <a:buNone/>
                      </a:pPr>
                      <a:r>
                        <a:rPr lang="en-US" sz="950" dirty="0">
                          <a:solidFill>
                            <a:srgbClr val="C3C8D1"/>
                          </a:solidFill>
                          <a:latin typeface="Plus Jakarta Sans" pitchFamily="34" charset="0"/>
                          <a:ea typeface="Plus Jakarta Sans" pitchFamily="34" charset="-122"/>
                          <a:cs typeface="Plus Jakarta Sans" pitchFamily="34" charset="-120"/>
                        </a:rPr>
                        <a:t>Up to $30,000</a:t>
                      </a:r>
                      <a:endParaRPr lang="en-US" sz="95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2C3A4F"/>
                      </a:solidFill>
                      <a:prstDash val="solid"/>
                      <a:round/>
                      <a:headEnd type="none" w="med" len="med"/>
                      <a:tailEnd type="none" w="med" len="med"/>
                    </a:lnT>
                    <a:lnB w="9525" cap="flat" cmpd="sng" algn="ctr">
                      <a:solidFill>
                        <a:srgbClr val="2C3A4F"/>
                      </a:solidFill>
                      <a:prstDash val="solid"/>
                      <a:round/>
                      <a:headEnd type="none" w="med" len="med"/>
                      <a:tailEnd type="none" w="med" len="med"/>
                    </a:lnB>
                    <a:solidFill>
                      <a:srgbClr val="182638"/>
                    </a:solidFill>
                  </a:tcPr>
                </a:tc>
                <a:tc>
                  <a:txBody>
                    <a:bodyPr/>
                    <a:lstStyle/>
                    <a:p>
                      <a:pPr algn="ctr" indent="0" marL="0">
                        <a:buNone/>
                      </a:pPr>
                      <a:r>
                        <a:rPr lang="en-US" sz="950" dirty="0">
                          <a:solidFill>
                            <a:srgbClr val="C3C8D1"/>
                          </a:solidFill>
                          <a:latin typeface="Plus Jakarta Sans" pitchFamily="34" charset="0"/>
                          <a:ea typeface="Plus Jakarta Sans" pitchFamily="34" charset="-122"/>
                          <a:cs typeface="Plus Jakarta Sans" pitchFamily="34" charset="-120"/>
                        </a:rPr>
                        <a:t>$15,000</a:t>
                      </a:r>
                      <a:endParaRPr lang="en-US" sz="95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2C3A4F"/>
                      </a:solidFill>
                      <a:prstDash val="solid"/>
                      <a:round/>
                      <a:headEnd type="none" w="med" len="med"/>
                      <a:tailEnd type="none" w="med" len="med"/>
                    </a:lnT>
                    <a:lnB w="9525" cap="flat" cmpd="sng" algn="ctr">
                      <a:solidFill>
                        <a:srgbClr val="2C3A4F"/>
                      </a:solidFill>
                      <a:prstDash val="solid"/>
                      <a:round/>
                      <a:headEnd type="none" w="med" len="med"/>
                      <a:tailEnd type="none" w="med" len="med"/>
                    </a:lnB>
                    <a:solidFill>
                      <a:srgbClr val="182638"/>
                    </a:solidFill>
                  </a:tcPr>
                </a:tc>
              </a:tr>
            </a:tbl>
          </a:graphicData>
        </a:graphic>
      </p:graphicFrame>
      <p:sp>
        <p:nvSpPr>
          <p:cNvPr id="11" name="anim-2-7"/>
          <p:cNvSpPr txBox="1"/>
          <p:nvPr/>
        </p:nvSpPr>
        <p:spPr>
          <a:xfrm>
            <a:off x="711200" y="4318000"/>
            <a:ext cx="3784600" cy="1079500"/>
          </a:xfrm>
          <a:prstGeom prst="rect">
            <a:avLst/>
          </a:prstGeom>
          <a:noFill/>
          <a:ln/>
        </p:spPr>
        <p:txBody>
          <a:bodyPr wrap="square" lIns="0" tIns="0" rIns="0" bIns="0" rtlCol="0" anchor="t"/>
          <a:lstStyle/>
          <a:p>
            <a:pPr algn="l" indent="0" marL="0">
              <a:lnSpc>
                <a:spcPct val="125000"/>
              </a:lnSpc>
              <a:buNone/>
            </a:pPr>
            <a:r>
              <a:rPr lang="en-US" sz="850" dirty="0">
                <a:solidFill>
                  <a:srgbClr val="C3C8D1"/>
                </a:solidFill>
                <a:latin typeface="Plus Jakarta Sans" pitchFamily="34" charset="0"/>
                <a:ea typeface="Plus Jakarta Sans" pitchFamily="34" charset="-122"/>
                <a:cs typeface="Plus Jakarta Sans" pitchFamily="34" charset="-120"/>
              </a:rPr>
              <a:t>Only approved direct campaign expenses qualify; no advance reimbursement without a written exception. Reimbursement follows an approved plan, proof of spend and pipeline review.</a:t>
            </a:r>
            <a:endParaRPr lang="en-US" sz="850" dirty="0"/>
          </a:p>
        </p:txBody>
      </p:sp>
      <p:sp>
        <p:nvSpPr>
          <p:cNvPr id="12" name="anim-3-8"/>
          <p:cNvSpPr/>
          <p:nvPr/>
        </p:nvSpPr>
        <p:spPr>
          <a:xfrm>
            <a:off x="4851400" y="1308100"/>
            <a:ext cx="1593850" cy="1689100"/>
          </a:xfrm>
          <a:prstGeom prst="roundRect">
            <a:avLst>
              <a:gd name="adj" fmla="val 12749"/>
            </a:avLst>
          </a:prstGeom>
          <a:solidFill>
            <a:srgbClr val="FFFFFF">
              <a:alpha val="5000"/>
            </a:srgbClr>
          </a:solidFill>
          <a:ln w="9525">
            <a:solidFill>
              <a:srgbClr val="FFFFFF">
                <a:alpha val="12000"/>
              </a:srgbClr>
            </a:solidFill>
            <a:prstDash val="solid"/>
          </a:ln>
        </p:spPr>
      </p:sp>
      <p:sp>
        <p:nvSpPr>
          <p:cNvPr id="13" name="anim-3-9"/>
          <p:cNvSpPr txBox="1"/>
          <p:nvPr/>
        </p:nvSpPr>
        <p:spPr>
          <a:xfrm>
            <a:off x="5003800" y="1435100"/>
            <a:ext cx="1289050" cy="139700"/>
          </a:xfrm>
          <a:prstGeom prst="rect">
            <a:avLst/>
          </a:prstGeom>
          <a:noFill/>
          <a:ln/>
        </p:spPr>
        <p:txBody>
          <a:bodyPr wrap="square" lIns="0" tIns="0" rIns="0" bIns="0" rtlCol="0" anchor="t"/>
          <a:lstStyle/>
          <a:p>
            <a:pPr algn="l" indent="0" marL="0">
              <a:lnSpc>
                <a:spcPct val="112000"/>
              </a:lnSpc>
              <a:buNone/>
            </a:pPr>
            <a:r>
              <a:rPr lang="en-US" sz="700" spc="200" kern="0" dirty="0">
                <a:solidFill>
                  <a:srgbClr val="15B6FF"/>
                </a:solidFill>
                <a:latin typeface="Plus Jakarta Sans SemiBold" pitchFamily="34" charset="0"/>
                <a:ea typeface="Plus Jakarta Sans SemiBold" pitchFamily="34" charset="-122"/>
                <a:cs typeface="Plus Jakarta Sans SemiBold" pitchFamily="34" charset="-120"/>
              </a:rPr>
              <a:t>UP TO</a:t>
            </a:r>
            <a:endParaRPr lang="en-US" sz="700" dirty="0"/>
          </a:p>
        </p:txBody>
      </p:sp>
      <p:sp>
        <p:nvSpPr>
          <p:cNvPr id="14" name="anim-3-10"/>
          <p:cNvSpPr txBox="1"/>
          <p:nvPr/>
        </p:nvSpPr>
        <p:spPr>
          <a:xfrm>
            <a:off x="5003800" y="1574800"/>
            <a:ext cx="1289050" cy="584200"/>
          </a:xfrm>
          <a:prstGeom prst="rect">
            <a:avLst/>
          </a:prstGeom>
          <a:noFill/>
          <a:ln/>
        </p:spPr>
        <p:txBody>
          <a:bodyPr wrap="square" lIns="0" tIns="0" rIns="0" bIns="0" rtlCol="0" anchor="b"/>
          <a:lstStyle/>
          <a:p>
            <a:pPr algn="l" indent="0" marL="0">
              <a:lnSpc>
                <a:spcPct val="112000"/>
              </a:lnSpc>
              <a:buNone/>
            </a:pPr>
            <a:r>
              <a:rPr lang="en-US" sz="3600" b="1" dirty="0">
                <a:solidFill>
                  <a:srgbClr val="FFFFFF"/>
                </a:solidFill>
                <a:latin typeface="Plus Jakarta Sans" pitchFamily="34" charset="0"/>
                <a:ea typeface="Plus Jakarta Sans" pitchFamily="34" charset="-122"/>
                <a:cs typeface="Plus Jakarta Sans" pitchFamily="34" charset="-120"/>
              </a:rPr>
              <a:t>50</a:t>
            </a:r>
            <a:pPr algn="l" indent="0" marL="0">
              <a:lnSpc>
                <a:spcPct val="112000"/>
              </a:lnSpc>
              <a:buNone/>
            </a:pPr>
            <a:r>
              <a:rPr lang="en-US" sz="1800" b="1" dirty="0">
                <a:solidFill>
                  <a:srgbClr val="15B6FF"/>
                </a:solidFill>
                <a:latin typeface="Plus Jakarta Sans" pitchFamily="34" charset="0"/>
                <a:ea typeface="Plus Jakarta Sans" pitchFamily="34" charset="-122"/>
                <a:cs typeface="Plus Jakarta Sans" pitchFamily="34" charset="-120"/>
              </a:rPr>
              <a:t>%</a:t>
            </a:r>
            <a:endParaRPr lang="en-US" sz="3600" dirty="0"/>
          </a:p>
        </p:txBody>
      </p:sp>
      <p:sp>
        <p:nvSpPr>
          <p:cNvPr id="15" name="anim-3-11"/>
          <p:cNvSpPr txBox="1"/>
          <p:nvPr/>
        </p:nvSpPr>
        <p:spPr>
          <a:xfrm>
            <a:off x="5003800" y="2260600"/>
            <a:ext cx="1289050" cy="635000"/>
          </a:xfrm>
          <a:prstGeom prst="rect">
            <a:avLst/>
          </a:prstGeom>
          <a:noFill/>
          <a:ln/>
        </p:spPr>
        <p:txBody>
          <a:bodyPr wrap="square" lIns="0" tIns="0" rIns="0" bIns="0" rtlCol="0" anchor="t"/>
          <a:lstStyle/>
          <a:p>
            <a:pPr algn="l" indent="0" marL="0">
              <a:lnSpc>
                <a:spcPct val="112000"/>
              </a:lnSpc>
              <a:buNone/>
            </a:pPr>
            <a:r>
              <a:rPr lang="en-US" sz="900" dirty="0">
                <a:solidFill>
                  <a:srgbClr val="C3C8D1"/>
                </a:solidFill>
                <a:latin typeface="Plus Jakarta Sans" pitchFamily="34" charset="0"/>
                <a:ea typeface="Plus Jakarta Sans" pitchFamily="34" charset="-122"/>
                <a:cs typeface="Plus Jakarta Sans" pitchFamily="34" charset="-120"/>
              </a:rPr>
              <a:t>Approved lead-gen campaign</a:t>
            </a:r>
            <a:endParaRPr lang="en-US" sz="900" dirty="0"/>
          </a:p>
        </p:txBody>
      </p:sp>
      <p:sp>
        <p:nvSpPr>
          <p:cNvPr id="16" name="anim-4-12"/>
          <p:cNvSpPr/>
          <p:nvPr/>
        </p:nvSpPr>
        <p:spPr>
          <a:xfrm>
            <a:off x="6597650" y="1308100"/>
            <a:ext cx="1593850" cy="1689100"/>
          </a:xfrm>
          <a:prstGeom prst="roundRect">
            <a:avLst>
              <a:gd name="adj" fmla="val 12749"/>
            </a:avLst>
          </a:prstGeom>
          <a:solidFill>
            <a:srgbClr val="FFFFFF">
              <a:alpha val="5000"/>
            </a:srgbClr>
          </a:solidFill>
          <a:ln w="9525">
            <a:solidFill>
              <a:srgbClr val="FFFFFF">
                <a:alpha val="12000"/>
              </a:srgbClr>
            </a:solidFill>
            <a:prstDash val="solid"/>
          </a:ln>
        </p:spPr>
      </p:sp>
      <p:sp>
        <p:nvSpPr>
          <p:cNvPr id="17" name="anim-4-13"/>
          <p:cNvSpPr txBox="1"/>
          <p:nvPr/>
        </p:nvSpPr>
        <p:spPr>
          <a:xfrm>
            <a:off x="6750050" y="1435100"/>
            <a:ext cx="1289050" cy="139700"/>
          </a:xfrm>
          <a:prstGeom prst="rect">
            <a:avLst/>
          </a:prstGeom>
          <a:noFill/>
          <a:ln/>
        </p:spPr>
        <p:txBody>
          <a:bodyPr wrap="square" lIns="0" tIns="0" rIns="0" bIns="0" rtlCol="0" anchor="t"/>
          <a:lstStyle/>
          <a:p>
            <a:pPr algn="l" indent="0" marL="0">
              <a:lnSpc>
                <a:spcPct val="112000"/>
              </a:lnSpc>
              <a:buNone/>
            </a:pPr>
            <a:r>
              <a:rPr lang="en-US" sz="700" spc="200" kern="0" dirty="0">
                <a:solidFill>
                  <a:srgbClr val="15B6FF"/>
                </a:solidFill>
                <a:latin typeface="Plus Jakarta Sans SemiBold" pitchFamily="34" charset="0"/>
                <a:ea typeface="Plus Jakarta Sans SemiBold" pitchFamily="34" charset="-122"/>
                <a:cs typeface="Plus Jakarta Sans SemiBold" pitchFamily="34" charset="-120"/>
              </a:rPr>
              <a:t>UP TO</a:t>
            </a:r>
            <a:endParaRPr lang="en-US" sz="700" dirty="0"/>
          </a:p>
        </p:txBody>
      </p:sp>
      <p:sp>
        <p:nvSpPr>
          <p:cNvPr id="18" name="anim-4-14"/>
          <p:cNvSpPr txBox="1"/>
          <p:nvPr/>
        </p:nvSpPr>
        <p:spPr>
          <a:xfrm>
            <a:off x="6750050" y="1574800"/>
            <a:ext cx="1289050" cy="584200"/>
          </a:xfrm>
          <a:prstGeom prst="rect">
            <a:avLst/>
          </a:prstGeom>
          <a:noFill/>
          <a:ln/>
        </p:spPr>
        <p:txBody>
          <a:bodyPr wrap="square" lIns="0" tIns="0" rIns="0" bIns="0" rtlCol="0" anchor="b"/>
          <a:lstStyle/>
          <a:p>
            <a:pPr algn="l" indent="0" marL="0">
              <a:lnSpc>
                <a:spcPct val="112000"/>
              </a:lnSpc>
              <a:buNone/>
            </a:pPr>
            <a:r>
              <a:rPr lang="en-US" sz="3600" b="1" dirty="0">
                <a:solidFill>
                  <a:srgbClr val="FFFFFF"/>
                </a:solidFill>
                <a:latin typeface="Plus Jakarta Sans" pitchFamily="34" charset="0"/>
                <a:ea typeface="Plus Jakarta Sans" pitchFamily="34" charset="-122"/>
                <a:cs typeface="Plus Jakarta Sans" pitchFamily="34" charset="-120"/>
              </a:rPr>
              <a:t>50</a:t>
            </a:r>
            <a:pPr algn="l" indent="0" marL="0">
              <a:lnSpc>
                <a:spcPct val="112000"/>
              </a:lnSpc>
              <a:buNone/>
            </a:pPr>
            <a:r>
              <a:rPr lang="en-US" sz="1800" b="1" dirty="0">
                <a:solidFill>
                  <a:srgbClr val="15B6FF"/>
                </a:solidFill>
                <a:latin typeface="Plus Jakarta Sans" pitchFamily="34" charset="0"/>
                <a:ea typeface="Plus Jakarta Sans" pitchFamily="34" charset="-122"/>
                <a:cs typeface="Plus Jakarta Sans" pitchFamily="34" charset="-120"/>
              </a:rPr>
              <a:t>%</a:t>
            </a:r>
            <a:endParaRPr lang="en-US" sz="3600" dirty="0"/>
          </a:p>
        </p:txBody>
      </p:sp>
      <p:sp>
        <p:nvSpPr>
          <p:cNvPr id="19" name="anim-4-15"/>
          <p:cNvSpPr txBox="1"/>
          <p:nvPr/>
        </p:nvSpPr>
        <p:spPr>
          <a:xfrm>
            <a:off x="6750050" y="2260600"/>
            <a:ext cx="1289050" cy="635000"/>
          </a:xfrm>
          <a:prstGeom prst="rect">
            <a:avLst/>
          </a:prstGeom>
          <a:noFill/>
          <a:ln/>
        </p:spPr>
        <p:txBody>
          <a:bodyPr wrap="square" lIns="0" tIns="0" rIns="0" bIns="0" rtlCol="0" anchor="t"/>
          <a:lstStyle/>
          <a:p>
            <a:pPr algn="l" indent="0" marL="0">
              <a:lnSpc>
                <a:spcPct val="112000"/>
              </a:lnSpc>
              <a:buNone/>
            </a:pPr>
            <a:r>
              <a:rPr lang="en-US" sz="900" dirty="0">
                <a:solidFill>
                  <a:srgbClr val="C3C8D1"/>
                </a:solidFill>
                <a:latin typeface="Plus Jakarta Sans" pitchFamily="34" charset="0"/>
                <a:ea typeface="Plus Jakarta Sans" pitchFamily="34" charset="-122"/>
                <a:cs typeface="Plus Jakarta Sans" pitchFamily="34" charset="-120"/>
              </a:rPr>
              <a:t>Strategic executive event</a:t>
            </a:r>
            <a:endParaRPr lang="en-US" sz="900" dirty="0"/>
          </a:p>
        </p:txBody>
      </p:sp>
      <p:sp>
        <p:nvSpPr>
          <p:cNvPr id="20" name="anim-5-16"/>
          <p:cNvSpPr/>
          <p:nvPr/>
        </p:nvSpPr>
        <p:spPr>
          <a:xfrm>
            <a:off x="8343900" y="1308100"/>
            <a:ext cx="1593850" cy="1689100"/>
          </a:xfrm>
          <a:prstGeom prst="roundRect">
            <a:avLst>
              <a:gd name="adj" fmla="val 12749"/>
            </a:avLst>
          </a:prstGeom>
          <a:solidFill>
            <a:srgbClr val="FFFFFF">
              <a:alpha val="5000"/>
            </a:srgbClr>
          </a:solidFill>
          <a:ln w="9525">
            <a:solidFill>
              <a:srgbClr val="FFFFFF">
                <a:alpha val="12000"/>
              </a:srgbClr>
            </a:solidFill>
            <a:prstDash val="solid"/>
          </a:ln>
        </p:spPr>
      </p:sp>
      <p:sp>
        <p:nvSpPr>
          <p:cNvPr id="21" name="anim-5-17"/>
          <p:cNvSpPr txBox="1"/>
          <p:nvPr/>
        </p:nvSpPr>
        <p:spPr>
          <a:xfrm>
            <a:off x="8496300" y="1435100"/>
            <a:ext cx="1289050" cy="139700"/>
          </a:xfrm>
          <a:prstGeom prst="rect">
            <a:avLst/>
          </a:prstGeom>
          <a:noFill/>
          <a:ln/>
        </p:spPr>
        <p:txBody>
          <a:bodyPr wrap="square" lIns="0" tIns="0" rIns="0" bIns="0" rtlCol="0" anchor="t"/>
          <a:lstStyle/>
          <a:p>
            <a:pPr algn="l" indent="0" marL="0">
              <a:lnSpc>
                <a:spcPct val="112000"/>
              </a:lnSpc>
              <a:buNone/>
            </a:pPr>
            <a:r>
              <a:rPr lang="en-US" sz="700" spc="200" kern="0" dirty="0">
                <a:solidFill>
                  <a:srgbClr val="15B6FF"/>
                </a:solidFill>
                <a:latin typeface="Plus Jakarta Sans SemiBold" pitchFamily="34" charset="0"/>
                <a:ea typeface="Plus Jakarta Sans SemiBold" pitchFamily="34" charset="-122"/>
                <a:cs typeface="Plus Jakarta Sans SemiBold" pitchFamily="34" charset="-120"/>
              </a:rPr>
              <a:t>UP TO</a:t>
            </a:r>
            <a:endParaRPr lang="en-US" sz="700" dirty="0"/>
          </a:p>
        </p:txBody>
      </p:sp>
      <p:sp>
        <p:nvSpPr>
          <p:cNvPr id="22" name="anim-5-18"/>
          <p:cNvSpPr txBox="1"/>
          <p:nvPr/>
        </p:nvSpPr>
        <p:spPr>
          <a:xfrm>
            <a:off x="8496300" y="1574800"/>
            <a:ext cx="1289050" cy="584200"/>
          </a:xfrm>
          <a:prstGeom prst="rect">
            <a:avLst/>
          </a:prstGeom>
          <a:noFill/>
          <a:ln/>
        </p:spPr>
        <p:txBody>
          <a:bodyPr wrap="square" lIns="0" tIns="0" rIns="0" bIns="0" rtlCol="0" anchor="b"/>
          <a:lstStyle/>
          <a:p>
            <a:pPr algn="l" indent="0" marL="0">
              <a:lnSpc>
                <a:spcPct val="112000"/>
              </a:lnSpc>
              <a:buNone/>
            </a:pPr>
            <a:r>
              <a:rPr lang="en-US" sz="3600" b="1" dirty="0">
                <a:solidFill>
                  <a:srgbClr val="FFFFFF"/>
                </a:solidFill>
                <a:latin typeface="Plus Jakarta Sans" pitchFamily="34" charset="0"/>
                <a:ea typeface="Plus Jakarta Sans" pitchFamily="34" charset="-122"/>
                <a:cs typeface="Plus Jakarta Sans" pitchFamily="34" charset="-120"/>
              </a:rPr>
              <a:t>25</a:t>
            </a:r>
            <a:pPr algn="l" indent="0" marL="0">
              <a:lnSpc>
                <a:spcPct val="112000"/>
              </a:lnSpc>
              <a:buNone/>
            </a:pPr>
            <a:r>
              <a:rPr lang="en-US" sz="1800" b="1" dirty="0">
                <a:solidFill>
                  <a:srgbClr val="15B6FF"/>
                </a:solidFill>
                <a:latin typeface="Plus Jakarta Sans" pitchFamily="34" charset="0"/>
                <a:ea typeface="Plus Jakarta Sans" pitchFamily="34" charset="-122"/>
                <a:cs typeface="Plus Jakarta Sans" pitchFamily="34" charset="-120"/>
              </a:rPr>
              <a:t>%</a:t>
            </a:r>
            <a:endParaRPr lang="en-US" sz="3600" dirty="0"/>
          </a:p>
        </p:txBody>
      </p:sp>
      <p:sp>
        <p:nvSpPr>
          <p:cNvPr id="23" name="anim-5-19"/>
          <p:cNvSpPr txBox="1"/>
          <p:nvPr/>
        </p:nvSpPr>
        <p:spPr>
          <a:xfrm>
            <a:off x="8496300" y="2260600"/>
            <a:ext cx="1289050" cy="635000"/>
          </a:xfrm>
          <a:prstGeom prst="rect">
            <a:avLst/>
          </a:prstGeom>
          <a:noFill/>
          <a:ln/>
        </p:spPr>
        <p:txBody>
          <a:bodyPr wrap="square" lIns="0" tIns="0" rIns="0" bIns="0" rtlCol="0" anchor="t"/>
          <a:lstStyle/>
          <a:p>
            <a:pPr algn="l" indent="0" marL="0">
              <a:lnSpc>
                <a:spcPct val="112000"/>
              </a:lnSpc>
              <a:buNone/>
            </a:pPr>
            <a:r>
              <a:rPr lang="en-US" sz="900" dirty="0">
                <a:solidFill>
                  <a:srgbClr val="C3C8D1"/>
                </a:solidFill>
                <a:latin typeface="Plus Jakarta Sans" pitchFamily="34" charset="0"/>
                <a:ea typeface="Plus Jakarta Sans" pitchFamily="34" charset="-122"/>
                <a:cs typeface="Plus Jakarta Sans" pitchFamily="34" charset="-120"/>
              </a:rPr>
              <a:t>Partner-owned campaign</a:t>
            </a:r>
            <a:endParaRPr lang="en-US" sz="900" dirty="0"/>
          </a:p>
        </p:txBody>
      </p:sp>
      <p:sp>
        <p:nvSpPr>
          <p:cNvPr id="24" name="anim-6-20"/>
          <p:cNvSpPr/>
          <p:nvPr/>
        </p:nvSpPr>
        <p:spPr>
          <a:xfrm>
            <a:off x="10090150" y="1308100"/>
            <a:ext cx="1593850" cy="1689100"/>
          </a:xfrm>
          <a:prstGeom prst="roundRect">
            <a:avLst>
              <a:gd name="adj" fmla="val 12749"/>
            </a:avLst>
          </a:prstGeom>
          <a:solidFill>
            <a:srgbClr val="194EFF">
              <a:alpha val="30000"/>
            </a:srgbClr>
          </a:solidFill>
          <a:ln w="15875">
            <a:solidFill>
              <a:srgbClr val="194EFF"/>
            </a:solidFill>
            <a:prstDash val="solid"/>
          </a:ln>
        </p:spPr>
      </p:sp>
      <p:sp>
        <p:nvSpPr>
          <p:cNvPr id="25" name="anim-6-21"/>
          <p:cNvSpPr txBox="1"/>
          <p:nvPr/>
        </p:nvSpPr>
        <p:spPr>
          <a:xfrm>
            <a:off x="10242550" y="1435100"/>
            <a:ext cx="1289050" cy="139700"/>
          </a:xfrm>
          <a:prstGeom prst="rect">
            <a:avLst/>
          </a:prstGeom>
          <a:noFill/>
          <a:ln/>
        </p:spPr>
        <p:txBody>
          <a:bodyPr wrap="square" lIns="0" tIns="0" rIns="0" bIns="0" rtlCol="0" anchor="t"/>
          <a:lstStyle/>
          <a:p>
            <a:pPr algn="l" indent="0" marL="0">
              <a:lnSpc>
                <a:spcPct val="112000"/>
              </a:lnSpc>
              <a:buNone/>
            </a:pPr>
            <a:r>
              <a:rPr lang="en-US" sz="700" spc="200" kern="0" dirty="0">
                <a:solidFill>
                  <a:srgbClr val="15B6FF"/>
                </a:solidFill>
                <a:latin typeface="Plus Jakarta Sans SemiBold" pitchFamily="34" charset="0"/>
                <a:ea typeface="Plus Jakarta Sans SemiBold" pitchFamily="34" charset="-122"/>
                <a:cs typeface="Plus Jakarta Sans SemiBold" pitchFamily="34" charset="-120"/>
              </a:rPr>
              <a:t>UP TO</a:t>
            </a:r>
            <a:endParaRPr lang="en-US" sz="700" dirty="0"/>
          </a:p>
        </p:txBody>
      </p:sp>
      <p:sp>
        <p:nvSpPr>
          <p:cNvPr id="26" name="anim-6-22"/>
          <p:cNvSpPr txBox="1"/>
          <p:nvPr/>
        </p:nvSpPr>
        <p:spPr>
          <a:xfrm>
            <a:off x="10242550" y="1574800"/>
            <a:ext cx="1289050" cy="584200"/>
          </a:xfrm>
          <a:prstGeom prst="rect">
            <a:avLst/>
          </a:prstGeom>
          <a:noFill/>
          <a:ln/>
        </p:spPr>
        <p:txBody>
          <a:bodyPr wrap="square" lIns="0" tIns="0" rIns="0" bIns="0" rtlCol="0" anchor="b"/>
          <a:lstStyle/>
          <a:p>
            <a:pPr algn="l" indent="0" marL="0">
              <a:lnSpc>
                <a:spcPct val="112000"/>
              </a:lnSpc>
              <a:buNone/>
            </a:pPr>
            <a:r>
              <a:rPr lang="en-US" sz="3600" b="1" dirty="0">
                <a:solidFill>
                  <a:srgbClr val="FFFFFF"/>
                </a:solidFill>
                <a:latin typeface="Plus Jakarta Sans" pitchFamily="34" charset="0"/>
                <a:ea typeface="Plus Jakarta Sans" pitchFamily="34" charset="-122"/>
                <a:cs typeface="Plus Jakarta Sans" pitchFamily="34" charset="-120"/>
              </a:rPr>
              <a:t>75</a:t>
            </a:r>
            <a:pPr algn="l" indent="0" marL="0">
              <a:lnSpc>
                <a:spcPct val="112000"/>
              </a:lnSpc>
              <a:buNone/>
            </a:pPr>
            <a:r>
              <a:rPr lang="en-US" sz="1800" b="1" dirty="0">
                <a:solidFill>
                  <a:srgbClr val="15B6FF"/>
                </a:solidFill>
                <a:latin typeface="Plus Jakarta Sans" pitchFamily="34" charset="0"/>
                <a:ea typeface="Plus Jakarta Sans" pitchFamily="34" charset="-122"/>
                <a:cs typeface="Plus Jakarta Sans" pitchFamily="34" charset="-120"/>
              </a:rPr>
              <a:t>%</a:t>
            </a:r>
            <a:endParaRPr lang="en-US" sz="3600" dirty="0"/>
          </a:p>
        </p:txBody>
      </p:sp>
      <p:sp>
        <p:nvSpPr>
          <p:cNvPr id="27" name="anim-6-23"/>
          <p:cNvSpPr txBox="1"/>
          <p:nvPr/>
        </p:nvSpPr>
        <p:spPr>
          <a:xfrm>
            <a:off x="10242550" y="2260600"/>
            <a:ext cx="1289050" cy="635000"/>
          </a:xfrm>
          <a:prstGeom prst="rect">
            <a:avLst/>
          </a:prstGeom>
          <a:noFill/>
          <a:ln/>
        </p:spPr>
        <p:txBody>
          <a:bodyPr wrap="square" lIns="0" tIns="0" rIns="0" bIns="0" rtlCol="0" anchor="t"/>
          <a:lstStyle/>
          <a:p>
            <a:pPr algn="l" indent="0" marL="0">
              <a:lnSpc>
                <a:spcPct val="112000"/>
              </a:lnSpc>
              <a:buNone/>
            </a:pPr>
            <a:r>
              <a:rPr lang="en-US" sz="900" dirty="0">
                <a:solidFill>
                  <a:srgbClr val="C3C8D1"/>
                </a:solidFill>
                <a:latin typeface="Plus Jakarta Sans" pitchFamily="34" charset="0"/>
                <a:ea typeface="Plus Jakarta Sans" pitchFamily="34" charset="-122"/>
                <a:cs typeface="Plus Jakarta Sans" pitchFamily="34" charset="-120"/>
              </a:rPr>
              <a:t>DignifyX-priority campaign (exec approval)</a:t>
            </a:r>
            <a:endParaRPr lang="en-US" sz="900" dirty="0"/>
          </a:p>
        </p:txBody>
      </p:sp>
      <p:sp>
        <p:nvSpPr>
          <p:cNvPr id="28" name="anim-7-24"/>
          <p:cNvSpPr/>
          <p:nvPr/>
        </p:nvSpPr>
        <p:spPr>
          <a:xfrm>
            <a:off x="4851400" y="3149600"/>
            <a:ext cx="6832600" cy="2362200"/>
          </a:xfrm>
          <a:prstGeom prst="roundRect">
            <a:avLst>
              <a:gd name="adj" fmla="val 10753"/>
            </a:avLst>
          </a:prstGeom>
          <a:solidFill>
            <a:srgbClr val="FFFFFF">
              <a:alpha val="5000"/>
            </a:srgbClr>
          </a:solidFill>
          <a:ln w="9525">
            <a:solidFill>
              <a:srgbClr val="FFFFFF">
                <a:alpha val="12000"/>
              </a:srgbClr>
            </a:solidFill>
            <a:prstDash val="solid"/>
          </a:ln>
        </p:spPr>
      </p:sp>
      <p:sp>
        <p:nvSpPr>
          <p:cNvPr id="29" name="anim-7-25"/>
          <p:cNvSpPr txBox="1"/>
          <p:nvPr/>
        </p:nvSpPr>
        <p:spPr>
          <a:xfrm>
            <a:off x="5054600" y="3302000"/>
            <a:ext cx="3810000" cy="165100"/>
          </a:xfrm>
          <a:prstGeom prst="rect">
            <a:avLst/>
          </a:prstGeom>
          <a:noFill/>
          <a:ln/>
        </p:spPr>
        <p:txBody>
          <a:bodyPr wrap="square" lIns="0" tIns="0" rIns="0" bIns="0" rtlCol="0" anchor="t"/>
          <a:lstStyle/>
          <a:p>
            <a:pPr algn="l" indent="0" marL="0">
              <a:lnSpc>
                <a:spcPct val="112000"/>
              </a:lnSpc>
              <a:buNone/>
            </a:pPr>
            <a:r>
              <a:rPr lang="en-US" sz="800" spc="200" kern="0" dirty="0">
                <a:solidFill>
                  <a:srgbClr val="15B6FF"/>
                </a:solidFill>
                <a:latin typeface="Plus Jakarta Sans SemiBold" pitchFamily="34" charset="0"/>
                <a:ea typeface="Plus Jakarta Sans SemiBold" pitchFamily="34" charset="-122"/>
                <a:cs typeface="Plus Jakarta Sans SemiBold" pitchFamily="34" charset="-120"/>
              </a:rPr>
              <a:t>ELIGIBLE CAMPAIGNS</a:t>
            </a:r>
            <a:endParaRPr lang="en-US" sz="800" dirty="0"/>
          </a:p>
        </p:txBody>
      </p:sp>
      <p:sp>
        <p:nvSpPr>
          <p:cNvPr id="30" name="anim-7-26"/>
          <p:cNvSpPr/>
          <p:nvPr/>
        </p:nvSpPr>
        <p:spPr>
          <a:xfrm>
            <a:off x="5054600" y="3594100"/>
            <a:ext cx="1835150" cy="279400"/>
          </a:xfrm>
          <a:prstGeom prst="roundRect">
            <a:avLst>
              <a:gd name="adj" fmla="val 50000"/>
            </a:avLst>
          </a:prstGeom>
          <a:solidFill>
            <a:srgbClr val="FFFFFF">
              <a:alpha val="8000"/>
            </a:srgbClr>
          </a:solidFill>
          <a:ln w="9525">
            <a:solidFill>
              <a:srgbClr val="FFFFFF">
                <a:alpha val="20000"/>
              </a:srgbClr>
            </a:solidFill>
            <a:prstDash val="solid"/>
          </a:ln>
        </p:spPr>
      </p:sp>
      <p:sp>
        <p:nvSpPr>
          <p:cNvPr id="31" name="anim-7-27"/>
          <p:cNvSpPr txBox="1"/>
          <p:nvPr/>
        </p:nvSpPr>
        <p:spPr>
          <a:xfrm>
            <a:off x="5054600" y="3594100"/>
            <a:ext cx="1835150" cy="279400"/>
          </a:xfrm>
          <a:prstGeom prst="rect">
            <a:avLst/>
          </a:prstGeom>
          <a:noFill/>
          <a:ln/>
        </p:spPr>
        <p:txBody>
          <a:bodyPr wrap="square" lIns="0" tIns="0" rIns="0" bIns="0" rtlCol="0" anchor="ctr"/>
          <a:lstStyle/>
          <a:p>
            <a:pPr algn="ctr" indent="0" marL="0">
              <a:lnSpc>
                <a:spcPct val="112000"/>
              </a:lnSpc>
              <a:buNone/>
            </a:pPr>
            <a:r>
              <a:rPr lang="en-US" sz="850" dirty="0">
                <a:solidFill>
                  <a:srgbClr val="FFFFFF"/>
                </a:solidFill>
                <a:latin typeface="Plus Jakarta Sans SemiBold" pitchFamily="34" charset="0"/>
                <a:ea typeface="Plus Jakarta Sans SemiBold" pitchFamily="34" charset="-122"/>
                <a:cs typeface="Plus Jakarta Sans SemiBold" pitchFamily="34" charset="-120"/>
              </a:rPr>
              <a:t>Agency leader roundtables</a:t>
            </a:r>
            <a:endParaRPr lang="en-US" sz="850" dirty="0"/>
          </a:p>
        </p:txBody>
      </p:sp>
      <p:sp>
        <p:nvSpPr>
          <p:cNvPr id="32" name="anim-7-28"/>
          <p:cNvSpPr/>
          <p:nvPr/>
        </p:nvSpPr>
        <p:spPr>
          <a:xfrm>
            <a:off x="6965950" y="3594100"/>
            <a:ext cx="2094230" cy="279400"/>
          </a:xfrm>
          <a:prstGeom prst="roundRect">
            <a:avLst>
              <a:gd name="adj" fmla="val 50000"/>
            </a:avLst>
          </a:prstGeom>
          <a:solidFill>
            <a:srgbClr val="FFFFFF">
              <a:alpha val="8000"/>
            </a:srgbClr>
          </a:solidFill>
          <a:ln w="9525">
            <a:solidFill>
              <a:srgbClr val="FFFFFF">
                <a:alpha val="20000"/>
              </a:srgbClr>
            </a:solidFill>
            <a:prstDash val="solid"/>
          </a:ln>
        </p:spPr>
      </p:sp>
      <p:sp>
        <p:nvSpPr>
          <p:cNvPr id="33" name="anim-7-29"/>
          <p:cNvSpPr txBox="1"/>
          <p:nvPr/>
        </p:nvSpPr>
        <p:spPr>
          <a:xfrm>
            <a:off x="6965950" y="3594100"/>
            <a:ext cx="2094230" cy="279400"/>
          </a:xfrm>
          <a:prstGeom prst="rect">
            <a:avLst/>
          </a:prstGeom>
          <a:noFill/>
          <a:ln/>
        </p:spPr>
        <p:txBody>
          <a:bodyPr wrap="square" lIns="0" tIns="0" rIns="0" bIns="0" rtlCol="0" anchor="ctr"/>
          <a:lstStyle/>
          <a:p>
            <a:pPr algn="ctr" indent="0" marL="0">
              <a:lnSpc>
                <a:spcPct val="112000"/>
              </a:lnSpc>
              <a:buNone/>
            </a:pPr>
            <a:r>
              <a:rPr lang="en-US" sz="850" dirty="0">
                <a:solidFill>
                  <a:srgbClr val="FFFFFF"/>
                </a:solidFill>
                <a:latin typeface="Plus Jakarta Sans SemiBold" pitchFamily="34" charset="0"/>
                <a:ea typeface="Plus Jakarta Sans SemiBold" pitchFamily="34" charset="-122"/>
                <a:cs typeface="Plus Jakarta Sans SemiBold" pitchFamily="34" charset="-120"/>
              </a:rPr>
              <a:t>MDRT / COT readiness webinars</a:t>
            </a:r>
            <a:endParaRPr lang="en-US" sz="850" dirty="0"/>
          </a:p>
        </p:txBody>
      </p:sp>
      <p:sp>
        <p:nvSpPr>
          <p:cNvPr id="34" name="anim-7-30"/>
          <p:cNvSpPr/>
          <p:nvPr/>
        </p:nvSpPr>
        <p:spPr>
          <a:xfrm>
            <a:off x="5054600" y="3975100"/>
            <a:ext cx="2353310" cy="279400"/>
          </a:xfrm>
          <a:prstGeom prst="roundRect">
            <a:avLst>
              <a:gd name="adj" fmla="val 50000"/>
            </a:avLst>
          </a:prstGeom>
          <a:solidFill>
            <a:srgbClr val="FFFFFF">
              <a:alpha val="8000"/>
            </a:srgbClr>
          </a:solidFill>
          <a:ln w="9525">
            <a:solidFill>
              <a:srgbClr val="FFFFFF">
                <a:alpha val="20000"/>
              </a:srgbClr>
            </a:solidFill>
            <a:prstDash val="solid"/>
          </a:ln>
        </p:spPr>
      </p:sp>
      <p:sp>
        <p:nvSpPr>
          <p:cNvPr id="35" name="anim-7-31"/>
          <p:cNvSpPr txBox="1"/>
          <p:nvPr/>
        </p:nvSpPr>
        <p:spPr>
          <a:xfrm>
            <a:off x="5054600" y="3975100"/>
            <a:ext cx="2353310" cy="279400"/>
          </a:xfrm>
          <a:prstGeom prst="rect">
            <a:avLst/>
          </a:prstGeom>
          <a:noFill/>
          <a:ln/>
        </p:spPr>
        <p:txBody>
          <a:bodyPr wrap="square" lIns="0" tIns="0" rIns="0" bIns="0" rtlCol="0" anchor="ctr"/>
          <a:lstStyle/>
          <a:p>
            <a:pPr algn="ctr" indent="0" marL="0">
              <a:lnSpc>
                <a:spcPct val="112000"/>
              </a:lnSpc>
              <a:buNone/>
            </a:pPr>
            <a:r>
              <a:rPr lang="en-US" sz="850" dirty="0">
                <a:solidFill>
                  <a:srgbClr val="FFFFFF"/>
                </a:solidFill>
                <a:latin typeface="Plus Jakarta Sans SemiBold" pitchFamily="34" charset="0"/>
                <a:ea typeface="Plus Jakarta Sans SemiBold" pitchFamily="34" charset="-122"/>
                <a:cs typeface="Plus Jakarta Sans SemiBold" pitchFamily="34" charset="-120"/>
              </a:rPr>
              <a:t>AI-governance in insurance events</a:t>
            </a:r>
            <a:endParaRPr lang="en-US" sz="850" dirty="0"/>
          </a:p>
        </p:txBody>
      </p:sp>
      <p:sp>
        <p:nvSpPr>
          <p:cNvPr id="36" name="anim-7-32"/>
          <p:cNvSpPr/>
          <p:nvPr/>
        </p:nvSpPr>
        <p:spPr>
          <a:xfrm>
            <a:off x="7484110" y="3975100"/>
            <a:ext cx="1770380" cy="279400"/>
          </a:xfrm>
          <a:prstGeom prst="roundRect">
            <a:avLst>
              <a:gd name="adj" fmla="val 50000"/>
            </a:avLst>
          </a:prstGeom>
          <a:solidFill>
            <a:srgbClr val="FFFFFF">
              <a:alpha val="8000"/>
            </a:srgbClr>
          </a:solidFill>
          <a:ln w="9525">
            <a:solidFill>
              <a:srgbClr val="FFFFFF">
                <a:alpha val="20000"/>
              </a:srgbClr>
            </a:solidFill>
            <a:prstDash val="solid"/>
          </a:ln>
        </p:spPr>
      </p:sp>
      <p:sp>
        <p:nvSpPr>
          <p:cNvPr id="37" name="anim-7-33"/>
          <p:cNvSpPr txBox="1"/>
          <p:nvPr/>
        </p:nvSpPr>
        <p:spPr>
          <a:xfrm>
            <a:off x="7484110" y="3975100"/>
            <a:ext cx="1770380" cy="279400"/>
          </a:xfrm>
          <a:prstGeom prst="rect">
            <a:avLst/>
          </a:prstGeom>
          <a:noFill/>
          <a:ln/>
        </p:spPr>
        <p:txBody>
          <a:bodyPr wrap="square" lIns="0" tIns="0" rIns="0" bIns="0" rtlCol="0" anchor="ctr"/>
          <a:lstStyle/>
          <a:p>
            <a:pPr algn="ctr" indent="0" marL="0">
              <a:lnSpc>
                <a:spcPct val="112000"/>
              </a:lnSpc>
              <a:buNone/>
            </a:pPr>
            <a:r>
              <a:rPr lang="en-US" sz="850" dirty="0">
                <a:solidFill>
                  <a:srgbClr val="FFFFFF"/>
                </a:solidFill>
                <a:latin typeface="Plus Jakarta Sans SemiBold" pitchFamily="34" charset="0"/>
                <a:ea typeface="Plus Jakarta Sans SemiBold" pitchFamily="34" charset="-122"/>
                <a:cs typeface="Plus Jakarta Sans SemiBold" pitchFamily="34" charset="-120"/>
              </a:rPr>
              <a:t>Joint thought leadership</a:t>
            </a:r>
            <a:endParaRPr lang="en-US" sz="850" dirty="0"/>
          </a:p>
        </p:txBody>
      </p:sp>
      <p:sp>
        <p:nvSpPr>
          <p:cNvPr id="38" name="anim-7-34"/>
          <p:cNvSpPr/>
          <p:nvPr/>
        </p:nvSpPr>
        <p:spPr>
          <a:xfrm>
            <a:off x="5054600" y="4356100"/>
            <a:ext cx="2547620" cy="279400"/>
          </a:xfrm>
          <a:prstGeom prst="roundRect">
            <a:avLst>
              <a:gd name="adj" fmla="val 50000"/>
            </a:avLst>
          </a:prstGeom>
          <a:solidFill>
            <a:srgbClr val="FFFFFF">
              <a:alpha val="8000"/>
            </a:srgbClr>
          </a:solidFill>
          <a:ln w="9525">
            <a:solidFill>
              <a:srgbClr val="FFFFFF">
                <a:alpha val="20000"/>
              </a:srgbClr>
            </a:solidFill>
            <a:prstDash val="solid"/>
          </a:ln>
        </p:spPr>
      </p:sp>
      <p:sp>
        <p:nvSpPr>
          <p:cNvPr id="39" name="anim-7-35"/>
          <p:cNvSpPr txBox="1"/>
          <p:nvPr/>
        </p:nvSpPr>
        <p:spPr>
          <a:xfrm>
            <a:off x="5054600" y="4356100"/>
            <a:ext cx="2547620" cy="279400"/>
          </a:xfrm>
          <a:prstGeom prst="rect">
            <a:avLst/>
          </a:prstGeom>
          <a:noFill/>
          <a:ln/>
        </p:spPr>
        <p:txBody>
          <a:bodyPr wrap="square" lIns="0" tIns="0" rIns="0" bIns="0" rtlCol="0" anchor="ctr"/>
          <a:lstStyle/>
          <a:p>
            <a:pPr algn="ctr" indent="0" marL="0">
              <a:lnSpc>
                <a:spcPct val="112000"/>
              </a:lnSpc>
              <a:buNone/>
            </a:pPr>
            <a:r>
              <a:rPr lang="en-US" sz="850" dirty="0">
                <a:solidFill>
                  <a:srgbClr val="FFFFFF"/>
                </a:solidFill>
                <a:latin typeface="Plus Jakarta Sans SemiBold" pitchFamily="34" charset="0"/>
                <a:ea typeface="Plus Jakarta Sans SemiBold" pitchFamily="34" charset="-122"/>
                <a:cs typeface="Plus Jakarta Sans SemiBold" pitchFamily="34" charset="-120"/>
              </a:rPr>
              <a:t>Insurance &amp; distribution conferences</a:t>
            </a:r>
            <a:endParaRPr lang="en-US" sz="850" dirty="0"/>
          </a:p>
        </p:txBody>
      </p:sp>
      <p:sp>
        <p:nvSpPr>
          <p:cNvPr id="40" name="anim-7-36"/>
          <p:cNvSpPr/>
          <p:nvPr/>
        </p:nvSpPr>
        <p:spPr>
          <a:xfrm>
            <a:off x="7678420" y="4356100"/>
            <a:ext cx="1187450" cy="279400"/>
          </a:xfrm>
          <a:prstGeom prst="roundRect">
            <a:avLst>
              <a:gd name="adj" fmla="val 50000"/>
            </a:avLst>
          </a:prstGeom>
          <a:solidFill>
            <a:srgbClr val="FFFFFF">
              <a:alpha val="8000"/>
            </a:srgbClr>
          </a:solidFill>
          <a:ln w="9525">
            <a:solidFill>
              <a:srgbClr val="FFFFFF">
                <a:alpha val="20000"/>
              </a:srgbClr>
            </a:solidFill>
            <a:prstDash val="solid"/>
          </a:ln>
        </p:spPr>
      </p:sp>
      <p:sp>
        <p:nvSpPr>
          <p:cNvPr id="41" name="anim-7-37"/>
          <p:cNvSpPr txBox="1"/>
          <p:nvPr/>
        </p:nvSpPr>
        <p:spPr>
          <a:xfrm>
            <a:off x="7678420" y="4356100"/>
            <a:ext cx="1187450" cy="279400"/>
          </a:xfrm>
          <a:prstGeom prst="rect">
            <a:avLst/>
          </a:prstGeom>
          <a:noFill/>
          <a:ln/>
        </p:spPr>
        <p:txBody>
          <a:bodyPr wrap="square" lIns="0" tIns="0" rIns="0" bIns="0" rtlCol="0" anchor="ctr"/>
          <a:lstStyle/>
          <a:p>
            <a:pPr algn="ctr" indent="0" marL="0">
              <a:lnSpc>
                <a:spcPct val="112000"/>
              </a:lnSpc>
              <a:buNone/>
            </a:pPr>
            <a:r>
              <a:rPr lang="en-US" sz="850" dirty="0">
                <a:solidFill>
                  <a:srgbClr val="FFFFFF"/>
                </a:solidFill>
                <a:latin typeface="Plus Jakarta Sans SemiBold" pitchFamily="34" charset="0"/>
                <a:ea typeface="Plus Jakarta Sans SemiBold" pitchFamily="34" charset="-122"/>
                <a:cs typeface="Plus Jakarta Sans SemiBold" pitchFamily="34" charset="-120"/>
              </a:rPr>
              <a:t>C-level dinners</a:t>
            </a:r>
            <a:endParaRPr lang="en-US" sz="850" dirty="0"/>
          </a:p>
        </p:txBody>
      </p:sp>
      <p:sp>
        <p:nvSpPr>
          <p:cNvPr id="42" name="anim-7-38"/>
          <p:cNvSpPr/>
          <p:nvPr/>
        </p:nvSpPr>
        <p:spPr>
          <a:xfrm>
            <a:off x="8942070" y="4356100"/>
            <a:ext cx="1705610" cy="279400"/>
          </a:xfrm>
          <a:prstGeom prst="roundRect">
            <a:avLst>
              <a:gd name="adj" fmla="val 50000"/>
            </a:avLst>
          </a:prstGeom>
          <a:solidFill>
            <a:srgbClr val="FFFFFF">
              <a:alpha val="8000"/>
            </a:srgbClr>
          </a:solidFill>
          <a:ln w="9525">
            <a:solidFill>
              <a:srgbClr val="FFFFFF">
                <a:alpha val="20000"/>
              </a:srgbClr>
            </a:solidFill>
            <a:prstDash val="solid"/>
          </a:ln>
        </p:spPr>
      </p:sp>
      <p:sp>
        <p:nvSpPr>
          <p:cNvPr id="43" name="anim-7-39"/>
          <p:cNvSpPr txBox="1"/>
          <p:nvPr/>
        </p:nvSpPr>
        <p:spPr>
          <a:xfrm>
            <a:off x="8942070" y="4356100"/>
            <a:ext cx="1705610" cy="279400"/>
          </a:xfrm>
          <a:prstGeom prst="rect">
            <a:avLst/>
          </a:prstGeom>
          <a:noFill/>
          <a:ln/>
        </p:spPr>
        <p:txBody>
          <a:bodyPr wrap="square" lIns="0" tIns="0" rIns="0" bIns="0" rtlCol="0" anchor="ctr"/>
          <a:lstStyle/>
          <a:p>
            <a:pPr algn="ctr" indent="0" marL="0">
              <a:lnSpc>
                <a:spcPct val="112000"/>
              </a:lnSpc>
              <a:buNone/>
            </a:pPr>
            <a:r>
              <a:rPr lang="en-US" sz="850" dirty="0">
                <a:solidFill>
                  <a:srgbClr val="FFFFFF"/>
                </a:solidFill>
                <a:latin typeface="Plus Jakarta Sans SemiBold" pitchFamily="34" charset="0"/>
                <a:ea typeface="Plus Jakarta Sans SemiBold" pitchFamily="34" charset="-122"/>
                <a:cs typeface="Plus Jakarta Sans SemiBold" pitchFamily="34" charset="-120"/>
              </a:rPr>
              <a:t>Account-based campaigns</a:t>
            </a:r>
            <a:endParaRPr lang="en-US" sz="850" dirty="0"/>
          </a:p>
        </p:txBody>
      </p:sp>
      <p:sp>
        <p:nvSpPr>
          <p:cNvPr id="44" name="anim-7-40"/>
          <p:cNvSpPr/>
          <p:nvPr/>
        </p:nvSpPr>
        <p:spPr>
          <a:xfrm>
            <a:off x="5054600" y="4737100"/>
            <a:ext cx="1316990" cy="279400"/>
          </a:xfrm>
          <a:prstGeom prst="roundRect">
            <a:avLst>
              <a:gd name="adj" fmla="val 50000"/>
            </a:avLst>
          </a:prstGeom>
          <a:solidFill>
            <a:srgbClr val="FFFFFF">
              <a:alpha val="8000"/>
            </a:srgbClr>
          </a:solidFill>
          <a:ln w="9525">
            <a:solidFill>
              <a:srgbClr val="FFFFFF">
                <a:alpha val="20000"/>
              </a:srgbClr>
            </a:solidFill>
            <a:prstDash val="solid"/>
          </a:ln>
        </p:spPr>
      </p:sp>
      <p:sp>
        <p:nvSpPr>
          <p:cNvPr id="45" name="anim-7-41"/>
          <p:cNvSpPr txBox="1"/>
          <p:nvPr/>
        </p:nvSpPr>
        <p:spPr>
          <a:xfrm>
            <a:off x="5054600" y="4737100"/>
            <a:ext cx="1316990" cy="279400"/>
          </a:xfrm>
          <a:prstGeom prst="rect">
            <a:avLst/>
          </a:prstGeom>
          <a:noFill/>
          <a:ln/>
        </p:spPr>
        <p:txBody>
          <a:bodyPr wrap="square" lIns="0" tIns="0" rIns="0" bIns="0" rtlCol="0" anchor="ctr"/>
          <a:lstStyle/>
          <a:p>
            <a:pPr algn="ctr" indent="0" marL="0">
              <a:lnSpc>
                <a:spcPct val="112000"/>
              </a:lnSpc>
              <a:buNone/>
            </a:pPr>
            <a:r>
              <a:rPr lang="en-US" sz="850" dirty="0">
                <a:solidFill>
                  <a:srgbClr val="FFFFFF"/>
                </a:solidFill>
                <a:latin typeface="Plus Jakarta Sans SemiBold" pitchFamily="34" charset="0"/>
                <a:ea typeface="Plus Jakarta Sans SemiBold" pitchFamily="34" charset="-122"/>
                <a:cs typeface="Plus Jakarta Sans SemiBold" pitchFamily="34" charset="-120"/>
              </a:rPr>
              <a:t>Cloud marketplace</a:t>
            </a:r>
            <a:endParaRPr lang="en-US" sz="850" dirty="0"/>
          </a:p>
        </p:txBody>
      </p:sp>
      <p:sp>
        <p:nvSpPr>
          <p:cNvPr id="46" name="anim-7-42"/>
          <p:cNvSpPr/>
          <p:nvPr/>
        </p:nvSpPr>
        <p:spPr>
          <a:xfrm>
            <a:off x="6447790" y="4737100"/>
            <a:ext cx="2094230" cy="279400"/>
          </a:xfrm>
          <a:prstGeom prst="roundRect">
            <a:avLst>
              <a:gd name="adj" fmla="val 50000"/>
            </a:avLst>
          </a:prstGeom>
          <a:solidFill>
            <a:srgbClr val="FFFFFF">
              <a:alpha val="8000"/>
            </a:srgbClr>
          </a:solidFill>
          <a:ln w="9525">
            <a:solidFill>
              <a:srgbClr val="FFFFFF">
                <a:alpha val="20000"/>
              </a:srgbClr>
            </a:solidFill>
            <a:prstDash val="solid"/>
          </a:ln>
        </p:spPr>
      </p:sp>
      <p:sp>
        <p:nvSpPr>
          <p:cNvPr id="47" name="anim-7-43"/>
          <p:cNvSpPr txBox="1"/>
          <p:nvPr/>
        </p:nvSpPr>
        <p:spPr>
          <a:xfrm>
            <a:off x="6447790" y="4737100"/>
            <a:ext cx="2094230" cy="279400"/>
          </a:xfrm>
          <a:prstGeom prst="rect">
            <a:avLst/>
          </a:prstGeom>
          <a:noFill/>
          <a:ln/>
        </p:spPr>
        <p:txBody>
          <a:bodyPr wrap="square" lIns="0" tIns="0" rIns="0" bIns="0" rtlCol="0" anchor="ctr"/>
          <a:lstStyle/>
          <a:p>
            <a:pPr algn="ctr" indent="0" marL="0">
              <a:lnSpc>
                <a:spcPct val="112000"/>
              </a:lnSpc>
              <a:buNone/>
            </a:pPr>
            <a:r>
              <a:rPr lang="en-US" sz="850" dirty="0">
                <a:solidFill>
                  <a:srgbClr val="FFFFFF"/>
                </a:solidFill>
                <a:latin typeface="Plus Jakarta Sans SemiBold" pitchFamily="34" charset="0"/>
                <a:ea typeface="Plus Jakarta Sans SemiBold" pitchFamily="34" charset="-122"/>
                <a:cs typeface="Plus Jakarta Sans SemiBold" pitchFamily="34" charset="-120"/>
              </a:rPr>
              <a:t>Insurer innovation programmes</a:t>
            </a:r>
            <a:endParaRPr lang="en-US" sz="850" dirty="0"/>
          </a:p>
        </p:txBody>
      </p:sp>
      <p:sp>
        <p:nvSpPr>
          <p:cNvPr id="48" name="anim-9-44"/>
          <p:cNvSpPr/>
          <p:nvPr/>
        </p:nvSpPr>
        <p:spPr>
          <a:xfrm>
            <a:off x="508000" y="5664200"/>
            <a:ext cx="11176000" cy="406400"/>
          </a:xfrm>
          <a:prstGeom prst="roundRect">
            <a:avLst>
              <a:gd name="adj" fmla="val 50000"/>
            </a:avLst>
          </a:prstGeom>
          <a:solidFill>
            <a:srgbClr val="FFFFFF">
              <a:alpha val="4000"/>
            </a:srgbClr>
          </a:solidFill>
          <a:ln w="9525">
            <a:solidFill>
              <a:srgbClr val="FFFFFF">
                <a:alpha val="22000"/>
              </a:srgbClr>
            </a:solidFill>
            <a:prstDash val="solid"/>
          </a:ln>
        </p:spPr>
      </p:sp>
      <p:sp>
        <p:nvSpPr>
          <p:cNvPr id="49" name="anim-9-45"/>
          <p:cNvSpPr txBox="1"/>
          <p:nvPr/>
        </p:nvSpPr>
        <p:spPr>
          <a:xfrm>
            <a:off x="762000" y="5664200"/>
            <a:ext cx="2095500" cy="406400"/>
          </a:xfrm>
          <a:prstGeom prst="rect">
            <a:avLst/>
          </a:prstGeom>
          <a:noFill/>
          <a:ln/>
        </p:spPr>
        <p:txBody>
          <a:bodyPr wrap="square" lIns="0" tIns="0" rIns="0" bIns="0" rtlCol="0" anchor="ctr"/>
          <a:lstStyle/>
          <a:p>
            <a:pPr algn="l" indent="0" marL="0">
              <a:lnSpc>
                <a:spcPct val="112000"/>
              </a:lnSpc>
              <a:buNone/>
            </a:pPr>
            <a:r>
              <a:rPr lang="en-US" sz="1100" b="1" dirty="0">
                <a:solidFill>
                  <a:srgbClr val="15B6FF"/>
                </a:solidFill>
                <a:latin typeface="Plus Jakarta Sans" pitchFamily="34" charset="0"/>
                <a:ea typeface="Plus Jakarta Sans" pitchFamily="34" charset="-122"/>
                <a:cs typeface="Plus Jakarta Sans" pitchFamily="34" charset="-120"/>
              </a:rPr>
              <a:t>Co-Invest</a:t>
            </a:r>
            <a:endParaRPr lang="en-US" sz="1100" dirty="0"/>
          </a:p>
        </p:txBody>
      </p:sp>
      <p:sp>
        <p:nvSpPr>
          <p:cNvPr id="50" name="anim-9-46"/>
          <p:cNvSpPr txBox="1"/>
          <p:nvPr/>
        </p:nvSpPr>
        <p:spPr>
          <a:xfrm>
            <a:off x="2921000" y="5664200"/>
            <a:ext cx="8572500" cy="406400"/>
          </a:xfrm>
          <a:prstGeom prst="rect">
            <a:avLst/>
          </a:prstGeom>
          <a:noFill/>
          <a:ln/>
        </p:spPr>
        <p:txBody>
          <a:bodyPr wrap="square" lIns="0" tIns="0" rIns="0" bIns="0" rtlCol="0" anchor="ctr"/>
          <a:lstStyle/>
          <a:p>
            <a:pPr algn="l" indent="0" marL="0">
              <a:lnSpc>
                <a:spcPct val="112000"/>
              </a:lnSpc>
              <a:buNone/>
            </a:pPr>
            <a:r>
              <a:rPr lang="en-US" sz="1050" dirty="0">
                <a:solidFill>
                  <a:srgbClr val="FFFFFF"/>
                </a:solidFill>
                <a:latin typeface="Plus Jakarta Sans Medium" pitchFamily="34" charset="0"/>
                <a:ea typeface="Plus Jakarta Sans Medium" pitchFamily="34" charset="-122"/>
                <a:cs typeface="Plus Jakarta Sans Medium" pitchFamily="34" charset="-120"/>
              </a:rPr>
              <a:t>Funds are tied to target accounts, approved messaging, qualified leads and pipeline impact.</a:t>
            </a:r>
            <a:endParaRPr lang="en-US" sz="105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500"/>
                                        <p:tgtEl>
                                          <p:spTgt spid="7"/>
                                        </p:tgtEl>
                                      </p:cBhvr>
                                    </p:animEffect>
                                  </p:childTnLst>
                                </p:cTn>
                              </p:par>
                              <p:par>
                                <p:cTn id="14" presetID="10" presetClass="entr" presetSubtype="0" fill="hold" grpId="0" nodeType="withEffect">
                                  <p:stCondLst>
                                    <p:cond delay="18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500"/>
                                        <p:tgtEl>
                                          <p:spTgt spid="8"/>
                                        </p:tgtEl>
                                      </p:cBhvr>
                                    </p:animEffect>
                                  </p:childTnLst>
                                </p:cTn>
                              </p:par>
                              <p:par>
                                <p:cTn id="17" presetID="10" presetClass="entr" presetSubtype="0" fill="hold" grpId="0" nodeType="withEffect">
                                  <p:stCondLst>
                                    <p:cond delay="18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500"/>
                                        <p:tgtEl>
                                          <p:spTgt spid="9"/>
                                        </p:tgtEl>
                                      </p:cBhvr>
                                    </p:animEffect>
                                  </p:childTnLst>
                                </p:cTn>
                              </p:par>
                              <p:par>
                                <p:cTn id="20" presetID="10" presetClass="entr" presetSubtype="0" fill="hold" grpId="0" nodeType="withEffect">
                                  <p:stCondLst>
                                    <p:cond delay="180"/>
                                  </p:stCondLst>
                                  <p:childTnLst>
                                    <p:set>
                                      <p:cBhvr>
                                        <p:cTn id="21" dur="1" fill="hold">
                                          <p:stCondLst>
                                            <p:cond delay="0"/>
                                          </p:stCondLst>
                                        </p:cTn>
                                        <p:tgtEl>
                                          <p:spTgt spid="19"/>
                                        </p:tgtEl>
                                        <p:attrNameLst>
                                          <p:attrName>style.visibility</p:attrName>
                                        </p:attrNameLst>
                                      </p:cBhvr>
                                      <p:to>
                                        <p:strVal val="visible"/>
                                      </p:to>
                                    </p:set>
                                    <p:animEffect transition="in" filter="fade">
                                      <p:cBhvr>
                                        <p:cTn id="22" dur="500"/>
                                        <p:tgtEl>
                                          <p:spTgt spid="19"/>
                                        </p:tgtEl>
                                      </p:cBhvr>
                                    </p:animEffect>
                                  </p:childTnLst>
                                </p:cTn>
                              </p:par>
                              <p:par>
                                <p:cTn id="23" presetID="10" presetClass="entr" presetSubtype="0" fill="hold" grpId="0" nodeType="withEffect">
                                  <p:stCondLst>
                                    <p:cond delay="180"/>
                                  </p:stCondLst>
                                  <p:childTnLst>
                                    <p:set>
                                      <p:cBhvr>
                                        <p:cTn id="24" dur="1" fill="hold">
                                          <p:stCondLst>
                                            <p:cond delay="0"/>
                                          </p:stCondLst>
                                        </p:cTn>
                                        <p:tgtEl>
                                          <p:spTgt spid="11"/>
                                        </p:tgtEl>
                                        <p:attrNameLst>
                                          <p:attrName>style.visibility</p:attrName>
                                        </p:attrNameLst>
                                      </p:cBhvr>
                                      <p:to>
                                        <p:strVal val="visible"/>
                                      </p:to>
                                    </p:set>
                                    <p:animEffect transition="in" filter="fade">
                                      <p:cBhvr>
                                        <p:cTn id="25" dur="500"/>
                                        <p:tgtEl>
                                          <p:spTgt spid="11"/>
                                        </p:tgtEl>
                                      </p:cBhvr>
                                    </p:animEffect>
                                  </p:childTnLst>
                                </p:cTn>
                              </p:par>
                              <p:par>
                                <p:cTn id="26" presetID="10" presetClass="entr" presetSubtype="0" fill="hold" grpId="0" nodeType="withEffect">
                                  <p:stCondLst>
                                    <p:cond delay="360"/>
                                  </p:stCondLst>
                                  <p:childTnLst>
                                    <p:set>
                                      <p:cBhvr>
                                        <p:cTn id="27" dur="1" fill="hold">
                                          <p:stCondLst>
                                            <p:cond delay="0"/>
                                          </p:stCondLst>
                                        </p:cTn>
                                        <p:tgtEl>
                                          <p:spTgt spid="12"/>
                                        </p:tgtEl>
                                        <p:attrNameLst>
                                          <p:attrName>style.visibility</p:attrName>
                                        </p:attrNameLst>
                                      </p:cBhvr>
                                      <p:to>
                                        <p:strVal val="visible"/>
                                      </p:to>
                                    </p:set>
                                    <p:animEffect transition="in" filter="fade">
                                      <p:cBhvr>
                                        <p:cTn id="28" dur="500"/>
                                        <p:tgtEl>
                                          <p:spTgt spid="12"/>
                                        </p:tgtEl>
                                      </p:cBhvr>
                                    </p:animEffect>
                                  </p:childTnLst>
                                </p:cTn>
                              </p:par>
                              <p:par>
                                <p:cTn id="29" presetID="10" presetClass="entr" presetSubtype="0" fill="hold" grpId="0" nodeType="withEffect">
                                  <p:stCondLst>
                                    <p:cond delay="360"/>
                                  </p:stCondLst>
                                  <p:childTnLst>
                                    <p:set>
                                      <p:cBhvr>
                                        <p:cTn id="30" dur="1" fill="hold">
                                          <p:stCondLst>
                                            <p:cond delay="0"/>
                                          </p:stCondLst>
                                        </p:cTn>
                                        <p:tgtEl>
                                          <p:spTgt spid="13"/>
                                        </p:tgtEl>
                                        <p:attrNameLst>
                                          <p:attrName>style.visibility</p:attrName>
                                        </p:attrNameLst>
                                      </p:cBhvr>
                                      <p:to>
                                        <p:strVal val="visible"/>
                                      </p:to>
                                    </p:set>
                                    <p:animEffect transition="in" filter="fade">
                                      <p:cBhvr>
                                        <p:cTn id="31" dur="500"/>
                                        <p:tgtEl>
                                          <p:spTgt spid="13"/>
                                        </p:tgtEl>
                                      </p:cBhvr>
                                    </p:animEffect>
                                  </p:childTnLst>
                                </p:cTn>
                              </p:par>
                              <p:par>
                                <p:cTn id="32" presetID="10" presetClass="entr" presetSubtype="0" fill="hold" grpId="0" nodeType="withEffect">
                                  <p:stCondLst>
                                    <p:cond delay="36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500"/>
                                        <p:tgtEl>
                                          <p:spTgt spid="14"/>
                                        </p:tgtEl>
                                      </p:cBhvr>
                                    </p:animEffect>
                                  </p:childTnLst>
                                </p:cTn>
                              </p:par>
                              <p:par>
                                <p:cTn id="35" presetID="10" presetClass="entr" presetSubtype="0" fill="hold" grpId="0" nodeType="withEffect">
                                  <p:stCondLst>
                                    <p:cond delay="360"/>
                                  </p:stCondLst>
                                  <p:childTnLst>
                                    <p:set>
                                      <p:cBhvr>
                                        <p:cTn id="36" dur="1" fill="hold">
                                          <p:stCondLst>
                                            <p:cond delay="0"/>
                                          </p:stCondLst>
                                        </p:cTn>
                                        <p:tgtEl>
                                          <p:spTgt spid="15"/>
                                        </p:tgtEl>
                                        <p:attrNameLst>
                                          <p:attrName>style.visibility</p:attrName>
                                        </p:attrNameLst>
                                      </p:cBhvr>
                                      <p:to>
                                        <p:strVal val="visible"/>
                                      </p:to>
                                    </p:set>
                                    <p:animEffect transition="in" filter="fade">
                                      <p:cBhvr>
                                        <p:cTn id="37" dur="500"/>
                                        <p:tgtEl>
                                          <p:spTgt spid="15"/>
                                        </p:tgtEl>
                                      </p:cBhvr>
                                    </p:animEffect>
                                  </p:childTnLst>
                                </p:cTn>
                              </p:par>
                              <p:par>
                                <p:cTn id="38" presetID="10" presetClass="entr" presetSubtype="0" fill="hold" grpId="0" nodeType="withEffect">
                                  <p:stCondLst>
                                    <p:cond delay="540"/>
                                  </p:stCondLst>
                                  <p:childTnLst>
                                    <p:set>
                                      <p:cBhvr>
                                        <p:cTn id="39" dur="1" fill="hold">
                                          <p:stCondLst>
                                            <p:cond delay="0"/>
                                          </p:stCondLst>
                                        </p:cTn>
                                        <p:tgtEl>
                                          <p:spTgt spid="16"/>
                                        </p:tgtEl>
                                        <p:attrNameLst>
                                          <p:attrName>style.visibility</p:attrName>
                                        </p:attrNameLst>
                                      </p:cBhvr>
                                      <p:to>
                                        <p:strVal val="visible"/>
                                      </p:to>
                                    </p:set>
                                    <p:animEffect transition="in" filter="fade">
                                      <p:cBhvr>
                                        <p:cTn id="40" dur="500"/>
                                        <p:tgtEl>
                                          <p:spTgt spid="16"/>
                                        </p:tgtEl>
                                      </p:cBhvr>
                                    </p:animEffect>
                                  </p:childTnLst>
                                </p:cTn>
                              </p:par>
                              <p:par>
                                <p:cTn id="41" presetID="10" presetClass="entr" presetSubtype="0" fill="hold" grpId="0" nodeType="withEffect">
                                  <p:stCondLst>
                                    <p:cond delay="540"/>
                                  </p:stCondLst>
                                  <p:childTnLst>
                                    <p:set>
                                      <p:cBhvr>
                                        <p:cTn id="42" dur="1" fill="hold">
                                          <p:stCondLst>
                                            <p:cond delay="0"/>
                                          </p:stCondLst>
                                        </p:cTn>
                                        <p:tgtEl>
                                          <p:spTgt spid="17"/>
                                        </p:tgtEl>
                                        <p:attrNameLst>
                                          <p:attrName>style.visibility</p:attrName>
                                        </p:attrNameLst>
                                      </p:cBhvr>
                                      <p:to>
                                        <p:strVal val="visible"/>
                                      </p:to>
                                    </p:set>
                                    <p:animEffect transition="in" filter="fade">
                                      <p:cBhvr>
                                        <p:cTn id="43" dur="500"/>
                                        <p:tgtEl>
                                          <p:spTgt spid="17"/>
                                        </p:tgtEl>
                                      </p:cBhvr>
                                    </p:animEffect>
                                  </p:childTnLst>
                                </p:cTn>
                              </p:par>
                              <p:par>
                                <p:cTn id="44" presetID="10" presetClass="entr" presetSubtype="0" fill="hold" grpId="0" nodeType="withEffect">
                                  <p:stCondLst>
                                    <p:cond delay="540"/>
                                  </p:stCondLst>
                                  <p:childTnLst>
                                    <p:set>
                                      <p:cBhvr>
                                        <p:cTn id="45" dur="1" fill="hold">
                                          <p:stCondLst>
                                            <p:cond delay="0"/>
                                          </p:stCondLst>
                                        </p:cTn>
                                        <p:tgtEl>
                                          <p:spTgt spid="18"/>
                                        </p:tgtEl>
                                        <p:attrNameLst>
                                          <p:attrName>style.visibility</p:attrName>
                                        </p:attrNameLst>
                                      </p:cBhvr>
                                      <p:to>
                                        <p:strVal val="visible"/>
                                      </p:to>
                                    </p:set>
                                    <p:animEffect transition="in" filter="fade">
                                      <p:cBhvr>
                                        <p:cTn id="46" dur="500"/>
                                        <p:tgtEl>
                                          <p:spTgt spid="18"/>
                                        </p:tgtEl>
                                      </p:cBhvr>
                                    </p:animEffect>
                                  </p:childTnLst>
                                </p:cTn>
                              </p:par>
                              <p:par>
                                <p:cTn id="47" presetID="10" presetClass="entr" presetSubtype="0" fill="hold" grpId="0" nodeType="withEffect">
                                  <p:stCondLst>
                                    <p:cond delay="540"/>
                                  </p:stCondLst>
                                  <p:childTnLst>
                                    <p:set>
                                      <p:cBhvr>
                                        <p:cTn id="48" dur="1" fill="hold">
                                          <p:stCondLst>
                                            <p:cond delay="0"/>
                                          </p:stCondLst>
                                        </p:cTn>
                                        <p:tgtEl>
                                          <p:spTgt spid="19"/>
                                        </p:tgtEl>
                                        <p:attrNameLst>
                                          <p:attrName>style.visibility</p:attrName>
                                        </p:attrNameLst>
                                      </p:cBhvr>
                                      <p:to>
                                        <p:strVal val="visible"/>
                                      </p:to>
                                    </p:set>
                                    <p:animEffect transition="in" filter="fade">
                                      <p:cBhvr>
                                        <p:cTn id="49" dur="500"/>
                                        <p:tgtEl>
                                          <p:spTgt spid="19"/>
                                        </p:tgtEl>
                                      </p:cBhvr>
                                    </p:animEffect>
                                  </p:childTnLst>
                                </p:cTn>
                              </p:par>
                              <p:par>
                                <p:cTn id="50" presetID="10" presetClass="entr" presetSubtype="0" fill="hold" grpId="0" nodeType="withEffect">
                                  <p:stCondLst>
                                    <p:cond delay="720"/>
                                  </p:stCondLst>
                                  <p:childTnLst>
                                    <p:set>
                                      <p:cBhvr>
                                        <p:cTn id="51" dur="1" fill="hold">
                                          <p:stCondLst>
                                            <p:cond delay="0"/>
                                          </p:stCondLst>
                                        </p:cTn>
                                        <p:tgtEl>
                                          <p:spTgt spid="20"/>
                                        </p:tgtEl>
                                        <p:attrNameLst>
                                          <p:attrName>style.visibility</p:attrName>
                                        </p:attrNameLst>
                                      </p:cBhvr>
                                      <p:to>
                                        <p:strVal val="visible"/>
                                      </p:to>
                                    </p:set>
                                    <p:animEffect transition="in" filter="fade">
                                      <p:cBhvr>
                                        <p:cTn id="52" dur="500"/>
                                        <p:tgtEl>
                                          <p:spTgt spid="20"/>
                                        </p:tgtEl>
                                      </p:cBhvr>
                                    </p:animEffect>
                                  </p:childTnLst>
                                </p:cTn>
                              </p:par>
                              <p:par>
                                <p:cTn id="53" presetID="10" presetClass="entr" presetSubtype="0" fill="hold" grpId="0" nodeType="withEffect">
                                  <p:stCondLst>
                                    <p:cond delay="720"/>
                                  </p:stCondLst>
                                  <p:childTnLst>
                                    <p:set>
                                      <p:cBhvr>
                                        <p:cTn id="54" dur="1" fill="hold">
                                          <p:stCondLst>
                                            <p:cond delay="0"/>
                                          </p:stCondLst>
                                        </p:cTn>
                                        <p:tgtEl>
                                          <p:spTgt spid="21"/>
                                        </p:tgtEl>
                                        <p:attrNameLst>
                                          <p:attrName>style.visibility</p:attrName>
                                        </p:attrNameLst>
                                      </p:cBhvr>
                                      <p:to>
                                        <p:strVal val="visible"/>
                                      </p:to>
                                    </p:set>
                                    <p:animEffect transition="in" filter="fade">
                                      <p:cBhvr>
                                        <p:cTn id="55" dur="500"/>
                                        <p:tgtEl>
                                          <p:spTgt spid="21"/>
                                        </p:tgtEl>
                                      </p:cBhvr>
                                    </p:animEffect>
                                  </p:childTnLst>
                                </p:cTn>
                              </p:par>
                              <p:par>
                                <p:cTn id="56" presetID="10" presetClass="entr" presetSubtype="0" fill="hold" grpId="0" nodeType="withEffect">
                                  <p:stCondLst>
                                    <p:cond delay="720"/>
                                  </p:stCondLst>
                                  <p:childTnLst>
                                    <p:set>
                                      <p:cBhvr>
                                        <p:cTn id="57" dur="1" fill="hold">
                                          <p:stCondLst>
                                            <p:cond delay="0"/>
                                          </p:stCondLst>
                                        </p:cTn>
                                        <p:tgtEl>
                                          <p:spTgt spid="22"/>
                                        </p:tgtEl>
                                        <p:attrNameLst>
                                          <p:attrName>style.visibility</p:attrName>
                                        </p:attrNameLst>
                                      </p:cBhvr>
                                      <p:to>
                                        <p:strVal val="visible"/>
                                      </p:to>
                                    </p:set>
                                    <p:animEffect transition="in" filter="fade">
                                      <p:cBhvr>
                                        <p:cTn id="58" dur="500"/>
                                        <p:tgtEl>
                                          <p:spTgt spid="22"/>
                                        </p:tgtEl>
                                      </p:cBhvr>
                                    </p:animEffect>
                                  </p:childTnLst>
                                </p:cTn>
                              </p:par>
                              <p:par>
                                <p:cTn id="59" presetID="10" presetClass="entr" presetSubtype="0" fill="hold" grpId="0" nodeType="withEffect">
                                  <p:stCondLst>
                                    <p:cond delay="720"/>
                                  </p:stCondLst>
                                  <p:childTnLst>
                                    <p:set>
                                      <p:cBhvr>
                                        <p:cTn id="60" dur="1" fill="hold">
                                          <p:stCondLst>
                                            <p:cond delay="0"/>
                                          </p:stCondLst>
                                        </p:cTn>
                                        <p:tgtEl>
                                          <p:spTgt spid="23"/>
                                        </p:tgtEl>
                                        <p:attrNameLst>
                                          <p:attrName>style.visibility</p:attrName>
                                        </p:attrNameLst>
                                      </p:cBhvr>
                                      <p:to>
                                        <p:strVal val="visible"/>
                                      </p:to>
                                    </p:set>
                                    <p:animEffect transition="in" filter="fade">
                                      <p:cBhvr>
                                        <p:cTn id="61" dur="500"/>
                                        <p:tgtEl>
                                          <p:spTgt spid="23"/>
                                        </p:tgtEl>
                                      </p:cBhvr>
                                    </p:animEffect>
                                  </p:childTnLst>
                                </p:cTn>
                              </p:par>
                              <p:par>
                                <p:cTn id="62" presetID="10" presetClass="entr" presetSubtype="0" fill="hold" grpId="0" nodeType="withEffect">
                                  <p:stCondLst>
                                    <p:cond delay="900"/>
                                  </p:stCondLst>
                                  <p:childTnLst>
                                    <p:set>
                                      <p:cBhvr>
                                        <p:cTn id="63" dur="1" fill="hold">
                                          <p:stCondLst>
                                            <p:cond delay="0"/>
                                          </p:stCondLst>
                                        </p:cTn>
                                        <p:tgtEl>
                                          <p:spTgt spid="24"/>
                                        </p:tgtEl>
                                        <p:attrNameLst>
                                          <p:attrName>style.visibility</p:attrName>
                                        </p:attrNameLst>
                                      </p:cBhvr>
                                      <p:to>
                                        <p:strVal val="visible"/>
                                      </p:to>
                                    </p:set>
                                    <p:animEffect transition="in" filter="fade">
                                      <p:cBhvr>
                                        <p:cTn id="64" dur="500"/>
                                        <p:tgtEl>
                                          <p:spTgt spid="24"/>
                                        </p:tgtEl>
                                      </p:cBhvr>
                                    </p:animEffect>
                                  </p:childTnLst>
                                </p:cTn>
                              </p:par>
                              <p:par>
                                <p:cTn id="65" presetID="10" presetClass="entr" presetSubtype="0" fill="hold" grpId="0" nodeType="withEffect">
                                  <p:stCondLst>
                                    <p:cond delay="900"/>
                                  </p:stCondLst>
                                  <p:childTnLst>
                                    <p:set>
                                      <p:cBhvr>
                                        <p:cTn id="66" dur="1" fill="hold">
                                          <p:stCondLst>
                                            <p:cond delay="0"/>
                                          </p:stCondLst>
                                        </p:cTn>
                                        <p:tgtEl>
                                          <p:spTgt spid="25"/>
                                        </p:tgtEl>
                                        <p:attrNameLst>
                                          <p:attrName>style.visibility</p:attrName>
                                        </p:attrNameLst>
                                      </p:cBhvr>
                                      <p:to>
                                        <p:strVal val="visible"/>
                                      </p:to>
                                    </p:set>
                                    <p:animEffect transition="in" filter="fade">
                                      <p:cBhvr>
                                        <p:cTn id="67" dur="500"/>
                                        <p:tgtEl>
                                          <p:spTgt spid="25"/>
                                        </p:tgtEl>
                                      </p:cBhvr>
                                    </p:animEffect>
                                  </p:childTnLst>
                                </p:cTn>
                              </p:par>
                              <p:par>
                                <p:cTn id="68" presetID="10" presetClass="entr" presetSubtype="0" fill="hold" grpId="0" nodeType="withEffect">
                                  <p:stCondLst>
                                    <p:cond delay="900"/>
                                  </p:stCondLst>
                                  <p:childTnLst>
                                    <p:set>
                                      <p:cBhvr>
                                        <p:cTn id="69" dur="1" fill="hold">
                                          <p:stCondLst>
                                            <p:cond delay="0"/>
                                          </p:stCondLst>
                                        </p:cTn>
                                        <p:tgtEl>
                                          <p:spTgt spid="26"/>
                                        </p:tgtEl>
                                        <p:attrNameLst>
                                          <p:attrName>style.visibility</p:attrName>
                                        </p:attrNameLst>
                                      </p:cBhvr>
                                      <p:to>
                                        <p:strVal val="visible"/>
                                      </p:to>
                                    </p:set>
                                    <p:animEffect transition="in" filter="fade">
                                      <p:cBhvr>
                                        <p:cTn id="70" dur="500"/>
                                        <p:tgtEl>
                                          <p:spTgt spid="26"/>
                                        </p:tgtEl>
                                      </p:cBhvr>
                                    </p:animEffect>
                                  </p:childTnLst>
                                </p:cTn>
                              </p:par>
                              <p:par>
                                <p:cTn id="71" presetID="10" presetClass="entr" presetSubtype="0" fill="hold" grpId="0" nodeType="withEffect">
                                  <p:stCondLst>
                                    <p:cond delay="900"/>
                                  </p:stCondLst>
                                  <p:childTnLst>
                                    <p:set>
                                      <p:cBhvr>
                                        <p:cTn id="72" dur="1" fill="hold">
                                          <p:stCondLst>
                                            <p:cond delay="0"/>
                                          </p:stCondLst>
                                        </p:cTn>
                                        <p:tgtEl>
                                          <p:spTgt spid="27"/>
                                        </p:tgtEl>
                                        <p:attrNameLst>
                                          <p:attrName>style.visibility</p:attrName>
                                        </p:attrNameLst>
                                      </p:cBhvr>
                                      <p:to>
                                        <p:strVal val="visible"/>
                                      </p:to>
                                    </p:set>
                                    <p:animEffect transition="in" filter="fade">
                                      <p:cBhvr>
                                        <p:cTn id="73" dur="500"/>
                                        <p:tgtEl>
                                          <p:spTgt spid="27"/>
                                        </p:tgtEl>
                                      </p:cBhvr>
                                    </p:animEffect>
                                  </p:childTnLst>
                                </p:cTn>
                              </p:par>
                              <p:par>
                                <p:cTn id="74" presetID="10" presetClass="entr" presetSubtype="0" fill="hold" grpId="0" nodeType="withEffect">
                                  <p:stCondLst>
                                    <p:cond delay="1080"/>
                                  </p:stCondLst>
                                  <p:childTnLst>
                                    <p:set>
                                      <p:cBhvr>
                                        <p:cTn id="75" dur="1" fill="hold">
                                          <p:stCondLst>
                                            <p:cond delay="0"/>
                                          </p:stCondLst>
                                        </p:cTn>
                                        <p:tgtEl>
                                          <p:spTgt spid="28"/>
                                        </p:tgtEl>
                                        <p:attrNameLst>
                                          <p:attrName>style.visibility</p:attrName>
                                        </p:attrNameLst>
                                      </p:cBhvr>
                                      <p:to>
                                        <p:strVal val="visible"/>
                                      </p:to>
                                    </p:set>
                                    <p:animEffect transition="in" filter="fade">
                                      <p:cBhvr>
                                        <p:cTn id="76" dur="500"/>
                                        <p:tgtEl>
                                          <p:spTgt spid="28"/>
                                        </p:tgtEl>
                                      </p:cBhvr>
                                    </p:animEffect>
                                  </p:childTnLst>
                                </p:cTn>
                              </p:par>
                              <p:par>
                                <p:cTn id="77" presetID="10" presetClass="entr" presetSubtype="0" fill="hold" grpId="0" nodeType="withEffect">
                                  <p:stCondLst>
                                    <p:cond delay="1080"/>
                                  </p:stCondLst>
                                  <p:childTnLst>
                                    <p:set>
                                      <p:cBhvr>
                                        <p:cTn id="78" dur="1" fill="hold">
                                          <p:stCondLst>
                                            <p:cond delay="0"/>
                                          </p:stCondLst>
                                        </p:cTn>
                                        <p:tgtEl>
                                          <p:spTgt spid="29"/>
                                        </p:tgtEl>
                                        <p:attrNameLst>
                                          <p:attrName>style.visibility</p:attrName>
                                        </p:attrNameLst>
                                      </p:cBhvr>
                                      <p:to>
                                        <p:strVal val="visible"/>
                                      </p:to>
                                    </p:set>
                                    <p:animEffect transition="in" filter="fade">
                                      <p:cBhvr>
                                        <p:cTn id="79" dur="500"/>
                                        <p:tgtEl>
                                          <p:spTgt spid="29"/>
                                        </p:tgtEl>
                                      </p:cBhvr>
                                    </p:animEffect>
                                  </p:childTnLst>
                                </p:cTn>
                              </p:par>
                              <p:par>
                                <p:cTn id="80" presetID="10" presetClass="entr" presetSubtype="0" fill="hold" grpId="0" nodeType="withEffect">
                                  <p:stCondLst>
                                    <p:cond delay="1080"/>
                                  </p:stCondLst>
                                  <p:childTnLst>
                                    <p:set>
                                      <p:cBhvr>
                                        <p:cTn id="81" dur="1" fill="hold">
                                          <p:stCondLst>
                                            <p:cond delay="0"/>
                                          </p:stCondLst>
                                        </p:cTn>
                                        <p:tgtEl>
                                          <p:spTgt spid="30"/>
                                        </p:tgtEl>
                                        <p:attrNameLst>
                                          <p:attrName>style.visibility</p:attrName>
                                        </p:attrNameLst>
                                      </p:cBhvr>
                                      <p:to>
                                        <p:strVal val="visible"/>
                                      </p:to>
                                    </p:set>
                                    <p:animEffect transition="in" filter="fade">
                                      <p:cBhvr>
                                        <p:cTn id="82" dur="500"/>
                                        <p:tgtEl>
                                          <p:spTgt spid="30"/>
                                        </p:tgtEl>
                                      </p:cBhvr>
                                    </p:animEffect>
                                  </p:childTnLst>
                                </p:cTn>
                              </p:par>
                              <p:par>
                                <p:cTn id="83" presetID="10" presetClass="entr" presetSubtype="0" fill="hold" grpId="0" nodeType="withEffect">
                                  <p:stCondLst>
                                    <p:cond delay="1080"/>
                                  </p:stCondLst>
                                  <p:childTnLst>
                                    <p:set>
                                      <p:cBhvr>
                                        <p:cTn id="84" dur="1" fill="hold">
                                          <p:stCondLst>
                                            <p:cond delay="0"/>
                                          </p:stCondLst>
                                        </p:cTn>
                                        <p:tgtEl>
                                          <p:spTgt spid="31"/>
                                        </p:tgtEl>
                                        <p:attrNameLst>
                                          <p:attrName>style.visibility</p:attrName>
                                        </p:attrNameLst>
                                      </p:cBhvr>
                                      <p:to>
                                        <p:strVal val="visible"/>
                                      </p:to>
                                    </p:set>
                                    <p:animEffect transition="in" filter="fade">
                                      <p:cBhvr>
                                        <p:cTn id="85" dur="500"/>
                                        <p:tgtEl>
                                          <p:spTgt spid="31"/>
                                        </p:tgtEl>
                                      </p:cBhvr>
                                    </p:animEffect>
                                  </p:childTnLst>
                                </p:cTn>
                              </p:par>
                              <p:par>
                                <p:cTn id="86" presetID="10" presetClass="entr" presetSubtype="0" fill="hold" grpId="0" nodeType="withEffect">
                                  <p:stCondLst>
                                    <p:cond delay="1080"/>
                                  </p:stCondLst>
                                  <p:childTnLst>
                                    <p:set>
                                      <p:cBhvr>
                                        <p:cTn id="87" dur="1" fill="hold">
                                          <p:stCondLst>
                                            <p:cond delay="0"/>
                                          </p:stCondLst>
                                        </p:cTn>
                                        <p:tgtEl>
                                          <p:spTgt spid="32"/>
                                        </p:tgtEl>
                                        <p:attrNameLst>
                                          <p:attrName>style.visibility</p:attrName>
                                        </p:attrNameLst>
                                      </p:cBhvr>
                                      <p:to>
                                        <p:strVal val="visible"/>
                                      </p:to>
                                    </p:set>
                                    <p:animEffect transition="in" filter="fade">
                                      <p:cBhvr>
                                        <p:cTn id="88" dur="500"/>
                                        <p:tgtEl>
                                          <p:spTgt spid="32"/>
                                        </p:tgtEl>
                                      </p:cBhvr>
                                    </p:animEffect>
                                  </p:childTnLst>
                                </p:cTn>
                              </p:par>
                              <p:par>
                                <p:cTn id="89" presetID="10" presetClass="entr" presetSubtype="0" fill="hold" grpId="0" nodeType="withEffect">
                                  <p:stCondLst>
                                    <p:cond delay="1080"/>
                                  </p:stCondLst>
                                  <p:childTnLst>
                                    <p:set>
                                      <p:cBhvr>
                                        <p:cTn id="90" dur="1" fill="hold">
                                          <p:stCondLst>
                                            <p:cond delay="0"/>
                                          </p:stCondLst>
                                        </p:cTn>
                                        <p:tgtEl>
                                          <p:spTgt spid="33"/>
                                        </p:tgtEl>
                                        <p:attrNameLst>
                                          <p:attrName>style.visibility</p:attrName>
                                        </p:attrNameLst>
                                      </p:cBhvr>
                                      <p:to>
                                        <p:strVal val="visible"/>
                                      </p:to>
                                    </p:set>
                                    <p:animEffect transition="in" filter="fade">
                                      <p:cBhvr>
                                        <p:cTn id="91" dur="500"/>
                                        <p:tgtEl>
                                          <p:spTgt spid="33"/>
                                        </p:tgtEl>
                                      </p:cBhvr>
                                    </p:animEffect>
                                  </p:childTnLst>
                                </p:cTn>
                              </p:par>
                              <p:par>
                                <p:cTn id="92" presetID="10" presetClass="entr" presetSubtype="0" fill="hold" grpId="0" nodeType="withEffect">
                                  <p:stCondLst>
                                    <p:cond delay="1080"/>
                                  </p:stCondLst>
                                  <p:childTnLst>
                                    <p:set>
                                      <p:cBhvr>
                                        <p:cTn id="93" dur="1" fill="hold">
                                          <p:stCondLst>
                                            <p:cond delay="0"/>
                                          </p:stCondLst>
                                        </p:cTn>
                                        <p:tgtEl>
                                          <p:spTgt spid="34"/>
                                        </p:tgtEl>
                                        <p:attrNameLst>
                                          <p:attrName>style.visibility</p:attrName>
                                        </p:attrNameLst>
                                      </p:cBhvr>
                                      <p:to>
                                        <p:strVal val="visible"/>
                                      </p:to>
                                    </p:set>
                                    <p:animEffect transition="in" filter="fade">
                                      <p:cBhvr>
                                        <p:cTn id="94" dur="500"/>
                                        <p:tgtEl>
                                          <p:spTgt spid="34"/>
                                        </p:tgtEl>
                                      </p:cBhvr>
                                    </p:animEffect>
                                  </p:childTnLst>
                                </p:cTn>
                              </p:par>
                              <p:par>
                                <p:cTn id="95" presetID="10" presetClass="entr" presetSubtype="0" fill="hold" grpId="0" nodeType="withEffect">
                                  <p:stCondLst>
                                    <p:cond delay="1080"/>
                                  </p:stCondLst>
                                  <p:childTnLst>
                                    <p:set>
                                      <p:cBhvr>
                                        <p:cTn id="96" dur="1" fill="hold">
                                          <p:stCondLst>
                                            <p:cond delay="0"/>
                                          </p:stCondLst>
                                        </p:cTn>
                                        <p:tgtEl>
                                          <p:spTgt spid="35"/>
                                        </p:tgtEl>
                                        <p:attrNameLst>
                                          <p:attrName>style.visibility</p:attrName>
                                        </p:attrNameLst>
                                      </p:cBhvr>
                                      <p:to>
                                        <p:strVal val="visible"/>
                                      </p:to>
                                    </p:set>
                                    <p:animEffect transition="in" filter="fade">
                                      <p:cBhvr>
                                        <p:cTn id="97" dur="500"/>
                                        <p:tgtEl>
                                          <p:spTgt spid="35"/>
                                        </p:tgtEl>
                                      </p:cBhvr>
                                    </p:animEffect>
                                  </p:childTnLst>
                                </p:cTn>
                              </p:par>
                              <p:par>
                                <p:cTn id="98" presetID="10" presetClass="entr" presetSubtype="0" fill="hold" grpId="0" nodeType="withEffect">
                                  <p:stCondLst>
                                    <p:cond delay="1080"/>
                                  </p:stCondLst>
                                  <p:childTnLst>
                                    <p:set>
                                      <p:cBhvr>
                                        <p:cTn id="99" dur="1" fill="hold">
                                          <p:stCondLst>
                                            <p:cond delay="0"/>
                                          </p:stCondLst>
                                        </p:cTn>
                                        <p:tgtEl>
                                          <p:spTgt spid="36"/>
                                        </p:tgtEl>
                                        <p:attrNameLst>
                                          <p:attrName>style.visibility</p:attrName>
                                        </p:attrNameLst>
                                      </p:cBhvr>
                                      <p:to>
                                        <p:strVal val="visible"/>
                                      </p:to>
                                    </p:set>
                                    <p:animEffect transition="in" filter="fade">
                                      <p:cBhvr>
                                        <p:cTn id="100" dur="500"/>
                                        <p:tgtEl>
                                          <p:spTgt spid="36"/>
                                        </p:tgtEl>
                                      </p:cBhvr>
                                    </p:animEffect>
                                  </p:childTnLst>
                                </p:cTn>
                              </p:par>
                              <p:par>
                                <p:cTn id="101" presetID="10" presetClass="entr" presetSubtype="0" fill="hold" grpId="0" nodeType="withEffect">
                                  <p:stCondLst>
                                    <p:cond delay="1080"/>
                                  </p:stCondLst>
                                  <p:childTnLst>
                                    <p:set>
                                      <p:cBhvr>
                                        <p:cTn id="102" dur="1" fill="hold">
                                          <p:stCondLst>
                                            <p:cond delay="0"/>
                                          </p:stCondLst>
                                        </p:cTn>
                                        <p:tgtEl>
                                          <p:spTgt spid="37"/>
                                        </p:tgtEl>
                                        <p:attrNameLst>
                                          <p:attrName>style.visibility</p:attrName>
                                        </p:attrNameLst>
                                      </p:cBhvr>
                                      <p:to>
                                        <p:strVal val="visible"/>
                                      </p:to>
                                    </p:set>
                                    <p:animEffect transition="in" filter="fade">
                                      <p:cBhvr>
                                        <p:cTn id="103" dur="500"/>
                                        <p:tgtEl>
                                          <p:spTgt spid="37"/>
                                        </p:tgtEl>
                                      </p:cBhvr>
                                    </p:animEffect>
                                  </p:childTnLst>
                                </p:cTn>
                              </p:par>
                              <p:par>
                                <p:cTn id="104" presetID="10" presetClass="entr" presetSubtype="0" fill="hold" grpId="0" nodeType="withEffect">
                                  <p:stCondLst>
                                    <p:cond delay="1080"/>
                                  </p:stCondLst>
                                  <p:childTnLst>
                                    <p:set>
                                      <p:cBhvr>
                                        <p:cTn id="105" dur="1" fill="hold">
                                          <p:stCondLst>
                                            <p:cond delay="0"/>
                                          </p:stCondLst>
                                        </p:cTn>
                                        <p:tgtEl>
                                          <p:spTgt spid="38"/>
                                        </p:tgtEl>
                                        <p:attrNameLst>
                                          <p:attrName>style.visibility</p:attrName>
                                        </p:attrNameLst>
                                      </p:cBhvr>
                                      <p:to>
                                        <p:strVal val="visible"/>
                                      </p:to>
                                    </p:set>
                                    <p:animEffect transition="in" filter="fade">
                                      <p:cBhvr>
                                        <p:cTn id="106" dur="500"/>
                                        <p:tgtEl>
                                          <p:spTgt spid="38"/>
                                        </p:tgtEl>
                                      </p:cBhvr>
                                    </p:animEffect>
                                  </p:childTnLst>
                                </p:cTn>
                              </p:par>
                              <p:par>
                                <p:cTn id="107" presetID="10" presetClass="entr" presetSubtype="0" fill="hold" grpId="0" nodeType="withEffect">
                                  <p:stCondLst>
                                    <p:cond delay="1080"/>
                                  </p:stCondLst>
                                  <p:childTnLst>
                                    <p:set>
                                      <p:cBhvr>
                                        <p:cTn id="108" dur="1" fill="hold">
                                          <p:stCondLst>
                                            <p:cond delay="0"/>
                                          </p:stCondLst>
                                        </p:cTn>
                                        <p:tgtEl>
                                          <p:spTgt spid="39"/>
                                        </p:tgtEl>
                                        <p:attrNameLst>
                                          <p:attrName>style.visibility</p:attrName>
                                        </p:attrNameLst>
                                      </p:cBhvr>
                                      <p:to>
                                        <p:strVal val="visible"/>
                                      </p:to>
                                    </p:set>
                                    <p:animEffect transition="in" filter="fade">
                                      <p:cBhvr>
                                        <p:cTn id="109" dur="500"/>
                                        <p:tgtEl>
                                          <p:spTgt spid="39"/>
                                        </p:tgtEl>
                                      </p:cBhvr>
                                    </p:animEffect>
                                  </p:childTnLst>
                                </p:cTn>
                              </p:par>
                              <p:par>
                                <p:cTn id="110" presetID="10" presetClass="entr" presetSubtype="0" fill="hold" grpId="0" nodeType="withEffect">
                                  <p:stCondLst>
                                    <p:cond delay="1080"/>
                                  </p:stCondLst>
                                  <p:childTnLst>
                                    <p:set>
                                      <p:cBhvr>
                                        <p:cTn id="111" dur="1" fill="hold">
                                          <p:stCondLst>
                                            <p:cond delay="0"/>
                                          </p:stCondLst>
                                        </p:cTn>
                                        <p:tgtEl>
                                          <p:spTgt spid="40"/>
                                        </p:tgtEl>
                                        <p:attrNameLst>
                                          <p:attrName>style.visibility</p:attrName>
                                        </p:attrNameLst>
                                      </p:cBhvr>
                                      <p:to>
                                        <p:strVal val="visible"/>
                                      </p:to>
                                    </p:set>
                                    <p:animEffect transition="in" filter="fade">
                                      <p:cBhvr>
                                        <p:cTn id="112" dur="500"/>
                                        <p:tgtEl>
                                          <p:spTgt spid="40"/>
                                        </p:tgtEl>
                                      </p:cBhvr>
                                    </p:animEffect>
                                  </p:childTnLst>
                                </p:cTn>
                              </p:par>
                              <p:par>
                                <p:cTn id="113" presetID="10" presetClass="entr" presetSubtype="0" fill="hold" grpId="0" nodeType="withEffect">
                                  <p:stCondLst>
                                    <p:cond delay="1080"/>
                                  </p:stCondLst>
                                  <p:childTnLst>
                                    <p:set>
                                      <p:cBhvr>
                                        <p:cTn id="114" dur="1" fill="hold">
                                          <p:stCondLst>
                                            <p:cond delay="0"/>
                                          </p:stCondLst>
                                        </p:cTn>
                                        <p:tgtEl>
                                          <p:spTgt spid="41"/>
                                        </p:tgtEl>
                                        <p:attrNameLst>
                                          <p:attrName>style.visibility</p:attrName>
                                        </p:attrNameLst>
                                      </p:cBhvr>
                                      <p:to>
                                        <p:strVal val="visible"/>
                                      </p:to>
                                    </p:set>
                                    <p:animEffect transition="in" filter="fade">
                                      <p:cBhvr>
                                        <p:cTn id="115" dur="500"/>
                                        <p:tgtEl>
                                          <p:spTgt spid="41"/>
                                        </p:tgtEl>
                                      </p:cBhvr>
                                    </p:animEffect>
                                  </p:childTnLst>
                                </p:cTn>
                              </p:par>
                              <p:par>
                                <p:cTn id="116" presetID="10" presetClass="entr" presetSubtype="0" fill="hold" grpId="0" nodeType="withEffect">
                                  <p:stCondLst>
                                    <p:cond delay="1080"/>
                                  </p:stCondLst>
                                  <p:childTnLst>
                                    <p:set>
                                      <p:cBhvr>
                                        <p:cTn id="117" dur="1" fill="hold">
                                          <p:stCondLst>
                                            <p:cond delay="0"/>
                                          </p:stCondLst>
                                        </p:cTn>
                                        <p:tgtEl>
                                          <p:spTgt spid="42"/>
                                        </p:tgtEl>
                                        <p:attrNameLst>
                                          <p:attrName>style.visibility</p:attrName>
                                        </p:attrNameLst>
                                      </p:cBhvr>
                                      <p:to>
                                        <p:strVal val="visible"/>
                                      </p:to>
                                    </p:set>
                                    <p:animEffect transition="in" filter="fade">
                                      <p:cBhvr>
                                        <p:cTn id="118" dur="500"/>
                                        <p:tgtEl>
                                          <p:spTgt spid="42"/>
                                        </p:tgtEl>
                                      </p:cBhvr>
                                    </p:animEffect>
                                  </p:childTnLst>
                                </p:cTn>
                              </p:par>
                              <p:par>
                                <p:cTn id="119" presetID="10" presetClass="entr" presetSubtype="0" fill="hold" grpId="0" nodeType="withEffect">
                                  <p:stCondLst>
                                    <p:cond delay="1080"/>
                                  </p:stCondLst>
                                  <p:childTnLst>
                                    <p:set>
                                      <p:cBhvr>
                                        <p:cTn id="120" dur="1" fill="hold">
                                          <p:stCondLst>
                                            <p:cond delay="0"/>
                                          </p:stCondLst>
                                        </p:cTn>
                                        <p:tgtEl>
                                          <p:spTgt spid="43"/>
                                        </p:tgtEl>
                                        <p:attrNameLst>
                                          <p:attrName>style.visibility</p:attrName>
                                        </p:attrNameLst>
                                      </p:cBhvr>
                                      <p:to>
                                        <p:strVal val="visible"/>
                                      </p:to>
                                    </p:set>
                                    <p:animEffect transition="in" filter="fade">
                                      <p:cBhvr>
                                        <p:cTn id="121" dur="500"/>
                                        <p:tgtEl>
                                          <p:spTgt spid="43"/>
                                        </p:tgtEl>
                                      </p:cBhvr>
                                    </p:animEffect>
                                  </p:childTnLst>
                                </p:cTn>
                              </p:par>
                              <p:par>
                                <p:cTn id="122" presetID="10" presetClass="entr" presetSubtype="0" fill="hold" grpId="0" nodeType="withEffect">
                                  <p:stCondLst>
                                    <p:cond delay="1080"/>
                                  </p:stCondLst>
                                  <p:childTnLst>
                                    <p:set>
                                      <p:cBhvr>
                                        <p:cTn id="123" dur="1" fill="hold">
                                          <p:stCondLst>
                                            <p:cond delay="0"/>
                                          </p:stCondLst>
                                        </p:cTn>
                                        <p:tgtEl>
                                          <p:spTgt spid="44"/>
                                        </p:tgtEl>
                                        <p:attrNameLst>
                                          <p:attrName>style.visibility</p:attrName>
                                        </p:attrNameLst>
                                      </p:cBhvr>
                                      <p:to>
                                        <p:strVal val="visible"/>
                                      </p:to>
                                    </p:set>
                                    <p:animEffect transition="in" filter="fade">
                                      <p:cBhvr>
                                        <p:cTn id="124" dur="500"/>
                                        <p:tgtEl>
                                          <p:spTgt spid="44"/>
                                        </p:tgtEl>
                                      </p:cBhvr>
                                    </p:animEffect>
                                  </p:childTnLst>
                                </p:cTn>
                              </p:par>
                              <p:par>
                                <p:cTn id="125" presetID="10" presetClass="entr" presetSubtype="0" fill="hold" grpId="0" nodeType="withEffect">
                                  <p:stCondLst>
                                    <p:cond delay="1080"/>
                                  </p:stCondLst>
                                  <p:childTnLst>
                                    <p:set>
                                      <p:cBhvr>
                                        <p:cTn id="126" dur="1" fill="hold">
                                          <p:stCondLst>
                                            <p:cond delay="0"/>
                                          </p:stCondLst>
                                        </p:cTn>
                                        <p:tgtEl>
                                          <p:spTgt spid="45"/>
                                        </p:tgtEl>
                                        <p:attrNameLst>
                                          <p:attrName>style.visibility</p:attrName>
                                        </p:attrNameLst>
                                      </p:cBhvr>
                                      <p:to>
                                        <p:strVal val="visible"/>
                                      </p:to>
                                    </p:set>
                                    <p:animEffect transition="in" filter="fade">
                                      <p:cBhvr>
                                        <p:cTn id="127" dur="500"/>
                                        <p:tgtEl>
                                          <p:spTgt spid="45"/>
                                        </p:tgtEl>
                                      </p:cBhvr>
                                    </p:animEffect>
                                  </p:childTnLst>
                                </p:cTn>
                              </p:par>
                              <p:par>
                                <p:cTn id="128" presetID="10" presetClass="entr" presetSubtype="0" fill="hold" grpId="0" nodeType="withEffect">
                                  <p:stCondLst>
                                    <p:cond delay="1080"/>
                                  </p:stCondLst>
                                  <p:childTnLst>
                                    <p:set>
                                      <p:cBhvr>
                                        <p:cTn id="129" dur="1" fill="hold">
                                          <p:stCondLst>
                                            <p:cond delay="0"/>
                                          </p:stCondLst>
                                        </p:cTn>
                                        <p:tgtEl>
                                          <p:spTgt spid="46"/>
                                        </p:tgtEl>
                                        <p:attrNameLst>
                                          <p:attrName>style.visibility</p:attrName>
                                        </p:attrNameLst>
                                      </p:cBhvr>
                                      <p:to>
                                        <p:strVal val="visible"/>
                                      </p:to>
                                    </p:set>
                                    <p:animEffect transition="in" filter="fade">
                                      <p:cBhvr>
                                        <p:cTn id="130" dur="500"/>
                                        <p:tgtEl>
                                          <p:spTgt spid="46"/>
                                        </p:tgtEl>
                                      </p:cBhvr>
                                    </p:animEffect>
                                  </p:childTnLst>
                                </p:cTn>
                              </p:par>
                              <p:par>
                                <p:cTn id="131" presetID="10" presetClass="entr" presetSubtype="0" fill="hold" grpId="0" nodeType="withEffect">
                                  <p:stCondLst>
                                    <p:cond delay="1080"/>
                                  </p:stCondLst>
                                  <p:childTnLst>
                                    <p:set>
                                      <p:cBhvr>
                                        <p:cTn id="132" dur="1" fill="hold">
                                          <p:stCondLst>
                                            <p:cond delay="0"/>
                                          </p:stCondLst>
                                        </p:cTn>
                                        <p:tgtEl>
                                          <p:spTgt spid="47"/>
                                        </p:tgtEl>
                                        <p:attrNameLst>
                                          <p:attrName>style.visibility</p:attrName>
                                        </p:attrNameLst>
                                      </p:cBhvr>
                                      <p:to>
                                        <p:strVal val="visible"/>
                                      </p:to>
                                    </p:set>
                                    <p:animEffect transition="in" filter="fade">
                                      <p:cBhvr>
                                        <p:cTn id="133" dur="500"/>
                                        <p:tgtEl>
                                          <p:spTgt spid="47"/>
                                        </p:tgtEl>
                                      </p:cBhvr>
                                    </p:animEffect>
                                  </p:childTnLst>
                                </p:cTn>
                              </p:par>
                              <p:par>
                                <p:cTn id="134" presetID="10" presetClass="entr" presetSubtype="0" fill="hold" grpId="0" nodeType="withEffect">
                                  <p:stCondLst>
                                    <p:cond delay="1260"/>
                                  </p:stCondLst>
                                  <p:childTnLst>
                                    <p:set>
                                      <p:cBhvr>
                                        <p:cTn id="135" dur="1" fill="hold">
                                          <p:stCondLst>
                                            <p:cond delay="0"/>
                                          </p:stCondLst>
                                        </p:cTn>
                                        <p:tgtEl>
                                          <p:spTgt spid="48"/>
                                        </p:tgtEl>
                                        <p:attrNameLst>
                                          <p:attrName>style.visibility</p:attrName>
                                        </p:attrNameLst>
                                      </p:cBhvr>
                                      <p:to>
                                        <p:strVal val="visible"/>
                                      </p:to>
                                    </p:set>
                                    <p:animEffect transition="in" filter="fade">
                                      <p:cBhvr>
                                        <p:cTn id="136" dur="500"/>
                                        <p:tgtEl>
                                          <p:spTgt spid="48"/>
                                        </p:tgtEl>
                                      </p:cBhvr>
                                    </p:animEffect>
                                  </p:childTnLst>
                                </p:cTn>
                              </p:par>
                              <p:par>
                                <p:cTn id="137" presetID="10" presetClass="entr" presetSubtype="0" fill="hold" grpId="0" nodeType="withEffect">
                                  <p:stCondLst>
                                    <p:cond delay="1260"/>
                                  </p:stCondLst>
                                  <p:childTnLst>
                                    <p:set>
                                      <p:cBhvr>
                                        <p:cTn id="138" dur="1" fill="hold">
                                          <p:stCondLst>
                                            <p:cond delay="0"/>
                                          </p:stCondLst>
                                        </p:cTn>
                                        <p:tgtEl>
                                          <p:spTgt spid="49"/>
                                        </p:tgtEl>
                                        <p:attrNameLst>
                                          <p:attrName>style.visibility</p:attrName>
                                        </p:attrNameLst>
                                      </p:cBhvr>
                                      <p:to>
                                        <p:strVal val="visible"/>
                                      </p:to>
                                    </p:set>
                                    <p:animEffect transition="in" filter="fade">
                                      <p:cBhvr>
                                        <p:cTn id="139" dur="500"/>
                                        <p:tgtEl>
                                          <p:spTgt spid="49"/>
                                        </p:tgtEl>
                                      </p:cBhvr>
                                    </p:animEffect>
                                  </p:childTnLst>
                                </p:cTn>
                              </p:par>
                              <p:par>
                                <p:cTn id="140" presetID="10" presetClass="entr" presetSubtype="0" fill="hold" grpId="0" nodeType="withEffect">
                                  <p:stCondLst>
                                    <p:cond delay="1260"/>
                                  </p:stCondLst>
                                  <p:childTnLst>
                                    <p:set>
                                      <p:cBhvr>
                                        <p:cTn id="141" dur="1" fill="hold">
                                          <p:stCondLst>
                                            <p:cond delay="0"/>
                                          </p:stCondLst>
                                        </p:cTn>
                                        <p:tgtEl>
                                          <p:spTgt spid="50"/>
                                        </p:tgtEl>
                                        <p:attrNameLst>
                                          <p:attrName>style.visibility</p:attrName>
                                        </p:attrNameLst>
                                      </p:cBhvr>
                                      <p:to>
                                        <p:strVal val="visible"/>
                                      </p:to>
                                    </p:set>
                                    <p:animEffect transition="in" filter="fade">
                                      <p:cBhvr>
                                        <p:cTn id="142" dur="500"/>
                                        <p:tgtEl>
                                          <p:spTgt spid="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9"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P spid="44" grpId="0" animBg="1"/>
      <p:bldP spid="45" grpId="0" animBg="1"/>
      <p:bldP spid="46" grpId="0" animBg="1"/>
      <p:bldP spid="47" grpId="0" animBg="1"/>
      <p:bldP spid="48" grpId="0" animBg="1"/>
      <p:bldP spid="49" grpId="0" animBg="1"/>
      <p:bldP spid="50"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name="Slide 1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tmp/claude-0/-home-user-hosting/7c832a48-0979-56aa-9fdf-7d53efb9dc7a/scratchpad/build/imgd/logo-white.png">    </p:cNvPr>
          <p:cNvPicPr>
            <a:picLocks noChangeAspect="1"/>
          </p:cNvPicPr>
          <p:nvPr/>
        </p:nvPicPr>
        <p:blipFill>
          <a:blip r:embed="rId2"/>
          <a:stretch>
            <a:fillRect/>
          </a:stretch>
        </p:blipFill>
        <p:spPr>
          <a:xfrm>
            <a:off x="10414000" y="355600"/>
            <a:ext cx="1270000" cy="304800"/>
          </a:xfrm>
          <a:prstGeom prst="rect">
            <a:avLst/>
          </a:prstGeom>
        </p:spPr>
      </p:pic>
      <p:sp>
        <p:nvSpPr>
          <p:cNvPr id="3" name="Text 0"/>
          <p:cNvSpPr/>
          <p:nvPr/>
        </p:nvSpPr>
        <p:spPr>
          <a:xfrm>
            <a:off x="177800" y="6134100"/>
            <a:ext cx="1270000" cy="571500"/>
          </a:xfrm>
          <a:prstGeom prst="rect">
            <a:avLst/>
          </a:prstGeom>
          <a:noFill/>
          <a:ln/>
        </p:spPr>
        <p:txBody>
          <a:bodyPr wrap="square" lIns="0" tIns="0" rIns="0" bIns="0" rtlCol="0" anchor="ctr"/>
          <a:lstStyle/>
          <a:p>
            <a:pPr indent="0" marL="0">
              <a:buNone/>
            </a:pPr>
            <a:r>
              <a:rPr lang="en-US" sz="3550" b="1" dirty="0">
                <a:solidFill>
                  <a:srgbClr val="3F8FF2">
                    <a:alpha val="30000"/>
                  </a:srgbClr>
                </a:solidFill>
                <a:latin typeface="Plus Jakarta Sans" pitchFamily="34" charset="0"/>
                <a:ea typeface="Plus Jakarta Sans" pitchFamily="34" charset="-122"/>
                <a:cs typeface="Plus Jakarta Sans" pitchFamily="34" charset="-120"/>
              </a:rPr>
              <a:t>19</a:t>
            </a:r>
            <a:endParaRPr lang="en-US" sz="3550" dirty="0"/>
          </a:p>
        </p:txBody>
      </p:sp>
      <p:sp>
        <p:nvSpPr>
          <p:cNvPr id="4" name="Text 1"/>
          <p:cNvSpPr txBox="1"/>
          <p:nvPr/>
        </p:nvSpPr>
        <p:spPr>
          <a:xfrm>
            <a:off x="6604000" y="6477000"/>
            <a:ext cx="5080000" cy="152400"/>
          </a:xfrm>
          <a:prstGeom prst="rect">
            <a:avLst/>
          </a:prstGeom>
          <a:noFill/>
          <a:ln/>
        </p:spPr>
        <p:txBody>
          <a:bodyPr wrap="square" lIns="0" tIns="0" rIns="0" bIns="0" rtlCol="0" anchor="t"/>
          <a:lstStyle/>
          <a:p>
            <a:pPr algn="r" indent="0" marL="0">
              <a:lnSpc>
                <a:spcPct val="112000"/>
              </a:lnSpc>
              <a:buNone/>
            </a:pPr>
            <a:r>
              <a:rPr lang="en-US" sz="750" dirty="0">
                <a:solidFill>
                  <a:srgbClr val="8C93A3"/>
                </a:solidFill>
                <a:latin typeface="Plus Jakarta Sans" pitchFamily="34" charset="0"/>
                <a:ea typeface="Plus Jakarta Sans" pitchFamily="34" charset="-122"/>
                <a:cs typeface="Plus Jakarta Sans" pitchFamily="34" charset="-120"/>
              </a:rPr>
              <a:t>Partner-Confidential · NDA · Programme description only; not a contract</a:t>
            </a:r>
            <a:endParaRPr lang="en-US" sz="750" dirty="0"/>
          </a:p>
        </p:txBody>
      </p:sp>
      <p:pic>
        <p:nvPicPr>
          <p:cNvPr id="5" name="anim-1-1" descr="/tmp/claude-0/-home-user-hosting/7c832a48-0979-56aa-9fdf-7d53efb9dc7a/scratchpad/build/imgd/pointer.png">    </p:cNvPr>
          <p:cNvPicPr>
            <a:picLocks noChangeAspect="1"/>
          </p:cNvPicPr>
          <p:nvPr/>
        </p:nvPicPr>
        <p:blipFill>
          <a:blip r:embed="rId3"/>
          <a:stretch>
            <a:fillRect/>
          </a:stretch>
        </p:blipFill>
        <p:spPr>
          <a:xfrm>
            <a:off x="508000" y="285750"/>
            <a:ext cx="100964" cy="203200"/>
          </a:xfrm>
          <a:prstGeom prst="rect">
            <a:avLst/>
          </a:prstGeom>
        </p:spPr>
      </p:pic>
      <p:sp>
        <p:nvSpPr>
          <p:cNvPr id="6" name="anim-1-2"/>
          <p:cNvSpPr txBox="1"/>
          <p:nvPr/>
        </p:nvSpPr>
        <p:spPr>
          <a:xfrm>
            <a:off x="673100" y="304800"/>
            <a:ext cx="8890000" cy="190500"/>
          </a:xfrm>
          <a:prstGeom prst="rect">
            <a:avLst/>
          </a:prstGeom>
          <a:noFill/>
          <a:ln/>
        </p:spPr>
        <p:txBody>
          <a:bodyPr wrap="square" lIns="0" tIns="0" rIns="0" bIns="0" rtlCol="0" anchor="t"/>
          <a:lstStyle/>
          <a:p>
            <a:pPr algn="l" indent="0" marL="0">
              <a:lnSpc>
                <a:spcPct val="112000"/>
              </a:lnSpc>
              <a:buNone/>
            </a:pPr>
            <a:r>
              <a:rPr lang="en-US" sz="1000" spc="200" kern="0" dirty="0">
                <a:solidFill>
                  <a:srgbClr val="15B6FF"/>
                </a:solidFill>
                <a:latin typeface="Plus Jakarta Sans SemiBold" pitchFamily="34" charset="0"/>
                <a:ea typeface="Plus Jakarta Sans SemiBold" pitchFamily="34" charset="-122"/>
                <a:cs typeface="Plus Jakarta Sans SemiBold" pitchFamily="34" charset="-120"/>
              </a:rPr>
              <a:t>ENABLEMENT &amp; CERTIFICATION</a:t>
            </a:r>
            <a:endParaRPr lang="en-US" sz="1000" dirty="0"/>
          </a:p>
        </p:txBody>
      </p:sp>
      <p:sp>
        <p:nvSpPr>
          <p:cNvPr id="7" name="anim-1-3"/>
          <p:cNvSpPr txBox="1"/>
          <p:nvPr/>
        </p:nvSpPr>
        <p:spPr>
          <a:xfrm>
            <a:off x="508000" y="558800"/>
            <a:ext cx="9652000" cy="406400"/>
          </a:xfrm>
          <a:prstGeom prst="rect">
            <a:avLst/>
          </a:prstGeom>
          <a:noFill/>
          <a:ln/>
        </p:spPr>
        <p:txBody>
          <a:bodyPr wrap="square" lIns="0" tIns="0" rIns="0" bIns="0" rtlCol="0" anchor="ctr"/>
          <a:lstStyle/>
          <a:p>
            <a:pPr algn="l" indent="0" marL="0">
              <a:lnSpc>
                <a:spcPct val="112000"/>
              </a:lnSpc>
              <a:buNone/>
            </a:pPr>
            <a:r>
              <a:rPr lang="en-US" sz="2000" b="1" dirty="0">
                <a:solidFill>
                  <a:srgbClr val="FFFFFF"/>
                </a:solidFill>
                <a:latin typeface="Plus Jakarta Sans" pitchFamily="34" charset="0"/>
                <a:ea typeface="Plus Jakarta Sans" pitchFamily="34" charset="-122"/>
                <a:cs typeface="Plus Jakarta Sans" pitchFamily="34" charset="-120"/>
              </a:rPr>
              <a:t>Get certified. </a:t>
            </a:r>
            <a:pPr algn="l" indent="0" marL="0">
              <a:lnSpc>
                <a:spcPct val="112000"/>
              </a:lnSpc>
              <a:buNone/>
            </a:pPr>
            <a:r>
              <a:rPr lang="en-US" sz="2000" b="1" i="1" dirty="0">
                <a:solidFill>
                  <a:srgbClr val="15B6FF"/>
                </a:solidFill>
                <a:latin typeface="Plus Jakarta Sans Light" pitchFamily="34" charset="0"/>
                <a:ea typeface="Plus Jakarta Sans Light" pitchFamily="34" charset="-122"/>
                <a:cs typeface="Plus Jakarta Sans Light" pitchFamily="34" charset="-120"/>
              </a:rPr>
              <a:t>Get ahead.</a:t>
            </a:r>
            <a:endParaRPr lang="en-US" sz="2000" dirty="0"/>
          </a:p>
        </p:txBody>
      </p:sp>
      <p:sp>
        <p:nvSpPr>
          <p:cNvPr id="8" name="anim-2-4"/>
          <p:cNvSpPr/>
          <p:nvPr/>
        </p:nvSpPr>
        <p:spPr>
          <a:xfrm>
            <a:off x="508000" y="1308100"/>
            <a:ext cx="3606800" cy="936625"/>
          </a:xfrm>
          <a:prstGeom prst="roundRect">
            <a:avLst>
              <a:gd name="adj" fmla="val 16271"/>
            </a:avLst>
          </a:prstGeom>
          <a:solidFill>
            <a:srgbClr val="FFFFFF">
              <a:alpha val="5000"/>
            </a:srgbClr>
          </a:solidFill>
          <a:ln w="9525">
            <a:solidFill>
              <a:srgbClr val="FFFFFF">
                <a:alpha val="12000"/>
              </a:srgbClr>
            </a:solidFill>
            <a:prstDash val="solid"/>
          </a:ln>
        </p:spPr>
      </p:sp>
      <p:sp>
        <p:nvSpPr>
          <p:cNvPr id="9" name="anim-2-5"/>
          <p:cNvSpPr txBox="1"/>
          <p:nvPr/>
        </p:nvSpPr>
        <p:spPr>
          <a:xfrm>
            <a:off x="660400" y="1447800"/>
            <a:ext cx="762000" cy="317500"/>
          </a:xfrm>
          <a:prstGeom prst="rect">
            <a:avLst/>
          </a:prstGeom>
          <a:noFill/>
          <a:ln/>
        </p:spPr>
        <p:txBody>
          <a:bodyPr wrap="square" lIns="0" tIns="0" rIns="0" bIns="0" rtlCol="0" anchor="t"/>
          <a:lstStyle/>
          <a:p>
            <a:pPr algn="l" indent="0" marL="0">
              <a:lnSpc>
                <a:spcPct val="112000"/>
              </a:lnSpc>
              <a:buNone/>
            </a:pPr>
            <a:r>
              <a:rPr lang="en-US" sz="1700" dirty="0">
                <a:solidFill>
                  <a:srgbClr val="15B6FF"/>
                </a:solidFill>
                <a:latin typeface="Plus Jakarta Sans Light" pitchFamily="34" charset="0"/>
                <a:ea typeface="Plus Jakarta Sans Light" pitchFamily="34" charset="-122"/>
                <a:cs typeface="Plus Jakarta Sans Light" pitchFamily="34" charset="-120"/>
              </a:rPr>
              <a:t>01</a:t>
            </a:r>
            <a:endParaRPr lang="en-US" sz="1700" dirty="0"/>
          </a:p>
        </p:txBody>
      </p:sp>
      <p:sp>
        <p:nvSpPr>
          <p:cNvPr id="10" name="anim-2-6"/>
          <p:cNvSpPr txBox="1"/>
          <p:nvPr/>
        </p:nvSpPr>
        <p:spPr>
          <a:xfrm>
            <a:off x="1117600" y="1460500"/>
            <a:ext cx="2844800" cy="406400"/>
          </a:xfrm>
          <a:prstGeom prst="rect">
            <a:avLst/>
          </a:prstGeom>
          <a:noFill/>
          <a:ln/>
        </p:spPr>
        <p:txBody>
          <a:bodyPr wrap="square" lIns="0" tIns="0" rIns="0" bIns="0" rtlCol="0" anchor="t"/>
          <a:lstStyle/>
          <a:p>
            <a:pPr algn="l" indent="0" marL="0">
              <a:lnSpc>
                <a:spcPct val="112000"/>
              </a:lnSpc>
              <a:buNone/>
            </a:pPr>
            <a:r>
              <a:rPr lang="en-US" sz="1100" b="1" dirty="0">
                <a:solidFill>
                  <a:srgbClr val="FFFFFF"/>
                </a:solidFill>
                <a:latin typeface="Plus Jakarta Sans" pitchFamily="34" charset="0"/>
                <a:ea typeface="Plus Jakarta Sans" pitchFamily="34" charset="-122"/>
                <a:cs typeface="Plus Jakarta Sans" pitchFamily="34" charset="-120"/>
              </a:rPr>
              <a:t>DignifyX Sales Foundation</a:t>
            </a:r>
            <a:endParaRPr lang="en-US" sz="1100" dirty="0"/>
          </a:p>
        </p:txBody>
      </p:sp>
      <p:sp>
        <p:nvSpPr>
          <p:cNvPr id="11" name="anim-2-7"/>
          <p:cNvSpPr txBox="1"/>
          <p:nvPr/>
        </p:nvSpPr>
        <p:spPr>
          <a:xfrm>
            <a:off x="1117600" y="1892300"/>
            <a:ext cx="2844800" cy="317500"/>
          </a:xfrm>
          <a:prstGeom prst="rect">
            <a:avLst/>
          </a:prstGeom>
          <a:noFill/>
          <a:ln/>
        </p:spPr>
        <p:txBody>
          <a:bodyPr wrap="square" lIns="0" tIns="0" rIns="0" bIns="0" rtlCol="0" anchor="t"/>
          <a:lstStyle/>
          <a:p>
            <a:pPr algn="l" indent="0" marL="0">
              <a:lnSpc>
                <a:spcPct val="112000"/>
              </a:lnSpc>
              <a:buNone/>
            </a:pPr>
            <a:r>
              <a:rPr lang="en-US" sz="800" dirty="0">
                <a:solidFill>
                  <a:srgbClr val="C3C8D1"/>
                </a:solidFill>
                <a:latin typeface="Plus Jakarta Sans" pitchFamily="34" charset="0"/>
                <a:ea typeface="Plus Jakarta Sans" pitchFamily="34" charset="-122"/>
                <a:cs typeface="Plus Jakarta Sans" pitchFamily="34" charset="-120"/>
              </a:rPr>
              <a:t>Partner sales, BD and account managers</a:t>
            </a:r>
            <a:endParaRPr lang="en-US" sz="800" dirty="0"/>
          </a:p>
        </p:txBody>
      </p:sp>
      <p:sp>
        <p:nvSpPr>
          <p:cNvPr id="12" name="anim-2-8"/>
          <p:cNvSpPr/>
          <p:nvPr/>
        </p:nvSpPr>
        <p:spPr>
          <a:xfrm>
            <a:off x="4267200" y="1308100"/>
            <a:ext cx="3606800" cy="936625"/>
          </a:xfrm>
          <a:prstGeom prst="roundRect">
            <a:avLst>
              <a:gd name="adj" fmla="val 16271"/>
            </a:avLst>
          </a:prstGeom>
          <a:solidFill>
            <a:srgbClr val="FFFFFF">
              <a:alpha val="5000"/>
            </a:srgbClr>
          </a:solidFill>
          <a:ln w="9525">
            <a:solidFill>
              <a:srgbClr val="FFFFFF">
                <a:alpha val="12000"/>
              </a:srgbClr>
            </a:solidFill>
            <a:prstDash val="solid"/>
          </a:ln>
        </p:spPr>
      </p:sp>
      <p:sp>
        <p:nvSpPr>
          <p:cNvPr id="13" name="anim-2-9"/>
          <p:cNvSpPr txBox="1"/>
          <p:nvPr/>
        </p:nvSpPr>
        <p:spPr>
          <a:xfrm>
            <a:off x="4419600" y="1447800"/>
            <a:ext cx="762000" cy="317500"/>
          </a:xfrm>
          <a:prstGeom prst="rect">
            <a:avLst/>
          </a:prstGeom>
          <a:noFill/>
          <a:ln/>
        </p:spPr>
        <p:txBody>
          <a:bodyPr wrap="square" lIns="0" tIns="0" rIns="0" bIns="0" rtlCol="0" anchor="t"/>
          <a:lstStyle/>
          <a:p>
            <a:pPr algn="l" indent="0" marL="0">
              <a:lnSpc>
                <a:spcPct val="112000"/>
              </a:lnSpc>
              <a:buNone/>
            </a:pPr>
            <a:r>
              <a:rPr lang="en-US" sz="1700" dirty="0">
                <a:solidFill>
                  <a:srgbClr val="15B6FF"/>
                </a:solidFill>
                <a:latin typeface="Plus Jakarta Sans Light" pitchFamily="34" charset="0"/>
                <a:ea typeface="Plus Jakarta Sans Light" pitchFamily="34" charset="-122"/>
                <a:cs typeface="Plus Jakarta Sans Light" pitchFamily="34" charset="-120"/>
              </a:rPr>
              <a:t>02</a:t>
            </a:r>
            <a:endParaRPr lang="en-US" sz="1700" dirty="0"/>
          </a:p>
        </p:txBody>
      </p:sp>
      <p:sp>
        <p:nvSpPr>
          <p:cNvPr id="14" name="anim-2-10"/>
          <p:cNvSpPr txBox="1"/>
          <p:nvPr/>
        </p:nvSpPr>
        <p:spPr>
          <a:xfrm>
            <a:off x="4876800" y="1460500"/>
            <a:ext cx="2844800" cy="406400"/>
          </a:xfrm>
          <a:prstGeom prst="rect">
            <a:avLst/>
          </a:prstGeom>
          <a:noFill/>
          <a:ln/>
        </p:spPr>
        <p:txBody>
          <a:bodyPr wrap="square" lIns="0" tIns="0" rIns="0" bIns="0" rtlCol="0" anchor="t"/>
          <a:lstStyle/>
          <a:p>
            <a:pPr algn="l" indent="0" marL="0">
              <a:lnSpc>
                <a:spcPct val="112000"/>
              </a:lnSpc>
              <a:buNone/>
            </a:pPr>
            <a:r>
              <a:rPr lang="en-US" sz="1100" b="1" dirty="0">
                <a:solidFill>
                  <a:srgbClr val="FFFFFF"/>
                </a:solidFill>
                <a:latin typeface="Plus Jakarta Sans" pitchFamily="34" charset="0"/>
                <a:ea typeface="Plus Jakarta Sans" pitchFamily="34" charset="-122"/>
                <a:cs typeface="Plus Jakarta Sans" pitchFamily="34" charset="-120"/>
              </a:rPr>
              <a:t>Agency Coaching Sales Specialist</a:t>
            </a:r>
            <a:endParaRPr lang="en-US" sz="1100" dirty="0"/>
          </a:p>
        </p:txBody>
      </p:sp>
      <p:sp>
        <p:nvSpPr>
          <p:cNvPr id="15" name="anim-2-11"/>
          <p:cNvSpPr txBox="1"/>
          <p:nvPr/>
        </p:nvSpPr>
        <p:spPr>
          <a:xfrm>
            <a:off x="4876800" y="1892300"/>
            <a:ext cx="2844800" cy="317500"/>
          </a:xfrm>
          <a:prstGeom prst="rect">
            <a:avLst/>
          </a:prstGeom>
          <a:noFill/>
          <a:ln/>
        </p:spPr>
        <p:txBody>
          <a:bodyPr wrap="square" lIns="0" tIns="0" rIns="0" bIns="0" rtlCol="0" anchor="t"/>
          <a:lstStyle/>
          <a:p>
            <a:pPr algn="l" indent="0" marL="0">
              <a:lnSpc>
                <a:spcPct val="112000"/>
              </a:lnSpc>
              <a:buNone/>
            </a:pPr>
            <a:r>
              <a:rPr lang="en-US" sz="800" dirty="0">
                <a:solidFill>
                  <a:srgbClr val="C3C8D1"/>
                </a:solidFill>
                <a:latin typeface="Plus Jakarta Sans" pitchFamily="34" charset="0"/>
                <a:ea typeface="Plus Jakarta Sans" pitchFamily="34" charset="-122"/>
                <a:cs typeface="Plus Jakarta Sans" pitchFamily="34" charset="-120"/>
              </a:rPr>
              <a:t>Sellers to insurers, agencies and distribution leaders</a:t>
            </a:r>
            <a:endParaRPr lang="en-US" sz="800" dirty="0"/>
          </a:p>
        </p:txBody>
      </p:sp>
      <p:sp>
        <p:nvSpPr>
          <p:cNvPr id="16" name="anim-3-12"/>
          <p:cNvSpPr/>
          <p:nvPr/>
        </p:nvSpPr>
        <p:spPr>
          <a:xfrm>
            <a:off x="508000" y="2397125"/>
            <a:ext cx="3606800" cy="936625"/>
          </a:xfrm>
          <a:prstGeom prst="roundRect">
            <a:avLst>
              <a:gd name="adj" fmla="val 16271"/>
            </a:avLst>
          </a:prstGeom>
          <a:solidFill>
            <a:srgbClr val="FFFFFF">
              <a:alpha val="5000"/>
            </a:srgbClr>
          </a:solidFill>
          <a:ln w="9525">
            <a:solidFill>
              <a:srgbClr val="FFFFFF">
                <a:alpha val="12000"/>
              </a:srgbClr>
            </a:solidFill>
            <a:prstDash val="solid"/>
          </a:ln>
        </p:spPr>
      </p:sp>
      <p:sp>
        <p:nvSpPr>
          <p:cNvPr id="17" name="anim-3-13"/>
          <p:cNvSpPr txBox="1"/>
          <p:nvPr/>
        </p:nvSpPr>
        <p:spPr>
          <a:xfrm>
            <a:off x="660400" y="2536825"/>
            <a:ext cx="762000" cy="317500"/>
          </a:xfrm>
          <a:prstGeom prst="rect">
            <a:avLst/>
          </a:prstGeom>
          <a:noFill/>
          <a:ln/>
        </p:spPr>
        <p:txBody>
          <a:bodyPr wrap="square" lIns="0" tIns="0" rIns="0" bIns="0" rtlCol="0" anchor="t"/>
          <a:lstStyle/>
          <a:p>
            <a:pPr algn="l" indent="0" marL="0">
              <a:lnSpc>
                <a:spcPct val="112000"/>
              </a:lnSpc>
              <a:buNone/>
            </a:pPr>
            <a:r>
              <a:rPr lang="en-US" sz="1700" dirty="0">
                <a:solidFill>
                  <a:srgbClr val="15B6FF"/>
                </a:solidFill>
                <a:latin typeface="Plus Jakarta Sans Light" pitchFamily="34" charset="0"/>
                <a:ea typeface="Plus Jakarta Sans Light" pitchFamily="34" charset="-122"/>
                <a:cs typeface="Plus Jakarta Sans Light" pitchFamily="34" charset="-120"/>
              </a:rPr>
              <a:t>03</a:t>
            </a:r>
            <a:endParaRPr lang="en-US" sz="1700" dirty="0"/>
          </a:p>
        </p:txBody>
      </p:sp>
      <p:sp>
        <p:nvSpPr>
          <p:cNvPr id="18" name="anim-3-14"/>
          <p:cNvSpPr txBox="1"/>
          <p:nvPr/>
        </p:nvSpPr>
        <p:spPr>
          <a:xfrm>
            <a:off x="1117600" y="2549525"/>
            <a:ext cx="2844800" cy="406400"/>
          </a:xfrm>
          <a:prstGeom prst="rect">
            <a:avLst/>
          </a:prstGeom>
          <a:noFill/>
          <a:ln/>
        </p:spPr>
        <p:txBody>
          <a:bodyPr wrap="square" lIns="0" tIns="0" rIns="0" bIns="0" rtlCol="0" anchor="t"/>
          <a:lstStyle/>
          <a:p>
            <a:pPr algn="l" indent="0" marL="0">
              <a:lnSpc>
                <a:spcPct val="112000"/>
              </a:lnSpc>
              <a:buNone/>
            </a:pPr>
            <a:r>
              <a:rPr lang="en-US" sz="1100" b="1" dirty="0">
                <a:solidFill>
                  <a:srgbClr val="FFFFFF"/>
                </a:solidFill>
                <a:latin typeface="Plus Jakarta Sans" pitchFamily="34" charset="0"/>
                <a:ea typeface="Plus Jakarta Sans" pitchFamily="34" charset="-122"/>
                <a:cs typeface="Plus Jakarta Sans" pitchFamily="34" charset="-120"/>
              </a:rPr>
              <a:t>Enterprise AI Sales Specialist</a:t>
            </a:r>
            <a:endParaRPr lang="en-US" sz="1100" dirty="0"/>
          </a:p>
        </p:txBody>
      </p:sp>
      <p:sp>
        <p:nvSpPr>
          <p:cNvPr id="19" name="anim-3-15"/>
          <p:cNvSpPr txBox="1"/>
          <p:nvPr/>
        </p:nvSpPr>
        <p:spPr>
          <a:xfrm>
            <a:off x="1117600" y="2981325"/>
            <a:ext cx="2844800" cy="317500"/>
          </a:xfrm>
          <a:prstGeom prst="rect">
            <a:avLst/>
          </a:prstGeom>
          <a:noFill/>
          <a:ln/>
        </p:spPr>
        <p:txBody>
          <a:bodyPr wrap="square" lIns="0" tIns="0" rIns="0" bIns="0" rtlCol="0" anchor="t"/>
          <a:lstStyle/>
          <a:p>
            <a:pPr algn="l" indent="0" marL="0">
              <a:lnSpc>
                <a:spcPct val="112000"/>
              </a:lnSpc>
              <a:buNone/>
            </a:pPr>
            <a:r>
              <a:rPr lang="en-US" sz="800" dirty="0">
                <a:solidFill>
                  <a:srgbClr val="C3C8D1"/>
                </a:solidFill>
                <a:latin typeface="Plus Jakarta Sans" pitchFamily="34" charset="0"/>
                <a:ea typeface="Plus Jakarta Sans" pitchFamily="34" charset="-122"/>
                <a:cs typeface="Plus Jakarta Sans" pitchFamily="34" charset="-120"/>
              </a:rPr>
              <a:t>Enterprise AI, L&amp;D and digital-transformation sellers</a:t>
            </a:r>
            <a:endParaRPr lang="en-US" sz="800" dirty="0"/>
          </a:p>
        </p:txBody>
      </p:sp>
      <p:sp>
        <p:nvSpPr>
          <p:cNvPr id="20" name="anim-3-16"/>
          <p:cNvSpPr/>
          <p:nvPr/>
        </p:nvSpPr>
        <p:spPr>
          <a:xfrm>
            <a:off x="4267200" y="2397125"/>
            <a:ext cx="3606800" cy="936625"/>
          </a:xfrm>
          <a:prstGeom prst="roundRect">
            <a:avLst>
              <a:gd name="adj" fmla="val 16271"/>
            </a:avLst>
          </a:prstGeom>
          <a:solidFill>
            <a:srgbClr val="FFFFFF">
              <a:alpha val="5000"/>
            </a:srgbClr>
          </a:solidFill>
          <a:ln w="9525">
            <a:solidFill>
              <a:srgbClr val="FFFFFF">
                <a:alpha val="12000"/>
              </a:srgbClr>
            </a:solidFill>
            <a:prstDash val="solid"/>
          </a:ln>
        </p:spPr>
      </p:sp>
      <p:sp>
        <p:nvSpPr>
          <p:cNvPr id="21" name="anim-3-17"/>
          <p:cNvSpPr txBox="1"/>
          <p:nvPr/>
        </p:nvSpPr>
        <p:spPr>
          <a:xfrm>
            <a:off x="4419600" y="2536825"/>
            <a:ext cx="762000" cy="317500"/>
          </a:xfrm>
          <a:prstGeom prst="rect">
            <a:avLst/>
          </a:prstGeom>
          <a:noFill/>
          <a:ln/>
        </p:spPr>
        <p:txBody>
          <a:bodyPr wrap="square" lIns="0" tIns="0" rIns="0" bIns="0" rtlCol="0" anchor="t"/>
          <a:lstStyle/>
          <a:p>
            <a:pPr algn="l" indent="0" marL="0">
              <a:lnSpc>
                <a:spcPct val="112000"/>
              </a:lnSpc>
              <a:buNone/>
            </a:pPr>
            <a:r>
              <a:rPr lang="en-US" sz="1700" dirty="0">
                <a:solidFill>
                  <a:srgbClr val="15B6FF"/>
                </a:solidFill>
                <a:latin typeface="Plus Jakarta Sans Light" pitchFamily="34" charset="0"/>
                <a:ea typeface="Plus Jakarta Sans Light" pitchFamily="34" charset="-122"/>
                <a:cs typeface="Plus Jakarta Sans Light" pitchFamily="34" charset="-120"/>
              </a:rPr>
              <a:t>04</a:t>
            </a:r>
            <a:endParaRPr lang="en-US" sz="1700" dirty="0"/>
          </a:p>
        </p:txBody>
      </p:sp>
      <p:sp>
        <p:nvSpPr>
          <p:cNvPr id="22" name="anim-3-18"/>
          <p:cNvSpPr txBox="1"/>
          <p:nvPr/>
        </p:nvSpPr>
        <p:spPr>
          <a:xfrm>
            <a:off x="4876800" y="2549525"/>
            <a:ext cx="2844800" cy="406400"/>
          </a:xfrm>
          <a:prstGeom prst="rect">
            <a:avLst/>
          </a:prstGeom>
          <a:noFill/>
          <a:ln/>
        </p:spPr>
        <p:txBody>
          <a:bodyPr wrap="square" lIns="0" tIns="0" rIns="0" bIns="0" rtlCol="0" anchor="t"/>
          <a:lstStyle/>
          <a:p>
            <a:pPr algn="l" indent="0" marL="0">
              <a:lnSpc>
                <a:spcPct val="112000"/>
              </a:lnSpc>
              <a:buNone/>
            </a:pPr>
            <a:r>
              <a:rPr lang="en-US" sz="1100" b="1" dirty="0">
                <a:solidFill>
                  <a:srgbClr val="FFFFFF"/>
                </a:solidFill>
                <a:latin typeface="Plus Jakarta Sans" pitchFamily="34" charset="0"/>
                <a:ea typeface="Plus Jakarta Sans" pitchFamily="34" charset="-122"/>
                <a:cs typeface="Plus Jakarta Sans" pitchFamily="34" charset="-120"/>
              </a:rPr>
              <a:t>Agency Coaching Pre-Sales Specialist</a:t>
            </a:r>
            <a:endParaRPr lang="en-US" sz="1100" dirty="0"/>
          </a:p>
        </p:txBody>
      </p:sp>
      <p:sp>
        <p:nvSpPr>
          <p:cNvPr id="23" name="anim-3-19"/>
          <p:cNvSpPr txBox="1"/>
          <p:nvPr/>
        </p:nvSpPr>
        <p:spPr>
          <a:xfrm>
            <a:off x="4876800" y="2981325"/>
            <a:ext cx="2844800" cy="317500"/>
          </a:xfrm>
          <a:prstGeom prst="rect">
            <a:avLst/>
          </a:prstGeom>
          <a:noFill/>
          <a:ln/>
        </p:spPr>
        <p:txBody>
          <a:bodyPr wrap="square" lIns="0" tIns="0" rIns="0" bIns="0" rtlCol="0" anchor="t"/>
          <a:lstStyle/>
          <a:p>
            <a:pPr algn="l" indent="0" marL="0">
              <a:lnSpc>
                <a:spcPct val="112000"/>
              </a:lnSpc>
              <a:buNone/>
            </a:pPr>
            <a:r>
              <a:rPr lang="en-US" sz="800" dirty="0">
                <a:solidFill>
                  <a:srgbClr val="C3C8D1"/>
                </a:solidFill>
                <a:latin typeface="Plus Jakarta Sans" pitchFamily="34" charset="0"/>
                <a:ea typeface="Plus Jakarta Sans" pitchFamily="34" charset="-122"/>
                <a:cs typeface="Plus Jakarta Sans" pitchFamily="34" charset="-120"/>
              </a:rPr>
              <a:t>Distribution, training and agency-development consultants</a:t>
            </a:r>
            <a:endParaRPr lang="en-US" sz="800" dirty="0"/>
          </a:p>
        </p:txBody>
      </p:sp>
      <p:sp>
        <p:nvSpPr>
          <p:cNvPr id="24" name="anim-4-20"/>
          <p:cNvSpPr/>
          <p:nvPr/>
        </p:nvSpPr>
        <p:spPr>
          <a:xfrm>
            <a:off x="508000" y="3486150"/>
            <a:ext cx="3606800" cy="936625"/>
          </a:xfrm>
          <a:prstGeom prst="roundRect">
            <a:avLst>
              <a:gd name="adj" fmla="val 16271"/>
            </a:avLst>
          </a:prstGeom>
          <a:solidFill>
            <a:srgbClr val="FFFFFF">
              <a:alpha val="5000"/>
            </a:srgbClr>
          </a:solidFill>
          <a:ln w="9525">
            <a:solidFill>
              <a:srgbClr val="FFFFFF">
                <a:alpha val="12000"/>
              </a:srgbClr>
            </a:solidFill>
            <a:prstDash val="solid"/>
          </a:ln>
        </p:spPr>
      </p:sp>
      <p:sp>
        <p:nvSpPr>
          <p:cNvPr id="25" name="anim-4-21"/>
          <p:cNvSpPr txBox="1"/>
          <p:nvPr/>
        </p:nvSpPr>
        <p:spPr>
          <a:xfrm>
            <a:off x="660400" y="3625850"/>
            <a:ext cx="762000" cy="317500"/>
          </a:xfrm>
          <a:prstGeom prst="rect">
            <a:avLst/>
          </a:prstGeom>
          <a:noFill/>
          <a:ln/>
        </p:spPr>
        <p:txBody>
          <a:bodyPr wrap="square" lIns="0" tIns="0" rIns="0" bIns="0" rtlCol="0" anchor="t"/>
          <a:lstStyle/>
          <a:p>
            <a:pPr algn="l" indent="0" marL="0">
              <a:lnSpc>
                <a:spcPct val="112000"/>
              </a:lnSpc>
              <a:buNone/>
            </a:pPr>
            <a:r>
              <a:rPr lang="en-US" sz="1700" dirty="0">
                <a:solidFill>
                  <a:srgbClr val="15B6FF"/>
                </a:solidFill>
                <a:latin typeface="Plus Jakarta Sans Light" pitchFamily="34" charset="0"/>
                <a:ea typeface="Plus Jakarta Sans Light" pitchFamily="34" charset="-122"/>
                <a:cs typeface="Plus Jakarta Sans Light" pitchFamily="34" charset="-120"/>
              </a:rPr>
              <a:t>05</a:t>
            </a:r>
            <a:endParaRPr lang="en-US" sz="1700" dirty="0"/>
          </a:p>
        </p:txBody>
      </p:sp>
      <p:sp>
        <p:nvSpPr>
          <p:cNvPr id="26" name="anim-4-22"/>
          <p:cNvSpPr txBox="1"/>
          <p:nvPr/>
        </p:nvSpPr>
        <p:spPr>
          <a:xfrm>
            <a:off x="1117600" y="3638550"/>
            <a:ext cx="2844800" cy="406400"/>
          </a:xfrm>
          <a:prstGeom prst="rect">
            <a:avLst/>
          </a:prstGeom>
          <a:noFill/>
          <a:ln/>
        </p:spPr>
        <p:txBody>
          <a:bodyPr wrap="square" lIns="0" tIns="0" rIns="0" bIns="0" rtlCol="0" anchor="t"/>
          <a:lstStyle/>
          <a:p>
            <a:pPr algn="l" indent="0" marL="0">
              <a:lnSpc>
                <a:spcPct val="112000"/>
              </a:lnSpc>
              <a:buNone/>
            </a:pPr>
            <a:r>
              <a:rPr lang="en-US" sz="1100" b="1" dirty="0">
                <a:solidFill>
                  <a:srgbClr val="FFFFFF"/>
                </a:solidFill>
                <a:latin typeface="Plus Jakarta Sans" pitchFamily="34" charset="0"/>
                <a:ea typeface="Plus Jakarta Sans" pitchFamily="34" charset="-122"/>
                <a:cs typeface="Plus Jakarta Sans" pitchFamily="34" charset="-120"/>
              </a:rPr>
              <a:t>Enterprise AI Pre-Sales Specialist</a:t>
            </a:r>
            <a:endParaRPr lang="en-US" sz="1100" dirty="0"/>
          </a:p>
        </p:txBody>
      </p:sp>
      <p:sp>
        <p:nvSpPr>
          <p:cNvPr id="27" name="anim-4-23"/>
          <p:cNvSpPr txBox="1"/>
          <p:nvPr/>
        </p:nvSpPr>
        <p:spPr>
          <a:xfrm>
            <a:off x="1117600" y="4070350"/>
            <a:ext cx="2844800" cy="317500"/>
          </a:xfrm>
          <a:prstGeom prst="rect">
            <a:avLst/>
          </a:prstGeom>
          <a:noFill/>
          <a:ln/>
        </p:spPr>
        <p:txBody>
          <a:bodyPr wrap="square" lIns="0" tIns="0" rIns="0" bIns="0" rtlCol="0" anchor="t"/>
          <a:lstStyle/>
          <a:p>
            <a:pPr algn="l" indent="0" marL="0">
              <a:lnSpc>
                <a:spcPct val="112000"/>
              </a:lnSpc>
              <a:buNone/>
            </a:pPr>
            <a:r>
              <a:rPr lang="en-US" sz="800" dirty="0">
                <a:solidFill>
                  <a:srgbClr val="C3C8D1"/>
                </a:solidFill>
                <a:latin typeface="Plus Jakarta Sans" pitchFamily="34" charset="0"/>
                <a:ea typeface="Plus Jakarta Sans" pitchFamily="34" charset="-122"/>
                <a:cs typeface="Plus Jakarta Sans" pitchFamily="34" charset="-120"/>
              </a:rPr>
              <a:t>AI consultants, enterprise architects, data consultants</a:t>
            </a:r>
            <a:endParaRPr lang="en-US" sz="800" dirty="0"/>
          </a:p>
        </p:txBody>
      </p:sp>
      <p:sp>
        <p:nvSpPr>
          <p:cNvPr id="28" name="anim-4-24"/>
          <p:cNvSpPr/>
          <p:nvPr/>
        </p:nvSpPr>
        <p:spPr>
          <a:xfrm>
            <a:off x="4267200" y="3486150"/>
            <a:ext cx="3606800" cy="936625"/>
          </a:xfrm>
          <a:prstGeom prst="roundRect">
            <a:avLst>
              <a:gd name="adj" fmla="val 16271"/>
            </a:avLst>
          </a:prstGeom>
          <a:solidFill>
            <a:srgbClr val="FFFFFF">
              <a:alpha val="5000"/>
            </a:srgbClr>
          </a:solidFill>
          <a:ln w="9525">
            <a:solidFill>
              <a:srgbClr val="FFFFFF">
                <a:alpha val="12000"/>
              </a:srgbClr>
            </a:solidFill>
            <a:prstDash val="solid"/>
          </a:ln>
        </p:spPr>
      </p:sp>
      <p:sp>
        <p:nvSpPr>
          <p:cNvPr id="29" name="anim-4-25"/>
          <p:cNvSpPr txBox="1"/>
          <p:nvPr/>
        </p:nvSpPr>
        <p:spPr>
          <a:xfrm>
            <a:off x="4419600" y="3625850"/>
            <a:ext cx="762000" cy="317500"/>
          </a:xfrm>
          <a:prstGeom prst="rect">
            <a:avLst/>
          </a:prstGeom>
          <a:noFill/>
          <a:ln/>
        </p:spPr>
        <p:txBody>
          <a:bodyPr wrap="square" lIns="0" tIns="0" rIns="0" bIns="0" rtlCol="0" anchor="t"/>
          <a:lstStyle/>
          <a:p>
            <a:pPr algn="l" indent="0" marL="0">
              <a:lnSpc>
                <a:spcPct val="112000"/>
              </a:lnSpc>
              <a:buNone/>
            </a:pPr>
            <a:r>
              <a:rPr lang="en-US" sz="1700" dirty="0">
                <a:solidFill>
                  <a:srgbClr val="15B6FF"/>
                </a:solidFill>
                <a:latin typeface="Plus Jakarta Sans Light" pitchFamily="34" charset="0"/>
                <a:ea typeface="Plus Jakarta Sans Light" pitchFamily="34" charset="-122"/>
                <a:cs typeface="Plus Jakarta Sans Light" pitchFamily="34" charset="-120"/>
              </a:rPr>
              <a:t>06</a:t>
            </a:r>
            <a:endParaRPr lang="en-US" sz="1700" dirty="0"/>
          </a:p>
        </p:txBody>
      </p:sp>
      <p:sp>
        <p:nvSpPr>
          <p:cNvPr id="30" name="anim-4-26"/>
          <p:cNvSpPr txBox="1"/>
          <p:nvPr/>
        </p:nvSpPr>
        <p:spPr>
          <a:xfrm>
            <a:off x="4876800" y="3638550"/>
            <a:ext cx="2844800" cy="406400"/>
          </a:xfrm>
          <a:prstGeom prst="rect">
            <a:avLst/>
          </a:prstGeom>
          <a:noFill/>
          <a:ln/>
        </p:spPr>
        <p:txBody>
          <a:bodyPr wrap="square" lIns="0" tIns="0" rIns="0" bIns="0" rtlCol="0" anchor="t"/>
          <a:lstStyle/>
          <a:p>
            <a:pPr algn="l" indent="0" marL="0">
              <a:lnSpc>
                <a:spcPct val="112000"/>
              </a:lnSpc>
              <a:buNone/>
            </a:pPr>
            <a:r>
              <a:rPr lang="en-US" sz="1100" b="1" dirty="0">
                <a:solidFill>
                  <a:srgbClr val="FFFFFF"/>
                </a:solidFill>
                <a:latin typeface="Plus Jakarta Sans" pitchFamily="34" charset="0"/>
                <a:ea typeface="Plus Jakarta Sans" pitchFamily="34" charset="-122"/>
                <a:cs typeface="Plus Jakarta Sans" pitchFamily="34" charset="-120"/>
              </a:rPr>
              <a:t>Implementation Foundation</a:t>
            </a:r>
            <a:endParaRPr lang="en-US" sz="1100" dirty="0"/>
          </a:p>
        </p:txBody>
      </p:sp>
      <p:sp>
        <p:nvSpPr>
          <p:cNvPr id="31" name="anim-4-27"/>
          <p:cNvSpPr txBox="1"/>
          <p:nvPr/>
        </p:nvSpPr>
        <p:spPr>
          <a:xfrm>
            <a:off x="4876800" y="4070350"/>
            <a:ext cx="2844800" cy="317500"/>
          </a:xfrm>
          <a:prstGeom prst="rect">
            <a:avLst/>
          </a:prstGeom>
          <a:noFill/>
          <a:ln/>
        </p:spPr>
        <p:txBody>
          <a:bodyPr wrap="square" lIns="0" tIns="0" rIns="0" bIns="0" rtlCol="0" anchor="t"/>
          <a:lstStyle/>
          <a:p>
            <a:pPr algn="l" indent="0" marL="0">
              <a:lnSpc>
                <a:spcPct val="112000"/>
              </a:lnSpc>
              <a:buNone/>
            </a:pPr>
            <a:r>
              <a:rPr lang="en-US" sz="800" dirty="0">
                <a:solidFill>
                  <a:srgbClr val="C3C8D1"/>
                </a:solidFill>
                <a:latin typeface="Plus Jakarta Sans" pitchFamily="34" charset="0"/>
                <a:ea typeface="Plus Jakarta Sans" pitchFamily="34" charset="-122"/>
                <a:cs typeface="Plus Jakarta Sans" pitchFamily="34" charset="-120"/>
              </a:rPr>
              <a:t>Delivery consultants and solution architects</a:t>
            </a:r>
            <a:endParaRPr lang="en-US" sz="800" dirty="0"/>
          </a:p>
        </p:txBody>
      </p:sp>
      <p:sp>
        <p:nvSpPr>
          <p:cNvPr id="32" name="anim-5-28"/>
          <p:cNvSpPr/>
          <p:nvPr/>
        </p:nvSpPr>
        <p:spPr>
          <a:xfrm>
            <a:off x="508000" y="4575175"/>
            <a:ext cx="3606800" cy="936625"/>
          </a:xfrm>
          <a:prstGeom prst="roundRect">
            <a:avLst>
              <a:gd name="adj" fmla="val 16271"/>
            </a:avLst>
          </a:prstGeom>
          <a:solidFill>
            <a:srgbClr val="FFFFFF">
              <a:alpha val="5000"/>
            </a:srgbClr>
          </a:solidFill>
          <a:ln w="9525">
            <a:solidFill>
              <a:srgbClr val="FFFFFF">
                <a:alpha val="12000"/>
              </a:srgbClr>
            </a:solidFill>
            <a:prstDash val="solid"/>
          </a:ln>
        </p:spPr>
      </p:sp>
      <p:sp>
        <p:nvSpPr>
          <p:cNvPr id="33" name="anim-5-29"/>
          <p:cNvSpPr txBox="1"/>
          <p:nvPr/>
        </p:nvSpPr>
        <p:spPr>
          <a:xfrm>
            <a:off x="660400" y="4714875"/>
            <a:ext cx="762000" cy="317500"/>
          </a:xfrm>
          <a:prstGeom prst="rect">
            <a:avLst/>
          </a:prstGeom>
          <a:noFill/>
          <a:ln/>
        </p:spPr>
        <p:txBody>
          <a:bodyPr wrap="square" lIns="0" tIns="0" rIns="0" bIns="0" rtlCol="0" anchor="t"/>
          <a:lstStyle/>
          <a:p>
            <a:pPr algn="l" indent="0" marL="0">
              <a:lnSpc>
                <a:spcPct val="112000"/>
              </a:lnSpc>
              <a:buNone/>
            </a:pPr>
            <a:r>
              <a:rPr lang="en-US" sz="1700" dirty="0">
                <a:solidFill>
                  <a:srgbClr val="15B6FF"/>
                </a:solidFill>
                <a:latin typeface="Plus Jakarta Sans Light" pitchFamily="34" charset="0"/>
                <a:ea typeface="Plus Jakarta Sans Light" pitchFamily="34" charset="-122"/>
                <a:cs typeface="Plus Jakarta Sans Light" pitchFamily="34" charset="-120"/>
              </a:rPr>
              <a:t>07</a:t>
            </a:r>
            <a:endParaRPr lang="en-US" sz="1700" dirty="0"/>
          </a:p>
        </p:txBody>
      </p:sp>
      <p:sp>
        <p:nvSpPr>
          <p:cNvPr id="34" name="anim-5-30"/>
          <p:cNvSpPr txBox="1"/>
          <p:nvPr/>
        </p:nvSpPr>
        <p:spPr>
          <a:xfrm>
            <a:off x="1117600" y="4727575"/>
            <a:ext cx="2844800" cy="406400"/>
          </a:xfrm>
          <a:prstGeom prst="rect">
            <a:avLst/>
          </a:prstGeom>
          <a:noFill/>
          <a:ln/>
        </p:spPr>
        <p:txBody>
          <a:bodyPr wrap="square" lIns="0" tIns="0" rIns="0" bIns="0" rtlCol="0" anchor="t"/>
          <a:lstStyle/>
          <a:p>
            <a:pPr algn="l" indent="0" marL="0">
              <a:lnSpc>
                <a:spcPct val="112000"/>
              </a:lnSpc>
              <a:buNone/>
            </a:pPr>
            <a:r>
              <a:rPr lang="en-US" sz="1100" b="1" dirty="0">
                <a:solidFill>
                  <a:srgbClr val="FFFFFF"/>
                </a:solidFill>
                <a:latin typeface="Plus Jakarta Sans" pitchFamily="34" charset="0"/>
                <a:ea typeface="Plus Jakarta Sans" pitchFamily="34" charset="-122"/>
                <a:cs typeface="Plus Jakarta Sans" pitchFamily="34" charset="-120"/>
              </a:rPr>
              <a:t>Support Foundation</a:t>
            </a:r>
            <a:endParaRPr lang="en-US" sz="1100" dirty="0"/>
          </a:p>
        </p:txBody>
      </p:sp>
      <p:sp>
        <p:nvSpPr>
          <p:cNvPr id="35" name="anim-5-31"/>
          <p:cNvSpPr txBox="1"/>
          <p:nvPr/>
        </p:nvSpPr>
        <p:spPr>
          <a:xfrm>
            <a:off x="1117600" y="5159375"/>
            <a:ext cx="2844800" cy="317500"/>
          </a:xfrm>
          <a:prstGeom prst="rect">
            <a:avLst/>
          </a:prstGeom>
          <a:noFill/>
          <a:ln/>
        </p:spPr>
        <p:txBody>
          <a:bodyPr wrap="square" lIns="0" tIns="0" rIns="0" bIns="0" rtlCol="0" anchor="t"/>
          <a:lstStyle/>
          <a:p>
            <a:pPr algn="l" indent="0" marL="0">
              <a:lnSpc>
                <a:spcPct val="112000"/>
              </a:lnSpc>
              <a:buNone/>
            </a:pPr>
            <a:r>
              <a:rPr lang="en-US" sz="800" dirty="0">
                <a:solidFill>
                  <a:srgbClr val="C3C8D1"/>
                </a:solidFill>
                <a:latin typeface="Plus Jakarta Sans" pitchFamily="34" charset="0"/>
                <a:ea typeface="Plus Jakarta Sans" pitchFamily="34" charset="-122"/>
                <a:cs typeface="Plus Jakarta Sans" pitchFamily="34" charset="-120"/>
              </a:rPr>
              <a:t>Managed services and customer-success managers</a:t>
            </a:r>
            <a:endParaRPr lang="en-US" sz="800" dirty="0"/>
          </a:p>
        </p:txBody>
      </p:sp>
      <p:sp>
        <p:nvSpPr>
          <p:cNvPr id="36" name="anim-5-32"/>
          <p:cNvSpPr/>
          <p:nvPr/>
        </p:nvSpPr>
        <p:spPr>
          <a:xfrm>
            <a:off x="4267200" y="4575175"/>
            <a:ext cx="3606800" cy="936625"/>
          </a:xfrm>
          <a:prstGeom prst="roundRect">
            <a:avLst>
              <a:gd name="adj" fmla="val 16271"/>
            </a:avLst>
          </a:prstGeom>
          <a:solidFill>
            <a:srgbClr val="FFFFFF">
              <a:alpha val="5000"/>
            </a:srgbClr>
          </a:solidFill>
          <a:ln w="9525">
            <a:solidFill>
              <a:srgbClr val="FFFFFF">
                <a:alpha val="12000"/>
              </a:srgbClr>
            </a:solidFill>
            <a:prstDash val="solid"/>
          </a:ln>
        </p:spPr>
      </p:sp>
      <p:sp>
        <p:nvSpPr>
          <p:cNvPr id="37" name="anim-5-33"/>
          <p:cNvSpPr txBox="1"/>
          <p:nvPr/>
        </p:nvSpPr>
        <p:spPr>
          <a:xfrm>
            <a:off x="4419600" y="4714875"/>
            <a:ext cx="762000" cy="317500"/>
          </a:xfrm>
          <a:prstGeom prst="rect">
            <a:avLst/>
          </a:prstGeom>
          <a:noFill/>
          <a:ln/>
        </p:spPr>
        <p:txBody>
          <a:bodyPr wrap="square" lIns="0" tIns="0" rIns="0" bIns="0" rtlCol="0" anchor="t"/>
          <a:lstStyle/>
          <a:p>
            <a:pPr algn="l" indent="0" marL="0">
              <a:lnSpc>
                <a:spcPct val="112000"/>
              </a:lnSpc>
              <a:buNone/>
            </a:pPr>
            <a:r>
              <a:rPr lang="en-US" sz="1700" dirty="0">
                <a:solidFill>
                  <a:srgbClr val="15B6FF"/>
                </a:solidFill>
                <a:latin typeface="Plus Jakarta Sans Light" pitchFamily="34" charset="0"/>
                <a:ea typeface="Plus Jakarta Sans Light" pitchFamily="34" charset="-122"/>
                <a:cs typeface="Plus Jakarta Sans Light" pitchFamily="34" charset="-120"/>
              </a:rPr>
              <a:t>08</a:t>
            </a:r>
            <a:endParaRPr lang="en-US" sz="1700" dirty="0"/>
          </a:p>
        </p:txBody>
      </p:sp>
      <p:sp>
        <p:nvSpPr>
          <p:cNvPr id="38" name="anim-5-34"/>
          <p:cNvSpPr txBox="1"/>
          <p:nvPr/>
        </p:nvSpPr>
        <p:spPr>
          <a:xfrm>
            <a:off x="4876800" y="4727575"/>
            <a:ext cx="2844800" cy="406400"/>
          </a:xfrm>
          <a:prstGeom prst="rect">
            <a:avLst/>
          </a:prstGeom>
          <a:noFill/>
          <a:ln/>
        </p:spPr>
        <p:txBody>
          <a:bodyPr wrap="square" lIns="0" tIns="0" rIns="0" bIns="0" rtlCol="0" anchor="t"/>
          <a:lstStyle/>
          <a:p>
            <a:pPr algn="l" indent="0" marL="0">
              <a:lnSpc>
                <a:spcPct val="112000"/>
              </a:lnSpc>
              <a:buNone/>
            </a:pPr>
            <a:r>
              <a:rPr lang="en-US" sz="1100" b="1" dirty="0">
                <a:solidFill>
                  <a:srgbClr val="FFFFFF"/>
                </a:solidFill>
                <a:latin typeface="Plus Jakarta Sans" pitchFamily="34" charset="0"/>
                <a:ea typeface="Plus Jakarta Sans" pitchFamily="34" charset="-122"/>
                <a:cs typeface="Plus Jakarta Sans" pitchFamily="34" charset="-120"/>
              </a:rPr>
              <a:t>Compliance &amp; Responsible AI Basics</a:t>
            </a:r>
            <a:endParaRPr lang="en-US" sz="1100" dirty="0"/>
          </a:p>
        </p:txBody>
      </p:sp>
      <p:sp>
        <p:nvSpPr>
          <p:cNvPr id="39" name="anim-5-35"/>
          <p:cNvSpPr txBox="1"/>
          <p:nvPr/>
        </p:nvSpPr>
        <p:spPr>
          <a:xfrm>
            <a:off x="4876800" y="5159375"/>
            <a:ext cx="2844800" cy="317500"/>
          </a:xfrm>
          <a:prstGeom prst="rect">
            <a:avLst/>
          </a:prstGeom>
          <a:noFill/>
          <a:ln/>
        </p:spPr>
        <p:txBody>
          <a:bodyPr wrap="square" lIns="0" tIns="0" rIns="0" bIns="0" rtlCol="0" anchor="t"/>
          <a:lstStyle/>
          <a:p>
            <a:pPr algn="l" indent="0" marL="0">
              <a:lnSpc>
                <a:spcPct val="112000"/>
              </a:lnSpc>
              <a:buNone/>
            </a:pPr>
            <a:r>
              <a:rPr lang="en-US" sz="800" dirty="0">
                <a:solidFill>
                  <a:srgbClr val="C3C8D1"/>
                </a:solidFill>
                <a:latin typeface="Plus Jakarta Sans" pitchFamily="34" charset="0"/>
                <a:ea typeface="Plus Jakarta Sans" pitchFamily="34" charset="-122"/>
                <a:cs typeface="Plus Jakarta Sans" pitchFamily="34" charset="-120"/>
              </a:rPr>
              <a:t>All customer-facing partner resources</a:t>
            </a:r>
            <a:endParaRPr lang="en-US" sz="800" dirty="0"/>
          </a:p>
        </p:txBody>
      </p:sp>
      <p:sp>
        <p:nvSpPr>
          <p:cNvPr id="40" name="anim-6-36"/>
          <p:cNvSpPr/>
          <p:nvPr/>
        </p:nvSpPr>
        <p:spPr>
          <a:xfrm>
            <a:off x="8026400" y="1308100"/>
            <a:ext cx="3657600" cy="4203700"/>
          </a:xfrm>
          <a:prstGeom prst="roundRect">
            <a:avLst>
              <a:gd name="adj" fmla="val 6944"/>
            </a:avLst>
          </a:prstGeom>
          <a:solidFill>
            <a:srgbClr val="194EFF">
              <a:alpha val="30000"/>
            </a:srgbClr>
          </a:solidFill>
          <a:ln w="15875">
            <a:solidFill>
              <a:srgbClr val="194EFF"/>
            </a:solidFill>
            <a:prstDash val="solid"/>
          </a:ln>
        </p:spPr>
      </p:sp>
      <p:sp>
        <p:nvSpPr>
          <p:cNvPr id="41" name="anim-6-37"/>
          <p:cNvSpPr txBox="1"/>
          <p:nvPr/>
        </p:nvSpPr>
        <p:spPr>
          <a:xfrm>
            <a:off x="8229600" y="1460500"/>
            <a:ext cx="3302000" cy="165100"/>
          </a:xfrm>
          <a:prstGeom prst="rect">
            <a:avLst/>
          </a:prstGeom>
          <a:noFill/>
          <a:ln/>
        </p:spPr>
        <p:txBody>
          <a:bodyPr wrap="square" lIns="0" tIns="0" rIns="0" bIns="0" rtlCol="0" anchor="t"/>
          <a:lstStyle/>
          <a:p>
            <a:pPr algn="l" indent="0" marL="0">
              <a:lnSpc>
                <a:spcPct val="112000"/>
              </a:lnSpc>
              <a:buNone/>
            </a:pPr>
            <a:r>
              <a:rPr lang="en-US" sz="800" spc="200" kern="0" dirty="0">
                <a:solidFill>
                  <a:srgbClr val="15B6FF"/>
                </a:solidFill>
                <a:latin typeface="Plus Jakarta Sans SemiBold" pitchFamily="34" charset="0"/>
                <a:ea typeface="Plus Jakarta Sans SemiBold" pitchFamily="34" charset="-122"/>
                <a:cs typeface="Plus Jakarta Sans SemiBold" pitchFamily="34" charset="-120"/>
              </a:rPr>
              <a:t>CERTIFIED HEADCOUNT BY LEVEL</a:t>
            </a:r>
            <a:endParaRPr lang="en-US" sz="800" dirty="0"/>
          </a:p>
        </p:txBody>
      </p:sp>
      <p:graphicFrame>
        <p:nvGraphicFramePr>
          <p:cNvPr id="20" name="anim-6-38"/>
          <p:cNvGraphicFramePr>
            <a:graphicFrameLocks noGrp="1"/>
          </p:cNvGraphicFramePr>
          <p:nvPr>
            <p:extLst>
              <p:ext uri="{D42A27DB-BD31-4B8C-83A1-F6EECF244321}">
                <p14:modId xmlns:p14="http://schemas.microsoft.com/office/powerpoint/2010/main" val="1579011935"/>
              </p:ext>
            </p:extLst>
          </p:nvPr>
        </p:nvGraphicFramePr>
        <p:xfrm>
          <a:off x="8229600" y="1701800"/>
          <a:ext cx="3251200" cy="914400"/>
        </p:xfrm>
        <a:graphic>
          <a:graphicData uri="http://schemas.openxmlformats.org/drawingml/2006/table">
            <a:tbl>
              <a:tblPr/>
              <a:tblGrid>
                <a:gridCol w="1117600"/>
                <a:gridCol w="711200"/>
                <a:gridCol w="711200"/>
                <a:gridCol w="711200"/>
              </a:tblGrid>
              <a:tr h="444500">
                <a:tc>
                  <a:txBody>
                    <a:bodyPr/>
                    <a:lstStyle/>
                    <a:p>
                      <a:pPr algn="l" indent="0" marL="0">
                        <a:buNone/>
                      </a:pPr>
                      <a:r>
                        <a:rPr lang="en-US" sz="800" dirty="0">
                          <a:solidFill>
                            <a:srgbClr val="FFFFFF"/>
                          </a:solidFill>
                          <a:latin typeface="Plus Jakarta Sans SemiBold" pitchFamily="34" charset="0"/>
                          <a:ea typeface="Plus Jakarta Sans SemiBold" pitchFamily="34" charset="-122"/>
                          <a:cs typeface="Plus Jakarta Sans SemiBold" pitchFamily="34" charset="-120"/>
                        </a:rPr>
                        <a:t>Level</a:t>
                      </a:r>
                      <a:endParaRPr lang="en-US" sz="800" dirty="0">
                        <a:latin typeface="Plus Jakarta Sans SemiBold" charset="0"/>
                        <a:ea typeface="Plus Jakarta Sans SemiBold" charset="0"/>
                        <a:cs typeface="Plus Jakarta Sans SemiBold" charset="0"/>
                      </a:endParaRPr>
                    </a:p>
                  </a:txBody>
                  <a:tcPr marL="101600" marR="101600" marT="38100" marB="38100" anchor="ctr">
                    <a:lnL w="0" cap="flat" cmpd="sng" algn="ctr">
                      <a:noFill/>
                    </a:lnL>
                    <a:lnR w="0" cap="flat" cmpd="sng" algn="ctr">
                      <a:noFill/>
                    </a:lnR>
                    <a:lnT w="9525" cap="flat" cmpd="sng" algn="ctr">
                      <a:solidFill>
                        <a:srgbClr val="2C3A4F"/>
                      </a:solidFill>
                      <a:prstDash val="solid"/>
                      <a:round/>
                      <a:headEnd type="none" w="med" len="med"/>
                      <a:tailEnd type="none" w="med" len="med"/>
                    </a:lnT>
                    <a:lnB w="9525" cap="flat" cmpd="sng" algn="ctr">
                      <a:solidFill>
                        <a:srgbClr val="2C3A4F"/>
                      </a:solidFill>
                      <a:prstDash val="solid"/>
                      <a:round/>
                      <a:headEnd type="none" w="med" len="med"/>
                      <a:tailEnd type="none" w="med" len="med"/>
                    </a:lnB>
                    <a:solidFill>
                      <a:srgbClr val="1E3570"/>
                    </a:solidFill>
                  </a:tcPr>
                </a:tc>
                <a:tc>
                  <a:txBody>
                    <a:bodyPr/>
                    <a:lstStyle/>
                    <a:p>
                      <a:pPr algn="ctr" indent="0" marL="0">
                        <a:buNone/>
                      </a:pPr>
                      <a:r>
                        <a:rPr lang="en-US" sz="800" dirty="0">
                          <a:solidFill>
                            <a:srgbClr val="FFFFFF"/>
                          </a:solidFill>
                          <a:latin typeface="Plus Jakarta Sans SemiBold" pitchFamily="34" charset="0"/>
                          <a:ea typeface="Plus Jakarta Sans SemiBold" pitchFamily="34" charset="-122"/>
                          <a:cs typeface="Plus Jakarta Sans SemiBold" pitchFamily="34" charset="-120"/>
                        </a:rPr>
                        <a:t>Sales</a:t>
                      </a:r>
                      <a:endParaRPr lang="en-US" sz="800" dirty="0">
                        <a:latin typeface="Plus Jakarta Sans SemiBold" charset="0"/>
                        <a:ea typeface="Plus Jakarta Sans SemiBold" charset="0"/>
                        <a:cs typeface="Plus Jakarta Sans SemiBold" charset="0"/>
                      </a:endParaRPr>
                    </a:p>
                  </a:txBody>
                  <a:tcPr marL="101600" marR="101600" marT="38100" marB="38100" anchor="ctr">
                    <a:lnL w="0" cap="flat" cmpd="sng" algn="ctr">
                      <a:noFill/>
                    </a:lnL>
                    <a:lnR w="0" cap="flat" cmpd="sng" algn="ctr">
                      <a:noFill/>
                    </a:lnR>
                    <a:lnT w="9525" cap="flat" cmpd="sng" algn="ctr">
                      <a:solidFill>
                        <a:srgbClr val="2C3A4F"/>
                      </a:solidFill>
                      <a:prstDash val="solid"/>
                      <a:round/>
                      <a:headEnd type="none" w="med" len="med"/>
                      <a:tailEnd type="none" w="med" len="med"/>
                    </a:lnT>
                    <a:lnB w="9525" cap="flat" cmpd="sng" algn="ctr">
                      <a:solidFill>
                        <a:srgbClr val="2C3A4F"/>
                      </a:solidFill>
                      <a:prstDash val="solid"/>
                      <a:round/>
                      <a:headEnd type="none" w="med" len="med"/>
                      <a:tailEnd type="none" w="med" len="med"/>
                    </a:lnB>
                    <a:solidFill>
                      <a:srgbClr val="1E3570"/>
                    </a:solidFill>
                  </a:tcPr>
                </a:tc>
                <a:tc>
                  <a:txBody>
                    <a:bodyPr/>
                    <a:lstStyle/>
                    <a:p>
                      <a:pPr algn="ctr" indent="0" marL="0">
                        <a:buNone/>
                      </a:pPr>
                      <a:r>
                        <a:rPr lang="en-US" sz="800" dirty="0">
                          <a:solidFill>
                            <a:srgbClr val="FFFFFF"/>
                          </a:solidFill>
                          <a:latin typeface="Plus Jakarta Sans SemiBold" pitchFamily="34" charset="0"/>
                          <a:ea typeface="Plus Jakarta Sans SemiBold" pitchFamily="34" charset="-122"/>
                          <a:cs typeface="Plus Jakarta Sans SemiBold" pitchFamily="34" charset="-120"/>
                        </a:rPr>
                        <a:t>Pre-sales</a:t>
                      </a:r>
                      <a:endParaRPr lang="en-US" sz="800" dirty="0">
                        <a:latin typeface="Plus Jakarta Sans SemiBold" charset="0"/>
                        <a:ea typeface="Plus Jakarta Sans SemiBold" charset="0"/>
                        <a:cs typeface="Plus Jakarta Sans SemiBold" charset="0"/>
                      </a:endParaRPr>
                    </a:p>
                  </a:txBody>
                  <a:tcPr marL="101600" marR="101600" marT="38100" marB="38100" anchor="ctr">
                    <a:lnL w="0" cap="flat" cmpd="sng" algn="ctr">
                      <a:noFill/>
                    </a:lnL>
                    <a:lnR w="0" cap="flat" cmpd="sng" algn="ctr">
                      <a:noFill/>
                    </a:lnR>
                    <a:lnT w="9525" cap="flat" cmpd="sng" algn="ctr">
                      <a:solidFill>
                        <a:srgbClr val="2C3A4F"/>
                      </a:solidFill>
                      <a:prstDash val="solid"/>
                      <a:round/>
                      <a:headEnd type="none" w="med" len="med"/>
                      <a:tailEnd type="none" w="med" len="med"/>
                    </a:lnT>
                    <a:lnB w="9525" cap="flat" cmpd="sng" algn="ctr">
                      <a:solidFill>
                        <a:srgbClr val="2C3A4F"/>
                      </a:solidFill>
                      <a:prstDash val="solid"/>
                      <a:round/>
                      <a:headEnd type="none" w="med" len="med"/>
                      <a:tailEnd type="none" w="med" len="med"/>
                    </a:lnB>
                    <a:solidFill>
                      <a:srgbClr val="1E3570"/>
                    </a:solidFill>
                  </a:tcPr>
                </a:tc>
                <a:tc>
                  <a:txBody>
                    <a:bodyPr/>
                    <a:lstStyle/>
                    <a:p>
                      <a:pPr algn="ctr" indent="0" marL="0">
                        <a:buNone/>
                      </a:pPr>
                      <a:r>
                        <a:rPr lang="en-US" sz="800" dirty="0">
                          <a:solidFill>
                            <a:srgbClr val="FFFFFF"/>
                          </a:solidFill>
                          <a:latin typeface="Plus Jakarta Sans SemiBold" pitchFamily="34" charset="0"/>
                          <a:ea typeface="Plus Jakarta Sans SemiBold" pitchFamily="34" charset="-122"/>
                          <a:cs typeface="Plus Jakarta Sans SemiBold" pitchFamily="34" charset="-120"/>
                        </a:rPr>
                        <a:t>Delivery</a:t>
                      </a:r>
                      <a:endParaRPr lang="en-US" sz="800" dirty="0">
                        <a:latin typeface="Plus Jakarta Sans SemiBold" charset="0"/>
                        <a:ea typeface="Plus Jakarta Sans SemiBold" charset="0"/>
                        <a:cs typeface="Plus Jakarta Sans SemiBold" charset="0"/>
                      </a:endParaRPr>
                    </a:p>
                  </a:txBody>
                  <a:tcPr marL="101600" marR="101600" marT="38100" marB="38100" anchor="ctr">
                    <a:lnL w="0" cap="flat" cmpd="sng" algn="ctr">
                      <a:noFill/>
                    </a:lnL>
                    <a:lnR w="0" cap="flat" cmpd="sng" algn="ctr">
                      <a:noFill/>
                    </a:lnR>
                    <a:lnT w="9525" cap="flat" cmpd="sng" algn="ctr">
                      <a:solidFill>
                        <a:srgbClr val="2C3A4F"/>
                      </a:solidFill>
                      <a:prstDash val="solid"/>
                      <a:round/>
                      <a:headEnd type="none" w="med" len="med"/>
                      <a:tailEnd type="none" w="med" len="med"/>
                    </a:lnT>
                    <a:lnB w="9525" cap="flat" cmpd="sng" algn="ctr">
                      <a:solidFill>
                        <a:srgbClr val="2C3A4F"/>
                      </a:solidFill>
                      <a:prstDash val="solid"/>
                      <a:round/>
                      <a:headEnd type="none" w="med" len="med"/>
                      <a:tailEnd type="none" w="med" len="med"/>
                    </a:lnB>
                    <a:solidFill>
                      <a:srgbClr val="1E3570"/>
                    </a:solidFill>
                  </a:tcPr>
                </a:tc>
              </a:tr>
              <a:tr h="444500">
                <a:tc>
                  <a:txBody>
                    <a:bodyPr/>
                    <a:lstStyle/>
                    <a:p>
                      <a:pPr algn="l" indent="0" marL="0">
                        <a:buNone/>
                      </a:pPr>
                      <a:r>
                        <a:rPr lang="en-US" sz="950" dirty="0">
                          <a:solidFill>
                            <a:srgbClr val="FFFFFF"/>
                          </a:solidFill>
                          <a:latin typeface="Plus Jakarta Sans SemiBold" pitchFamily="34" charset="0"/>
                          <a:ea typeface="Plus Jakarta Sans SemiBold" pitchFamily="34" charset="-122"/>
                          <a:cs typeface="Plus Jakarta Sans SemiBold" pitchFamily="34" charset="-120"/>
                        </a:rPr>
                        <a:t>Registered</a:t>
                      </a:r>
                      <a:endParaRPr lang="en-US" sz="950" dirty="0">
                        <a:latin typeface="Plus Jakarta Sans SemiBold" charset="0"/>
                        <a:ea typeface="Plus Jakarta Sans SemiBold" charset="0"/>
                        <a:cs typeface="Plus Jakarta Sans SemiBold" charset="0"/>
                      </a:endParaRPr>
                    </a:p>
                  </a:txBody>
                  <a:tcPr marL="101600" marR="101600" marT="38100" marB="38100" anchor="ctr">
                    <a:lnL w="0" cap="flat" cmpd="sng" algn="ctr">
                      <a:noFill/>
                    </a:lnL>
                    <a:lnR w="0" cap="flat" cmpd="sng" algn="ctr">
                      <a:noFill/>
                    </a:lnR>
                    <a:lnT w="9525" cap="flat" cmpd="sng" algn="ctr">
                      <a:solidFill>
                        <a:srgbClr val="2C3A4F"/>
                      </a:solidFill>
                      <a:prstDash val="solid"/>
                      <a:round/>
                      <a:headEnd type="none" w="med" len="med"/>
                      <a:tailEnd type="none" w="med" len="med"/>
                    </a:lnT>
                    <a:lnB w="9525" cap="flat" cmpd="sng" algn="ctr">
                      <a:solidFill>
                        <a:srgbClr val="2C3A4F"/>
                      </a:solidFill>
                      <a:prstDash val="solid"/>
                      <a:round/>
                      <a:headEnd type="none" w="med" len="med"/>
                      <a:tailEnd type="none" w="med" len="med"/>
                    </a:lnB>
                    <a:solidFill>
                      <a:srgbClr val="182638"/>
                    </a:solidFill>
                  </a:tcPr>
                </a:tc>
                <a:tc>
                  <a:txBody>
                    <a:bodyPr/>
                    <a:lstStyle/>
                    <a:p>
                      <a:pPr algn="ctr" indent="0" marL="0">
                        <a:buNone/>
                      </a:pPr>
                      <a:r>
                        <a:rPr lang="en-US" sz="950" dirty="0">
                          <a:solidFill>
                            <a:srgbClr val="C3C8D1"/>
                          </a:solidFill>
                          <a:latin typeface="Plus Jakarta Sans" pitchFamily="34" charset="0"/>
                          <a:ea typeface="Plus Jakarta Sans" pitchFamily="34" charset="-122"/>
                          <a:cs typeface="Plus Jakarta Sans" pitchFamily="34" charset="-120"/>
                        </a:rPr>
                        <a:t>01</a:t>
                      </a:r>
                      <a:endParaRPr lang="en-US" sz="95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2C3A4F"/>
                      </a:solidFill>
                      <a:prstDash val="solid"/>
                      <a:round/>
                      <a:headEnd type="none" w="med" len="med"/>
                      <a:tailEnd type="none" w="med" len="med"/>
                    </a:lnT>
                    <a:lnB w="9525" cap="flat" cmpd="sng" algn="ctr">
                      <a:solidFill>
                        <a:srgbClr val="2C3A4F"/>
                      </a:solidFill>
                      <a:prstDash val="solid"/>
                      <a:round/>
                      <a:headEnd type="none" w="med" len="med"/>
                      <a:tailEnd type="none" w="med" len="med"/>
                    </a:lnB>
                    <a:solidFill>
                      <a:srgbClr val="182638"/>
                    </a:solidFill>
                  </a:tcPr>
                </a:tc>
                <a:tc>
                  <a:txBody>
                    <a:bodyPr/>
                    <a:lstStyle/>
                    <a:p>
                      <a:pPr algn="ctr" indent="0" marL="0">
                        <a:buNone/>
                      </a:pPr>
                      <a:r>
                        <a:rPr lang="en-US" sz="950" dirty="0">
                          <a:solidFill>
                            <a:srgbClr val="C3C8D1"/>
                          </a:solidFill>
                          <a:latin typeface="Plus Jakarta Sans" pitchFamily="34" charset="0"/>
                          <a:ea typeface="Plus Jakarta Sans" pitchFamily="34" charset="-122"/>
                          <a:cs typeface="Plus Jakarta Sans" pitchFamily="34" charset="-120"/>
                        </a:rPr>
                        <a:t>00</a:t>
                      </a:r>
                      <a:endParaRPr lang="en-US" sz="95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2C3A4F"/>
                      </a:solidFill>
                      <a:prstDash val="solid"/>
                      <a:round/>
                      <a:headEnd type="none" w="med" len="med"/>
                      <a:tailEnd type="none" w="med" len="med"/>
                    </a:lnT>
                    <a:lnB w="9525" cap="flat" cmpd="sng" algn="ctr">
                      <a:solidFill>
                        <a:srgbClr val="2C3A4F"/>
                      </a:solidFill>
                      <a:prstDash val="solid"/>
                      <a:round/>
                      <a:headEnd type="none" w="med" len="med"/>
                      <a:tailEnd type="none" w="med" len="med"/>
                    </a:lnB>
                    <a:solidFill>
                      <a:srgbClr val="182638"/>
                    </a:solidFill>
                  </a:tcPr>
                </a:tc>
                <a:tc>
                  <a:txBody>
                    <a:bodyPr/>
                    <a:lstStyle/>
                    <a:p>
                      <a:pPr algn="ctr" indent="0" marL="0">
                        <a:buNone/>
                      </a:pPr>
                      <a:r>
                        <a:rPr lang="en-US" sz="950" dirty="0">
                          <a:solidFill>
                            <a:srgbClr val="C3C8D1"/>
                          </a:solidFill>
                          <a:latin typeface="Plus Jakarta Sans" pitchFamily="34" charset="0"/>
                          <a:ea typeface="Plus Jakarta Sans" pitchFamily="34" charset="-122"/>
                          <a:cs typeface="Plus Jakarta Sans" pitchFamily="34" charset="-120"/>
                        </a:rPr>
                        <a:t>00</a:t>
                      </a:r>
                      <a:endParaRPr lang="en-US" sz="95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2C3A4F"/>
                      </a:solidFill>
                      <a:prstDash val="solid"/>
                      <a:round/>
                      <a:headEnd type="none" w="med" len="med"/>
                      <a:tailEnd type="none" w="med" len="med"/>
                    </a:lnT>
                    <a:lnB w="9525" cap="flat" cmpd="sng" algn="ctr">
                      <a:solidFill>
                        <a:srgbClr val="2C3A4F"/>
                      </a:solidFill>
                      <a:prstDash val="solid"/>
                      <a:round/>
                      <a:headEnd type="none" w="med" len="med"/>
                      <a:tailEnd type="none" w="med" len="med"/>
                    </a:lnB>
                    <a:solidFill>
                      <a:srgbClr val="182638"/>
                    </a:solidFill>
                  </a:tcPr>
                </a:tc>
              </a:tr>
              <a:tr h="444500">
                <a:tc>
                  <a:txBody>
                    <a:bodyPr/>
                    <a:lstStyle/>
                    <a:p>
                      <a:pPr algn="l" indent="0" marL="0">
                        <a:buNone/>
                      </a:pPr>
                      <a:r>
                        <a:rPr lang="en-US" sz="950" dirty="0">
                          <a:solidFill>
                            <a:srgbClr val="FFFFFF"/>
                          </a:solidFill>
                          <a:latin typeface="Plus Jakarta Sans SemiBold" pitchFamily="34" charset="0"/>
                          <a:ea typeface="Plus Jakarta Sans SemiBold" pitchFamily="34" charset="-122"/>
                          <a:cs typeface="Plus Jakarta Sans SemiBold" pitchFamily="34" charset="-120"/>
                        </a:rPr>
                        <a:t>Silver</a:t>
                      </a:r>
                      <a:endParaRPr lang="en-US" sz="950" dirty="0">
                        <a:latin typeface="Plus Jakarta Sans SemiBold" charset="0"/>
                        <a:ea typeface="Plus Jakarta Sans SemiBold" charset="0"/>
                        <a:cs typeface="Plus Jakarta Sans SemiBold" charset="0"/>
                      </a:endParaRPr>
                    </a:p>
                  </a:txBody>
                  <a:tcPr marL="101600" marR="101600" marT="38100" marB="38100" anchor="ctr">
                    <a:lnL w="0" cap="flat" cmpd="sng" algn="ctr">
                      <a:noFill/>
                    </a:lnL>
                    <a:lnR w="0" cap="flat" cmpd="sng" algn="ctr">
                      <a:noFill/>
                    </a:lnR>
                    <a:lnT w="9525" cap="flat" cmpd="sng" algn="ctr">
                      <a:solidFill>
                        <a:srgbClr val="2C3A4F"/>
                      </a:solidFill>
                      <a:prstDash val="solid"/>
                      <a:round/>
                      <a:headEnd type="none" w="med" len="med"/>
                      <a:tailEnd type="none" w="med" len="med"/>
                    </a:lnT>
                    <a:lnB w="9525" cap="flat" cmpd="sng" algn="ctr">
                      <a:solidFill>
                        <a:srgbClr val="2C3A4F"/>
                      </a:solidFill>
                      <a:prstDash val="solid"/>
                      <a:round/>
                      <a:headEnd type="none" w="med" len="med"/>
                      <a:tailEnd type="none" w="med" len="med"/>
                    </a:lnB>
                    <a:solidFill>
                      <a:srgbClr val="1D2B3E"/>
                    </a:solidFill>
                  </a:tcPr>
                </a:tc>
                <a:tc>
                  <a:txBody>
                    <a:bodyPr/>
                    <a:lstStyle/>
                    <a:p>
                      <a:pPr algn="ctr" indent="0" marL="0">
                        <a:buNone/>
                      </a:pPr>
                      <a:r>
                        <a:rPr lang="en-US" sz="950" dirty="0">
                          <a:solidFill>
                            <a:srgbClr val="C3C8D1"/>
                          </a:solidFill>
                          <a:latin typeface="Plus Jakarta Sans" pitchFamily="34" charset="0"/>
                          <a:ea typeface="Plus Jakarta Sans" pitchFamily="34" charset="-122"/>
                          <a:cs typeface="Plus Jakarta Sans" pitchFamily="34" charset="-120"/>
                        </a:rPr>
                        <a:t>02</a:t>
                      </a:r>
                      <a:endParaRPr lang="en-US" sz="95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2C3A4F"/>
                      </a:solidFill>
                      <a:prstDash val="solid"/>
                      <a:round/>
                      <a:headEnd type="none" w="med" len="med"/>
                      <a:tailEnd type="none" w="med" len="med"/>
                    </a:lnT>
                    <a:lnB w="9525" cap="flat" cmpd="sng" algn="ctr">
                      <a:solidFill>
                        <a:srgbClr val="2C3A4F"/>
                      </a:solidFill>
                      <a:prstDash val="solid"/>
                      <a:round/>
                      <a:headEnd type="none" w="med" len="med"/>
                      <a:tailEnd type="none" w="med" len="med"/>
                    </a:lnB>
                    <a:solidFill>
                      <a:srgbClr val="1D2B3E"/>
                    </a:solidFill>
                  </a:tcPr>
                </a:tc>
                <a:tc>
                  <a:txBody>
                    <a:bodyPr/>
                    <a:lstStyle/>
                    <a:p>
                      <a:pPr algn="ctr" indent="0" marL="0">
                        <a:buNone/>
                      </a:pPr>
                      <a:r>
                        <a:rPr lang="en-US" sz="950" dirty="0">
                          <a:solidFill>
                            <a:srgbClr val="C3C8D1"/>
                          </a:solidFill>
                          <a:latin typeface="Plus Jakarta Sans" pitchFamily="34" charset="0"/>
                          <a:ea typeface="Plus Jakarta Sans" pitchFamily="34" charset="-122"/>
                          <a:cs typeface="Plus Jakarta Sans" pitchFamily="34" charset="-120"/>
                        </a:rPr>
                        <a:t>01</a:t>
                      </a:r>
                      <a:endParaRPr lang="en-US" sz="95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2C3A4F"/>
                      </a:solidFill>
                      <a:prstDash val="solid"/>
                      <a:round/>
                      <a:headEnd type="none" w="med" len="med"/>
                      <a:tailEnd type="none" w="med" len="med"/>
                    </a:lnT>
                    <a:lnB w="9525" cap="flat" cmpd="sng" algn="ctr">
                      <a:solidFill>
                        <a:srgbClr val="2C3A4F"/>
                      </a:solidFill>
                      <a:prstDash val="solid"/>
                      <a:round/>
                      <a:headEnd type="none" w="med" len="med"/>
                      <a:tailEnd type="none" w="med" len="med"/>
                    </a:lnB>
                    <a:solidFill>
                      <a:srgbClr val="1D2B3E"/>
                    </a:solidFill>
                  </a:tcPr>
                </a:tc>
                <a:tc>
                  <a:txBody>
                    <a:bodyPr/>
                    <a:lstStyle/>
                    <a:p>
                      <a:pPr algn="ctr" indent="0" marL="0">
                        <a:buNone/>
                      </a:pPr>
                      <a:r>
                        <a:rPr lang="en-US" sz="950" dirty="0">
                          <a:solidFill>
                            <a:srgbClr val="C3C8D1"/>
                          </a:solidFill>
                          <a:latin typeface="Plus Jakarta Sans" pitchFamily="34" charset="0"/>
                          <a:ea typeface="Plus Jakarta Sans" pitchFamily="34" charset="-122"/>
                          <a:cs typeface="Plus Jakarta Sans" pitchFamily="34" charset="-120"/>
                        </a:rPr>
                        <a:t>00</a:t>
                      </a:r>
                      <a:endParaRPr lang="en-US" sz="95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2C3A4F"/>
                      </a:solidFill>
                      <a:prstDash val="solid"/>
                      <a:round/>
                      <a:headEnd type="none" w="med" len="med"/>
                      <a:tailEnd type="none" w="med" len="med"/>
                    </a:lnT>
                    <a:lnB w="9525" cap="flat" cmpd="sng" algn="ctr">
                      <a:solidFill>
                        <a:srgbClr val="2C3A4F"/>
                      </a:solidFill>
                      <a:prstDash val="solid"/>
                      <a:round/>
                      <a:headEnd type="none" w="med" len="med"/>
                      <a:tailEnd type="none" w="med" len="med"/>
                    </a:lnB>
                    <a:solidFill>
                      <a:srgbClr val="1D2B3E"/>
                    </a:solidFill>
                  </a:tcPr>
                </a:tc>
              </a:tr>
              <a:tr h="444500">
                <a:tc>
                  <a:txBody>
                    <a:bodyPr/>
                    <a:lstStyle/>
                    <a:p>
                      <a:pPr algn="l" indent="0" marL="0">
                        <a:buNone/>
                      </a:pPr>
                      <a:r>
                        <a:rPr lang="en-US" sz="950" dirty="0">
                          <a:solidFill>
                            <a:srgbClr val="FFFFFF"/>
                          </a:solidFill>
                          <a:latin typeface="Plus Jakarta Sans SemiBold" pitchFamily="34" charset="0"/>
                          <a:ea typeface="Plus Jakarta Sans SemiBold" pitchFamily="34" charset="-122"/>
                          <a:cs typeface="Plus Jakarta Sans SemiBold" pitchFamily="34" charset="-120"/>
                        </a:rPr>
                        <a:t>Gold</a:t>
                      </a:r>
                      <a:endParaRPr lang="en-US" sz="950" dirty="0">
                        <a:latin typeface="Plus Jakarta Sans SemiBold" charset="0"/>
                        <a:ea typeface="Plus Jakarta Sans SemiBold" charset="0"/>
                        <a:cs typeface="Plus Jakarta Sans SemiBold" charset="0"/>
                      </a:endParaRPr>
                    </a:p>
                  </a:txBody>
                  <a:tcPr marL="101600" marR="101600" marT="38100" marB="38100" anchor="ctr">
                    <a:lnL w="0" cap="flat" cmpd="sng" algn="ctr">
                      <a:noFill/>
                    </a:lnL>
                    <a:lnR w="0" cap="flat" cmpd="sng" algn="ctr">
                      <a:noFill/>
                    </a:lnR>
                    <a:lnT w="9525" cap="flat" cmpd="sng" algn="ctr">
                      <a:solidFill>
                        <a:srgbClr val="2C3A4F"/>
                      </a:solidFill>
                      <a:prstDash val="solid"/>
                      <a:round/>
                      <a:headEnd type="none" w="med" len="med"/>
                      <a:tailEnd type="none" w="med" len="med"/>
                    </a:lnT>
                    <a:lnB w="9525" cap="flat" cmpd="sng" algn="ctr">
                      <a:solidFill>
                        <a:srgbClr val="2C3A4F"/>
                      </a:solidFill>
                      <a:prstDash val="solid"/>
                      <a:round/>
                      <a:headEnd type="none" w="med" len="med"/>
                      <a:tailEnd type="none" w="med" len="med"/>
                    </a:lnB>
                    <a:solidFill>
                      <a:srgbClr val="182638"/>
                    </a:solidFill>
                  </a:tcPr>
                </a:tc>
                <a:tc>
                  <a:txBody>
                    <a:bodyPr/>
                    <a:lstStyle/>
                    <a:p>
                      <a:pPr algn="ctr" indent="0" marL="0">
                        <a:buNone/>
                      </a:pPr>
                      <a:r>
                        <a:rPr lang="en-US" sz="950" dirty="0">
                          <a:solidFill>
                            <a:srgbClr val="C3C8D1"/>
                          </a:solidFill>
                          <a:latin typeface="Plus Jakarta Sans" pitchFamily="34" charset="0"/>
                          <a:ea typeface="Plus Jakarta Sans" pitchFamily="34" charset="-122"/>
                          <a:cs typeface="Plus Jakarta Sans" pitchFamily="34" charset="-120"/>
                        </a:rPr>
                        <a:t>04</a:t>
                      </a:r>
                      <a:endParaRPr lang="en-US" sz="95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2C3A4F"/>
                      </a:solidFill>
                      <a:prstDash val="solid"/>
                      <a:round/>
                      <a:headEnd type="none" w="med" len="med"/>
                      <a:tailEnd type="none" w="med" len="med"/>
                    </a:lnT>
                    <a:lnB w="9525" cap="flat" cmpd="sng" algn="ctr">
                      <a:solidFill>
                        <a:srgbClr val="2C3A4F"/>
                      </a:solidFill>
                      <a:prstDash val="solid"/>
                      <a:round/>
                      <a:headEnd type="none" w="med" len="med"/>
                      <a:tailEnd type="none" w="med" len="med"/>
                    </a:lnB>
                    <a:solidFill>
                      <a:srgbClr val="182638"/>
                    </a:solidFill>
                  </a:tcPr>
                </a:tc>
                <a:tc>
                  <a:txBody>
                    <a:bodyPr/>
                    <a:lstStyle/>
                    <a:p>
                      <a:pPr algn="ctr" indent="0" marL="0">
                        <a:buNone/>
                      </a:pPr>
                      <a:r>
                        <a:rPr lang="en-US" sz="950" dirty="0">
                          <a:solidFill>
                            <a:srgbClr val="C3C8D1"/>
                          </a:solidFill>
                          <a:latin typeface="Plus Jakarta Sans" pitchFamily="34" charset="0"/>
                          <a:ea typeface="Plus Jakarta Sans" pitchFamily="34" charset="-122"/>
                          <a:cs typeface="Plus Jakarta Sans" pitchFamily="34" charset="-120"/>
                        </a:rPr>
                        <a:t>02</a:t>
                      </a:r>
                      <a:endParaRPr lang="en-US" sz="95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2C3A4F"/>
                      </a:solidFill>
                      <a:prstDash val="solid"/>
                      <a:round/>
                      <a:headEnd type="none" w="med" len="med"/>
                      <a:tailEnd type="none" w="med" len="med"/>
                    </a:lnT>
                    <a:lnB w="9525" cap="flat" cmpd="sng" algn="ctr">
                      <a:solidFill>
                        <a:srgbClr val="2C3A4F"/>
                      </a:solidFill>
                      <a:prstDash val="solid"/>
                      <a:round/>
                      <a:headEnd type="none" w="med" len="med"/>
                      <a:tailEnd type="none" w="med" len="med"/>
                    </a:lnB>
                    <a:solidFill>
                      <a:srgbClr val="182638"/>
                    </a:solidFill>
                  </a:tcPr>
                </a:tc>
                <a:tc>
                  <a:txBody>
                    <a:bodyPr/>
                    <a:lstStyle/>
                    <a:p>
                      <a:pPr algn="ctr" indent="0" marL="0">
                        <a:buNone/>
                      </a:pPr>
                      <a:r>
                        <a:rPr lang="en-US" sz="950" dirty="0">
                          <a:solidFill>
                            <a:srgbClr val="C3C8D1"/>
                          </a:solidFill>
                          <a:latin typeface="Plus Jakarta Sans" pitchFamily="34" charset="0"/>
                          <a:ea typeface="Plus Jakarta Sans" pitchFamily="34" charset="-122"/>
                          <a:cs typeface="Plus Jakarta Sans" pitchFamily="34" charset="-120"/>
                        </a:rPr>
                        <a:t>02</a:t>
                      </a:r>
                      <a:endParaRPr lang="en-US" sz="95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2C3A4F"/>
                      </a:solidFill>
                      <a:prstDash val="solid"/>
                      <a:round/>
                      <a:headEnd type="none" w="med" len="med"/>
                      <a:tailEnd type="none" w="med" len="med"/>
                    </a:lnT>
                    <a:lnB w="9525" cap="flat" cmpd="sng" algn="ctr">
                      <a:solidFill>
                        <a:srgbClr val="2C3A4F"/>
                      </a:solidFill>
                      <a:prstDash val="solid"/>
                      <a:round/>
                      <a:headEnd type="none" w="med" len="med"/>
                      <a:tailEnd type="none" w="med" len="med"/>
                    </a:lnB>
                    <a:solidFill>
                      <a:srgbClr val="182638"/>
                    </a:solidFill>
                  </a:tcPr>
                </a:tc>
              </a:tr>
              <a:tr h="444500">
                <a:tc>
                  <a:txBody>
                    <a:bodyPr/>
                    <a:lstStyle/>
                    <a:p>
                      <a:pPr algn="l" indent="0" marL="0">
                        <a:buNone/>
                      </a:pPr>
                      <a:r>
                        <a:rPr lang="en-US" sz="950" dirty="0">
                          <a:solidFill>
                            <a:srgbClr val="FFFFFF"/>
                          </a:solidFill>
                          <a:latin typeface="Plus Jakarta Sans SemiBold" pitchFamily="34" charset="0"/>
                          <a:ea typeface="Plus Jakarta Sans SemiBold" pitchFamily="34" charset="-122"/>
                          <a:cs typeface="Plus Jakarta Sans SemiBold" pitchFamily="34" charset="-120"/>
                        </a:rPr>
                        <a:t>Platinum</a:t>
                      </a:r>
                      <a:endParaRPr lang="en-US" sz="950" dirty="0">
                        <a:latin typeface="Plus Jakarta Sans SemiBold" charset="0"/>
                        <a:ea typeface="Plus Jakarta Sans SemiBold" charset="0"/>
                        <a:cs typeface="Plus Jakarta Sans SemiBold" charset="0"/>
                      </a:endParaRPr>
                    </a:p>
                  </a:txBody>
                  <a:tcPr marL="101600" marR="101600" marT="38100" marB="38100" anchor="ctr">
                    <a:lnL w="0" cap="flat" cmpd="sng" algn="ctr">
                      <a:noFill/>
                    </a:lnL>
                    <a:lnR w="0" cap="flat" cmpd="sng" algn="ctr">
                      <a:noFill/>
                    </a:lnR>
                    <a:lnT w="9525" cap="flat" cmpd="sng" algn="ctr">
                      <a:solidFill>
                        <a:srgbClr val="2C3A4F"/>
                      </a:solidFill>
                      <a:prstDash val="solid"/>
                      <a:round/>
                      <a:headEnd type="none" w="med" len="med"/>
                      <a:tailEnd type="none" w="med" len="med"/>
                    </a:lnT>
                    <a:lnB w="9525" cap="flat" cmpd="sng" algn="ctr">
                      <a:solidFill>
                        <a:srgbClr val="2C3A4F"/>
                      </a:solidFill>
                      <a:prstDash val="solid"/>
                      <a:round/>
                      <a:headEnd type="none" w="med" len="med"/>
                      <a:tailEnd type="none" w="med" len="med"/>
                    </a:lnB>
                    <a:solidFill>
                      <a:srgbClr val="1D2B3E"/>
                    </a:solidFill>
                  </a:tcPr>
                </a:tc>
                <a:tc>
                  <a:txBody>
                    <a:bodyPr/>
                    <a:lstStyle/>
                    <a:p>
                      <a:pPr algn="ctr" indent="0" marL="0">
                        <a:buNone/>
                      </a:pPr>
                      <a:r>
                        <a:rPr lang="en-US" sz="950" dirty="0">
                          <a:solidFill>
                            <a:srgbClr val="C3C8D1"/>
                          </a:solidFill>
                          <a:latin typeface="Plus Jakarta Sans" pitchFamily="34" charset="0"/>
                          <a:ea typeface="Plus Jakarta Sans" pitchFamily="34" charset="-122"/>
                          <a:cs typeface="Plus Jakarta Sans" pitchFamily="34" charset="-120"/>
                        </a:rPr>
                        <a:t>06</a:t>
                      </a:r>
                      <a:endParaRPr lang="en-US" sz="95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2C3A4F"/>
                      </a:solidFill>
                      <a:prstDash val="solid"/>
                      <a:round/>
                      <a:headEnd type="none" w="med" len="med"/>
                      <a:tailEnd type="none" w="med" len="med"/>
                    </a:lnT>
                    <a:lnB w="9525" cap="flat" cmpd="sng" algn="ctr">
                      <a:solidFill>
                        <a:srgbClr val="2C3A4F"/>
                      </a:solidFill>
                      <a:prstDash val="solid"/>
                      <a:round/>
                      <a:headEnd type="none" w="med" len="med"/>
                      <a:tailEnd type="none" w="med" len="med"/>
                    </a:lnB>
                    <a:solidFill>
                      <a:srgbClr val="1D2B3E"/>
                    </a:solidFill>
                  </a:tcPr>
                </a:tc>
                <a:tc>
                  <a:txBody>
                    <a:bodyPr/>
                    <a:lstStyle/>
                    <a:p>
                      <a:pPr algn="ctr" indent="0" marL="0">
                        <a:buNone/>
                      </a:pPr>
                      <a:r>
                        <a:rPr lang="en-US" sz="950" dirty="0">
                          <a:solidFill>
                            <a:srgbClr val="C3C8D1"/>
                          </a:solidFill>
                          <a:latin typeface="Plus Jakarta Sans" pitchFamily="34" charset="0"/>
                          <a:ea typeface="Plus Jakarta Sans" pitchFamily="34" charset="-122"/>
                          <a:cs typeface="Plus Jakarta Sans" pitchFamily="34" charset="-120"/>
                        </a:rPr>
                        <a:t>03</a:t>
                      </a:r>
                      <a:endParaRPr lang="en-US" sz="95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2C3A4F"/>
                      </a:solidFill>
                      <a:prstDash val="solid"/>
                      <a:round/>
                      <a:headEnd type="none" w="med" len="med"/>
                      <a:tailEnd type="none" w="med" len="med"/>
                    </a:lnT>
                    <a:lnB w="9525" cap="flat" cmpd="sng" algn="ctr">
                      <a:solidFill>
                        <a:srgbClr val="2C3A4F"/>
                      </a:solidFill>
                      <a:prstDash val="solid"/>
                      <a:round/>
                      <a:headEnd type="none" w="med" len="med"/>
                      <a:tailEnd type="none" w="med" len="med"/>
                    </a:lnB>
                    <a:solidFill>
                      <a:srgbClr val="1D2B3E"/>
                    </a:solidFill>
                  </a:tcPr>
                </a:tc>
                <a:tc>
                  <a:txBody>
                    <a:bodyPr/>
                    <a:lstStyle/>
                    <a:p>
                      <a:pPr algn="ctr" indent="0" marL="0">
                        <a:buNone/>
                      </a:pPr>
                      <a:r>
                        <a:rPr lang="en-US" sz="950" dirty="0">
                          <a:solidFill>
                            <a:srgbClr val="C3C8D1"/>
                          </a:solidFill>
                          <a:latin typeface="Plus Jakarta Sans" pitchFamily="34" charset="0"/>
                          <a:ea typeface="Plus Jakarta Sans" pitchFamily="34" charset="-122"/>
                          <a:cs typeface="Plus Jakarta Sans" pitchFamily="34" charset="-120"/>
                        </a:rPr>
                        <a:t>04</a:t>
                      </a:r>
                      <a:endParaRPr lang="en-US" sz="95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2C3A4F"/>
                      </a:solidFill>
                      <a:prstDash val="solid"/>
                      <a:round/>
                      <a:headEnd type="none" w="med" len="med"/>
                      <a:tailEnd type="none" w="med" len="med"/>
                    </a:lnT>
                    <a:lnB w="9525" cap="flat" cmpd="sng" algn="ctr">
                      <a:solidFill>
                        <a:srgbClr val="2C3A4F"/>
                      </a:solidFill>
                      <a:prstDash val="solid"/>
                      <a:round/>
                      <a:headEnd type="none" w="med" len="med"/>
                      <a:tailEnd type="none" w="med" len="med"/>
                    </a:lnB>
                    <a:solidFill>
                      <a:srgbClr val="1D2B3E"/>
                    </a:solidFill>
                  </a:tcPr>
                </a:tc>
              </a:tr>
              <a:tr h="444500">
                <a:tc>
                  <a:txBody>
                    <a:bodyPr/>
                    <a:lstStyle/>
                    <a:p>
                      <a:pPr algn="l" indent="0" marL="0">
                        <a:buNone/>
                      </a:pPr>
                      <a:r>
                        <a:rPr lang="en-US" sz="950" dirty="0">
                          <a:solidFill>
                            <a:srgbClr val="FFFFFF"/>
                          </a:solidFill>
                          <a:latin typeface="Plus Jakarta Sans SemiBold" pitchFamily="34" charset="0"/>
                          <a:ea typeface="Plus Jakarta Sans SemiBold" pitchFamily="34" charset="-122"/>
                          <a:cs typeface="Plus Jakarta Sans SemiBold" pitchFamily="34" charset="-120"/>
                        </a:rPr>
                        <a:t>Elite</a:t>
                      </a:r>
                      <a:endParaRPr lang="en-US" sz="950" dirty="0">
                        <a:latin typeface="Plus Jakarta Sans SemiBold" charset="0"/>
                        <a:ea typeface="Plus Jakarta Sans SemiBold" charset="0"/>
                        <a:cs typeface="Plus Jakarta Sans SemiBold" charset="0"/>
                      </a:endParaRPr>
                    </a:p>
                  </a:txBody>
                  <a:tcPr marL="101600" marR="101600" marT="38100" marB="38100" anchor="ctr">
                    <a:lnL w="0" cap="flat" cmpd="sng" algn="ctr">
                      <a:noFill/>
                    </a:lnL>
                    <a:lnR w="0" cap="flat" cmpd="sng" algn="ctr">
                      <a:noFill/>
                    </a:lnR>
                    <a:lnT w="9525" cap="flat" cmpd="sng" algn="ctr">
                      <a:solidFill>
                        <a:srgbClr val="2C3A4F"/>
                      </a:solidFill>
                      <a:prstDash val="solid"/>
                      <a:round/>
                      <a:headEnd type="none" w="med" len="med"/>
                      <a:tailEnd type="none" w="med" len="med"/>
                    </a:lnT>
                    <a:lnB w="9525" cap="flat" cmpd="sng" algn="ctr">
                      <a:solidFill>
                        <a:srgbClr val="2C3A4F"/>
                      </a:solidFill>
                      <a:prstDash val="solid"/>
                      <a:round/>
                      <a:headEnd type="none" w="med" len="med"/>
                      <a:tailEnd type="none" w="med" len="med"/>
                    </a:lnB>
                    <a:solidFill>
                      <a:srgbClr val="182638"/>
                    </a:solidFill>
                  </a:tcPr>
                </a:tc>
                <a:tc>
                  <a:txBody>
                    <a:bodyPr/>
                    <a:lstStyle/>
                    <a:p>
                      <a:pPr algn="ctr" indent="0" marL="0">
                        <a:buNone/>
                      </a:pPr>
                      <a:r>
                        <a:rPr lang="en-US" sz="950" dirty="0">
                          <a:solidFill>
                            <a:srgbClr val="C3C8D1"/>
                          </a:solidFill>
                          <a:latin typeface="Plus Jakarta Sans" pitchFamily="34" charset="0"/>
                          <a:ea typeface="Plus Jakarta Sans" pitchFamily="34" charset="-122"/>
                          <a:cs typeface="Plus Jakarta Sans" pitchFamily="34" charset="-120"/>
                        </a:rPr>
                        <a:t>10+</a:t>
                      </a:r>
                      <a:endParaRPr lang="en-US" sz="95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2C3A4F"/>
                      </a:solidFill>
                      <a:prstDash val="solid"/>
                      <a:round/>
                      <a:headEnd type="none" w="med" len="med"/>
                      <a:tailEnd type="none" w="med" len="med"/>
                    </a:lnT>
                    <a:lnB w="9525" cap="flat" cmpd="sng" algn="ctr">
                      <a:solidFill>
                        <a:srgbClr val="2C3A4F"/>
                      </a:solidFill>
                      <a:prstDash val="solid"/>
                      <a:round/>
                      <a:headEnd type="none" w="med" len="med"/>
                      <a:tailEnd type="none" w="med" len="med"/>
                    </a:lnB>
                    <a:solidFill>
                      <a:srgbClr val="182638"/>
                    </a:solidFill>
                  </a:tcPr>
                </a:tc>
                <a:tc>
                  <a:txBody>
                    <a:bodyPr/>
                    <a:lstStyle/>
                    <a:p>
                      <a:pPr algn="ctr" indent="0" marL="0">
                        <a:buNone/>
                      </a:pPr>
                      <a:r>
                        <a:rPr lang="en-US" sz="950" dirty="0">
                          <a:solidFill>
                            <a:srgbClr val="C3C8D1"/>
                          </a:solidFill>
                          <a:latin typeface="Plus Jakarta Sans" pitchFamily="34" charset="0"/>
                          <a:ea typeface="Plus Jakarta Sans" pitchFamily="34" charset="-122"/>
                          <a:cs typeface="Plus Jakarta Sans" pitchFamily="34" charset="-120"/>
                        </a:rPr>
                        <a:t>05+</a:t>
                      </a:r>
                      <a:endParaRPr lang="en-US" sz="95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2C3A4F"/>
                      </a:solidFill>
                      <a:prstDash val="solid"/>
                      <a:round/>
                      <a:headEnd type="none" w="med" len="med"/>
                      <a:tailEnd type="none" w="med" len="med"/>
                    </a:lnT>
                    <a:lnB w="9525" cap="flat" cmpd="sng" algn="ctr">
                      <a:solidFill>
                        <a:srgbClr val="2C3A4F"/>
                      </a:solidFill>
                      <a:prstDash val="solid"/>
                      <a:round/>
                      <a:headEnd type="none" w="med" len="med"/>
                      <a:tailEnd type="none" w="med" len="med"/>
                    </a:lnB>
                    <a:solidFill>
                      <a:srgbClr val="182638"/>
                    </a:solidFill>
                  </a:tcPr>
                </a:tc>
                <a:tc>
                  <a:txBody>
                    <a:bodyPr/>
                    <a:lstStyle/>
                    <a:p>
                      <a:pPr algn="ctr" indent="0" marL="0">
                        <a:buNone/>
                      </a:pPr>
                      <a:r>
                        <a:rPr lang="en-US" sz="950" dirty="0">
                          <a:solidFill>
                            <a:srgbClr val="C3C8D1"/>
                          </a:solidFill>
                          <a:latin typeface="Plus Jakarta Sans" pitchFamily="34" charset="0"/>
                          <a:ea typeface="Plus Jakarta Sans" pitchFamily="34" charset="-122"/>
                          <a:cs typeface="Plus Jakarta Sans" pitchFamily="34" charset="-120"/>
                        </a:rPr>
                        <a:t>08+</a:t>
                      </a:r>
                      <a:endParaRPr lang="en-US" sz="95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2C3A4F"/>
                      </a:solidFill>
                      <a:prstDash val="solid"/>
                      <a:round/>
                      <a:headEnd type="none" w="med" len="med"/>
                      <a:tailEnd type="none" w="med" len="med"/>
                    </a:lnT>
                    <a:lnB w="9525" cap="flat" cmpd="sng" algn="ctr">
                      <a:solidFill>
                        <a:srgbClr val="2C3A4F"/>
                      </a:solidFill>
                      <a:prstDash val="solid"/>
                      <a:round/>
                      <a:headEnd type="none" w="med" len="med"/>
                      <a:tailEnd type="none" w="med" len="med"/>
                    </a:lnB>
                    <a:solidFill>
                      <a:srgbClr val="182638"/>
                    </a:solidFill>
                  </a:tcPr>
                </a:tc>
              </a:tr>
            </a:tbl>
          </a:graphicData>
        </a:graphic>
      </p:graphicFrame>
      <p:sp>
        <p:nvSpPr>
          <p:cNvPr id="43" name="anim-9-39"/>
          <p:cNvSpPr/>
          <p:nvPr/>
        </p:nvSpPr>
        <p:spPr>
          <a:xfrm>
            <a:off x="508000" y="5664200"/>
            <a:ext cx="11176000" cy="406400"/>
          </a:xfrm>
          <a:prstGeom prst="roundRect">
            <a:avLst>
              <a:gd name="adj" fmla="val 50000"/>
            </a:avLst>
          </a:prstGeom>
          <a:solidFill>
            <a:srgbClr val="FFFFFF">
              <a:alpha val="4000"/>
            </a:srgbClr>
          </a:solidFill>
          <a:ln w="9525">
            <a:solidFill>
              <a:srgbClr val="FFFFFF">
                <a:alpha val="22000"/>
              </a:srgbClr>
            </a:solidFill>
            <a:prstDash val="solid"/>
          </a:ln>
        </p:spPr>
      </p:sp>
      <p:sp>
        <p:nvSpPr>
          <p:cNvPr id="44" name="anim-9-40"/>
          <p:cNvSpPr txBox="1"/>
          <p:nvPr/>
        </p:nvSpPr>
        <p:spPr>
          <a:xfrm>
            <a:off x="762000" y="5664200"/>
            <a:ext cx="2095500" cy="406400"/>
          </a:xfrm>
          <a:prstGeom prst="rect">
            <a:avLst/>
          </a:prstGeom>
          <a:noFill/>
          <a:ln/>
        </p:spPr>
        <p:txBody>
          <a:bodyPr wrap="square" lIns="0" tIns="0" rIns="0" bIns="0" rtlCol="0" anchor="ctr"/>
          <a:lstStyle/>
          <a:p>
            <a:pPr algn="l" indent="0" marL="0">
              <a:lnSpc>
                <a:spcPct val="112000"/>
              </a:lnSpc>
              <a:buNone/>
            </a:pPr>
            <a:r>
              <a:rPr lang="en-US" sz="1100" b="1" dirty="0">
                <a:solidFill>
                  <a:srgbClr val="15B6FF"/>
                </a:solidFill>
                <a:latin typeface="Plus Jakarta Sans" pitchFamily="34" charset="0"/>
                <a:ea typeface="Plus Jakarta Sans" pitchFamily="34" charset="-122"/>
                <a:cs typeface="Plus Jakarta Sans" pitchFamily="34" charset="-120"/>
              </a:rPr>
              <a:t>Licence to Sell</a:t>
            </a:r>
            <a:endParaRPr lang="en-US" sz="1100" dirty="0"/>
          </a:p>
        </p:txBody>
      </p:sp>
      <p:sp>
        <p:nvSpPr>
          <p:cNvPr id="45" name="anim-9-41"/>
          <p:cNvSpPr txBox="1"/>
          <p:nvPr/>
        </p:nvSpPr>
        <p:spPr>
          <a:xfrm>
            <a:off x="2921000" y="5664200"/>
            <a:ext cx="8572500" cy="406400"/>
          </a:xfrm>
          <a:prstGeom prst="rect">
            <a:avLst/>
          </a:prstGeom>
          <a:noFill/>
          <a:ln/>
        </p:spPr>
        <p:txBody>
          <a:bodyPr wrap="square" lIns="0" tIns="0" rIns="0" bIns="0" rtlCol="0" anchor="ctr"/>
          <a:lstStyle/>
          <a:p>
            <a:pPr algn="l" indent="0" marL="0">
              <a:lnSpc>
                <a:spcPct val="112000"/>
              </a:lnSpc>
              <a:buNone/>
            </a:pPr>
            <a:r>
              <a:rPr lang="en-US" sz="1050" dirty="0">
                <a:solidFill>
                  <a:srgbClr val="FFFFFF"/>
                </a:solidFill>
                <a:latin typeface="Plus Jakarta Sans Medium" pitchFamily="34" charset="0"/>
                <a:ea typeface="Plus Jakarta Sans Medium" pitchFamily="34" charset="-122"/>
                <a:cs typeface="Plus Jakarta Sans Medium" pitchFamily="34" charset="-120"/>
              </a:rPr>
              <a:t>Certification is your licence to sell and deliver, and it powers your level progression.</a:t>
            </a:r>
            <a:endParaRPr lang="en-US" sz="105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500"/>
                                        <p:tgtEl>
                                          <p:spTgt spid="7"/>
                                        </p:tgtEl>
                                      </p:cBhvr>
                                    </p:animEffect>
                                  </p:childTnLst>
                                </p:cTn>
                              </p:par>
                              <p:par>
                                <p:cTn id="14" presetID="10" presetClass="entr" presetSubtype="0" fill="hold" grpId="0" nodeType="withEffect">
                                  <p:stCondLst>
                                    <p:cond delay="18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500"/>
                                        <p:tgtEl>
                                          <p:spTgt spid="8"/>
                                        </p:tgtEl>
                                      </p:cBhvr>
                                    </p:animEffect>
                                  </p:childTnLst>
                                </p:cTn>
                              </p:par>
                              <p:par>
                                <p:cTn id="17" presetID="10" presetClass="entr" presetSubtype="0" fill="hold" grpId="0" nodeType="withEffect">
                                  <p:stCondLst>
                                    <p:cond delay="18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500"/>
                                        <p:tgtEl>
                                          <p:spTgt spid="9"/>
                                        </p:tgtEl>
                                      </p:cBhvr>
                                    </p:animEffect>
                                  </p:childTnLst>
                                </p:cTn>
                              </p:par>
                              <p:par>
                                <p:cTn id="20" presetID="10" presetClass="entr" presetSubtype="0" fill="hold" grpId="0" nodeType="withEffect">
                                  <p:stCondLst>
                                    <p:cond delay="180"/>
                                  </p:stCondLst>
                                  <p:childTnLst>
                                    <p:set>
                                      <p:cBhvr>
                                        <p:cTn id="21" dur="1" fill="hold">
                                          <p:stCondLst>
                                            <p:cond delay="0"/>
                                          </p:stCondLst>
                                        </p:cTn>
                                        <p:tgtEl>
                                          <p:spTgt spid="10"/>
                                        </p:tgtEl>
                                        <p:attrNameLst>
                                          <p:attrName>style.visibility</p:attrName>
                                        </p:attrNameLst>
                                      </p:cBhvr>
                                      <p:to>
                                        <p:strVal val="visible"/>
                                      </p:to>
                                    </p:set>
                                    <p:animEffect transition="in" filter="fade">
                                      <p:cBhvr>
                                        <p:cTn id="22" dur="500"/>
                                        <p:tgtEl>
                                          <p:spTgt spid="10"/>
                                        </p:tgtEl>
                                      </p:cBhvr>
                                    </p:animEffect>
                                  </p:childTnLst>
                                </p:cTn>
                              </p:par>
                              <p:par>
                                <p:cTn id="23" presetID="10" presetClass="entr" presetSubtype="0" fill="hold" grpId="0" nodeType="withEffect">
                                  <p:stCondLst>
                                    <p:cond delay="180"/>
                                  </p:stCondLst>
                                  <p:childTnLst>
                                    <p:set>
                                      <p:cBhvr>
                                        <p:cTn id="24" dur="1" fill="hold">
                                          <p:stCondLst>
                                            <p:cond delay="0"/>
                                          </p:stCondLst>
                                        </p:cTn>
                                        <p:tgtEl>
                                          <p:spTgt spid="11"/>
                                        </p:tgtEl>
                                        <p:attrNameLst>
                                          <p:attrName>style.visibility</p:attrName>
                                        </p:attrNameLst>
                                      </p:cBhvr>
                                      <p:to>
                                        <p:strVal val="visible"/>
                                      </p:to>
                                    </p:set>
                                    <p:animEffect transition="in" filter="fade">
                                      <p:cBhvr>
                                        <p:cTn id="25" dur="500"/>
                                        <p:tgtEl>
                                          <p:spTgt spid="11"/>
                                        </p:tgtEl>
                                      </p:cBhvr>
                                    </p:animEffect>
                                  </p:childTnLst>
                                </p:cTn>
                              </p:par>
                              <p:par>
                                <p:cTn id="26" presetID="10" presetClass="entr" presetSubtype="0" fill="hold" grpId="0" nodeType="withEffect">
                                  <p:stCondLst>
                                    <p:cond delay="180"/>
                                  </p:stCondLst>
                                  <p:childTnLst>
                                    <p:set>
                                      <p:cBhvr>
                                        <p:cTn id="27" dur="1" fill="hold">
                                          <p:stCondLst>
                                            <p:cond delay="0"/>
                                          </p:stCondLst>
                                        </p:cTn>
                                        <p:tgtEl>
                                          <p:spTgt spid="12"/>
                                        </p:tgtEl>
                                        <p:attrNameLst>
                                          <p:attrName>style.visibility</p:attrName>
                                        </p:attrNameLst>
                                      </p:cBhvr>
                                      <p:to>
                                        <p:strVal val="visible"/>
                                      </p:to>
                                    </p:set>
                                    <p:animEffect transition="in" filter="fade">
                                      <p:cBhvr>
                                        <p:cTn id="28" dur="500"/>
                                        <p:tgtEl>
                                          <p:spTgt spid="12"/>
                                        </p:tgtEl>
                                      </p:cBhvr>
                                    </p:animEffect>
                                  </p:childTnLst>
                                </p:cTn>
                              </p:par>
                              <p:par>
                                <p:cTn id="29" presetID="10" presetClass="entr" presetSubtype="0" fill="hold" grpId="0" nodeType="withEffect">
                                  <p:stCondLst>
                                    <p:cond delay="180"/>
                                  </p:stCondLst>
                                  <p:childTnLst>
                                    <p:set>
                                      <p:cBhvr>
                                        <p:cTn id="30" dur="1" fill="hold">
                                          <p:stCondLst>
                                            <p:cond delay="0"/>
                                          </p:stCondLst>
                                        </p:cTn>
                                        <p:tgtEl>
                                          <p:spTgt spid="13"/>
                                        </p:tgtEl>
                                        <p:attrNameLst>
                                          <p:attrName>style.visibility</p:attrName>
                                        </p:attrNameLst>
                                      </p:cBhvr>
                                      <p:to>
                                        <p:strVal val="visible"/>
                                      </p:to>
                                    </p:set>
                                    <p:animEffect transition="in" filter="fade">
                                      <p:cBhvr>
                                        <p:cTn id="31" dur="500"/>
                                        <p:tgtEl>
                                          <p:spTgt spid="13"/>
                                        </p:tgtEl>
                                      </p:cBhvr>
                                    </p:animEffect>
                                  </p:childTnLst>
                                </p:cTn>
                              </p:par>
                              <p:par>
                                <p:cTn id="32" presetID="10" presetClass="entr" presetSubtype="0" fill="hold" grpId="0" nodeType="withEffect">
                                  <p:stCondLst>
                                    <p:cond delay="18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500"/>
                                        <p:tgtEl>
                                          <p:spTgt spid="14"/>
                                        </p:tgtEl>
                                      </p:cBhvr>
                                    </p:animEffect>
                                  </p:childTnLst>
                                </p:cTn>
                              </p:par>
                              <p:par>
                                <p:cTn id="35" presetID="10" presetClass="entr" presetSubtype="0" fill="hold" grpId="0" nodeType="withEffect">
                                  <p:stCondLst>
                                    <p:cond delay="180"/>
                                  </p:stCondLst>
                                  <p:childTnLst>
                                    <p:set>
                                      <p:cBhvr>
                                        <p:cTn id="36" dur="1" fill="hold">
                                          <p:stCondLst>
                                            <p:cond delay="0"/>
                                          </p:stCondLst>
                                        </p:cTn>
                                        <p:tgtEl>
                                          <p:spTgt spid="15"/>
                                        </p:tgtEl>
                                        <p:attrNameLst>
                                          <p:attrName>style.visibility</p:attrName>
                                        </p:attrNameLst>
                                      </p:cBhvr>
                                      <p:to>
                                        <p:strVal val="visible"/>
                                      </p:to>
                                    </p:set>
                                    <p:animEffect transition="in" filter="fade">
                                      <p:cBhvr>
                                        <p:cTn id="37" dur="500"/>
                                        <p:tgtEl>
                                          <p:spTgt spid="15"/>
                                        </p:tgtEl>
                                      </p:cBhvr>
                                    </p:animEffect>
                                  </p:childTnLst>
                                </p:cTn>
                              </p:par>
                              <p:par>
                                <p:cTn id="38" presetID="10" presetClass="entr" presetSubtype="0" fill="hold" grpId="0" nodeType="withEffect">
                                  <p:stCondLst>
                                    <p:cond delay="360"/>
                                  </p:stCondLst>
                                  <p:childTnLst>
                                    <p:set>
                                      <p:cBhvr>
                                        <p:cTn id="39" dur="1" fill="hold">
                                          <p:stCondLst>
                                            <p:cond delay="0"/>
                                          </p:stCondLst>
                                        </p:cTn>
                                        <p:tgtEl>
                                          <p:spTgt spid="16"/>
                                        </p:tgtEl>
                                        <p:attrNameLst>
                                          <p:attrName>style.visibility</p:attrName>
                                        </p:attrNameLst>
                                      </p:cBhvr>
                                      <p:to>
                                        <p:strVal val="visible"/>
                                      </p:to>
                                    </p:set>
                                    <p:animEffect transition="in" filter="fade">
                                      <p:cBhvr>
                                        <p:cTn id="40" dur="500"/>
                                        <p:tgtEl>
                                          <p:spTgt spid="16"/>
                                        </p:tgtEl>
                                      </p:cBhvr>
                                    </p:animEffect>
                                  </p:childTnLst>
                                </p:cTn>
                              </p:par>
                              <p:par>
                                <p:cTn id="41" presetID="10" presetClass="entr" presetSubtype="0" fill="hold" grpId="0" nodeType="withEffect">
                                  <p:stCondLst>
                                    <p:cond delay="360"/>
                                  </p:stCondLst>
                                  <p:childTnLst>
                                    <p:set>
                                      <p:cBhvr>
                                        <p:cTn id="42" dur="1" fill="hold">
                                          <p:stCondLst>
                                            <p:cond delay="0"/>
                                          </p:stCondLst>
                                        </p:cTn>
                                        <p:tgtEl>
                                          <p:spTgt spid="17"/>
                                        </p:tgtEl>
                                        <p:attrNameLst>
                                          <p:attrName>style.visibility</p:attrName>
                                        </p:attrNameLst>
                                      </p:cBhvr>
                                      <p:to>
                                        <p:strVal val="visible"/>
                                      </p:to>
                                    </p:set>
                                    <p:animEffect transition="in" filter="fade">
                                      <p:cBhvr>
                                        <p:cTn id="43" dur="500"/>
                                        <p:tgtEl>
                                          <p:spTgt spid="17"/>
                                        </p:tgtEl>
                                      </p:cBhvr>
                                    </p:animEffect>
                                  </p:childTnLst>
                                </p:cTn>
                              </p:par>
                              <p:par>
                                <p:cTn id="44" presetID="10" presetClass="entr" presetSubtype="0" fill="hold" grpId="0" nodeType="withEffect">
                                  <p:stCondLst>
                                    <p:cond delay="360"/>
                                  </p:stCondLst>
                                  <p:childTnLst>
                                    <p:set>
                                      <p:cBhvr>
                                        <p:cTn id="45" dur="1" fill="hold">
                                          <p:stCondLst>
                                            <p:cond delay="0"/>
                                          </p:stCondLst>
                                        </p:cTn>
                                        <p:tgtEl>
                                          <p:spTgt spid="18"/>
                                        </p:tgtEl>
                                        <p:attrNameLst>
                                          <p:attrName>style.visibility</p:attrName>
                                        </p:attrNameLst>
                                      </p:cBhvr>
                                      <p:to>
                                        <p:strVal val="visible"/>
                                      </p:to>
                                    </p:set>
                                    <p:animEffect transition="in" filter="fade">
                                      <p:cBhvr>
                                        <p:cTn id="46" dur="500"/>
                                        <p:tgtEl>
                                          <p:spTgt spid="18"/>
                                        </p:tgtEl>
                                      </p:cBhvr>
                                    </p:animEffect>
                                  </p:childTnLst>
                                </p:cTn>
                              </p:par>
                              <p:par>
                                <p:cTn id="47" presetID="10" presetClass="entr" presetSubtype="0" fill="hold" grpId="0" nodeType="withEffect">
                                  <p:stCondLst>
                                    <p:cond delay="360"/>
                                  </p:stCondLst>
                                  <p:childTnLst>
                                    <p:set>
                                      <p:cBhvr>
                                        <p:cTn id="48" dur="1" fill="hold">
                                          <p:stCondLst>
                                            <p:cond delay="0"/>
                                          </p:stCondLst>
                                        </p:cTn>
                                        <p:tgtEl>
                                          <p:spTgt spid="19"/>
                                        </p:tgtEl>
                                        <p:attrNameLst>
                                          <p:attrName>style.visibility</p:attrName>
                                        </p:attrNameLst>
                                      </p:cBhvr>
                                      <p:to>
                                        <p:strVal val="visible"/>
                                      </p:to>
                                    </p:set>
                                    <p:animEffect transition="in" filter="fade">
                                      <p:cBhvr>
                                        <p:cTn id="49" dur="500"/>
                                        <p:tgtEl>
                                          <p:spTgt spid="19"/>
                                        </p:tgtEl>
                                      </p:cBhvr>
                                    </p:animEffect>
                                  </p:childTnLst>
                                </p:cTn>
                              </p:par>
                              <p:par>
                                <p:cTn id="50" presetID="10" presetClass="entr" presetSubtype="0" fill="hold" grpId="0" nodeType="withEffect">
                                  <p:stCondLst>
                                    <p:cond delay="360"/>
                                  </p:stCondLst>
                                  <p:childTnLst>
                                    <p:set>
                                      <p:cBhvr>
                                        <p:cTn id="51" dur="1" fill="hold">
                                          <p:stCondLst>
                                            <p:cond delay="0"/>
                                          </p:stCondLst>
                                        </p:cTn>
                                        <p:tgtEl>
                                          <p:spTgt spid="20"/>
                                        </p:tgtEl>
                                        <p:attrNameLst>
                                          <p:attrName>style.visibility</p:attrName>
                                        </p:attrNameLst>
                                      </p:cBhvr>
                                      <p:to>
                                        <p:strVal val="visible"/>
                                      </p:to>
                                    </p:set>
                                    <p:animEffect transition="in" filter="fade">
                                      <p:cBhvr>
                                        <p:cTn id="52" dur="500"/>
                                        <p:tgtEl>
                                          <p:spTgt spid="20"/>
                                        </p:tgtEl>
                                      </p:cBhvr>
                                    </p:animEffect>
                                  </p:childTnLst>
                                </p:cTn>
                              </p:par>
                              <p:par>
                                <p:cTn id="53" presetID="10" presetClass="entr" presetSubtype="0" fill="hold" grpId="0" nodeType="withEffect">
                                  <p:stCondLst>
                                    <p:cond delay="360"/>
                                  </p:stCondLst>
                                  <p:childTnLst>
                                    <p:set>
                                      <p:cBhvr>
                                        <p:cTn id="54" dur="1" fill="hold">
                                          <p:stCondLst>
                                            <p:cond delay="0"/>
                                          </p:stCondLst>
                                        </p:cTn>
                                        <p:tgtEl>
                                          <p:spTgt spid="21"/>
                                        </p:tgtEl>
                                        <p:attrNameLst>
                                          <p:attrName>style.visibility</p:attrName>
                                        </p:attrNameLst>
                                      </p:cBhvr>
                                      <p:to>
                                        <p:strVal val="visible"/>
                                      </p:to>
                                    </p:set>
                                    <p:animEffect transition="in" filter="fade">
                                      <p:cBhvr>
                                        <p:cTn id="55" dur="500"/>
                                        <p:tgtEl>
                                          <p:spTgt spid="21"/>
                                        </p:tgtEl>
                                      </p:cBhvr>
                                    </p:animEffect>
                                  </p:childTnLst>
                                </p:cTn>
                              </p:par>
                              <p:par>
                                <p:cTn id="56" presetID="10" presetClass="entr" presetSubtype="0" fill="hold" grpId="0" nodeType="withEffect">
                                  <p:stCondLst>
                                    <p:cond delay="360"/>
                                  </p:stCondLst>
                                  <p:childTnLst>
                                    <p:set>
                                      <p:cBhvr>
                                        <p:cTn id="57" dur="1" fill="hold">
                                          <p:stCondLst>
                                            <p:cond delay="0"/>
                                          </p:stCondLst>
                                        </p:cTn>
                                        <p:tgtEl>
                                          <p:spTgt spid="22"/>
                                        </p:tgtEl>
                                        <p:attrNameLst>
                                          <p:attrName>style.visibility</p:attrName>
                                        </p:attrNameLst>
                                      </p:cBhvr>
                                      <p:to>
                                        <p:strVal val="visible"/>
                                      </p:to>
                                    </p:set>
                                    <p:animEffect transition="in" filter="fade">
                                      <p:cBhvr>
                                        <p:cTn id="58" dur="500"/>
                                        <p:tgtEl>
                                          <p:spTgt spid="22"/>
                                        </p:tgtEl>
                                      </p:cBhvr>
                                    </p:animEffect>
                                  </p:childTnLst>
                                </p:cTn>
                              </p:par>
                              <p:par>
                                <p:cTn id="59" presetID="10" presetClass="entr" presetSubtype="0" fill="hold" grpId="0" nodeType="withEffect">
                                  <p:stCondLst>
                                    <p:cond delay="360"/>
                                  </p:stCondLst>
                                  <p:childTnLst>
                                    <p:set>
                                      <p:cBhvr>
                                        <p:cTn id="60" dur="1" fill="hold">
                                          <p:stCondLst>
                                            <p:cond delay="0"/>
                                          </p:stCondLst>
                                        </p:cTn>
                                        <p:tgtEl>
                                          <p:spTgt spid="23"/>
                                        </p:tgtEl>
                                        <p:attrNameLst>
                                          <p:attrName>style.visibility</p:attrName>
                                        </p:attrNameLst>
                                      </p:cBhvr>
                                      <p:to>
                                        <p:strVal val="visible"/>
                                      </p:to>
                                    </p:set>
                                    <p:animEffect transition="in" filter="fade">
                                      <p:cBhvr>
                                        <p:cTn id="61" dur="500"/>
                                        <p:tgtEl>
                                          <p:spTgt spid="23"/>
                                        </p:tgtEl>
                                      </p:cBhvr>
                                    </p:animEffect>
                                  </p:childTnLst>
                                </p:cTn>
                              </p:par>
                              <p:par>
                                <p:cTn id="62" presetID="10" presetClass="entr" presetSubtype="0" fill="hold" grpId="0" nodeType="withEffect">
                                  <p:stCondLst>
                                    <p:cond delay="540"/>
                                  </p:stCondLst>
                                  <p:childTnLst>
                                    <p:set>
                                      <p:cBhvr>
                                        <p:cTn id="63" dur="1" fill="hold">
                                          <p:stCondLst>
                                            <p:cond delay="0"/>
                                          </p:stCondLst>
                                        </p:cTn>
                                        <p:tgtEl>
                                          <p:spTgt spid="24"/>
                                        </p:tgtEl>
                                        <p:attrNameLst>
                                          <p:attrName>style.visibility</p:attrName>
                                        </p:attrNameLst>
                                      </p:cBhvr>
                                      <p:to>
                                        <p:strVal val="visible"/>
                                      </p:to>
                                    </p:set>
                                    <p:animEffect transition="in" filter="fade">
                                      <p:cBhvr>
                                        <p:cTn id="64" dur="500"/>
                                        <p:tgtEl>
                                          <p:spTgt spid="24"/>
                                        </p:tgtEl>
                                      </p:cBhvr>
                                    </p:animEffect>
                                  </p:childTnLst>
                                </p:cTn>
                              </p:par>
                              <p:par>
                                <p:cTn id="65" presetID="10" presetClass="entr" presetSubtype="0" fill="hold" grpId="0" nodeType="withEffect">
                                  <p:stCondLst>
                                    <p:cond delay="540"/>
                                  </p:stCondLst>
                                  <p:childTnLst>
                                    <p:set>
                                      <p:cBhvr>
                                        <p:cTn id="66" dur="1" fill="hold">
                                          <p:stCondLst>
                                            <p:cond delay="0"/>
                                          </p:stCondLst>
                                        </p:cTn>
                                        <p:tgtEl>
                                          <p:spTgt spid="25"/>
                                        </p:tgtEl>
                                        <p:attrNameLst>
                                          <p:attrName>style.visibility</p:attrName>
                                        </p:attrNameLst>
                                      </p:cBhvr>
                                      <p:to>
                                        <p:strVal val="visible"/>
                                      </p:to>
                                    </p:set>
                                    <p:animEffect transition="in" filter="fade">
                                      <p:cBhvr>
                                        <p:cTn id="67" dur="500"/>
                                        <p:tgtEl>
                                          <p:spTgt spid="25"/>
                                        </p:tgtEl>
                                      </p:cBhvr>
                                    </p:animEffect>
                                  </p:childTnLst>
                                </p:cTn>
                              </p:par>
                              <p:par>
                                <p:cTn id="68" presetID="10" presetClass="entr" presetSubtype="0" fill="hold" grpId="0" nodeType="withEffect">
                                  <p:stCondLst>
                                    <p:cond delay="540"/>
                                  </p:stCondLst>
                                  <p:childTnLst>
                                    <p:set>
                                      <p:cBhvr>
                                        <p:cTn id="69" dur="1" fill="hold">
                                          <p:stCondLst>
                                            <p:cond delay="0"/>
                                          </p:stCondLst>
                                        </p:cTn>
                                        <p:tgtEl>
                                          <p:spTgt spid="26"/>
                                        </p:tgtEl>
                                        <p:attrNameLst>
                                          <p:attrName>style.visibility</p:attrName>
                                        </p:attrNameLst>
                                      </p:cBhvr>
                                      <p:to>
                                        <p:strVal val="visible"/>
                                      </p:to>
                                    </p:set>
                                    <p:animEffect transition="in" filter="fade">
                                      <p:cBhvr>
                                        <p:cTn id="70" dur="500"/>
                                        <p:tgtEl>
                                          <p:spTgt spid="26"/>
                                        </p:tgtEl>
                                      </p:cBhvr>
                                    </p:animEffect>
                                  </p:childTnLst>
                                </p:cTn>
                              </p:par>
                              <p:par>
                                <p:cTn id="71" presetID="10" presetClass="entr" presetSubtype="0" fill="hold" grpId="0" nodeType="withEffect">
                                  <p:stCondLst>
                                    <p:cond delay="540"/>
                                  </p:stCondLst>
                                  <p:childTnLst>
                                    <p:set>
                                      <p:cBhvr>
                                        <p:cTn id="72" dur="1" fill="hold">
                                          <p:stCondLst>
                                            <p:cond delay="0"/>
                                          </p:stCondLst>
                                        </p:cTn>
                                        <p:tgtEl>
                                          <p:spTgt spid="27"/>
                                        </p:tgtEl>
                                        <p:attrNameLst>
                                          <p:attrName>style.visibility</p:attrName>
                                        </p:attrNameLst>
                                      </p:cBhvr>
                                      <p:to>
                                        <p:strVal val="visible"/>
                                      </p:to>
                                    </p:set>
                                    <p:animEffect transition="in" filter="fade">
                                      <p:cBhvr>
                                        <p:cTn id="73" dur="500"/>
                                        <p:tgtEl>
                                          <p:spTgt spid="27"/>
                                        </p:tgtEl>
                                      </p:cBhvr>
                                    </p:animEffect>
                                  </p:childTnLst>
                                </p:cTn>
                              </p:par>
                              <p:par>
                                <p:cTn id="74" presetID="10" presetClass="entr" presetSubtype="0" fill="hold" grpId="0" nodeType="withEffect">
                                  <p:stCondLst>
                                    <p:cond delay="540"/>
                                  </p:stCondLst>
                                  <p:childTnLst>
                                    <p:set>
                                      <p:cBhvr>
                                        <p:cTn id="75" dur="1" fill="hold">
                                          <p:stCondLst>
                                            <p:cond delay="0"/>
                                          </p:stCondLst>
                                        </p:cTn>
                                        <p:tgtEl>
                                          <p:spTgt spid="28"/>
                                        </p:tgtEl>
                                        <p:attrNameLst>
                                          <p:attrName>style.visibility</p:attrName>
                                        </p:attrNameLst>
                                      </p:cBhvr>
                                      <p:to>
                                        <p:strVal val="visible"/>
                                      </p:to>
                                    </p:set>
                                    <p:animEffect transition="in" filter="fade">
                                      <p:cBhvr>
                                        <p:cTn id="76" dur="500"/>
                                        <p:tgtEl>
                                          <p:spTgt spid="28"/>
                                        </p:tgtEl>
                                      </p:cBhvr>
                                    </p:animEffect>
                                  </p:childTnLst>
                                </p:cTn>
                              </p:par>
                              <p:par>
                                <p:cTn id="77" presetID="10" presetClass="entr" presetSubtype="0" fill="hold" grpId="0" nodeType="withEffect">
                                  <p:stCondLst>
                                    <p:cond delay="540"/>
                                  </p:stCondLst>
                                  <p:childTnLst>
                                    <p:set>
                                      <p:cBhvr>
                                        <p:cTn id="78" dur="1" fill="hold">
                                          <p:stCondLst>
                                            <p:cond delay="0"/>
                                          </p:stCondLst>
                                        </p:cTn>
                                        <p:tgtEl>
                                          <p:spTgt spid="29"/>
                                        </p:tgtEl>
                                        <p:attrNameLst>
                                          <p:attrName>style.visibility</p:attrName>
                                        </p:attrNameLst>
                                      </p:cBhvr>
                                      <p:to>
                                        <p:strVal val="visible"/>
                                      </p:to>
                                    </p:set>
                                    <p:animEffect transition="in" filter="fade">
                                      <p:cBhvr>
                                        <p:cTn id="79" dur="500"/>
                                        <p:tgtEl>
                                          <p:spTgt spid="29"/>
                                        </p:tgtEl>
                                      </p:cBhvr>
                                    </p:animEffect>
                                  </p:childTnLst>
                                </p:cTn>
                              </p:par>
                              <p:par>
                                <p:cTn id="80" presetID="10" presetClass="entr" presetSubtype="0" fill="hold" grpId="0" nodeType="withEffect">
                                  <p:stCondLst>
                                    <p:cond delay="540"/>
                                  </p:stCondLst>
                                  <p:childTnLst>
                                    <p:set>
                                      <p:cBhvr>
                                        <p:cTn id="81" dur="1" fill="hold">
                                          <p:stCondLst>
                                            <p:cond delay="0"/>
                                          </p:stCondLst>
                                        </p:cTn>
                                        <p:tgtEl>
                                          <p:spTgt spid="30"/>
                                        </p:tgtEl>
                                        <p:attrNameLst>
                                          <p:attrName>style.visibility</p:attrName>
                                        </p:attrNameLst>
                                      </p:cBhvr>
                                      <p:to>
                                        <p:strVal val="visible"/>
                                      </p:to>
                                    </p:set>
                                    <p:animEffect transition="in" filter="fade">
                                      <p:cBhvr>
                                        <p:cTn id="82" dur="500"/>
                                        <p:tgtEl>
                                          <p:spTgt spid="30"/>
                                        </p:tgtEl>
                                      </p:cBhvr>
                                    </p:animEffect>
                                  </p:childTnLst>
                                </p:cTn>
                              </p:par>
                              <p:par>
                                <p:cTn id="83" presetID="10" presetClass="entr" presetSubtype="0" fill="hold" grpId="0" nodeType="withEffect">
                                  <p:stCondLst>
                                    <p:cond delay="540"/>
                                  </p:stCondLst>
                                  <p:childTnLst>
                                    <p:set>
                                      <p:cBhvr>
                                        <p:cTn id="84" dur="1" fill="hold">
                                          <p:stCondLst>
                                            <p:cond delay="0"/>
                                          </p:stCondLst>
                                        </p:cTn>
                                        <p:tgtEl>
                                          <p:spTgt spid="31"/>
                                        </p:tgtEl>
                                        <p:attrNameLst>
                                          <p:attrName>style.visibility</p:attrName>
                                        </p:attrNameLst>
                                      </p:cBhvr>
                                      <p:to>
                                        <p:strVal val="visible"/>
                                      </p:to>
                                    </p:set>
                                    <p:animEffect transition="in" filter="fade">
                                      <p:cBhvr>
                                        <p:cTn id="85" dur="500"/>
                                        <p:tgtEl>
                                          <p:spTgt spid="31"/>
                                        </p:tgtEl>
                                      </p:cBhvr>
                                    </p:animEffect>
                                  </p:childTnLst>
                                </p:cTn>
                              </p:par>
                              <p:par>
                                <p:cTn id="86" presetID="10" presetClass="entr" presetSubtype="0" fill="hold" grpId="0" nodeType="withEffect">
                                  <p:stCondLst>
                                    <p:cond delay="720"/>
                                  </p:stCondLst>
                                  <p:childTnLst>
                                    <p:set>
                                      <p:cBhvr>
                                        <p:cTn id="87" dur="1" fill="hold">
                                          <p:stCondLst>
                                            <p:cond delay="0"/>
                                          </p:stCondLst>
                                        </p:cTn>
                                        <p:tgtEl>
                                          <p:spTgt spid="32"/>
                                        </p:tgtEl>
                                        <p:attrNameLst>
                                          <p:attrName>style.visibility</p:attrName>
                                        </p:attrNameLst>
                                      </p:cBhvr>
                                      <p:to>
                                        <p:strVal val="visible"/>
                                      </p:to>
                                    </p:set>
                                    <p:animEffect transition="in" filter="fade">
                                      <p:cBhvr>
                                        <p:cTn id="88" dur="500"/>
                                        <p:tgtEl>
                                          <p:spTgt spid="32"/>
                                        </p:tgtEl>
                                      </p:cBhvr>
                                    </p:animEffect>
                                  </p:childTnLst>
                                </p:cTn>
                              </p:par>
                              <p:par>
                                <p:cTn id="89" presetID="10" presetClass="entr" presetSubtype="0" fill="hold" grpId="0" nodeType="withEffect">
                                  <p:stCondLst>
                                    <p:cond delay="720"/>
                                  </p:stCondLst>
                                  <p:childTnLst>
                                    <p:set>
                                      <p:cBhvr>
                                        <p:cTn id="90" dur="1" fill="hold">
                                          <p:stCondLst>
                                            <p:cond delay="0"/>
                                          </p:stCondLst>
                                        </p:cTn>
                                        <p:tgtEl>
                                          <p:spTgt spid="33"/>
                                        </p:tgtEl>
                                        <p:attrNameLst>
                                          <p:attrName>style.visibility</p:attrName>
                                        </p:attrNameLst>
                                      </p:cBhvr>
                                      <p:to>
                                        <p:strVal val="visible"/>
                                      </p:to>
                                    </p:set>
                                    <p:animEffect transition="in" filter="fade">
                                      <p:cBhvr>
                                        <p:cTn id="91" dur="500"/>
                                        <p:tgtEl>
                                          <p:spTgt spid="33"/>
                                        </p:tgtEl>
                                      </p:cBhvr>
                                    </p:animEffect>
                                  </p:childTnLst>
                                </p:cTn>
                              </p:par>
                              <p:par>
                                <p:cTn id="92" presetID="10" presetClass="entr" presetSubtype="0" fill="hold" grpId="0" nodeType="withEffect">
                                  <p:stCondLst>
                                    <p:cond delay="720"/>
                                  </p:stCondLst>
                                  <p:childTnLst>
                                    <p:set>
                                      <p:cBhvr>
                                        <p:cTn id="93" dur="1" fill="hold">
                                          <p:stCondLst>
                                            <p:cond delay="0"/>
                                          </p:stCondLst>
                                        </p:cTn>
                                        <p:tgtEl>
                                          <p:spTgt spid="34"/>
                                        </p:tgtEl>
                                        <p:attrNameLst>
                                          <p:attrName>style.visibility</p:attrName>
                                        </p:attrNameLst>
                                      </p:cBhvr>
                                      <p:to>
                                        <p:strVal val="visible"/>
                                      </p:to>
                                    </p:set>
                                    <p:animEffect transition="in" filter="fade">
                                      <p:cBhvr>
                                        <p:cTn id="94" dur="500"/>
                                        <p:tgtEl>
                                          <p:spTgt spid="34"/>
                                        </p:tgtEl>
                                      </p:cBhvr>
                                    </p:animEffect>
                                  </p:childTnLst>
                                </p:cTn>
                              </p:par>
                              <p:par>
                                <p:cTn id="95" presetID="10" presetClass="entr" presetSubtype="0" fill="hold" grpId="0" nodeType="withEffect">
                                  <p:stCondLst>
                                    <p:cond delay="720"/>
                                  </p:stCondLst>
                                  <p:childTnLst>
                                    <p:set>
                                      <p:cBhvr>
                                        <p:cTn id="96" dur="1" fill="hold">
                                          <p:stCondLst>
                                            <p:cond delay="0"/>
                                          </p:stCondLst>
                                        </p:cTn>
                                        <p:tgtEl>
                                          <p:spTgt spid="35"/>
                                        </p:tgtEl>
                                        <p:attrNameLst>
                                          <p:attrName>style.visibility</p:attrName>
                                        </p:attrNameLst>
                                      </p:cBhvr>
                                      <p:to>
                                        <p:strVal val="visible"/>
                                      </p:to>
                                    </p:set>
                                    <p:animEffect transition="in" filter="fade">
                                      <p:cBhvr>
                                        <p:cTn id="97" dur="500"/>
                                        <p:tgtEl>
                                          <p:spTgt spid="35"/>
                                        </p:tgtEl>
                                      </p:cBhvr>
                                    </p:animEffect>
                                  </p:childTnLst>
                                </p:cTn>
                              </p:par>
                              <p:par>
                                <p:cTn id="98" presetID="10" presetClass="entr" presetSubtype="0" fill="hold" grpId="0" nodeType="withEffect">
                                  <p:stCondLst>
                                    <p:cond delay="720"/>
                                  </p:stCondLst>
                                  <p:childTnLst>
                                    <p:set>
                                      <p:cBhvr>
                                        <p:cTn id="99" dur="1" fill="hold">
                                          <p:stCondLst>
                                            <p:cond delay="0"/>
                                          </p:stCondLst>
                                        </p:cTn>
                                        <p:tgtEl>
                                          <p:spTgt spid="36"/>
                                        </p:tgtEl>
                                        <p:attrNameLst>
                                          <p:attrName>style.visibility</p:attrName>
                                        </p:attrNameLst>
                                      </p:cBhvr>
                                      <p:to>
                                        <p:strVal val="visible"/>
                                      </p:to>
                                    </p:set>
                                    <p:animEffect transition="in" filter="fade">
                                      <p:cBhvr>
                                        <p:cTn id="100" dur="500"/>
                                        <p:tgtEl>
                                          <p:spTgt spid="36"/>
                                        </p:tgtEl>
                                      </p:cBhvr>
                                    </p:animEffect>
                                  </p:childTnLst>
                                </p:cTn>
                              </p:par>
                              <p:par>
                                <p:cTn id="101" presetID="10" presetClass="entr" presetSubtype="0" fill="hold" grpId="0" nodeType="withEffect">
                                  <p:stCondLst>
                                    <p:cond delay="720"/>
                                  </p:stCondLst>
                                  <p:childTnLst>
                                    <p:set>
                                      <p:cBhvr>
                                        <p:cTn id="102" dur="1" fill="hold">
                                          <p:stCondLst>
                                            <p:cond delay="0"/>
                                          </p:stCondLst>
                                        </p:cTn>
                                        <p:tgtEl>
                                          <p:spTgt spid="37"/>
                                        </p:tgtEl>
                                        <p:attrNameLst>
                                          <p:attrName>style.visibility</p:attrName>
                                        </p:attrNameLst>
                                      </p:cBhvr>
                                      <p:to>
                                        <p:strVal val="visible"/>
                                      </p:to>
                                    </p:set>
                                    <p:animEffect transition="in" filter="fade">
                                      <p:cBhvr>
                                        <p:cTn id="103" dur="500"/>
                                        <p:tgtEl>
                                          <p:spTgt spid="37"/>
                                        </p:tgtEl>
                                      </p:cBhvr>
                                    </p:animEffect>
                                  </p:childTnLst>
                                </p:cTn>
                              </p:par>
                              <p:par>
                                <p:cTn id="104" presetID="10" presetClass="entr" presetSubtype="0" fill="hold" grpId="0" nodeType="withEffect">
                                  <p:stCondLst>
                                    <p:cond delay="720"/>
                                  </p:stCondLst>
                                  <p:childTnLst>
                                    <p:set>
                                      <p:cBhvr>
                                        <p:cTn id="105" dur="1" fill="hold">
                                          <p:stCondLst>
                                            <p:cond delay="0"/>
                                          </p:stCondLst>
                                        </p:cTn>
                                        <p:tgtEl>
                                          <p:spTgt spid="38"/>
                                        </p:tgtEl>
                                        <p:attrNameLst>
                                          <p:attrName>style.visibility</p:attrName>
                                        </p:attrNameLst>
                                      </p:cBhvr>
                                      <p:to>
                                        <p:strVal val="visible"/>
                                      </p:to>
                                    </p:set>
                                    <p:animEffect transition="in" filter="fade">
                                      <p:cBhvr>
                                        <p:cTn id="106" dur="500"/>
                                        <p:tgtEl>
                                          <p:spTgt spid="38"/>
                                        </p:tgtEl>
                                      </p:cBhvr>
                                    </p:animEffect>
                                  </p:childTnLst>
                                </p:cTn>
                              </p:par>
                              <p:par>
                                <p:cTn id="107" presetID="10" presetClass="entr" presetSubtype="0" fill="hold" grpId="0" nodeType="withEffect">
                                  <p:stCondLst>
                                    <p:cond delay="720"/>
                                  </p:stCondLst>
                                  <p:childTnLst>
                                    <p:set>
                                      <p:cBhvr>
                                        <p:cTn id="108" dur="1" fill="hold">
                                          <p:stCondLst>
                                            <p:cond delay="0"/>
                                          </p:stCondLst>
                                        </p:cTn>
                                        <p:tgtEl>
                                          <p:spTgt spid="39"/>
                                        </p:tgtEl>
                                        <p:attrNameLst>
                                          <p:attrName>style.visibility</p:attrName>
                                        </p:attrNameLst>
                                      </p:cBhvr>
                                      <p:to>
                                        <p:strVal val="visible"/>
                                      </p:to>
                                    </p:set>
                                    <p:animEffect transition="in" filter="fade">
                                      <p:cBhvr>
                                        <p:cTn id="109" dur="500"/>
                                        <p:tgtEl>
                                          <p:spTgt spid="39"/>
                                        </p:tgtEl>
                                      </p:cBhvr>
                                    </p:animEffect>
                                  </p:childTnLst>
                                </p:cTn>
                              </p:par>
                              <p:par>
                                <p:cTn id="110" presetID="10" presetClass="entr" presetSubtype="0" fill="hold" grpId="0" nodeType="withEffect">
                                  <p:stCondLst>
                                    <p:cond delay="900"/>
                                  </p:stCondLst>
                                  <p:childTnLst>
                                    <p:set>
                                      <p:cBhvr>
                                        <p:cTn id="111" dur="1" fill="hold">
                                          <p:stCondLst>
                                            <p:cond delay="0"/>
                                          </p:stCondLst>
                                        </p:cTn>
                                        <p:tgtEl>
                                          <p:spTgt spid="40"/>
                                        </p:tgtEl>
                                        <p:attrNameLst>
                                          <p:attrName>style.visibility</p:attrName>
                                        </p:attrNameLst>
                                      </p:cBhvr>
                                      <p:to>
                                        <p:strVal val="visible"/>
                                      </p:to>
                                    </p:set>
                                    <p:animEffect transition="in" filter="fade">
                                      <p:cBhvr>
                                        <p:cTn id="112" dur="500"/>
                                        <p:tgtEl>
                                          <p:spTgt spid="40"/>
                                        </p:tgtEl>
                                      </p:cBhvr>
                                    </p:animEffect>
                                  </p:childTnLst>
                                </p:cTn>
                              </p:par>
                              <p:par>
                                <p:cTn id="113" presetID="10" presetClass="entr" presetSubtype="0" fill="hold" grpId="0" nodeType="withEffect">
                                  <p:stCondLst>
                                    <p:cond delay="900"/>
                                  </p:stCondLst>
                                  <p:childTnLst>
                                    <p:set>
                                      <p:cBhvr>
                                        <p:cTn id="114" dur="1" fill="hold">
                                          <p:stCondLst>
                                            <p:cond delay="0"/>
                                          </p:stCondLst>
                                        </p:cTn>
                                        <p:tgtEl>
                                          <p:spTgt spid="41"/>
                                        </p:tgtEl>
                                        <p:attrNameLst>
                                          <p:attrName>style.visibility</p:attrName>
                                        </p:attrNameLst>
                                      </p:cBhvr>
                                      <p:to>
                                        <p:strVal val="visible"/>
                                      </p:to>
                                    </p:set>
                                    <p:animEffect transition="in" filter="fade">
                                      <p:cBhvr>
                                        <p:cTn id="115" dur="500"/>
                                        <p:tgtEl>
                                          <p:spTgt spid="41"/>
                                        </p:tgtEl>
                                      </p:cBhvr>
                                    </p:animEffect>
                                  </p:childTnLst>
                                </p:cTn>
                              </p:par>
                              <p:par>
                                <p:cTn id="116" presetID="10" presetClass="entr" presetSubtype="0" fill="hold" grpId="0" nodeType="withEffect">
                                  <p:stCondLst>
                                    <p:cond delay="900"/>
                                  </p:stCondLst>
                                  <p:childTnLst>
                                    <p:set>
                                      <p:cBhvr>
                                        <p:cTn id="117" dur="1" fill="hold">
                                          <p:stCondLst>
                                            <p:cond delay="0"/>
                                          </p:stCondLst>
                                        </p:cTn>
                                        <p:tgtEl>
                                          <p:spTgt spid="20"/>
                                        </p:tgtEl>
                                        <p:attrNameLst>
                                          <p:attrName>style.visibility</p:attrName>
                                        </p:attrNameLst>
                                      </p:cBhvr>
                                      <p:to>
                                        <p:strVal val="visible"/>
                                      </p:to>
                                    </p:set>
                                    <p:animEffect transition="in" filter="fade">
                                      <p:cBhvr>
                                        <p:cTn id="118" dur="500"/>
                                        <p:tgtEl>
                                          <p:spTgt spid="20"/>
                                        </p:tgtEl>
                                      </p:cBhvr>
                                    </p:animEffect>
                                  </p:childTnLst>
                                </p:cTn>
                              </p:par>
                              <p:par>
                                <p:cTn id="119" presetID="10" presetClass="entr" presetSubtype="0" fill="hold" grpId="0" nodeType="withEffect">
                                  <p:stCondLst>
                                    <p:cond delay="1080"/>
                                  </p:stCondLst>
                                  <p:childTnLst>
                                    <p:set>
                                      <p:cBhvr>
                                        <p:cTn id="120" dur="1" fill="hold">
                                          <p:stCondLst>
                                            <p:cond delay="0"/>
                                          </p:stCondLst>
                                        </p:cTn>
                                        <p:tgtEl>
                                          <p:spTgt spid="43"/>
                                        </p:tgtEl>
                                        <p:attrNameLst>
                                          <p:attrName>style.visibility</p:attrName>
                                        </p:attrNameLst>
                                      </p:cBhvr>
                                      <p:to>
                                        <p:strVal val="visible"/>
                                      </p:to>
                                    </p:set>
                                    <p:animEffect transition="in" filter="fade">
                                      <p:cBhvr>
                                        <p:cTn id="121" dur="500"/>
                                        <p:tgtEl>
                                          <p:spTgt spid="43"/>
                                        </p:tgtEl>
                                      </p:cBhvr>
                                    </p:animEffect>
                                  </p:childTnLst>
                                </p:cTn>
                              </p:par>
                              <p:par>
                                <p:cTn id="122" presetID="10" presetClass="entr" presetSubtype="0" fill="hold" grpId="0" nodeType="withEffect">
                                  <p:stCondLst>
                                    <p:cond delay="1080"/>
                                  </p:stCondLst>
                                  <p:childTnLst>
                                    <p:set>
                                      <p:cBhvr>
                                        <p:cTn id="123" dur="1" fill="hold">
                                          <p:stCondLst>
                                            <p:cond delay="0"/>
                                          </p:stCondLst>
                                        </p:cTn>
                                        <p:tgtEl>
                                          <p:spTgt spid="44"/>
                                        </p:tgtEl>
                                        <p:attrNameLst>
                                          <p:attrName>style.visibility</p:attrName>
                                        </p:attrNameLst>
                                      </p:cBhvr>
                                      <p:to>
                                        <p:strVal val="visible"/>
                                      </p:to>
                                    </p:set>
                                    <p:animEffect transition="in" filter="fade">
                                      <p:cBhvr>
                                        <p:cTn id="124" dur="500"/>
                                        <p:tgtEl>
                                          <p:spTgt spid="44"/>
                                        </p:tgtEl>
                                      </p:cBhvr>
                                    </p:animEffect>
                                  </p:childTnLst>
                                </p:cTn>
                              </p:par>
                              <p:par>
                                <p:cTn id="125" presetID="10" presetClass="entr" presetSubtype="0" fill="hold" grpId="0" nodeType="withEffect">
                                  <p:stCondLst>
                                    <p:cond delay="1080"/>
                                  </p:stCondLst>
                                  <p:childTnLst>
                                    <p:set>
                                      <p:cBhvr>
                                        <p:cTn id="126" dur="1" fill="hold">
                                          <p:stCondLst>
                                            <p:cond delay="0"/>
                                          </p:stCondLst>
                                        </p:cTn>
                                        <p:tgtEl>
                                          <p:spTgt spid="45"/>
                                        </p:tgtEl>
                                        <p:attrNameLst>
                                          <p:attrName>style.visibility</p:attrName>
                                        </p:attrNameLst>
                                      </p:cBhvr>
                                      <p:to>
                                        <p:strVal val="visible"/>
                                      </p:to>
                                    </p:set>
                                    <p:animEffect transition="in" filter="fade">
                                      <p:cBhvr>
                                        <p:cTn id="127" dur="500"/>
                                        <p:tgtEl>
                                          <p:spTgt spid="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3" grpId="0" animBg="1"/>
      <p:bldP spid="44" grpId="0" animBg="1"/>
      <p:bldP spid="45"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name="Slide 2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tmp/claude-0/-home-user-hosting/7c832a48-0979-56aa-9fdf-7d53efb9dc7a/scratchpad/build/imgd/logo-white.png">    </p:cNvPr>
          <p:cNvPicPr>
            <a:picLocks noChangeAspect="1"/>
          </p:cNvPicPr>
          <p:nvPr/>
        </p:nvPicPr>
        <p:blipFill>
          <a:blip r:embed="rId2"/>
          <a:stretch>
            <a:fillRect/>
          </a:stretch>
        </p:blipFill>
        <p:spPr>
          <a:xfrm>
            <a:off x="10414000" y="355600"/>
            <a:ext cx="1270000" cy="304800"/>
          </a:xfrm>
          <a:prstGeom prst="rect">
            <a:avLst/>
          </a:prstGeom>
        </p:spPr>
      </p:pic>
      <p:sp>
        <p:nvSpPr>
          <p:cNvPr id="3" name="Text 0"/>
          <p:cNvSpPr/>
          <p:nvPr/>
        </p:nvSpPr>
        <p:spPr>
          <a:xfrm>
            <a:off x="177800" y="6134100"/>
            <a:ext cx="1270000" cy="571500"/>
          </a:xfrm>
          <a:prstGeom prst="rect">
            <a:avLst/>
          </a:prstGeom>
          <a:noFill/>
          <a:ln/>
        </p:spPr>
        <p:txBody>
          <a:bodyPr wrap="square" lIns="0" tIns="0" rIns="0" bIns="0" rtlCol="0" anchor="ctr"/>
          <a:lstStyle/>
          <a:p>
            <a:pPr indent="0" marL="0">
              <a:buNone/>
            </a:pPr>
            <a:r>
              <a:rPr lang="en-US" sz="3550" b="1" dirty="0">
                <a:solidFill>
                  <a:srgbClr val="3F8FF2">
                    <a:alpha val="30000"/>
                  </a:srgbClr>
                </a:solidFill>
                <a:latin typeface="Plus Jakarta Sans" pitchFamily="34" charset="0"/>
                <a:ea typeface="Plus Jakarta Sans" pitchFamily="34" charset="-122"/>
                <a:cs typeface="Plus Jakarta Sans" pitchFamily="34" charset="-120"/>
              </a:rPr>
              <a:t>20</a:t>
            </a:r>
            <a:endParaRPr lang="en-US" sz="3550" dirty="0"/>
          </a:p>
        </p:txBody>
      </p:sp>
      <p:sp>
        <p:nvSpPr>
          <p:cNvPr id="4" name="Text 1"/>
          <p:cNvSpPr txBox="1"/>
          <p:nvPr/>
        </p:nvSpPr>
        <p:spPr>
          <a:xfrm>
            <a:off x="6604000" y="6477000"/>
            <a:ext cx="5080000" cy="152400"/>
          </a:xfrm>
          <a:prstGeom prst="rect">
            <a:avLst/>
          </a:prstGeom>
          <a:noFill/>
          <a:ln/>
        </p:spPr>
        <p:txBody>
          <a:bodyPr wrap="square" lIns="0" tIns="0" rIns="0" bIns="0" rtlCol="0" anchor="t"/>
          <a:lstStyle/>
          <a:p>
            <a:pPr algn="r" indent="0" marL="0">
              <a:lnSpc>
                <a:spcPct val="112000"/>
              </a:lnSpc>
              <a:buNone/>
            </a:pPr>
            <a:r>
              <a:rPr lang="en-US" sz="750" dirty="0">
                <a:solidFill>
                  <a:srgbClr val="8C93A3"/>
                </a:solidFill>
                <a:latin typeface="Plus Jakarta Sans" pitchFamily="34" charset="0"/>
                <a:ea typeface="Plus Jakarta Sans" pitchFamily="34" charset="-122"/>
                <a:cs typeface="Plus Jakarta Sans" pitchFamily="34" charset="-120"/>
              </a:rPr>
              <a:t>Partner-Confidential · NDA · Programme description only; not a contract</a:t>
            </a:r>
            <a:endParaRPr lang="en-US" sz="750" dirty="0"/>
          </a:p>
        </p:txBody>
      </p:sp>
      <p:pic>
        <p:nvPicPr>
          <p:cNvPr id="5" name="anim-1-1" descr="/tmp/claude-0/-home-user-hosting/7c832a48-0979-56aa-9fdf-7d53efb9dc7a/scratchpad/build/imgd/pointer.png">    </p:cNvPr>
          <p:cNvPicPr>
            <a:picLocks noChangeAspect="1"/>
          </p:cNvPicPr>
          <p:nvPr/>
        </p:nvPicPr>
        <p:blipFill>
          <a:blip r:embed="rId3"/>
          <a:stretch>
            <a:fillRect/>
          </a:stretch>
        </p:blipFill>
        <p:spPr>
          <a:xfrm>
            <a:off x="508000" y="285750"/>
            <a:ext cx="100964" cy="203200"/>
          </a:xfrm>
          <a:prstGeom prst="rect">
            <a:avLst/>
          </a:prstGeom>
        </p:spPr>
      </p:pic>
      <p:sp>
        <p:nvSpPr>
          <p:cNvPr id="6" name="anim-1-2"/>
          <p:cNvSpPr txBox="1"/>
          <p:nvPr/>
        </p:nvSpPr>
        <p:spPr>
          <a:xfrm>
            <a:off x="673100" y="304800"/>
            <a:ext cx="8890000" cy="190500"/>
          </a:xfrm>
          <a:prstGeom prst="rect">
            <a:avLst/>
          </a:prstGeom>
          <a:noFill/>
          <a:ln/>
        </p:spPr>
        <p:txBody>
          <a:bodyPr wrap="square" lIns="0" tIns="0" rIns="0" bIns="0" rtlCol="0" anchor="t"/>
          <a:lstStyle/>
          <a:p>
            <a:pPr algn="l" indent="0" marL="0">
              <a:lnSpc>
                <a:spcPct val="112000"/>
              </a:lnSpc>
              <a:buNone/>
            </a:pPr>
            <a:r>
              <a:rPr lang="en-US" sz="1000" spc="200" kern="0" dirty="0">
                <a:solidFill>
                  <a:srgbClr val="15B6FF"/>
                </a:solidFill>
                <a:latin typeface="Plus Jakarta Sans SemiBold" pitchFamily="34" charset="0"/>
                <a:ea typeface="Plus Jakarta Sans SemiBold" pitchFamily="34" charset="-122"/>
                <a:cs typeface="Plus Jakarta Sans SemiBold" pitchFamily="34" charset="-120"/>
              </a:rPr>
              <a:t>DEMO, SANDBOX &amp; SUPPORT</a:t>
            </a:r>
            <a:endParaRPr lang="en-US" sz="1000" dirty="0"/>
          </a:p>
        </p:txBody>
      </p:sp>
      <p:sp>
        <p:nvSpPr>
          <p:cNvPr id="7" name="anim-1-3"/>
          <p:cNvSpPr txBox="1"/>
          <p:nvPr/>
        </p:nvSpPr>
        <p:spPr>
          <a:xfrm>
            <a:off x="508000" y="558800"/>
            <a:ext cx="9652000" cy="406400"/>
          </a:xfrm>
          <a:prstGeom prst="rect">
            <a:avLst/>
          </a:prstGeom>
          <a:noFill/>
          <a:ln/>
        </p:spPr>
        <p:txBody>
          <a:bodyPr wrap="square" lIns="0" tIns="0" rIns="0" bIns="0" rtlCol="0" anchor="ctr"/>
          <a:lstStyle/>
          <a:p>
            <a:pPr algn="l" indent="0" marL="0">
              <a:lnSpc>
                <a:spcPct val="112000"/>
              </a:lnSpc>
              <a:buNone/>
            </a:pPr>
            <a:r>
              <a:rPr lang="en-US" sz="2000" b="1" dirty="0">
                <a:solidFill>
                  <a:srgbClr val="FFFFFF"/>
                </a:solidFill>
                <a:latin typeface="Plus Jakarta Sans" pitchFamily="34" charset="0"/>
                <a:ea typeface="Plus Jakarta Sans" pitchFamily="34" charset="-122"/>
                <a:cs typeface="Plus Jakarta Sans" pitchFamily="34" charset="-120"/>
              </a:rPr>
              <a:t>Tools to win: sandbox and </a:t>
            </a:r>
            <a:pPr algn="l" indent="0" marL="0">
              <a:lnSpc>
                <a:spcPct val="112000"/>
              </a:lnSpc>
              <a:buNone/>
            </a:pPr>
            <a:r>
              <a:rPr lang="en-US" sz="2000" b="1" i="1" dirty="0">
                <a:solidFill>
                  <a:srgbClr val="15B6FF"/>
                </a:solidFill>
                <a:latin typeface="Plus Jakarta Sans Light" pitchFamily="34" charset="0"/>
                <a:ea typeface="Plus Jakarta Sans Light" pitchFamily="34" charset="-122"/>
                <a:cs typeface="Plus Jakarta Sans Light" pitchFamily="34" charset="-120"/>
              </a:rPr>
              <a:t>technical</a:t>
            </a:r>
            <a:pPr algn="l" indent="0" marL="0">
              <a:lnSpc>
                <a:spcPct val="112000"/>
              </a:lnSpc>
              <a:buNone/>
            </a:pPr>
            <a:r>
              <a:rPr lang="en-US" sz="2000" b="1" dirty="0">
                <a:solidFill>
                  <a:srgbClr val="FFFFFF"/>
                </a:solidFill>
                <a:latin typeface="Plus Jakarta Sans" pitchFamily="34" charset="0"/>
                <a:ea typeface="Plus Jakarta Sans" pitchFamily="34" charset="-122"/>
                <a:cs typeface="Plus Jakarta Sans" pitchFamily="34" charset="-120"/>
              </a:rPr>
              <a:t> support</a:t>
            </a:r>
            <a:endParaRPr lang="en-US" sz="2000" dirty="0"/>
          </a:p>
        </p:txBody>
      </p:sp>
      <p:sp>
        <p:nvSpPr>
          <p:cNvPr id="8" name="anim-2-4"/>
          <p:cNvSpPr/>
          <p:nvPr/>
        </p:nvSpPr>
        <p:spPr>
          <a:xfrm>
            <a:off x="508000" y="1308100"/>
            <a:ext cx="4445000" cy="4203700"/>
          </a:xfrm>
          <a:prstGeom prst="roundRect">
            <a:avLst>
              <a:gd name="adj" fmla="val 6042"/>
            </a:avLst>
          </a:prstGeom>
          <a:solidFill>
            <a:srgbClr val="FFFFFF">
              <a:alpha val="5000"/>
            </a:srgbClr>
          </a:solidFill>
          <a:ln w="9525">
            <a:solidFill>
              <a:srgbClr val="FFFFFF">
                <a:alpha val="12000"/>
              </a:srgbClr>
            </a:solidFill>
            <a:prstDash val="solid"/>
          </a:ln>
        </p:spPr>
      </p:sp>
      <p:sp>
        <p:nvSpPr>
          <p:cNvPr id="9" name="anim-2-5"/>
          <p:cNvSpPr txBox="1"/>
          <p:nvPr/>
        </p:nvSpPr>
        <p:spPr>
          <a:xfrm>
            <a:off x="711200" y="1460500"/>
            <a:ext cx="3810000" cy="165100"/>
          </a:xfrm>
          <a:prstGeom prst="rect">
            <a:avLst/>
          </a:prstGeom>
          <a:noFill/>
          <a:ln/>
        </p:spPr>
        <p:txBody>
          <a:bodyPr wrap="square" lIns="0" tIns="0" rIns="0" bIns="0" rtlCol="0" anchor="t"/>
          <a:lstStyle/>
          <a:p>
            <a:pPr algn="l" indent="0" marL="0">
              <a:lnSpc>
                <a:spcPct val="112000"/>
              </a:lnSpc>
              <a:buNone/>
            </a:pPr>
            <a:r>
              <a:rPr lang="en-US" sz="800" spc="200" kern="0" dirty="0">
                <a:solidFill>
                  <a:srgbClr val="15B6FF"/>
                </a:solidFill>
                <a:latin typeface="Plus Jakarta Sans SemiBold" pitchFamily="34" charset="0"/>
                <a:ea typeface="Plus Jakarta Sans SemiBold" pitchFamily="34" charset="-122"/>
                <a:cs typeface="Plus Jakarta Sans SemiBold" pitchFamily="34" charset="-120"/>
              </a:rPr>
              <a:t>DEMO AND SANDBOX ACCESS</a:t>
            </a:r>
            <a:endParaRPr lang="en-US" sz="800" dirty="0"/>
          </a:p>
        </p:txBody>
      </p:sp>
      <p:graphicFrame>
        <p:nvGraphicFramePr>
          <p:cNvPr id="21" name="anim-2-6"/>
          <p:cNvGraphicFramePr>
            <a:graphicFrameLocks noGrp="1"/>
          </p:cNvGraphicFramePr>
          <p:nvPr>
            <p:extLst>
              <p:ext uri="{D42A27DB-BD31-4B8C-83A1-F6EECF244321}">
                <p14:modId xmlns:p14="http://schemas.microsoft.com/office/powerpoint/2010/main" val="1579011935"/>
              </p:ext>
            </p:extLst>
          </p:nvPr>
        </p:nvGraphicFramePr>
        <p:xfrm>
          <a:off x="711200" y="1701800"/>
          <a:ext cx="4038600" cy="914400"/>
        </p:xfrm>
        <a:graphic>
          <a:graphicData uri="http://schemas.openxmlformats.org/drawingml/2006/table">
            <a:tbl>
              <a:tblPr/>
              <a:tblGrid>
                <a:gridCol w="952500"/>
                <a:gridCol w="1943100"/>
                <a:gridCol w="1143000"/>
              </a:tblGrid>
              <a:tr h="609600">
                <a:tc>
                  <a:txBody>
                    <a:bodyPr/>
                    <a:lstStyle/>
                    <a:p>
                      <a:pPr algn="l" indent="0" marL="0">
                        <a:buNone/>
                      </a:pPr>
                      <a:r>
                        <a:rPr lang="en-US" sz="800" dirty="0">
                          <a:solidFill>
                            <a:srgbClr val="FFFFFF"/>
                          </a:solidFill>
                          <a:latin typeface="Plus Jakarta Sans SemiBold" pitchFamily="34" charset="0"/>
                          <a:ea typeface="Plus Jakarta Sans SemiBold" pitchFamily="34" charset="-122"/>
                          <a:cs typeface="Plus Jakarta Sans SemiBold" pitchFamily="34" charset="-120"/>
                        </a:rPr>
                        <a:t>Level</a:t>
                      </a:r>
                      <a:endParaRPr lang="en-US" sz="800" dirty="0">
                        <a:latin typeface="Plus Jakarta Sans SemiBold" charset="0"/>
                        <a:ea typeface="Plus Jakarta Sans SemiBold" charset="0"/>
                        <a:cs typeface="Plus Jakarta Sans SemiBold" charset="0"/>
                      </a:endParaRPr>
                    </a:p>
                  </a:txBody>
                  <a:tcPr marL="101600" marR="101600" marT="38100" marB="38100" anchor="ctr">
                    <a:lnL w="0" cap="flat" cmpd="sng" algn="ctr">
                      <a:noFill/>
                    </a:lnL>
                    <a:lnR w="0" cap="flat" cmpd="sng" algn="ctr">
                      <a:noFill/>
                    </a:lnR>
                    <a:lnT w="9525" cap="flat" cmpd="sng" algn="ctr">
                      <a:solidFill>
                        <a:srgbClr val="2C3A4F"/>
                      </a:solidFill>
                      <a:prstDash val="solid"/>
                      <a:round/>
                      <a:headEnd type="none" w="med" len="med"/>
                      <a:tailEnd type="none" w="med" len="med"/>
                    </a:lnT>
                    <a:lnB w="9525" cap="flat" cmpd="sng" algn="ctr">
                      <a:solidFill>
                        <a:srgbClr val="2C3A4F"/>
                      </a:solidFill>
                      <a:prstDash val="solid"/>
                      <a:round/>
                      <a:headEnd type="none" w="med" len="med"/>
                      <a:tailEnd type="none" w="med" len="med"/>
                    </a:lnB>
                    <a:solidFill>
                      <a:srgbClr val="1E3570"/>
                    </a:solidFill>
                  </a:tcPr>
                </a:tc>
                <a:tc>
                  <a:txBody>
                    <a:bodyPr/>
                    <a:lstStyle/>
                    <a:p>
                      <a:pPr algn="l" indent="0" marL="0">
                        <a:buNone/>
                      </a:pPr>
                      <a:r>
                        <a:rPr lang="en-US" sz="800" dirty="0">
                          <a:solidFill>
                            <a:srgbClr val="FFFFFF"/>
                          </a:solidFill>
                          <a:latin typeface="Plus Jakarta Sans SemiBold" pitchFamily="34" charset="0"/>
                          <a:ea typeface="Plus Jakarta Sans SemiBold" pitchFamily="34" charset="-122"/>
                          <a:cs typeface="Plus Jakarta Sans SemiBold" pitchFamily="34" charset="-120"/>
                        </a:rPr>
                        <a:t>Access</a:t>
                      </a:r>
                      <a:endParaRPr lang="en-US" sz="800" dirty="0">
                        <a:latin typeface="Plus Jakarta Sans SemiBold" charset="0"/>
                        <a:ea typeface="Plus Jakarta Sans SemiBold" charset="0"/>
                        <a:cs typeface="Plus Jakarta Sans SemiBold" charset="0"/>
                      </a:endParaRPr>
                    </a:p>
                  </a:txBody>
                  <a:tcPr marL="101600" marR="101600" marT="38100" marB="38100" anchor="ctr">
                    <a:lnL w="0" cap="flat" cmpd="sng" algn="ctr">
                      <a:noFill/>
                    </a:lnL>
                    <a:lnR w="0" cap="flat" cmpd="sng" algn="ctr">
                      <a:noFill/>
                    </a:lnR>
                    <a:lnT w="9525" cap="flat" cmpd="sng" algn="ctr">
                      <a:solidFill>
                        <a:srgbClr val="2C3A4F"/>
                      </a:solidFill>
                      <a:prstDash val="solid"/>
                      <a:round/>
                      <a:headEnd type="none" w="med" len="med"/>
                      <a:tailEnd type="none" w="med" len="med"/>
                    </a:lnT>
                    <a:lnB w="9525" cap="flat" cmpd="sng" algn="ctr">
                      <a:solidFill>
                        <a:srgbClr val="2C3A4F"/>
                      </a:solidFill>
                      <a:prstDash val="solid"/>
                      <a:round/>
                      <a:headEnd type="none" w="med" len="med"/>
                      <a:tailEnd type="none" w="med" len="med"/>
                    </a:lnB>
                    <a:solidFill>
                      <a:srgbClr val="1E3570"/>
                    </a:solidFill>
                  </a:tcPr>
                </a:tc>
                <a:tc>
                  <a:txBody>
                    <a:bodyPr/>
                    <a:lstStyle/>
                    <a:p>
                      <a:pPr algn="l" indent="0" marL="0">
                        <a:buNone/>
                      </a:pPr>
                      <a:r>
                        <a:rPr lang="en-US" sz="800" dirty="0">
                          <a:solidFill>
                            <a:srgbClr val="FFFFFF"/>
                          </a:solidFill>
                          <a:latin typeface="Plus Jakarta Sans SemiBold" pitchFamily="34" charset="0"/>
                          <a:ea typeface="Plus Jakarta Sans SemiBold" pitchFamily="34" charset="-122"/>
                          <a:cs typeface="Plus Jakarta Sans SemiBold" pitchFamily="34" charset="-120"/>
                        </a:rPr>
                        <a:t>Value</a:t>
                      </a:r>
                      <a:endParaRPr lang="en-US" sz="800" dirty="0">
                        <a:latin typeface="Plus Jakarta Sans SemiBold" charset="0"/>
                        <a:ea typeface="Plus Jakarta Sans SemiBold" charset="0"/>
                        <a:cs typeface="Plus Jakarta Sans SemiBold" charset="0"/>
                      </a:endParaRPr>
                    </a:p>
                  </a:txBody>
                  <a:tcPr marL="101600" marR="101600" marT="38100" marB="38100" anchor="ctr">
                    <a:lnL w="0" cap="flat" cmpd="sng" algn="ctr">
                      <a:noFill/>
                    </a:lnL>
                    <a:lnR w="0" cap="flat" cmpd="sng" algn="ctr">
                      <a:noFill/>
                    </a:lnR>
                    <a:lnT w="9525" cap="flat" cmpd="sng" algn="ctr">
                      <a:solidFill>
                        <a:srgbClr val="2C3A4F"/>
                      </a:solidFill>
                      <a:prstDash val="solid"/>
                      <a:round/>
                      <a:headEnd type="none" w="med" len="med"/>
                      <a:tailEnd type="none" w="med" len="med"/>
                    </a:lnT>
                    <a:lnB w="9525" cap="flat" cmpd="sng" algn="ctr">
                      <a:solidFill>
                        <a:srgbClr val="2C3A4F"/>
                      </a:solidFill>
                      <a:prstDash val="solid"/>
                      <a:round/>
                      <a:headEnd type="none" w="med" len="med"/>
                      <a:tailEnd type="none" w="med" len="med"/>
                    </a:lnB>
                    <a:solidFill>
                      <a:srgbClr val="1E3570"/>
                    </a:solidFill>
                  </a:tcPr>
                </a:tc>
              </a:tr>
              <a:tr h="609600">
                <a:tc>
                  <a:txBody>
                    <a:bodyPr/>
                    <a:lstStyle/>
                    <a:p>
                      <a:pPr algn="l" indent="0" marL="0">
                        <a:buNone/>
                      </a:pPr>
                      <a:r>
                        <a:rPr lang="en-US" sz="850" dirty="0">
                          <a:solidFill>
                            <a:srgbClr val="FFFFFF"/>
                          </a:solidFill>
                          <a:latin typeface="Plus Jakarta Sans SemiBold" pitchFamily="34" charset="0"/>
                          <a:ea typeface="Plus Jakarta Sans SemiBold" pitchFamily="34" charset="-122"/>
                          <a:cs typeface="Plus Jakarta Sans SemiBold" pitchFamily="34" charset="-120"/>
                        </a:rPr>
                        <a:t>Registered</a:t>
                      </a:r>
                      <a:endParaRPr lang="en-US" sz="850" dirty="0">
                        <a:latin typeface="Plus Jakarta Sans SemiBold" charset="0"/>
                        <a:ea typeface="Plus Jakarta Sans SemiBold" charset="0"/>
                        <a:cs typeface="Plus Jakarta Sans SemiBold" charset="0"/>
                      </a:endParaRPr>
                    </a:p>
                  </a:txBody>
                  <a:tcPr marL="101600" marR="101600" marT="38100" marB="38100" anchor="ctr">
                    <a:lnL w="0" cap="flat" cmpd="sng" algn="ctr">
                      <a:noFill/>
                    </a:lnL>
                    <a:lnR w="0" cap="flat" cmpd="sng" algn="ctr">
                      <a:noFill/>
                    </a:lnR>
                    <a:lnT w="9525" cap="flat" cmpd="sng" algn="ctr">
                      <a:solidFill>
                        <a:srgbClr val="2C3A4F"/>
                      </a:solidFill>
                      <a:prstDash val="solid"/>
                      <a:round/>
                      <a:headEnd type="none" w="med" len="med"/>
                      <a:tailEnd type="none" w="med" len="med"/>
                    </a:lnT>
                    <a:lnB w="9525" cap="flat" cmpd="sng" algn="ctr">
                      <a:solidFill>
                        <a:srgbClr val="2C3A4F"/>
                      </a:solidFill>
                      <a:prstDash val="solid"/>
                      <a:round/>
                      <a:headEnd type="none" w="med" len="med"/>
                      <a:tailEnd type="none" w="med" len="med"/>
                    </a:lnB>
                    <a:solidFill>
                      <a:srgbClr val="182638"/>
                    </a:solidFill>
                  </a:tcPr>
                </a:tc>
                <a:tc>
                  <a:txBody>
                    <a:bodyPr/>
                    <a:lstStyle/>
                    <a:p>
                      <a:pPr algn="l" indent="0" marL="0">
                        <a:buNone/>
                      </a:pPr>
                      <a:r>
                        <a:rPr lang="en-US" sz="850" dirty="0">
                          <a:solidFill>
                            <a:srgbClr val="C3C8D1"/>
                          </a:solidFill>
                          <a:latin typeface="Plus Jakarta Sans" pitchFamily="34" charset="0"/>
                          <a:ea typeface="Plus Jakarta Sans" pitchFamily="34" charset="-122"/>
                          <a:cs typeface="Plus Jakarta Sans" pitchFamily="34" charset="-120"/>
                        </a:rPr>
                        <a:t>Limited demo environment</a:t>
                      </a:r>
                      <a:endParaRPr lang="en-US" sz="85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2C3A4F"/>
                      </a:solidFill>
                      <a:prstDash val="solid"/>
                      <a:round/>
                      <a:headEnd type="none" w="med" len="med"/>
                      <a:tailEnd type="none" w="med" len="med"/>
                    </a:lnT>
                    <a:lnB w="9525" cap="flat" cmpd="sng" algn="ctr">
                      <a:solidFill>
                        <a:srgbClr val="2C3A4F"/>
                      </a:solidFill>
                      <a:prstDash val="solid"/>
                      <a:round/>
                      <a:headEnd type="none" w="med" len="med"/>
                      <a:tailEnd type="none" w="med" len="med"/>
                    </a:lnB>
                    <a:solidFill>
                      <a:srgbClr val="182638"/>
                    </a:solidFill>
                  </a:tcPr>
                </a:tc>
                <a:tc>
                  <a:txBody>
                    <a:bodyPr/>
                    <a:lstStyle/>
                    <a:p>
                      <a:pPr algn="l" indent="0" marL="0">
                        <a:buNone/>
                      </a:pPr>
                      <a:r>
                        <a:rPr lang="en-US" sz="850" dirty="0">
                          <a:solidFill>
                            <a:srgbClr val="C3C8D1"/>
                          </a:solidFill>
                          <a:latin typeface="Plus Jakarta Sans" pitchFamily="34" charset="0"/>
                          <a:ea typeface="Plus Jakarta Sans" pitchFamily="34" charset="-122"/>
                          <a:cs typeface="Plus Jakarta Sans" pitchFamily="34" charset="-120"/>
                        </a:rPr>
                        <a:t>Up to $2,500</a:t>
                      </a:r>
                      <a:endParaRPr lang="en-US" sz="85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2C3A4F"/>
                      </a:solidFill>
                      <a:prstDash val="solid"/>
                      <a:round/>
                      <a:headEnd type="none" w="med" len="med"/>
                      <a:tailEnd type="none" w="med" len="med"/>
                    </a:lnT>
                    <a:lnB w="9525" cap="flat" cmpd="sng" algn="ctr">
                      <a:solidFill>
                        <a:srgbClr val="2C3A4F"/>
                      </a:solidFill>
                      <a:prstDash val="solid"/>
                      <a:round/>
                      <a:headEnd type="none" w="med" len="med"/>
                      <a:tailEnd type="none" w="med" len="med"/>
                    </a:lnB>
                    <a:solidFill>
                      <a:srgbClr val="182638"/>
                    </a:solidFill>
                  </a:tcPr>
                </a:tc>
              </a:tr>
              <a:tr h="609600">
                <a:tc>
                  <a:txBody>
                    <a:bodyPr/>
                    <a:lstStyle/>
                    <a:p>
                      <a:pPr algn="l" indent="0" marL="0">
                        <a:buNone/>
                      </a:pPr>
                      <a:r>
                        <a:rPr lang="en-US" sz="850" dirty="0">
                          <a:solidFill>
                            <a:srgbClr val="FFFFFF"/>
                          </a:solidFill>
                          <a:latin typeface="Plus Jakarta Sans SemiBold" pitchFamily="34" charset="0"/>
                          <a:ea typeface="Plus Jakarta Sans SemiBold" pitchFamily="34" charset="-122"/>
                          <a:cs typeface="Plus Jakarta Sans SemiBold" pitchFamily="34" charset="-120"/>
                        </a:rPr>
                        <a:t>Silver</a:t>
                      </a:r>
                      <a:endParaRPr lang="en-US" sz="850" dirty="0">
                        <a:latin typeface="Plus Jakarta Sans SemiBold" charset="0"/>
                        <a:ea typeface="Plus Jakarta Sans SemiBold" charset="0"/>
                        <a:cs typeface="Plus Jakarta Sans SemiBold" charset="0"/>
                      </a:endParaRPr>
                    </a:p>
                  </a:txBody>
                  <a:tcPr marL="101600" marR="101600" marT="38100" marB="38100" anchor="ctr">
                    <a:lnL w="0" cap="flat" cmpd="sng" algn="ctr">
                      <a:noFill/>
                    </a:lnL>
                    <a:lnR w="0" cap="flat" cmpd="sng" algn="ctr">
                      <a:noFill/>
                    </a:lnR>
                    <a:lnT w="9525" cap="flat" cmpd="sng" algn="ctr">
                      <a:solidFill>
                        <a:srgbClr val="2C3A4F"/>
                      </a:solidFill>
                      <a:prstDash val="solid"/>
                      <a:round/>
                      <a:headEnd type="none" w="med" len="med"/>
                      <a:tailEnd type="none" w="med" len="med"/>
                    </a:lnT>
                    <a:lnB w="9525" cap="flat" cmpd="sng" algn="ctr">
                      <a:solidFill>
                        <a:srgbClr val="2C3A4F"/>
                      </a:solidFill>
                      <a:prstDash val="solid"/>
                      <a:round/>
                      <a:headEnd type="none" w="med" len="med"/>
                      <a:tailEnd type="none" w="med" len="med"/>
                    </a:lnB>
                    <a:solidFill>
                      <a:srgbClr val="1D2B3E"/>
                    </a:solidFill>
                  </a:tcPr>
                </a:tc>
                <a:tc>
                  <a:txBody>
                    <a:bodyPr/>
                    <a:lstStyle/>
                    <a:p>
                      <a:pPr algn="l" indent="0" marL="0">
                        <a:buNone/>
                      </a:pPr>
                      <a:r>
                        <a:rPr lang="en-US" sz="850" dirty="0">
                          <a:solidFill>
                            <a:srgbClr val="C3C8D1"/>
                          </a:solidFill>
                          <a:latin typeface="Plus Jakarta Sans" pitchFamily="34" charset="0"/>
                          <a:ea typeface="Plus Jakarta Sans" pitchFamily="34" charset="-122"/>
                          <a:cs typeface="Plus Jakarta Sans" pitchFamily="34" charset="-120"/>
                        </a:rPr>
                        <a:t>Partner demo tenant</a:t>
                      </a:r>
                      <a:endParaRPr lang="en-US" sz="85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2C3A4F"/>
                      </a:solidFill>
                      <a:prstDash val="solid"/>
                      <a:round/>
                      <a:headEnd type="none" w="med" len="med"/>
                      <a:tailEnd type="none" w="med" len="med"/>
                    </a:lnT>
                    <a:lnB w="9525" cap="flat" cmpd="sng" algn="ctr">
                      <a:solidFill>
                        <a:srgbClr val="2C3A4F"/>
                      </a:solidFill>
                      <a:prstDash val="solid"/>
                      <a:round/>
                      <a:headEnd type="none" w="med" len="med"/>
                      <a:tailEnd type="none" w="med" len="med"/>
                    </a:lnB>
                    <a:solidFill>
                      <a:srgbClr val="1D2B3E"/>
                    </a:solidFill>
                  </a:tcPr>
                </a:tc>
                <a:tc>
                  <a:txBody>
                    <a:bodyPr/>
                    <a:lstStyle/>
                    <a:p>
                      <a:pPr algn="l" indent="0" marL="0">
                        <a:buNone/>
                      </a:pPr>
                      <a:r>
                        <a:rPr lang="en-US" sz="850" dirty="0">
                          <a:solidFill>
                            <a:srgbClr val="C3C8D1"/>
                          </a:solidFill>
                          <a:latin typeface="Plus Jakarta Sans" pitchFamily="34" charset="0"/>
                          <a:ea typeface="Plus Jakarta Sans" pitchFamily="34" charset="-122"/>
                          <a:cs typeface="Plus Jakarta Sans" pitchFamily="34" charset="-120"/>
                        </a:rPr>
                        <a:t>Up to $5,000</a:t>
                      </a:r>
                      <a:endParaRPr lang="en-US" sz="85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2C3A4F"/>
                      </a:solidFill>
                      <a:prstDash val="solid"/>
                      <a:round/>
                      <a:headEnd type="none" w="med" len="med"/>
                      <a:tailEnd type="none" w="med" len="med"/>
                    </a:lnT>
                    <a:lnB w="9525" cap="flat" cmpd="sng" algn="ctr">
                      <a:solidFill>
                        <a:srgbClr val="2C3A4F"/>
                      </a:solidFill>
                      <a:prstDash val="solid"/>
                      <a:round/>
                      <a:headEnd type="none" w="med" len="med"/>
                      <a:tailEnd type="none" w="med" len="med"/>
                    </a:lnB>
                    <a:solidFill>
                      <a:srgbClr val="1D2B3E"/>
                    </a:solidFill>
                  </a:tcPr>
                </a:tc>
              </a:tr>
              <a:tr h="609600">
                <a:tc>
                  <a:txBody>
                    <a:bodyPr/>
                    <a:lstStyle/>
                    <a:p>
                      <a:pPr algn="l" indent="0" marL="0">
                        <a:buNone/>
                      </a:pPr>
                      <a:r>
                        <a:rPr lang="en-US" sz="850" dirty="0">
                          <a:solidFill>
                            <a:srgbClr val="FFFFFF"/>
                          </a:solidFill>
                          <a:latin typeface="Plus Jakarta Sans SemiBold" pitchFamily="34" charset="0"/>
                          <a:ea typeface="Plus Jakarta Sans SemiBold" pitchFamily="34" charset="-122"/>
                          <a:cs typeface="Plus Jakarta Sans SemiBold" pitchFamily="34" charset="-120"/>
                        </a:rPr>
                        <a:t>Gold</a:t>
                      </a:r>
                      <a:endParaRPr lang="en-US" sz="850" dirty="0">
                        <a:latin typeface="Plus Jakarta Sans SemiBold" charset="0"/>
                        <a:ea typeface="Plus Jakarta Sans SemiBold" charset="0"/>
                        <a:cs typeface="Plus Jakarta Sans SemiBold" charset="0"/>
                      </a:endParaRPr>
                    </a:p>
                  </a:txBody>
                  <a:tcPr marL="101600" marR="101600" marT="38100" marB="38100" anchor="ctr">
                    <a:lnL w="0" cap="flat" cmpd="sng" algn="ctr">
                      <a:noFill/>
                    </a:lnL>
                    <a:lnR w="0" cap="flat" cmpd="sng" algn="ctr">
                      <a:noFill/>
                    </a:lnR>
                    <a:lnT w="9525" cap="flat" cmpd="sng" algn="ctr">
                      <a:solidFill>
                        <a:srgbClr val="2C3A4F"/>
                      </a:solidFill>
                      <a:prstDash val="solid"/>
                      <a:round/>
                      <a:headEnd type="none" w="med" len="med"/>
                      <a:tailEnd type="none" w="med" len="med"/>
                    </a:lnT>
                    <a:lnB w="9525" cap="flat" cmpd="sng" algn="ctr">
                      <a:solidFill>
                        <a:srgbClr val="2C3A4F"/>
                      </a:solidFill>
                      <a:prstDash val="solid"/>
                      <a:round/>
                      <a:headEnd type="none" w="med" len="med"/>
                      <a:tailEnd type="none" w="med" len="med"/>
                    </a:lnB>
                    <a:solidFill>
                      <a:srgbClr val="182638"/>
                    </a:solidFill>
                  </a:tcPr>
                </a:tc>
                <a:tc>
                  <a:txBody>
                    <a:bodyPr/>
                    <a:lstStyle/>
                    <a:p>
                      <a:pPr algn="l" indent="0" marL="0">
                        <a:buNone/>
                      </a:pPr>
                      <a:r>
                        <a:rPr lang="en-US" sz="850" dirty="0">
                          <a:solidFill>
                            <a:srgbClr val="C3C8D1"/>
                          </a:solidFill>
                          <a:latin typeface="Plus Jakarta Sans" pitchFamily="34" charset="0"/>
                          <a:ea typeface="Plus Jakarta Sans" pitchFamily="34" charset="-122"/>
                          <a:cs typeface="Plus Jakarta Sans" pitchFamily="34" charset="-120"/>
                        </a:rPr>
                        <a:t>Demo + pilot toolkit</a:t>
                      </a:r>
                      <a:endParaRPr lang="en-US" sz="85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2C3A4F"/>
                      </a:solidFill>
                      <a:prstDash val="solid"/>
                      <a:round/>
                      <a:headEnd type="none" w="med" len="med"/>
                      <a:tailEnd type="none" w="med" len="med"/>
                    </a:lnT>
                    <a:lnB w="9525" cap="flat" cmpd="sng" algn="ctr">
                      <a:solidFill>
                        <a:srgbClr val="2C3A4F"/>
                      </a:solidFill>
                      <a:prstDash val="solid"/>
                      <a:round/>
                      <a:headEnd type="none" w="med" len="med"/>
                      <a:tailEnd type="none" w="med" len="med"/>
                    </a:lnB>
                    <a:solidFill>
                      <a:srgbClr val="182638"/>
                    </a:solidFill>
                  </a:tcPr>
                </a:tc>
                <a:tc>
                  <a:txBody>
                    <a:bodyPr/>
                    <a:lstStyle/>
                    <a:p>
                      <a:pPr algn="l" indent="0" marL="0">
                        <a:buNone/>
                      </a:pPr>
                      <a:r>
                        <a:rPr lang="en-US" sz="850" dirty="0">
                          <a:solidFill>
                            <a:srgbClr val="C3C8D1"/>
                          </a:solidFill>
                          <a:latin typeface="Plus Jakarta Sans" pitchFamily="34" charset="0"/>
                          <a:ea typeface="Plus Jakarta Sans" pitchFamily="34" charset="-122"/>
                          <a:cs typeface="Plus Jakarta Sans" pitchFamily="34" charset="-120"/>
                        </a:rPr>
                        <a:t>Up to $10,000</a:t>
                      </a:r>
                      <a:endParaRPr lang="en-US" sz="85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2C3A4F"/>
                      </a:solidFill>
                      <a:prstDash val="solid"/>
                      <a:round/>
                      <a:headEnd type="none" w="med" len="med"/>
                      <a:tailEnd type="none" w="med" len="med"/>
                    </a:lnT>
                    <a:lnB w="9525" cap="flat" cmpd="sng" algn="ctr">
                      <a:solidFill>
                        <a:srgbClr val="2C3A4F"/>
                      </a:solidFill>
                      <a:prstDash val="solid"/>
                      <a:round/>
                      <a:headEnd type="none" w="med" len="med"/>
                      <a:tailEnd type="none" w="med" len="med"/>
                    </a:lnB>
                    <a:solidFill>
                      <a:srgbClr val="182638"/>
                    </a:solidFill>
                  </a:tcPr>
                </a:tc>
              </a:tr>
              <a:tr h="609600">
                <a:tc>
                  <a:txBody>
                    <a:bodyPr/>
                    <a:lstStyle/>
                    <a:p>
                      <a:pPr algn="l" indent="0" marL="0">
                        <a:buNone/>
                      </a:pPr>
                      <a:r>
                        <a:rPr lang="en-US" sz="850" dirty="0">
                          <a:solidFill>
                            <a:srgbClr val="FFFFFF"/>
                          </a:solidFill>
                          <a:latin typeface="Plus Jakarta Sans SemiBold" pitchFamily="34" charset="0"/>
                          <a:ea typeface="Plus Jakarta Sans SemiBold" pitchFamily="34" charset="-122"/>
                          <a:cs typeface="Plus Jakarta Sans SemiBold" pitchFamily="34" charset="-120"/>
                        </a:rPr>
                        <a:t>Platinum</a:t>
                      </a:r>
                      <a:endParaRPr lang="en-US" sz="850" dirty="0">
                        <a:latin typeface="Plus Jakarta Sans SemiBold" charset="0"/>
                        <a:ea typeface="Plus Jakarta Sans SemiBold" charset="0"/>
                        <a:cs typeface="Plus Jakarta Sans SemiBold" charset="0"/>
                      </a:endParaRPr>
                    </a:p>
                  </a:txBody>
                  <a:tcPr marL="101600" marR="101600" marT="38100" marB="38100" anchor="ctr">
                    <a:lnL w="0" cap="flat" cmpd="sng" algn="ctr">
                      <a:noFill/>
                    </a:lnL>
                    <a:lnR w="0" cap="flat" cmpd="sng" algn="ctr">
                      <a:noFill/>
                    </a:lnR>
                    <a:lnT w="9525" cap="flat" cmpd="sng" algn="ctr">
                      <a:solidFill>
                        <a:srgbClr val="2C3A4F"/>
                      </a:solidFill>
                      <a:prstDash val="solid"/>
                      <a:round/>
                      <a:headEnd type="none" w="med" len="med"/>
                      <a:tailEnd type="none" w="med" len="med"/>
                    </a:lnT>
                    <a:lnB w="9525" cap="flat" cmpd="sng" algn="ctr">
                      <a:solidFill>
                        <a:srgbClr val="2C3A4F"/>
                      </a:solidFill>
                      <a:prstDash val="solid"/>
                      <a:round/>
                      <a:headEnd type="none" w="med" len="med"/>
                      <a:tailEnd type="none" w="med" len="med"/>
                    </a:lnB>
                    <a:solidFill>
                      <a:srgbClr val="1D2B3E"/>
                    </a:solidFill>
                  </a:tcPr>
                </a:tc>
                <a:tc>
                  <a:txBody>
                    <a:bodyPr/>
                    <a:lstStyle/>
                    <a:p>
                      <a:pPr algn="l" indent="0" marL="0">
                        <a:buNone/>
                      </a:pPr>
                      <a:r>
                        <a:rPr lang="en-US" sz="850" dirty="0">
                          <a:solidFill>
                            <a:srgbClr val="C3C8D1"/>
                          </a:solidFill>
                          <a:latin typeface="Plus Jakarta Sans" pitchFamily="34" charset="0"/>
                          <a:ea typeface="Plus Jakarta Sans" pitchFamily="34" charset="-122"/>
                          <a:cs typeface="Plus Jakarta Sans" pitchFamily="34" charset="-120"/>
                        </a:rPr>
                        <a:t>Advanced demo + integration sandbox</a:t>
                      </a:r>
                      <a:endParaRPr lang="en-US" sz="85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2C3A4F"/>
                      </a:solidFill>
                      <a:prstDash val="solid"/>
                      <a:round/>
                      <a:headEnd type="none" w="med" len="med"/>
                      <a:tailEnd type="none" w="med" len="med"/>
                    </a:lnT>
                    <a:lnB w="9525" cap="flat" cmpd="sng" algn="ctr">
                      <a:solidFill>
                        <a:srgbClr val="2C3A4F"/>
                      </a:solidFill>
                      <a:prstDash val="solid"/>
                      <a:round/>
                      <a:headEnd type="none" w="med" len="med"/>
                      <a:tailEnd type="none" w="med" len="med"/>
                    </a:lnB>
                    <a:solidFill>
                      <a:srgbClr val="1D2B3E"/>
                    </a:solidFill>
                  </a:tcPr>
                </a:tc>
                <a:tc>
                  <a:txBody>
                    <a:bodyPr/>
                    <a:lstStyle/>
                    <a:p>
                      <a:pPr algn="l" indent="0" marL="0">
                        <a:buNone/>
                      </a:pPr>
                      <a:r>
                        <a:rPr lang="en-US" sz="850" dirty="0">
                          <a:solidFill>
                            <a:srgbClr val="C3C8D1"/>
                          </a:solidFill>
                          <a:latin typeface="Plus Jakarta Sans" pitchFamily="34" charset="0"/>
                          <a:ea typeface="Plus Jakarta Sans" pitchFamily="34" charset="-122"/>
                          <a:cs typeface="Plus Jakarta Sans" pitchFamily="34" charset="-120"/>
                        </a:rPr>
                        <a:t>Up to $25,000</a:t>
                      </a:r>
                      <a:endParaRPr lang="en-US" sz="85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2C3A4F"/>
                      </a:solidFill>
                      <a:prstDash val="solid"/>
                      <a:round/>
                      <a:headEnd type="none" w="med" len="med"/>
                      <a:tailEnd type="none" w="med" len="med"/>
                    </a:lnT>
                    <a:lnB w="9525" cap="flat" cmpd="sng" algn="ctr">
                      <a:solidFill>
                        <a:srgbClr val="2C3A4F"/>
                      </a:solidFill>
                      <a:prstDash val="solid"/>
                      <a:round/>
                      <a:headEnd type="none" w="med" len="med"/>
                      <a:tailEnd type="none" w="med" len="med"/>
                    </a:lnB>
                    <a:solidFill>
                      <a:srgbClr val="1D2B3E"/>
                    </a:solidFill>
                  </a:tcPr>
                </a:tc>
              </a:tr>
              <a:tr h="609600">
                <a:tc>
                  <a:txBody>
                    <a:bodyPr/>
                    <a:lstStyle/>
                    <a:p>
                      <a:pPr algn="l" indent="0" marL="0">
                        <a:buNone/>
                      </a:pPr>
                      <a:r>
                        <a:rPr lang="en-US" sz="850" dirty="0">
                          <a:solidFill>
                            <a:srgbClr val="FFFFFF"/>
                          </a:solidFill>
                          <a:latin typeface="Plus Jakarta Sans SemiBold" pitchFamily="34" charset="0"/>
                          <a:ea typeface="Plus Jakarta Sans SemiBold" pitchFamily="34" charset="-122"/>
                          <a:cs typeface="Plus Jakarta Sans SemiBold" pitchFamily="34" charset="-120"/>
                        </a:rPr>
                        <a:t>Elite</a:t>
                      </a:r>
                      <a:endParaRPr lang="en-US" sz="850" dirty="0">
                        <a:latin typeface="Plus Jakarta Sans SemiBold" charset="0"/>
                        <a:ea typeface="Plus Jakarta Sans SemiBold" charset="0"/>
                        <a:cs typeface="Plus Jakarta Sans SemiBold" charset="0"/>
                      </a:endParaRPr>
                    </a:p>
                  </a:txBody>
                  <a:tcPr marL="101600" marR="101600" marT="38100" marB="38100" anchor="ctr">
                    <a:lnL w="0" cap="flat" cmpd="sng" algn="ctr">
                      <a:noFill/>
                    </a:lnL>
                    <a:lnR w="0" cap="flat" cmpd="sng" algn="ctr">
                      <a:noFill/>
                    </a:lnR>
                    <a:lnT w="9525" cap="flat" cmpd="sng" algn="ctr">
                      <a:solidFill>
                        <a:srgbClr val="2C3A4F"/>
                      </a:solidFill>
                      <a:prstDash val="solid"/>
                      <a:round/>
                      <a:headEnd type="none" w="med" len="med"/>
                      <a:tailEnd type="none" w="med" len="med"/>
                    </a:lnT>
                    <a:lnB w="9525" cap="flat" cmpd="sng" algn="ctr">
                      <a:solidFill>
                        <a:srgbClr val="2C3A4F"/>
                      </a:solidFill>
                      <a:prstDash val="solid"/>
                      <a:round/>
                      <a:headEnd type="none" w="med" len="med"/>
                      <a:tailEnd type="none" w="med" len="med"/>
                    </a:lnB>
                    <a:solidFill>
                      <a:srgbClr val="182638"/>
                    </a:solidFill>
                  </a:tcPr>
                </a:tc>
                <a:tc>
                  <a:txBody>
                    <a:bodyPr/>
                    <a:lstStyle/>
                    <a:p>
                      <a:pPr algn="l" indent="0" marL="0">
                        <a:buNone/>
                      </a:pPr>
                      <a:r>
                        <a:rPr lang="en-US" sz="850" dirty="0">
                          <a:solidFill>
                            <a:srgbClr val="C3C8D1"/>
                          </a:solidFill>
                          <a:latin typeface="Plus Jakarta Sans" pitchFamily="34" charset="0"/>
                          <a:ea typeface="Plus Jakarta Sans" pitchFamily="34" charset="-122"/>
                          <a:cs typeface="Plus Jakarta Sans" pitchFamily="34" charset="-120"/>
                        </a:rPr>
                        <a:t>Strategic lab / multi-country demo</a:t>
                      </a:r>
                      <a:endParaRPr lang="en-US" sz="85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2C3A4F"/>
                      </a:solidFill>
                      <a:prstDash val="solid"/>
                      <a:round/>
                      <a:headEnd type="none" w="med" len="med"/>
                      <a:tailEnd type="none" w="med" len="med"/>
                    </a:lnT>
                    <a:lnB w="9525" cap="flat" cmpd="sng" algn="ctr">
                      <a:solidFill>
                        <a:srgbClr val="2C3A4F"/>
                      </a:solidFill>
                      <a:prstDash val="solid"/>
                      <a:round/>
                      <a:headEnd type="none" w="med" len="med"/>
                      <a:tailEnd type="none" w="med" len="med"/>
                    </a:lnB>
                    <a:solidFill>
                      <a:srgbClr val="182638"/>
                    </a:solidFill>
                  </a:tcPr>
                </a:tc>
                <a:tc>
                  <a:txBody>
                    <a:bodyPr/>
                    <a:lstStyle/>
                    <a:p>
                      <a:pPr algn="l" indent="0" marL="0">
                        <a:buNone/>
                      </a:pPr>
                      <a:r>
                        <a:rPr lang="en-US" sz="850" dirty="0">
                          <a:solidFill>
                            <a:srgbClr val="C3C8D1"/>
                          </a:solidFill>
                          <a:latin typeface="Plus Jakarta Sans" pitchFamily="34" charset="0"/>
                          <a:ea typeface="Plus Jakarta Sans" pitchFamily="34" charset="-122"/>
                          <a:cs typeface="Plus Jakarta Sans" pitchFamily="34" charset="-120"/>
                        </a:rPr>
                        <a:t>Up to $50,000</a:t>
                      </a:r>
                      <a:endParaRPr lang="en-US" sz="85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2C3A4F"/>
                      </a:solidFill>
                      <a:prstDash val="solid"/>
                      <a:round/>
                      <a:headEnd type="none" w="med" len="med"/>
                      <a:tailEnd type="none" w="med" len="med"/>
                    </a:lnT>
                    <a:lnB w="9525" cap="flat" cmpd="sng" algn="ctr">
                      <a:solidFill>
                        <a:srgbClr val="2C3A4F"/>
                      </a:solidFill>
                      <a:prstDash val="solid"/>
                      <a:round/>
                      <a:headEnd type="none" w="med" len="med"/>
                      <a:tailEnd type="none" w="med" len="med"/>
                    </a:lnB>
                    <a:solidFill>
                      <a:srgbClr val="182638"/>
                    </a:solidFill>
                  </a:tcPr>
                </a:tc>
              </a:tr>
            </a:tbl>
          </a:graphicData>
        </a:graphic>
      </p:graphicFrame>
      <p:sp>
        <p:nvSpPr>
          <p:cNvPr id="11" name="anim-3-7"/>
          <p:cNvSpPr/>
          <p:nvPr/>
        </p:nvSpPr>
        <p:spPr>
          <a:xfrm>
            <a:off x="5105400" y="1308100"/>
            <a:ext cx="6578600" cy="4203700"/>
          </a:xfrm>
          <a:prstGeom prst="roundRect">
            <a:avLst>
              <a:gd name="adj" fmla="val 6042"/>
            </a:avLst>
          </a:prstGeom>
          <a:solidFill>
            <a:srgbClr val="FFFFFF">
              <a:alpha val="5000"/>
            </a:srgbClr>
          </a:solidFill>
          <a:ln w="9525">
            <a:solidFill>
              <a:srgbClr val="FFFFFF">
                <a:alpha val="12000"/>
              </a:srgbClr>
            </a:solidFill>
            <a:prstDash val="solid"/>
          </a:ln>
        </p:spPr>
      </p:sp>
      <p:sp>
        <p:nvSpPr>
          <p:cNvPr id="12" name="anim-3-8"/>
          <p:cNvSpPr txBox="1"/>
          <p:nvPr/>
        </p:nvSpPr>
        <p:spPr>
          <a:xfrm>
            <a:off x="5308600" y="1460500"/>
            <a:ext cx="5715000" cy="165100"/>
          </a:xfrm>
          <a:prstGeom prst="rect">
            <a:avLst/>
          </a:prstGeom>
          <a:noFill/>
          <a:ln/>
        </p:spPr>
        <p:txBody>
          <a:bodyPr wrap="square" lIns="0" tIns="0" rIns="0" bIns="0" rtlCol="0" anchor="t"/>
          <a:lstStyle/>
          <a:p>
            <a:pPr algn="l" indent="0" marL="0">
              <a:lnSpc>
                <a:spcPct val="112000"/>
              </a:lnSpc>
              <a:buNone/>
            </a:pPr>
            <a:r>
              <a:rPr lang="en-US" sz="800" spc="200" kern="0" dirty="0">
                <a:solidFill>
                  <a:srgbClr val="15B6FF"/>
                </a:solidFill>
                <a:latin typeface="Plus Jakarta Sans SemiBold" pitchFamily="34" charset="0"/>
                <a:ea typeface="Plus Jakarta Sans SemiBold" pitchFamily="34" charset="-122"/>
                <a:cs typeface="Plus Jakarta Sans SemiBold" pitchFamily="34" charset="-120"/>
              </a:rPr>
              <a:t>SUPPORT BENEFITS</a:t>
            </a:r>
            <a:endParaRPr lang="en-US" sz="800" dirty="0"/>
          </a:p>
        </p:txBody>
      </p:sp>
      <p:graphicFrame>
        <p:nvGraphicFramePr>
          <p:cNvPr id="41" name="anim-3-9"/>
          <p:cNvGraphicFramePr>
            <a:graphicFrameLocks noGrp="1"/>
          </p:cNvGraphicFramePr>
          <p:nvPr>
            <p:extLst>
              <p:ext uri="{D42A27DB-BD31-4B8C-83A1-F6EECF244321}">
                <p14:modId xmlns:p14="http://schemas.microsoft.com/office/powerpoint/2010/main" val="1579011935"/>
              </p:ext>
            </p:extLst>
          </p:nvPr>
        </p:nvGraphicFramePr>
        <p:xfrm>
          <a:off x="5308600" y="1701800"/>
          <a:ext cx="6172200" cy="914400"/>
        </p:xfrm>
        <a:graphic>
          <a:graphicData uri="http://schemas.openxmlformats.org/drawingml/2006/table">
            <a:tbl>
              <a:tblPr/>
              <a:tblGrid>
                <a:gridCol w="2108200"/>
                <a:gridCol w="698500"/>
                <a:gridCol w="762000"/>
                <a:gridCol w="762000"/>
                <a:gridCol w="889000"/>
                <a:gridCol w="952500"/>
              </a:tblGrid>
              <a:tr h="457200">
                <a:tc>
                  <a:txBody>
                    <a:bodyPr/>
                    <a:lstStyle/>
                    <a:p>
                      <a:pPr algn="l" indent="0" marL="0">
                        <a:buNone/>
                      </a:pPr>
                      <a:r>
                        <a:rPr lang="en-US" sz="800" dirty="0">
                          <a:solidFill>
                            <a:srgbClr val="FFFFFF"/>
                          </a:solidFill>
                          <a:latin typeface="Plus Jakarta Sans SemiBold" pitchFamily="34" charset="0"/>
                          <a:ea typeface="Plus Jakarta Sans SemiBold" pitchFamily="34" charset="-122"/>
                          <a:cs typeface="Plus Jakarta Sans SemiBold" pitchFamily="34" charset="-120"/>
                        </a:rPr>
                        <a:t>Support benefit</a:t>
                      </a:r>
                      <a:endParaRPr lang="en-US" sz="800" dirty="0">
                        <a:latin typeface="Plus Jakarta Sans SemiBold" charset="0"/>
                        <a:ea typeface="Plus Jakarta Sans SemiBold" charset="0"/>
                        <a:cs typeface="Plus Jakarta Sans SemiBold" charset="0"/>
                      </a:endParaRPr>
                    </a:p>
                  </a:txBody>
                  <a:tcPr marL="101600" marR="101600" marT="38100" marB="38100" anchor="ctr">
                    <a:lnL w="0" cap="flat" cmpd="sng" algn="ctr">
                      <a:noFill/>
                    </a:lnL>
                    <a:lnR w="0" cap="flat" cmpd="sng" algn="ctr">
                      <a:noFill/>
                    </a:lnR>
                    <a:lnT w="9525" cap="flat" cmpd="sng" algn="ctr">
                      <a:solidFill>
                        <a:srgbClr val="2C3A4F"/>
                      </a:solidFill>
                      <a:prstDash val="solid"/>
                      <a:round/>
                      <a:headEnd type="none" w="med" len="med"/>
                      <a:tailEnd type="none" w="med" len="med"/>
                    </a:lnT>
                    <a:lnB w="9525" cap="flat" cmpd="sng" algn="ctr">
                      <a:solidFill>
                        <a:srgbClr val="2C3A4F"/>
                      </a:solidFill>
                      <a:prstDash val="solid"/>
                      <a:round/>
                      <a:headEnd type="none" w="med" len="med"/>
                      <a:tailEnd type="none" w="med" len="med"/>
                    </a:lnB>
                    <a:solidFill>
                      <a:srgbClr val="1E3570"/>
                    </a:solidFill>
                  </a:tcPr>
                </a:tc>
                <a:tc>
                  <a:txBody>
                    <a:bodyPr/>
                    <a:lstStyle/>
                    <a:p>
                      <a:pPr algn="ctr" indent="0" marL="0">
                        <a:buNone/>
                      </a:pPr>
                      <a:r>
                        <a:rPr lang="en-US" sz="800" dirty="0">
                          <a:solidFill>
                            <a:srgbClr val="FFFFFF"/>
                          </a:solidFill>
                          <a:latin typeface="Plus Jakarta Sans SemiBold" pitchFamily="34" charset="0"/>
                          <a:ea typeface="Plus Jakarta Sans SemiBold" pitchFamily="34" charset="-122"/>
                          <a:cs typeface="Plus Jakarta Sans SemiBold" pitchFamily="34" charset="-120"/>
                        </a:rPr>
                        <a:t>Reg.</a:t>
                      </a:r>
                      <a:endParaRPr lang="en-US" sz="800" dirty="0">
                        <a:latin typeface="Plus Jakarta Sans SemiBold" charset="0"/>
                        <a:ea typeface="Plus Jakarta Sans SemiBold" charset="0"/>
                        <a:cs typeface="Plus Jakarta Sans SemiBold" charset="0"/>
                      </a:endParaRPr>
                    </a:p>
                  </a:txBody>
                  <a:tcPr marL="101600" marR="101600" marT="38100" marB="38100" anchor="ctr">
                    <a:lnL w="0" cap="flat" cmpd="sng" algn="ctr">
                      <a:noFill/>
                    </a:lnL>
                    <a:lnR w="0" cap="flat" cmpd="sng" algn="ctr">
                      <a:noFill/>
                    </a:lnR>
                    <a:lnT w="9525" cap="flat" cmpd="sng" algn="ctr">
                      <a:solidFill>
                        <a:srgbClr val="2C3A4F"/>
                      </a:solidFill>
                      <a:prstDash val="solid"/>
                      <a:round/>
                      <a:headEnd type="none" w="med" len="med"/>
                      <a:tailEnd type="none" w="med" len="med"/>
                    </a:lnT>
                    <a:lnB w="9525" cap="flat" cmpd="sng" algn="ctr">
                      <a:solidFill>
                        <a:srgbClr val="2C3A4F"/>
                      </a:solidFill>
                      <a:prstDash val="solid"/>
                      <a:round/>
                      <a:headEnd type="none" w="med" len="med"/>
                      <a:tailEnd type="none" w="med" len="med"/>
                    </a:lnB>
                    <a:solidFill>
                      <a:srgbClr val="1E3570"/>
                    </a:solidFill>
                  </a:tcPr>
                </a:tc>
                <a:tc>
                  <a:txBody>
                    <a:bodyPr/>
                    <a:lstStyle/>
                    <a:p>
                      <a:pPr algn="ctr" indent="0" marL="0">
                        <a:buNone/>
                      </a:pPr>
                      <a:r>
                        <a:rPr lang="en-US" sz="800" dirty="0">
                          <a:solidFill>
                            <a:srgbClr val="FFFFFF"/>
                          </a:solidFill>
                          <a:latin typeface="Plus Jakarta Sans SemiBold" pitchFamily="34" charset="0"/>
                          <a:ea typeface="Plus Jakarta Sans SemiBold" pitchFamily="34" charset="-122"/>
                          <a:cs typeface="Plus Jakarta Sans SemiBold" pitchFamily="34" charset="-120"/>
                        </a:rPr>
                        <a:t>Silver</a:t>
                      </a:r>
                      <a:endParaRPr lang="en-US" sz="800" dirty="0">
                        <a:latin typeface="Plus Jakarta Sans SemiBold" charset="0"/>
                        <a:ea typeface="Plus Jakarta Sans SemiBold" charset="0"/>
                        <a:cs typeface="Plus Jakarta Sans SemiBold" charset="0"/>
                      </a:endParaRPr>
                    </a:p>
                  </a:txBody>
                  <a:tcPr marL="101600" marR="101600" marT="38100" marB="38100" anchor="ctr">
                    <a:lnL w="0" cap="flat" cmpd="sng" algn="ctr">
                      <a:noFill/>
                    </a:lnL>
                    <a:lnR w="0" cap="flat" cmpd="sng" algn="ctr">
                      <a:noFill/>
                    </a:lnR>
                    <a:lnT w="9525" cap="flat" cmpd="sng" algn="ctr">
                      <a:solidFill>
                        <a:srgbClr val="2C3A4F"/>
                      </a:solidFill>
                      <a:prstDash val="solid"/>
                      <a:round/>
                      <a:headEnd type="none" w="med" len="med"/>
                      <a:tailEnd type="none" w="med" len="med"/>
                    </a:lnT>
                    <a:lnB w="9525" cap="flat" cmpd="sng" algn="ctr">
                      <a:solidFill>
                        <a:srgbClr val="2C3A4F"/>
                      </a:solidFill>
                      <a:prstDash val="solid"/>
                      <a:round/>
                      <a:headEnd type="none" w="med" len="med"/>
                      <a:tailEnd type="none" w="med" len="med"/>
                    </a:lnB>
                    <a:solidFill>
                      <a:srgbClr val="1E3570"/>
                    </a:solidFill>
                  </a:tcPr>
                </a:tc>
                <a:tc>
                  <a:txBody>
                    <a:bodyPr/>
                    <a:lstStyle/>
                    <a:p>
                      <a:pPr algn="ctr" indent="0" marL="0">
                        <a:buNone/>
                      </a:pPr>
                      <a:r>
                        <a:rPr lang="en-US" sz="800" dirty="0">
                          <a:solidFill>
                            <a:srgbClr val="FFFFFF"/>
                          </a:solidFill>
                          <a:latin typeface="Plus Jakarta Sans SemiBold" pitchFamily="34" charset="0"/>
                          <a:ea typeface="Plus Jakarta Sans SemiBold" pitchFamily="34" charset="-122"/>
                          <a:cs typeface="Plus Jakarta Sans SemiBold" pitchFamily="34" charset="-120"/>
                        </a:rPr>
                        <a:t>Gold</a:t>
                      </a:r>
                      <a:endParaRPr lang="en-US" sz="800" dirty="0">
                        <a:latin typeface="Plus Jakarta Sans SemiBold" charset="0"/>
                        <a:ea typeface="Plus Jakarta Sans SemiBold" charset="0"/>
                        <a:cs typeface="Plus Jakarta Sans SemiBold" charset="0"/>
                      </a:endParaRPr>
                    </a:p>
                  </a:txBody>
                  <a:tcPr marL="101600" marR="101600" marT="38100" marB="38100" anchor="ctr">
                    <a:lnL w="0" cap="flat" cmpd="sng" algn="ctr">
                      <a:noFill/>
                    </a:lnL>
                    <a:lnR w="0" cap="flat" cmpd="sng" algn="ctr">
                      <a:noFill/>
                    </a:lnR>
                    <a:lnT w="9525" cap="flat" cmpd="sng" algn="ctr">
                      <a:solidFill>
                        <a:srgbClr val="2C3A4F"/>
                      </a:solidFill>
                      <a:prstDash val="solid"/>
                      <a:round/>
                      <a:headEnd type="none" w="med" len="med"/>
                      <a:tailEnd type="none" w="med" len="med"/>
                    </a:lnT>
                    <a:lnB w="9525" cap="flat" cmpd="sng" algn="ctr">
                      <a:solidFill>
                        <a:srgbClr val="2C3A4F"/>
                      </a:solidFill>
                      <a:prstDash val="solid"/>
                      <a:round/>
                      <a:headEnd type="none" w="med" len="med"/>
                      <a:tailEnd type="none" w="med" len="med"/>
                    </a:lnB>
                    <a:solidFill>
                      <a:srgbClr val="1E3570"/>
                    </a:solidFill>
                  </a:tcPr>
                </a:tc>
                <a:tc>
                  <a:txBody>
                    <a:bodyPr/>
                    <a:lstStyle/>
                    <a:p>
                      <a:pPr algn="ctr" indent="0" marL="0">
                        <a:buNone/>
                      </a:pPr>
                      <a:r>
                        <a:rPr lang="en-US" sz="800" dirty="0">
                          <a:solidFill>
                            <a:srgbClr val="FFFFFF"/>
                          </a:solidFill>
                          <a:latin typeface="Plus Jakarta Sans SemiBold" pitchFamily="34" charset="0"/>
                          <a:ea typeface="Plus Jakarta Sans SemiBold" pitchFamily="34" charset="-122"/>
                          <a:cs typeface="Plus Jakarta Sans SemiBold" pitchFamily="34" charset="-120"/>
                        </a:rPr>
                        <a:t>Plat.</a:t>
                      </a:r>
                      <a:endParaRPr lang="en-US" sz="800" dirty="0">
                        <a:latin typeface="Plus Jakarta Sans SemiBold" charset="0"/>
                        <a:ea typeface="Plus Jakarta Sans SemiBold" charset="0"/>
                        <a:cs typeface="Plus Jakarta Sans SemiBold" charset="0"/>
                      </a:endParaRPr>
                    </a:p>
                  </a:txBody>
                  <a:tcPr marL="101600" marR="101600" marT="38100" marB="38100" anchor="ctr">
                    <a:lnL w="0" cap="flat" cmpd="sng" algn="ctr">
                      <a:noFill/>
                    </a:lnL>
                    <a:lnR w="0" cap="flat" cmpd="sng" algn="ctr">
                      <a:noFill/>
                    </a:lnR>
                    <a:lnT w="9525" cap="flat" cmpd="sng" algn="ctr">
                      <a:solidFill>
                        <a:srgbClr val="2C3A4F"/>
                      </a:solidFill>
                      <a:prstDash val="solid"/>
                      <a:round/>
                      <a:headEnd type="none" w="med" len="med"/>
                      <a:tailEnd type="none" w="med" len="med"/>
                    </a:lnT>
                    <a:lnB w="9525" cap="flat" cmpd="sng" algn="ctr">
                      <a:solidFill>
                        <a:srgbClr val="2C3A4F"/>
                      </a:solidFill>
                      <a:prstDash val="solid"/>
                      <a:round/>
                      <a:headEnd type="none" w="med" len="med"/>
                      <a:tailEnd type="none" w="med" len="med"/>
                    </a:lnB>
                    <a:solidFill>
                      <a:srgbClr val="1E3570"/>
                    </a:solidFill>
                  </a:tcPr>
                </a:tc>
                <a:tc>
                  <a:txBody>
                    <a:bodyPr/>
                    <a:lstStyle/>
                    <a:p>
                      <a:pPr algn="ctr" indent="0" marL="0">
                        <a:buNone/>
                      </a:pPr>
                      <a:r>
                        <a:rPr lang="en-US" sz="800" dirty="0">
                          <a:solidFill>
                            <a:srgbClr val="FFFFFF"/>
                          </a:solidFill>
                          <a:latin typeface="Plus Jakarta Sans SemiBold" pitchFamily="34" charset="0"/>
                          <a:ea typeface="Plus Jakarta Sans SemiBold" pitchFamily="34" charset="-122"/>
                          <a:cs typeface="Plus Jakarta Sans SemiBold" pitchFamily="34" charset="-120"/>
                        </a:rPr>
                        <a:t>Elite</a:t>
                      </a:r>
                      <a:endParaRPr lang="en-US" sz="800" dirty="0">
                        <a:latin typeface="Plus Jakarta Sans SemiBold" charset="0"/>
                        <a:ea typeface="Plus Jakarta Sans SemiBold" charset="0"/>
                        <a:cs typeface="Plus Jakarta Sans SemiBold" charset="0"/>
                      </a:endParaRPr>
                    </a:p>
                  </a:txBody>
                  <a:tcPr marL="101600" marR="101600" marT="38100" marB="38100" anchor="ctr">
                    <a:lnL w="0" cap="flat" cmpd="sng" algn="ctr">
                      <a:noFill/>
                    </a:lnL>
                    <a:lnR w="0" cap="flat" cmpd="sng" algn="ctr">
                      <a:noFill/>
                    </a:lnR>
                    <a:lnT w="9525" cap="flat" cmpd="sng" algn="ctr">
                      <a:solidFill>
                        <a:srgbClr val="2C3A4F"/>
                      </a:solidFill>
                      <a:prstDash val="solid"/>
                      <a:round/>
                      <a:headEnd type="none" w="med" len="med"/>
                      <a:tailEnd type="none" w="med" len="med"/>
                    </a:lnT>
                    <a:lnB w="9525" cap="flat" cmpd="sng" algn="ctr">
                      <a:solidFill>
                        <a:srgbClr val="2C3A4F"/>
                      </a:solidFill>
                      <a:prstDash val="solid"/>
                      <a:round/>
                      <a:headEnd type="none" w="med" len="med"/>
                      <a:tailEnd type="none" w="med" len="med"/>
                    </a:lnB>
                    <a:solidFill>
                      <a:srgbClr val="194EFF"/>
                    </a:solidFill>
                  </a:tcPr>
                </a:tc>
              </a:tr>
              <a:tr h="457200">
                <a:tc>
                  <a:txBody>
                    <a:bodyPr/>
                    <a:lstStyle/>
                    <a:p>
                      <a:pPr algn="l" indent="0" marL="0">
                        <a:buNone/>
                      </a:pPr>
                      <a:r>
                        <a:rPr lang="en-US" sz="850" dirty="0">
                          <a:solidFill>
                            <a:srgbClr val="FFFFFF"/>
                          </a:solidFill>
                          <a:latin typeface="Plus Jakarta Sans SemiBold" pitchFamily="34" charset="0"/>
                          <a:ea typeface="Plus Jakarta Sans SemiBold" pitchFamily="34" charset="-122"/>
                          <a:cs typeface="Plus Jakarta Sans SemiBold" pitchFamily="34" charset="-120"/>
                        </a:rPr>
                        <a:t>Portal, knowledge base &amp; email</a:t>
                      </a:r>
                      <a:endParaRPr lang="en-US" sz="850" dirty="0">
                        <a:latin typeface="Plus Jakarta Sans SemiBold" charset="0"/>
                        <a:ea typeface="Plus Jakarta Sans SemiBold" charset="0"/>
                        <a:cs typeface="Plus Jakarta Sans SemiBold" charset="0"/>
                      </a:endParaRPr>
                    </a:p>
                  </a:txBody>
                  <a:tcPr marL="101600" marR="101600" marT="38100" marB="38100" anchor="ctr">
                    <a:lnL w="0" cap="flat" cmpd="sng" algn="ctr">
                      <a:noFill/>
                    </a:lnL>
                    <a:lnR w="0" cap="flat" cmpd="sng" algn="ctr">
                      <a:noFill/>
                    </a:lnR>
                    <a:lnT w="9525" cap="flat" cmpd="sng" algn="ctr">
                      <a:solidFill>
                        <a:srgbClr val="2C3A4F"/>
                      </a:solidFill>
                      <a:prstDash val="solid"/>
                      <a:round/>
                      <a:headEnd type="none" w="med" len="med"/>
                      <a:tailEnd type="none" w="med" len="med"/>
                    </a:lnT>
                    <a:lnB w="9525" cap="flat" cmpd="sng" algn="ctr">
                      <a:solidFill>
                        <a:srgbClr val="2C3A4F"/>
                      </a:solidFill>
                      <a:prstDash val="solid"/>
                      <a:round/>
                      <a:headEnd type="none" w="med" len="med"/>
                      <a:tailEnd type="none" w="med" len="med"/>
                    </a:lnB>
                    <a:solidFill>
                      <a:srgbClr val="182638"/>
                    </a:solidFill>
                  </a:tcPr>
                </a:tc>
                <a:tc>
                  <a:txBody>
                    <a:bodyPr/>
                    <a:lstStyle/>
                    <a:p>
                      <a:pPr algn="ctr" indent="0" marL="0">
                        <a:buNone/>
                      </a:pPr>
                      <a:r>
                        <a:rPr lang="en-US" sz="850" dirty="0">
                          <a:solidFill>
                            <a:srgbClr val="C3C8D1"/>
                          </a:solidFill>
                          <a:latin typeface="Plus Jakarta Sans" pitchFamily="34" charset="0"/>
                          <a:ea typeface="Plus Jakarta Sans" pitchFamily="34" charset="-122"/>
                          <a:cs typeface="Plus Jakarta Sans" pitchFamily="34" charset="-120"/>
                        </a:rPr>
                        <a:t>✓</a:t>
                      </a:r>
                      <a:endParaRPr lang="en-US" sz="85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2C3A4F"/>
                      </a:solidFill>
                      <a:prstDash val="solid"/>
                      <a:round/>
                      <a:headEnd type="none" w="med" len="med"/>
                      <a:tailEnd type="none" w="med" len="med"/>
                    </a:lnT>
                    <a:lnB w="9525" cap="flat" cmpd="sng" algn="ctr">
                      <a:solidFill>
                        <a:srgbClr val="2C3A4F"/>
                      </a:solidFill>
                      <a:prstDash val="solid"/>
                      <a:round/>
                      <a:headEnd type="none" w="med" len="med"/>
                      <a:tailEnd type="none" w="med" len="med"/>
                    </a:lnB>
                    <a:solidFill>
                      <a:srgbClr val="182638"/>
                    </a:solidFill>
                  </a:tcPr>
                </a:tc>
                <a:tc>
                  <a:txBody>
                    <a:bodyPr/>
                    <a:lstStyle/>
                    <a:p>
                      <a:pPr algn="ctr" indent="0" marL="0">
                        <a:buNone/>
                      </a:pPr>
                      <a:r>
                        <a:rPr lang="en-US" sz="850" dirty="0">
                          <a:solidFill>
                            <a:srgbClr val="C3C8D1"/>
                          </a:solidFill>
                          <a:latin typeface="Plus Jakarta Sans" pitchFamily="34" charset="0"/>
                          <a:ea typeface="Plus Jakarta Sans" pitchFamily="34" charset="-122"/>
                          <a:cs typeface="Plus Jakarta Sans" pitchFamily="34" charset="-120"/>
                        </a:rPr>
                        <a:t>✓</a:t>
                      </a:r>
                      <a:endParaRPr lang="en-US" sz="85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2C3A4F"/>
                      </a:solidFill>
                      <a:prstDash val="solid"/>
                      <a:round/>
                      <a:headEnd type="none" w="med" len="med"/>
                      <a:tailEnd type="none" w="med" len="med"/>
                    </a:lnT>
                    <a:lnB w="9525" cap="flat" cmpd="sng" algn="ctr">
                      <a:solidFill>
                        <a:srgbClr val="2C3A4F"/>
                      </a:solidFill>
                      <a:prstDash val="solid"/>
                      <a:round/>
                      <a:headEnd type="none" w="med" len="med"/>
                      <a:tailEnd type="none" w="med" len="med"/>
                    </a:lnB>
                    <a:solidFill>
                      <a:srgbClr val="182638"/>
                    </a:solidFill>
                  </a:tcPr>
                </a:tc>
                <a:tc>
                  <a:txBody>
                    <a:bodyPr/>
                    <a:lstStyle/>
                    <a:p>
                      <a:pPr algn="ctr" indent="0" marL="0">
                        <a:buNone/>
                      </a:pPr>
                      <a:r>
                        <a:rPr lang="en-US" sz="850" dirty="0">
                          <a:solidFill>
                            <a:srgbClr val="C3C8D1"/>
                          </a:solidFill>
                          <a:latin typeface="Plus Jakarta Sans" pitchFamily="34" charset="0"/>
                          <a:ea typeface="Plus Jakarta Sans" pitchFamily="34" charset="-122"/>
                          <a:cs typeface="Plus Jakarta Sans" pitchFamily="34" charset="-120"/>
                        </a:rPr>
                        <a:t>✓</a:t>
                      </a:r>
                      <a:endParaRPr lang="en-US" sz="85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2C3A4F"/>
                      </a:solidFill>
                      <a:prstDash val="solid"/>
                      <a:round/>
                      <a:headEnd type="none" w="med" len="med"/>
                      <a:tailEnd type="none" w="med" len="med"/>
                    </a:lnT>
                    <a:lnB w="9525" cap="flat" cmpd="sng" algn="ctr">
                      <a:solidFill>
                        <a:srgbClr val="2C3A4F"/>
                      </a:solidFill>
                      <a:prstDash val="solid"/>
                      <a:round/>
                      <a:headEnd type="none" w="med" len="med"/>
                      <a:tailEnd type="none" w="med" len="med"/>
                    </a:lnB>
                    <a:solidFill>
                      <a:srgbClr val="182638"/>
                    </a:solidFill>
                  </a:tcPr>
                </a:tc>
                <a:tc>
                  <a:txBody>
                    <a:bodyPr/>
                    <a:lstStyle/>
                    <a:p>
                      <a:pPr algn="ctr" indent="0" marL="0">
                        <a:buNone/>
                      </a:pPr>
                      <a:r>
                        <a:rPr lang="en-US" sz="850" dirty="0">
                          <a:solidFill>
                            <a:srgbClr val="C3C8D1"/>
                          </a:solidFill>
                          <a:latin typeface="Plus Jakarta Sans" pitchFamily="34" charset="0"/>
                          <a:ea typeface="Plus Jakarta Sans" pitchFamily="34" charset="-122"/>
                          <a:cs typeface="Plus Jakarta Sans" pitchFamily="34" charset="-120"/>
                        </a:rPr>
                        <a:t>✓</a:t>
                      </a:r>
                      <a:endParaRPr lang="en-US" sz="85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2C3A4F"/>
                      </a:solidFill>
                      <a:prstDash val="solid"/>
                      <a:round/>
                      <a:headEnd type="none" w="med" len="med"/>
                      <a:tailEnd type="none" w="med" len="med"/>
                    </a:lnT>
                    <a:lnB w="9525" cap="flat" cmpd="sng" algn="ctr">
                      <a:solidFill>
                        <a:srgbClr val="2C3A4F"/>
                      </a:solidFill>
                      <a:prstDash val="solid"/>
                      <a:round/>
                      <a:headEnd type="none" w="med" len="med"/>
                      <a:tailEnd type="none" w="med" len="med"/>
                    </a:lnB>
                    <a:solidFill>
                      <a:srgbClr val="182638"/>
                    </a:solidFill>
                  </a:tcPr>
                </a:tc>
                <a:tc>
                  <a:txBody>
                    <a:bodyPr/>
                    <a:lstStyle/>
                    <a:p>
                      <a:pPr algn="ctr" indent="0" marL="0">
                        <a:buNone/>
                      </a:pPr>
                      <a:r>
                        <a:rPr lang="en-US" sz="850" b="1" dirty="0">
                          <a:solidFill>
                            <a:srgbClr val="15B6FF"/>
                          </a:solidFill>
                          <a:latin typeface="Plus Jakarta Sans" pitchFamily="34" charset="0"/>
                          <a:ea typeface="Plus Jakarta Sans" pitchFamily="34" charset="-122"/>
                          <a:cs typeface="Plus Jakarta Sans" pitchFamily="34" charset="-120"/>
                        </a:rPr>
                        <a:t>✓</a:t>
                      </a:r>
                      <a:endParaRPr lang="en-US" sz="85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2C3A4F"/>
                      </a:solidFill>
                      <a:prstDash val="solid"/>
                      <a:round/>
                      <a:headEnd type="none" w="med" len="med"/>
                      <a:tailEnd type="none" w="med" len="med"/>
                    </a:lnT>
                    <a:lnB w="9525" cap="flat" cmpd="sng" algn="ctr">
                      <a:solidFill>
                        <a:srgbClr val="2C3A4F"/>
                      </a:solidFill>
                      <a:prstDash val="solid"/>
                      <a:round/>
                      <a:headEnd type="none" w="med" len="med"/>
                      <a:tailEnd type="none" w="med" len="med"/>
                    </a:lnB>
                    <a:solidFill>
                      <a:srgbClr val="182638"/>
                    </a:solidFill>
                  </a:tcPr>
                </a:tc>
              </a:tr>
              <a:tr h="457200">
                <a:tc>
                  <a:txBody>
                    <a:bodyPr/>
                    <a:lstStyle/>
                    <a:p>
                      <a:pPr algn="l" indent="0" marL="0">
                        <a:buNone/>
                      </a:pPr>
                      <a:r>
                        <a:rPr lang="en-US" sz="850" dirty="0">
                          <a:solidFill>
                            <a:srgbClr val="FFFFFF"/>
                          </a:solidFill>
                          <a:latin typeface="Plus Jakarta Sans SemiBold" pitchFamily="34" charset="0"/>
                          <a:ea typeface="Plus Jakarta Sans SemiBold" pitchFamily="34" charset="-122"/>
                          <a:cs typeface="Plus Jakarta Sans SemiBold" pitchFamily="34" charset="-120"/>
                        </a:rPr>
                        <a:t>Priority support</a:t>
                      </a:r>
                      <a:endParaRPr lang="en-US" sz="850" dirty="0">
                        <a:latin typeface="Plus Jakarta Sans SemiBold" charset="0"/>
                        <a:ea typeface="Plus Jakarta Sans SemiBold" charset="0"/>
                        <a:cs typeface="Plus Jakarta Sans SemiBold" charset="0"/>
                      </a:endParaRPr>
                    </a:p>
                  </a:txBody>
                  <a:tcPr marL="101600" marR="101600" marT="38100" marB="38100" anchor="ctr">
                    <a:lnL w="0" cap="flat" cmpd="sng" algn="ctr">
                      <a:noFill/>
                    </a:lnL>
                    <a:lnR w="0" cap="flat" cmpd="sng" algn="ctr">
                      <a:noFill/>
                    </a:lnR>
                    <a:lnT w="9525" cap="flat" cmpd="sng" algn="ctr">
                      <a:solidFill>
                        <a:srgbClr val="2C3A4F"/>
                      </a:solidFill>
                      <a:prstDash val="solid"/>
                      <a:round/>
                      <a:headEnd type="none" w="med" len="med"/>
                      <a:tailEnd type="none" w="med" len="med"/>
                    </a:lnT>
                    <a:lnB w="9525" cap="flat" cmpd="sng" algn="ctr">
                      <a:solidFill>
                        <a:srgbClr val="2C3A4F"/>
                      </a:solidFill>
                      <a:prstDash val="solid"/>
                      <a:round/>
                      <a:headEnd type="none" w="med" len="med"/>
                      <a:tailEnd type="none" w="med" len="med"/>
                    </a:lnB>
                    <a:solidFill>
                      <a:srgbClr val="1D2B3E"/>
                    </a:solidFill>
                  </a:tcPr>
                </a:tc>
                <a:tc>
                  <a:txBody>
                    <a:bodyPr/>
                    <a:lstStyle/>
                    <a:p>
                      <a:pPr algn="ctr" indent="0" marL="0">
                        <a:buNone/>
                      </a:pPr>
                      <a:r>
                        <a:rPr lang="en-US" sz="850" dirty="0">
                          <a:solidFill>
                            <a:srgbClr val="C3C8D1"/>
                          </a:solidFill>
                          <a:latin typeface="Plus Jakarta Sans" pitchFamily="34" charset="0"/>
                          <a:ea typeface="Plus Jakarta Sans" pitchFamily="34" charset="-122"/>
                          <a:cs typeface="Plus Jakarta Sans" pitchFamily="34" charset="-120"/>
                        </a:rPr>
                        <a:t>—</a:t>
                      </a:r>
                      <a:endParaRPr lang="en-US" sz="85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2C3A4F"/>
                      </a:solidFill>
                      <a:prstDash val="solid"/>
                      <a:round/>
                      <a:headEnd type="none" w="med" len="med"/>
                      <a:tailEnd type="none" w="med" len="med"/>
                    </a:lnT>
                    <a:lnB w="9525" cap="flat" cmpd="sng" algn="ctr">
                      <a:solidFill>
                        <a:srgbClr val="2C3A4F"/>
                      </a:solidFill>
                      <a:prstDash val="solid"/>
                      <a:round/>
                      <a:headEnd type="none" w="med" len="med"/>
                      <a:tailEnd type="none" w="med" len="med"/>
                    </a:lnB>
                    <a:solidFill>
                      <a:srgbClr val="1D2B3E"/>
                    </a:solidFill>
                  </a:tcPr>
                </a:tc>
                <a:tc>
                  <a:txBody>
                    <a:bodyPr/>
                    <a:lstStyle/>
                    <a:p>
                      <a:pPr algn="ctr" indent="0" marL="0">
                        <a:buNone/>
                      </a:pPr>
                      <a:r>
                        <a:rPr lang="en-US" sz="850" dirty="0">
                          <a:solidFill>
                            <a:srgbClr val="C3C8D1"/>
                          </a:solidFill>
                          <a:latin typeface="Plus Jakarta Sans" pitchFamily="34" charset="0"/>
                          <a:ea typeface="Plus Jakarta Sans" pitchFamily="34" charset="-122"/>
                          <a:cs typeface="Plus Jakarta Sans" pitchFamily="34" charset="-120"/>
                        </a:rPr>
                        <a:t>Limited</a:t>
                      </a:r>
                      <a:endParaRPr lang="en-US" sz="85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2C3A4F"/>
                      </a:solidFill>
                      <a:prstDash val="solid"/>
                      <a:round/>
                      <a:headEnd type="none" w="med" len="med"/>
                      <a:tailEnd type="none" w="med" len="med"/>
                    </a:lnT>
                    <a:lnB w="9525" cap="flat" cmpd="sng" algn="ctr">
                      <a:solidFill>
                        <a:srgbClr val="2C3A4F"/>
                      </a:solidFill>
                      <a:prstDash val="solid"/>
                      <a:round/>
                      <a:headEnd type="none" w="med" len="med"/>
                      <a:tailEnd type="none" w="med" len="med"/>
                    </a:lnB>
                    <a:solidFill>
                      <a:srgbClr val="1D2B3E"/>
                    </a:solidFill>
                  </a:tcPr>
                </a:tc>
                <a:tc>
                  <a:txBody>
                    <a:bodyPr/>
                    <a:lstStyle/>
                    <a:p>
                      <a:pPr algn="ctr" indent="0" marL="0">
                        <a:buNone/>
                      </a:pPr>
                      <a:r>
                        <a:rPr lang="en-US" sz="850" dirty="0">
                          <a:solidFill>
                            <a:srgbClr val="C3C8D1"/>
                          </a:solidFill>
                          <a:latin typeface="Plus Jakarta Sans" pitchFamily="34" charset="0"/>
                          <a:ea typeface="Plus Jakarta Sans" pitchFamily="34" charset="-122"/>
                          <a:cs typeface="Plus Jakarta Sans" pitchFamily="34" charset="-120"/>
                        </a:rPr>
                        <a:t>✓</a:t>
                      </a:r>
                      <a:endParaRPr lang="en-US" sz="85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2C3A4F"/>
                      </a:solidFill>
                      <a:prstDash val="solid"/>
                      <a:round/>
                      <a:headEnd type="none" w="med" len="med"/>
                      <a:tailEnd type="none" w="med" len="med"/>
                    </a:lnT>
                    <a:lnB w="9525" cap="flat" cmpd="sng" algn="ctr">
                      <a:solidFill>
                        <a:srgbClr val="2C3A4F"/>
                      </a:solidFill>
                      <a:prstDash val="solid"/>
                      <a:round/>
                      <a:headEnd type="none" w="med" len="med"/>
                      <a:tailEnd type="none" w="med" len="med"/>
                    </a:lnB>
                    <a:solidFill>
                      <a:srgbClr val="1D2B3E"/>
                    </a:solidFill>
                  </a:tcPr>
                </a:tc>
                <a:tc>
                  <a:txBody>
                    <a:bodyPr/>
                    <a:lstStyle/>
                    <a:p>
                      <a:pPr algn="ctr" indent="0" marL="0">
                        <a:buNone/>
                      </a:pPr>
                      <a:r>
                        <a:rPr lang="en-US" sz="850" dirty="0">
                          <a:solidFill>
                            <a:srgbClr val="C3C8D1"/>
                          </a:solidFill>
                          <a:latin typeface="Plus Jakarta Sans" pitchFamily="34" charset="0"/>
                          <a:ea typeface="Plus Jakarta Sans" pitchFamily="34" charset="-122"/>
                          <a:cs typeface="Plus Jakarta Sans" pitchFamily="34" charset="-120"/>
                        </a:rPr>
                        <a:t>✓</a:t>
                      </a:r>
                      <a:endParaRPr lang="en-US" sz="85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2C3A4F"/>
                      </a:solidFill>
                      <a:prstDash val="solid"/>
                      <a:round/>
                      <a:headEnd type="none" w="med" len="med"/>
                      <a:tailEnd type="none" w="med" len="med"/>
                    </a:lnT>
                    <a:lnB w="9525" cap="flat" cmpd="sng" algn="ctr">
                      <a:solidFill>
                        <a:srgbClr val="2C3A4F"/>
                      </a:solidFill>
                      <a:prstDash val="solid"/>
                      <a:round/>
                      <a:headEnd type="none" w="med" len="med"/>
                      <a:tailEnd type="none" w="med" len="med"/>
                    </a:lnB>
                    <a:solidFill>
                      <a:srgbClr val="1D2B3E"/>
                    </a:solidFill>
                  </a:tcPr>
                </a:tc>
                <a:tc>
                  <a:txBody>
                    <a:bodyPr/>
                    <a:lstStyle/>
                    <a:p>
                      <a:pPr algn="ctr" indent="0" marL="0">
                        <a:buNone/>
                      </a:pPr>
                      <a:r>
                        <a:rPr lang="en-US" sz="850" b="1" dirty="0">
                          <a:solidFill>
                            <a:srgbClr val="15B6FF"/>
                          </a:solidFill>
                          <a:latin typeface="Plus Jakarta Sans" pitchFamily="34" charset="0"/>
                          <a:ea typeface="Plus Jakarta Sans" pitchFamily="34" charset="-122"/>
                          <a:cs typeface="Plus Jakarta Sans" pitchFamily="34" charset="-120"/>
                        </a:rPr>
                        <a:t>✓</a:t>
                      </a:r>
                      <a:endParaRPr lang="en-US" sz="85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2C3A4F"/>
                      </a:solidFill>
                      <a:prstDash val="solid"/>
                      <a:round/>
                      <a:headEnd type="none" w="med" len="med"/>
                      <a:tailEnd type="none" w="med" len="med"/>
                    </a:lnT>
                    <a:lnB w="9525" cap="flat" cmpd="sng" algn="ctr">
                      <a:solidFill>
                        <a:srgbClr val="2C3A4F"/>
                      </a:solidFill>
                      <a:prstDash val="solid"/>
                      <a:round/>
                      <a:headEnd type="none" w="med" len="med"/>
                      <a:tailEnd type="none" w="med" len="med"/>
                    </a:lnB>
                    <a:solidFill>
                      <a:srgbClr val="1D2B3E"/>
                    </a:solidFill>
                  </a:tcPr>
                </a:tc>
              </a:tr>
              <a:tr h="457200">
                <a:tc>
                  <a:txBody>
                    <a:bodyPr/>
                    <a:lstStyle/>
                    <a:p>
                      <a:pPr algn="l" indent="0" marL="0">
                        <a:buNone/>
                      </a:pPr>
                      <a:r>
                        <a:rPr lang="en-US" sz="850" dirty="0">
                          <a:solidFill>
                            <a:srgbClr val="FFFFFF"/>
                          </a:solidFill>
                          <a:latin typeface="Plus Jakarta Sans SemiBold" pitchFamily="34" charset="0"/>
                          <a:ea typeface="Plus Jakarta Sans SemiBold" pitchFamily="34" charset="-122"/>
                          <a:cs typeface="Plus Jakarta Sans SemiBold" pitchFamily="34" charset="-120"/>
                        </a:rPr>
                        <a:t>Partner Success Manager</a:t>
                      </a:r>
                      <a:endParaRPr lang="en-US" sz="850" dirty="0">
                        <a:latin typeface="Plus Jakarta Sans SemiBold" charset="0"/>
                        <a:ea typeface="Plus Jakarta Sans SemiBold" charset="0"/>
                        <a:cs typeface="Plus Jakarta Sans SemiBold" charset="0"/>
                      </a:endParaRPr>
                    </a:p>
                  </a:txBody>
                  <a:tcPr marL="101600" marR="101600" marT="38100" marB="38100" anchor="ctr">
                    <a:lnL w="0" cap="flat" cmpd="sng" algn="ctr">
                      <a:noFill/>
                    </a:lnL>
                    <a:lnR w="0" cap="flat" cmpd="sng" algn="ctr">
                      <a:noFill/>
                    </a:lnR>
                    <a:lnT w="9525" cap="flat" cmpd="sng" algn="ctr">
                      <a:solidFill>
                        <a:srgbClr val="2C3A4F"/>
                      </a:solidFill>
                      <a:prstDash val="solid"/>
                      <a:round/>
                      <a:headEnd type="none" w="med" len="med"/>
                      <a:tailEnd type="none" w="med" len="med"/>
                    </a:lnT>
                    <a:lnB w="9525" cap="flat" cmpd="sng" algn="ctr">
                      <a:solidFill>
                        <a:srgbClr val="2C3A4F"/>
                      </a:solidFill>
                      <a:prstDash val="solid"/>
                      <a:round/>
                      <a:headEnd type="none" w="med" len="med"/>
                      <a:tailEnd type="none" w="med" len="med"/>
                    </a:lnB>
                    <a:solidFill>
                      <a:srgbClr val="182638"/>
                    </a:solidFill>
                  </a:tcPr>
                </a:tc>
                <a:tc>
                  <a:txBody>
                    <a:bodyPr/>
                    <a:lstStyle/>
                    <a:p>
                      <a:pPr algn="ctr" indent="0" marL="0">
                        <a:buNone/>
                      </a:pPr>
                      <a:r>
                        <a:rPr lang="en-US" sz="850" dirty="0">
                          <a:solidFill>
                            <a:srgbClr val="C3C8D1"/>
                          </a:solidFill>
                          <a:latin typeface="Plus Jakarta Sans" pitchFamily="34" charset="0"/>
                          <a:ea typeface="Plus Jakarta Sans" pitchFamily="34" charset="-122"/>
                          <a:cs typeface="Plus Jakarta Sans" pitchFamily="34" charset="-120"/>
                        </a:rPr>
                        <a:t>Shared</a:t>
                      </a:r>
                      <a:endParaRPr lang="en-US" sz="85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2C3A4F"/>
                      </a:solidFill>
                      <a:prstDash val="solid"/>
                      <a:round/>
                      <a:headEnd type="none" w="med" len="med"/>
                      <a:tailEnd type="none" w="med" len="med"/>
                    </a:lnT>
                    <a:lnB w="9525" cap="flat" cmpd="sng" algn="ctr">
                      <a:solidFill>
                        <a:srgbClr val="2C3A4F"/>
                      </a:solidFill>
                      <a:prstDash val="solid"/>
                      <a:round/>
                      <a:headEnd type="none" w="med" len="med"/>
                      <a:tailEnd type="none" w="med" len="med"/>
                    </a:lnB>
                    <a:solidFill>
                      <a:srgbClr val="182638"/>
                    </a:solidFill>
                  </a:tcPr>
                </a:tc>
                <a:tc>
                  <a:txBody>
                    <a:bodyPr/>
                    <a:lstStyle/>
                    <a:p>
                      <a:pPr algn="ctr" indent="0" marL="0">
                        <a:buNone/>
                      </a:pPr>
                      <a:r>
                        <a:rPr lang="en-US" sz="850" dirty="0">
                          <a:solidFill>
                            <a:srgbClr val="C3C8D1"/>
                          </a:solidFill>
                          <a:latin typeface="Plus Jakarta Sans" pitchFamily="34" charset="0"/>
                          <a:ea typeface="Plus Jakarta Sans" pitchFamily="34" charset="-122"/>
                          <a:cs typeface="Plus Jakarta Sans" pitchFamily="34" charset="-120"/>
                        </a:rPr>
                        <a:t>Shared</a:t>
                      </a:r>
                      <a:endParaRPr lang="en-US" sz="85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2C3A4F"/>
                      </a:solidFill>
                      <a:prstDash val="solid"/>
                      <a:round/>
                      <a:headEnd type="none" w="med" len="med"/>
                      <a:tailEnd type="none" w="med" len="med"/>
                    </a:lnT>
                    <a:lnB w="9525" cap="flat" cmpd="sng" algn="ctr">
                      <a:solidFill>
                        <a:srgbClr val="2C3A4F"/>
                      </a:solidFill>
                      <a:prstDash val="solid"/>
                      <a:round/>
                      <a:headEnd type="none" w="med" len="med"/>
                      <a:tailEnd type="none" w="med" len="med"/>
                    </a:lnB>
                    <a:solidFill>
                      <a:srgbClr val="182638"/>
                    </a:solidFill>
                  </a:tcPr>
                </a:tc>
                <a:tc>
                  <a:txBody>
                    <a:bodyPr/>
                    <a:lstStyle/>
                    <a:p>
                      <a:pPr algn="ctr" indent="0" marL="0">
                        <a:buNone/>
                      </a:pPr>
                      <a:r>
                        <a:rPr lang="en-US" sz="850" dirty="0">
                          <a:solidFill>
                            <a:srgbClr val="C3C8D1"/>
                          </a:solidFill>
                          <a:latin typeface="Plus Jakarta Sans" pitchFamily="34" charset="0"/>
                          <a:ea typeface="Plus Jakarta Sans" pitchFamily="34" charset="-122"/>
                          <a:cs typeface="Plus Jakarta Sans" pitchFamily="34" charset="-120"/>
                        </a:rPr>
                        <a:t>Named</a:t>
                      </a:r>
                      <a:endParaRPr lang="en-US" sz="85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2C3A4F"/>
                      </a:solidFill>
                      <a:prstDash val="solid"/>
                      <a:round/>
                      <a:headEnd type="none" w="med" len="med"/>
                      <a:tailEnd type="none" w="med" len="med"/>
                    </a:lnT>
                    <a:lnB w="9525" cap="flat" cmpd="sng" algn="ctr">
                      <a:solidFill>
                        <a:srgbClr val="2C3A4F"/>
                      </a:solidFill>
                      <a:prstDash val="solid"/>
                      <a:round/>
                      <a:headEnd type="none" w="med" len="med"/>
                      <a:tailEnd type="none" w="med" len="med"/>
                    </a:lnB>
                    <a:solidFill>
                      <a:srgbClr val="182638"/>
                    </a:solidFill>
                  </a:tcPr>
                </a:tc>
                <a:tc>
                  <a:txBody>
                    <a:bodyPr/>
                    <a:lstStyle/>
                    <a:p>
                      <a:pPr algn="ctr" indent="0" marL="0">
                        <a:buNone/>
                      </a:pPr>
                      <a:r>
                        <a:rPr lang="en-US" sz="850" dirty="0">
                          <a:solidFill>
                            <a:srgbClr val="C3C8D1"/>
                          </a:solidFill>
                          <a:latin typeface="Plus Jakarta Sans" pitchFamily="34" charset="0"/>
                          <a:ea typeface="Plus Jakarta Sans" pitchFamily="34" charset="-122"/>
                          <a:cs typeface="Plus Jakarta Sans" pitchFamily="34" charset="-120"/>
                        </a:rPr>
                        <a:t>Named</a:t>
                      </a:r>
                      <a:endParaRPr lang="en-US" sz="85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2C3A4F"/>
                      </a:solidFill>
                      <a:prstDash val="solid"/>
                      <a:round/>
                      <a:headEnd type="none" w="med" len="med"/>
                      <a:tailEnd type="none" w="med" len="med"/>
                    </a:lnT>
                    <a:lnB w="9525" cap="flat" cmpd="sng" algn="ctr">
                      <a:solidFill>
                        <a:srgbClr val="2C3A4F"/>
                      </a:solidFill>
                      <a:prstDash val="solid"/>
                      <a:round/>
                      <a:headEnd type="none" w="med" len="med"/>
                      <a:tailEnd type="none" w="med" len="med"/>
                    </a:lnB>
                    <a:solidFill>
                      <a:srgbClr val="182638"/>
                    </a:solidFill>
                  </a:tcPr>
                </a:tc>
                <a:tc>
                  <a:txBody>
                    <a:bodyPr/>
                    <a:lstStyle/>
                    <a:p>
                      <a:pPr algn="ctr" indent="0" marL="0">
                        <a:buNone/>
                      </a:pPr>
                      <a:r>
                        <a:rPr lang="en-US" sz="850" b="1" dirty="0">
                          <a:solidFill>
                            <a:srgbClr val="15B6FF"/>
                          </a:solidFill>
                          <a:latin typeface="Plus Jakarta Sans" pitchFamily="34" charset="0"/>
                          <a:ea typeface="Plus Jakarta Sans" pitchFamily="34" charset="-122"/>
                          <a:cs typeface="Plus Jakarta Sans" pitchFamily="34" charset="-120"/>
                        </a:rPr>
                        <a:t>Strategic</a:t>
                      </a:r>
                      <a:endParaRPr lang="en-US" sz="85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2C3A4F"/>
                      </a:solidFill>
                      <a:prstDash val="solid"/>
                      <a:round/>
                      <a:headEnd type="none" w="med" len="med"/>
                      <a:tailEnd type="none" w="med" len="med"/>
                    </a:lnT>
                    <a:lnB w="9525" cap="flat" cmpd="sng" algn="ctr">
                      <a:solidFill>
                        <a:srgbClr val="2C3A4F"/>
                      </a:solidFill>
                      <a:prstDash val="solid"/>
                      <a:round/>
                      <a:headEnd type="none" w="med" len="med"/>
                      <a:tailEnd type="none" w="med" len="med"/>
                    </a:lnB>
                    <a:solidFill>
                      <a:srgbClr val="182638"/>
                    </a:solidFill>
                  </a:tcPr>
                </a:tc>
              </a:tr>
              <a:tr h="457200">
                <a:tc>
                  <a:txBody>
                    <a:bodyPr/>
                    <a:lstStyle/>
                    <a:p>
                      <a:pPr algn="l" indent="0" marL="0">
                        <a:buNone/>
                      </a:pPr>
                      <a:r>
                        <a:rPr lang="en-US" sz="850" dirty="0">
                          <a:solidFill>
                            <a:srgbClr val="FFFFFF"/>
                          </a:solidFill>
                          <a:latin typeface="Plus Jakarta Sans SemiBold" pitchFamily="34" charset="0"/>
                          <a:ea typeface="Plus Jakarta Sans SemiBold" pitchFamily="34" charset="-122"/>
                          <a:cs typeface="Plus Jakarta Sans SemiBold" pitchFamily="34" charset="-120"/>
                        </a:rPr>
                        <a:t>Product consultation cases / yr</a:t>
                      </a:r>
                      <a:endParaRPr lang="en-US" sz="850" dirty="0">
                        <a:latin typeface="Plus Jakarta Sans SemiBold" charset="0"/>
                        <a:ea typeface="Plus Jakarta Sans SemiBold" charset="0"/>
                        <a:cs typeface="Plus Jakarta Sans SemiBold" charset="0"/>
                      </a:endParaRPr>
                    </a:p>
                  </a:txBody>
                  <a:tcPr marL="101600" marR="101600" marT="38100" marB="38100" anchor="ctr">
                    <a:lnL w="0" cap="flat" cmpd="sng" algn="ctr">
                      <a:noFill/>
                    </a:lnL>
                    <a:lnR w="0" cap="flat" cmpd="sng" algn="ctr">
                      <a:noFill/>
                    </a:lnR>
                    <a:lnT w="9525" cap="flat" cmpd="sng" algn="ctr">
                      <a:solidFill>
                        <a:srgbClr val="2C3A4F"/>
                      </a:solidFill>
                      <a:prstDash val="solid"/>
                      <a:round/>
                      <a:headEnd type="none" w="med" len="med"/>
                      <a:tailEnd type="none" w="med" len="med"/>
                    </a:lnT>
                    <a:lnB w="9525" cap="flat" cmpd="sng" algn="ctr">
                      <a:solidFill>
                        <a:srgbClr val="2C3A4F"/>
                      </a:solidFill>
                      <a:prstDash val="solid"/>
                      <a:round/>
                      <a:headEnd type="none" w="med" len="med"/>
                      <a:tailEnd type="none" w="med" len="med"/>
                    </a:lnB>
                    <a:solidFill>
                      <a:srgbClr val="1D2B3E"/>
                    </a:solidFill>
                  </a:tcPr>
                </a:tc>
                <a:tc>
                  <a:txBody>
                    <a:bodyPr/>
                    <a:lstStyle/>
                    <a:p>
                      <a:pPr algn="ctr" indent="0" marL="0">
                        <a:buNone/>
                      </a:pPr>
                      <a:r>
                        <a:rPr lang="en-US" sz="850" dirty="0">
                          <a:solidFill>
                            <a:srgbClr val="C3C8D1"/>
                          </a:solidFill>
                          <a:latin typeface="Plus Jakarta Sans" pitchFamily="34" charset="0"/>
                          <a:ea typeface="Plus Jakarta Sans" pitchFamily="34" charset="-122"/>
                          <a:cs typeface="Plus Jakarta Sans" pitchFamily="34" charset="-120"/>
                        </a:rPr>
                        <a:t>10</a:t>
                      </a:r>
                      <a:endParaRPr lang="en-US" sz="85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2C3A4F"/>
                      </a:solidFill>
                      <a:prstDash val="solid"/>
                      <a:round/>
                      <a:headEnd type="none" w="med" len="med"/>
                      <a:tailEnd type="none" w="med" len="med"/>
                    </a:lnT>
                    <a:lnB w="9525" cap="flat" cmpd="sng" algn="ctr">
                      <a:solidFill>
                        <a:srgbClr val="2C3A4F"/>
                      </a:solidFill>
                      <a:prstDash val="solid"/>
                      <a:round/>
                      <a:headEnd type="none" w="med" len="med"/>
                      <a:tailEnd type="none" w="med" len="med"/>
                    </a:lnB>
                    <a:solidFill>
                      <a:srgbClr val="1D2B3E"/>
                    </a:solidFill>
                  </a:tcPr>
                </a:tc>
                <a:tc>
                  <a:txBody>
                    <a:bodyPr/>
                    <a:lstStyle/>
                    <a:p>
                      <a:pPr algn="ctr" indent="0" marL="0">
                        <a:buNone/>
                      </a:pPr>
                      <a:r>
                        <a:rPr lang="en-US" sz="850" dirty="0">
                          <a:solidFill>
                            <a:srgbClr val="C3C8D1"/>
                          </a:solidFill>
                          <a:latin typeface="Plus Jakarta Sans" pitchFamily="34" charset="0"/>
                          <a:ea typeface="Plus Jakarta Sans" pitchFamily="34" charset="-122"/>
                          <a:cs typeface="Plus Jakarta Sans" pitchFamily="34" charset="-120"/>
                        </a:rPr>
                        <a:t>25</a:t>
                      </a:r>
                      <a:endParaRPr lang="en-US" sz="85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2C3A4F"/>
                      </a:solidFill>
                      <a:prstDash val="solid"/>
                      <a:round/>
                      <a:headEnd type="none" w="med" len="med"/>
                      <a:tailEnd type="none" w="med" len="med"/>
                    </a:lnT>
                    <a:lnB w="9525" cap="flat" cmpd="sng" algn="ctr">
                      <a:solidFill>
                        <a:srgbClr val="2C3A4F"/>
                      </a:solidFill>
                      <a:prstDash val="solid"/>
                      <a:round/>
                      <a:headEnd type="none" w="med" len="med"/>
                      <a:tailEnd type="none" w="med" len="med"/>
                    </a:lnB>
                    <a:solidFill>
                      <a:srgbClr val="1D2B3E"/>
                    </a:solidFill>
                  </a:tcPr>
                </a:tc>
                <a:tc>
                  <a:txBody>
                    <a:bodyPr/>
                    <a:lstStyle/>
                    <a:p>
                      <a:pPr algn="ctr" indent="0" marL="0">
                        <a:buNone/>
                      </a:pPr>
                      <a:r>
                        <a:rPr lang="en-US" sz="850" dirty="0">
                          <a:solidFill>
                            <a:srgbClr val="C3C8D1"/>
                          </a:solidFill>
                          <a:latin typeface="Plus Jakarta Sans" pitchFamily="34" charset="0"/>
                          <a:ea typeface="Plus Jakarta Sans" pitchFamily="34" charset="-122"/>
                          <a:cs typeface="Plus Jakarta Sans" pitchFamily="34" charset="-120"/>
                        </a:rPr>
                        <a:t>50</a:t>
                      </a:r>
                      <a:endParaRPr lang="en-US" sz="85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2C3A4F"/>
                      </a:solidFill>
                      <a:prstDash val="solid"/>
                      <a:round/>
                      <a:headEnd type="none" w="med" len="med"/>
                      <a:tailEnd type="none" w="med" len="med"/>
                    </a:lnT>
                    <a:lnB w="9525" cap="flat" cmpd="sng" algn="ctr">
                      <a:solidFill>
                        <a:srgbClr val="2C3A4F"/>
                      </a:solidFill>
                      <a:prstDash val="solid"/>
                      <a:round/>
                      <a:headEnd type="none" w="med" len="med"/>
                      <a:tailEnd type="none" w="med" len="med"/>
                    </a:lnB>
                    <a:solidFill>
                      <a:srgbClr val="1D2B3E"/>
                    </a:solidFill>
                  </a:tcPr>
                </a:tc>
                <a:tc>
                  <a:txBody>
                    <a:bodyPr/>
                    <a:lstStyle/>
                    <a:p>
                      <a:pPr algn="ctr" indent="0" marL="0">
                        <a:buNone/>
                      </a:pPr>
                      <a:r>
                        <a:rPr lang="en-US" sz="850" dirty="0">
                          <a:solidFill>
                            <a:srgbClr val="C3C8D1"/>
                          </a:solidFill>
                          <a:latin typeface="Plus Jakarta Sans" pitchFamily="34" charset="0"/>
                          <a:ea typeface="Plus Jakarta Sans" pitchFamily="34" charset="-122"/>
                          <a:cs typeface="Plus Jakarta Sans" pitchFamily="34" charset="-120"/>
                        </a:rPr>
                        <a:t>100</a:t>
                      </a:r>
                      <a:endParaRPr lang="en-US" sz="85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2C3A4F"/>
                      </a:solidFill>
                      <a:prstDash val="solid"/>
                      <a:round/>
                      <a:headEnd type="none" w="med" len="med"/>
                      <a:tailEnd type="none" w="med" len="med"/>
                    </a:lnT>
                    <a:lnB w="9525" cap="flat" cmpd="sng" algn="ctr">
                      <a:solidFill>
                        <a:srgbClr val="2C3A4F"/>
                      </a:solidFill>
                      <a:prstDash val="solid"/>
                      <a:round/>
                      <a:headEnd type="none" w="med" len="med"/>
                      <a:tailEnd type="none" w="med" len="med"/>
                    </a:lnB>
                    <a:solidFill>
                      <a:srgbClr val="1D2B3E"/>
                    </a:solidFill>
                  </a:tcPr>
                </a:tc>
                <a:tc>
                  <a:txBody>
                    <a:bodyPr/>
                    <a:lstStyle/>
                    <a:p>
                      <a:pPr algn="ctr" indent="0" marL="0">
                        <a:buNone/>
                      </a:pPr>
                      <a:r>
                        <a:rPr lang="en-US" sz="850" b="1" dirty="0">
                          <a:solidFill>
                            <a:srgbClr val="15B6FF"/>
                          </a:solidFill>
                          <a:latin typeface="Plus Jakarta Sans" pitchFamily="34" charset="0"/>
                          <a:ea typeface="Plus Jakarta Sans" pitchFamily="34" charset="-122"/>
                          <a:cs typeface="Plus Jakarta Sans" pitchFamily="34" charset="-120"/>
                        </a:rPr>
                        <a:t>Fair use</a:t>
                      </a:r>
                      <a:endParaRPr lang="en-US" sz="85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2C3A4F"/>
                      </a:solidFill>
                      <a:prstDash val="solid"/>
                      <a:round/>
                      <a:headEnd type="none" w="med" len="med"/>
                      <a:tailEnd type="none" w="med" len="med"/>
                    </a:lnT>
                    <a:lnB w="9525" cap="flat" cmpd="sng" algn="ctr">
                      <a:solidFill>
                        <a:srgbClr val="2C3A4F"/>
                      </a:solidFill>
                      <a:prstDash val="solid"/>
                      <a:round/>
                      <a:headEnd type="none" w="med" len="med"/>
                      <a:tailEnd type="none" w="med" len="med"/>
                    </a:lnB>
                    <a:solidFill>
                      <a:srgbClr val="1D2B3E"/>
                    </a:solidFill>
                  </a:tcPr>
                </a:tc>
              </a:tr>
              <a:tr h="457200">
                <a:tc>
                  <a:txBody>
                    <a:bodyPr/>
                    <a:lstStyle/>
                    <a:p>
                      <a:pPr algn="l" indent="0" marL="0">
                        <a:buNone/>
                      </a:pPr>
                      <a:r>
                        <a:rPr lang="en-US" sz="850" dirty="0">
                          <a:solidFill>
                            <a:srgbClr val="FFFFFF"/>
                          </a:solidFill>
                          <a:latin typeface="Plus Jakarta Sans SemiBold" pitchFamily="34" charset="0"/>
                          <a:ea typeface="Plus Jakarta Sans SemiBold" pitchFamily="34" charset="-122"/>
                          <a:cs typeface="Plus Jakarta Sans SemiBold" pitchFamily="34" charset="-120"/>
                        </a:rPr>
                        <a:t>Architecture advisory hrs / yr</a:t>
                      </a:r>
                      <a:endParaRPr lang="en-US" sz="850" dirty="0">
                        <a:latin typeface="Plus Jakarta Sans SemiBold" charset="0"/>
                        <a:ea typeface="Plus Jakarta Sans SemiBold" charset="0"/>
                        <a:cs typeface="Plus Jakarta Sans SemiBold" charset="0"/>
                      </a:endParaRPr>
                    </a:p>
                  </a:txBody>
                  <a:tcPr marL="101600" marR="101600" marT="38100" marB="38100" anchor="ctr">
                    <a:lnL w="0" cap="flat" cmpd="sng" algn="ctr">
                      <a:noFill/>
                    </a:lnL>
                    <a:lnR w="0" cap="flat" cmpd="sng" algn="ctr">
                      <a:noFill/>
                    </a:lnR>
                    <a:lnT w="9525" cap="flat" cmpd="sng" algn="ctr">
                      <a:solidFill>
                        <a:srgbClr val="2C3A4F"/>
                      </a:solidFill>
                      <a:prstDash val="solid"/>
                      <a:round/>
                      <a:headEnd type="none" w="med" len="med"/>
                      <a:tailEnd type="none" w="med" len="med"/>
                    </a:lnT>
                    <a:lnB w="9525" cap="flat" cmpd="sng" algn="ctr">
                      <a:solidFill>
                        <a:srgbClr val="2C3A4F"/>
                      </a:solidFill>
                      <a:prstDash val="solid"/>
                      <a:round/>
                      <a:headEnd type="none" w="med" len="med"/>
                      <a:tailEnd type="none" w="med" len="med"/>
                    </a:lnB>
                    <a:solidFill>
                      <a:srgbClr val="182638"/>
                    </a:solidFill>
                  </a:tcPr>
                </a:tc>
                <a:tc>
                  <a:txBody>
                    <a:bodyPr/>
                    <a:lstStyle/>
                    <a:p>
                      <a:pPr algn="ctr" indent="0" marL="0">
                        <a:buNone/>
                      </a:pPr>
                      <a:r>
                        <a:rPr lang="en-US" sz="850" dirty="0">
                          <a:solidFill>
                            <a:srgbClr val="C3C8D1"/>
                          </a:solidFill>
                          <a:latin typeface="Plus Jakarta Sans" pitchFamily="34" charset="0"/>
                          <a:ea typeface="Plus Jakarta Sans" pitchFamily="34" charset="-122"/>
                          <a:cs typeface="Plus Jakarta Sans" pitchFamily="34" charset="-120"/>
                        </a:rPr>
                        <a:t>00</a:t>
                      </a:r>
                      <a:endParaRPr lang="en-US" sz="85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2C3A4F"/>
                      </a:solidFill>
                      <a:prstDash val="solid"/>
                      <a:round/>
                      <a:headEnd type="none" w="med" len="med"/>
                      <a:tailEnd type="none" w="med" len="med"/>
                    </a:lnT>
                    <a:lnB w="9525" cap="flat" cmpd="sng" algn="ctr">
                      <a:solidFill>
                        <a:srgbClr val="2C3A4F"/>
                      </a:solidFill>
                      <a:prstDash val="solid"/>
                      <a:round/>
                      <a:headEnd type="none" w="med" len="med"/>
                      <a:tailEnd type="none" w="med" len="med"/>
                    </a:lnB>
                    <a:solidFill>
                      <a:srgbClr val="182638"/>
                    </a:solidFill>
                  </a:tcPr>
                </a:tc>
                <a:tc>
                  <a:txBody>
                    <a:bodyPr/>
                    <a:lstStyle/>
                    <a:p>
                      <a:pPr algn="ctr" indent="0" marL="0">
                        <a:buNone/>
                      </a:pPr>
                      <a:r>
                        <a:rPr lang="en-US" sz="850" dirty="0">
                          <a:solidFill>
                            <a:srgbClr val="C3C8D1"/>
                          </a:solidFill>
                          <a:latin typeface="Plus Jakarta Sans" pitchFamily="34" charset="0"/>
                          <a:ea typeface="Plus Jakarta Sans" pitchFamily="34" charset="-122"/>
                          <a:cs typeface="Plus Jakarta Sans" pitchFamily="34" charset="-120"/>
                        </a:rPr>
                        <a:t>05</a:t>
                      </a:r>
                      <a:endParaRPr lang="en-US" sz="85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2C3A4F"/>
                      </a:solidFill>
                      <a:prstDash val="solid"/>
                      <a:round/>
                      <a:headEnd type="none" w="med" len="med"/>
                      <a:tailEnd type="none" w="med" len="med"/>
                    </a:lnT>
                    <a:lnB w="9525" cap="flat" cmpd="sng" algn="ctr">
                      <a:solidFill>
                        <a:srgbClr val="2C3A4F"/>
                      </a:solidFill>
                      <a:prstDash val="solid"/>
                      <a:round/>
                      <a:headEnd type="none" w="med" len="med"/>
                      <a:tailEnd type="none" w="med" len="med"/>
                    </a:lnB>
                    <a:solidFill>
                      <a:srgbClr val="182638"/>
                    </a:solidFill>
                  </a:tcPr>
                </a:tc>
                <a:tc>
                  <a:txBody>
                    <a:bodyPr/>
                    <a:lstStyle/>
                    <a:p>
                      <a:pPr algn="ctr" indent="0" marL="0">
                        <a:buNone/>
                      </a:pPr>
                      <a:r>
                        <a:rPr lang="en-US" sz="850" dirty="0">
                          <a:solidFill>
                            <a:srgbClr val="C3C8D1"/>
                          </a:solidFill>
                          <a:latin typeface="Plus Jakarta Sans" pitchFamily="34" charset="0"/>
                          <a:ea typeface="Plus Jakarta Sans" pitchFamily="34" charset="-122"/>
                          <a:cs typeface="Plus Jakarta Sans" pitchFamily="34" charset="-120"/>
                        </a:rPr>
                        <a:t>15</a:t>
                      </a:r>
                      <a:endParaRPr lang="en-US" sz="85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2C3A4F"/>
                      </a:solidFill>
                      <a:prstDash val="solid"/>
                      <a:round/>
                      <a:headEnd type="none" w="med" len="med"/>
                      <a:tailEnd type="none" w="med" len="med"/>
                    </a:lnT>
                    <a:lnB w="9525" cap="flat" cmpd="sng" algn="ctr">
                      <a:solidFill>
                        <a:srgbClr val="2C3A4F"/>
                      </a:solidFill>
                      <a:prstDash val="solid"/>
                      <a:round/>
                      <a:headEnd type="none" w="med" len="med"/>
                      <a:tailEnd type="none" w="med" len="med"/>
                    </a:lnB>
                    <a:solidFill>
                      <a:srgbClr val="182638"/>
                    </a:solidFill>
                  </a:tcPr>
                </a:tc>
                <a:tc>
                  <a:txBody>
                    <a:bodyPr/>
                    <a:lstStyle/>
                    <a:p>
                      <a:pPr algn="ctr" indent="0" marL="0">
                        <a:buNone/>
                      </a:pPr>
                      <a:r>
                        <a:rPr lang="en-US" sz="850" dirty="0">
                          <a:solidFill>
                            <a:srgbClr val="C3C8D1"/>
                          </a:solidFill>
                          <a:latin typeface="Plus Jakarta Sans" pitchFamily="34" charset="0"/>
                          <a:ea typeface="Plus Jakarta Sans" pitchFamily="34" charset="-122"/>
                          <a:cs typeface="Plus Jakarta Sans" pitchFamily="34" charset="-120"/>
                        </a:rPr>
                        <a:t>40</a:t>
                      </a:r>
                      <a:endParaRPr lang="en-US" sz="85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2C3A4F"/>
                      </a:solidFill>
                      <a:prstDash val="solid"/>
                      <a:round/>
                      <a:headEnd type="none" w="med" len="med"/>
                      <a:tailEnd type="none" w="med" len="med"/>
                    </a:lnT>
                    <a:lnB w="9525" cap="flat" cmpd="sng" algn="ctr">
                      <a:solidFill>
                        <a:srgbClr val="2C3A4F"/>
                      </a:solidFill>
                      <a:prstDash val="solid"/>
                      <a:round/>
                      <a:headEnd type="none" w="med" len="med"/>
                      <a:tailEnd type="none" w="med" len="med"/>
                    </a:lnB>
                    <a:solidFill>
                      <a:srgbClr val="182638"/>
                    </a:solidFill>
                  </a:tcPr>
                </a:tc>
                <a:tc>
                  <a:txBody>
                    <a:bodyPr/>
                    <a:lstStyle/>
                    <a:p>
                      <a:pPr algn="ctr" indent="0" marL="0">
                        <a:buNone/>
                      </a:pPr>
                      <a:r>
                        <a:rPr lang="en-US" sz="850" b="1" dirty="0">
                          <a:solidFill>
                            <a:srgbClr val="15B6FF"/>
                          </a:solidFill>
                          <a:latin typeface="Plus Jakarta Sans" pitchFamily="34" charset="0"/>
                          <a:ea typeface="Plus Jakarta Sans" pitchFamily="34" charset="-122"/>
                          <a:cs typeface="Plus Jakarta Sans" pitchFamily="34" charset="-120"/>
                        </a:rPr>
                        <a:t>100</a:t>
                      </a:r>
                      <a:endParaRPr lang="en-US" sz="85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2C3A4F"/>
                      </a:solidFill>
                      <a:prstDash val="solid"/>
                      <a:round/>
                      <a:headEnd type="none" w="med" len="med"/>
                      <a:tailEnd type="none" w="med" len="med"/>
                    </a:lnT>
                    <a:lnB w="9525" cap="flat" cmpd="sng" algn="ctr">
                      <a:solidFill>
                        <a:srgbClr val="2C3A4F"/>
                      </a:solidFill>
                      <a:prstDash val="solid"/>
                      <a:round/>
                      <a:headEnd type="none" w="med" len="med"/>
                      <a:tailEnd type="none" w="med" len="med"/>
                    </a:lnB>
                    <a:solidFill>
                      <a:srgbClr val="182638"/>
                    </a:solidFill>
                  </a:tcPr>
                </a:tc>
              </a:tr>
              <a:tr h="457200">
                <a:tc>
                  <a:txBody>
                    <a:bodyPr/>
                    <a:lstStyle/>
                    <a:p>
                      <a:pPr algn="l" indent="0" marL="0">
                        <a:buNone/>
                      </a:pPr>
                      <a:r>
                        <a:rPr lang="en-US" sz="850" dirty="0">
                          <a:solidFill>
                            <a:srgbClr val="FFFFFF"/>
                          </a:solidFill>
                          <a:latin typeface="Plus Jakarta Sans SemiBold" pitchFamily="34" charset="0"/>
                          <a:ea typeface="Plus Jakarta Sans SemiBold" pitchFamily="34" charset="-122"/>
                          <a:cs typeface="Plus Jakarta Sans SemiBold" pitchFamily="34" charset="-120"/>
                        </a:rPr>
                        <a:t>R&amp;D expert consultations / yr</a:t>
                      </a:r>
                      <a:endParaRPr lang="en-US" sz="850" dirty="0">
                        <a:latin typeface="Plus Jakarta Sans SemiBold" charset="0"/>
                        <a:ea typeface="Plus Jakarta Sans SemiBold" charset="0"/>
                        <a:cs typeface="Plus Jakarta Sans SemiBold" charset="0"/>
                      </a:endParaRPr>
                    </a:p>
                  </a:txBody>
                  <a:tcPr marL="101600" marR="101600" marT="38100" marB="38100" anchor="ctr">
                    <a:lnL w="0" cap="flat" cmpd="sng" algn="ctr">
                      <a:noFill/>
                    </a:lnL>
                    <a:lnR w="0" cap="flat" cmpd="sng" algn="ctr">
                      <a:noFill/>
                    </a:lnR>
                    <a:lnT w="9525" cap="flat" cmpd="sng" algn="ctr">
                      <a:solidFill>
                        <a:srgbClr val="2C3A4F"/>
                      </a:solidFill>
                      <a:prstDash val="solid"/>
                      <a:round/>
                      <a:headEnd type="none" w="med" len="med"/>
                      <a:tailEnd type="none" w="med" len="med"/>
                    </a:lnT>
                    <a:lnB w="9525" cap="flat" cmpd="sng" algn="ctr">
                      <a:solidFill>
                        <a:srgbClr val="2C3A4F"/>
                      </a:solidFill>
                      <a:prstDash val="solid"/>
                      <a:round/>
                      <a:headEnd type="none" w="med" len="med"/>
                      <a:tailEnd type="none" w="med" len="med"/>
                    </a:lnB>
                    <a:solidFill>
                      <a:srgbClr val="1D2B3E"/>
                    </a:solidFill>
                  </a:tcPr>
                </a:tc>
                <a:tc>
                  <a:txBody>
                    <a:bodyPr/>
                    <a:lstStyle/>
                    <a:p>
                      <a:pPr algn="ctr" indent="0" marL="0">
                        <a:buNone/>
                      </a:pPr>
                      <a:r>
                        <a:rPr lang="en-US" sz="850" dirty="0">
                          <a:solidFill>
                            <a:srgbClr val="C3C8D1"/>
                          </a:solidFill>
                          <a:latin typeface="Plus Jakarta Sans" pitchFamily="34" charset="0"/>
                          <a:ea typeface="Plus Jakarta Sans" pitchFamily="34" charset="-122"/>
                          <a:cs typeface="Plus Jakarta Sans" pitchFamily="34" charset="-120"/>
                        </a:rPr>
                        <a:t>00</a:t>
                      </a:r>
                      <a:endParaRPr lang="en-US" sz="85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2C3A4F"/>
                      </a:solidFill>
                      <a:prstDash val="solid"/>
                      <a:round/>
                      <a:headEnd type="none" w="med" len="med"/>
                      <a:tailEnd type="none" w="med" len="med"/>
                    </a:lnT>
                    <a:lnB w="9525" cap="flat" cmpd="sng" algn="ctr">
                      <a:solidFill>
                        <a:srgbClr val="2C3A4F"/>
                      </a:solidFill>
                      <a:prstDash val="solid"/>
                      <a:round/>
                      <a:headEnd type="none" w="med" len="med"/>
                      <a:tailEnd type="none" w="med" len="med"/>
                    </a:lnB>
                    <a:solidFill>
                      <a:srgbClr val="1D2B3E"/>
                    </a:solidFill>
                  </a:tcPr>
                </a:tc>
                <a:tc>
                  <a:txBody>
                    <a:bodyPr/>
                    <a:lstStyle/>
                    <a:p>
                      <a:pPr algn="ctr" indent="0" marL="0">
                        <a:buNone/>
                      </a:pPr>
                      <a:r>
                        <a:rPr lang="en-US" sz="850" dirty="0">
                          <a:solidFill>
                            <a:srgbClr val="C3C8D1"/>
                          </a:solidFill>
                          <a:latin typeface="Plus Jakarta Sans" pitchFamily="34" charset="0"/>
                          <a:ea typeface="Plus Jakarta Sans" pitchFamily="34" charset="-122"/>
                          <a:cs typeface="Plus Jakarta Sans" pitchFamily="34" charset="-120"/>
                        </a:rPr>
                        <a:t>01</a:t>
                      </a:r>
                      <a:endParaRPr lang="en-US" sz="85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2C3A4F"/>
                      </a:solidFill>
                      <a:prstDash val="solid"/>
                      <a:round/>
                      <a:headEnd type="none" w="med" len="med"/>
                      <a:tailEnd type="none" w="med" len="med"/>
                    </a:lnT>
                    <a:lnB w="9525" cap="flat" cmpd="sng" algn="ctr">
                      <a:solidFill>
                        <a:srgbClr val="2C3A4F"/>
                      </a:solidFill>
                      <a:prstDash val="solid"/>
                      <a:round/>
                      <a:headEnd type="none" w="med" len="med"/>
                      <a:tailEnd type="none" w="med" len="med"/>
                    </a:lnB>
                    <a:solidFill>
                      <a:srgbClr val="1D2B3E"/>
                    </a:solidFill>
                  </a:tcPr>
                </a:tc>
                <a:tc>
                  <a:txBody>
                    <a:bodyPr/>
                    <a:lstStyle/>
                    <a:p>
                      <a:pPr algn="ctr" indent="0" marL="0">
                        <a:buNone/>
                      </a:pPr>
                      <a:r>
                        <a:rPr lang="en-US" sz="850" dirty="0">
                          <a:solidFill>
                            <a:srgbClr val="C3C8D1"/>
                          </a:solidFill>
                          <a:latin typeface="Plus Jakarta Sans" pitchFamily="34" charset="0"/>
                          <a:ea typeface="Plus Jakarta Sans" pitchFamily="34" charset="-122"/>
                          <a:cs typeface="Plus Jakarta Sans" pitchFamily="34" charset="-120"/>
                        </a:rPr>
                        <a:t>02</a:t>
                      </a:r>
                      <a:endParaRPr lang="en-US" sz="85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2C3A4F"/>
                      </a:solidFill>
                      <a:prstDash val="solid"/>
                      <a:round/>
                      <a:headEnd type="none" w="med" len="med"/>
                      <a:tailEnd type="none" w="med" len="med"/>
                    </a:lnT>
                    <a:lnB w="9525" cap="flat" cmpd="sng" algn="ctr">
                      <a:solidFill>
                        <a:srgbClr val="2C3A4F"/>
                      </a:solidFill>
                      <a:prstDash val="solid"/>
                      <a:round/>
                      <a:headEnd type="none" w="med" len="med"/>
                      <a:tailEnd type="none" w="med" len="med"/>
                    </a:lnB>
                    <a:solidFill>
                      <a:srgbClr val="1D2B3E"/>
                    </a:solidFill>
                  </a:tcPr>
                </a:tc>
                <a:tc>
                  <a:txBody>
                    <a:bodyPr/>
                    <a:lstStyle/>
                    <a:p>
                      <a:pPr algn="ctr" indent="0" marL="0">
                        <a:buNone/>
                      </a:pPr>
                      <a:r>
                        <a:rPr lang="en-US" sz="850" dirty="0">
                          <a:solidFill>
                            <a:srgbClr val="C3C8D1"/>
                          </a:solidFill>
                          <a:latin typeface="Plus Jakarta Sans" pitchFamily="34" charset="0"/>
                          <a:ea typeface="Plus Jakarta Sans" pitchFamily="34" charset="-122"/>
                          <a:cs typeface="Plus Jakarta Sans" pitchFamily="34" charset="-120"/>
                        </a:rPr>
                        <a:t>04</a:t>
                      </a:r>
                      <a:endParaRPr lang="en-US" sz="85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2C3A4F"/>
                      </a:solidFill>
                      <a:prstDash val="solid"/>
                      <a:round/>
                      <a:headEnd type="none" w="med" len="med"/>
                      <a:tailEnd type="none" w="med" len="med"/>
                    </a:lnT>
                    <a:lnB w="9525" cap="flat" cmpd="sng" algn="ctr">
                      <a:solidFill>
                        <a:srgbClr val="2C3A4F"/>
                      </a:solidFill>
                      <a:prstDash val="solid"/>
                      <a:round/>
                      <a:headEnd type="none" w="med" len="med"/>
                      <a:tailEnd type="none" w="med" len="med"/>
                    </a:lnB>
                    <a:solidFill>
                      <a:srgbClr val="1D2B3E"/>
                    </a:solidFill>
                  </a:tcPr>
                </a:tc>
                <a:tc>
                  <a:txBody>
                    <a:bodyPr/>
                    <a:lstStyle/>
                    <a:p>
                      <a:pPr algn="ctr" indent="0" marL="0">
                        <a:buNone/>
                      </a:pPr>
                      <a:r>
                        <a:rPr lang="en-US" sz="850" b="1" dirty="0">
                          <a:solidFill>
                            <a:srgbClr val="15B6FF"/>
                          </a:solidFill>
                          <a:latin typeface="Plus Jakarta Sans" pitchFamily="34" charset="0"/>
                          <a:ea typeface="Plus Jakarta Sans" pitchFamily="34" charset="-122"/>
                          <a:cs typeface="Plus Jakarta Sans" pitchFamily="34" charset="-120"/>
                        </a:rPr>
                        <a:t>08</a:t>
                      </a:r>
                      <a:endParaRPr lang="en-US" sz="85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2C3A4F"/>
                      </a:solidFill>
                      <a:prstDash val="solid"/>
                      <a:round/>
                      <a:headEnd type="none" w="med" len="med"/>
                      <a:tailEnd type="none" w="med" len="med"/>
                    </a:lnT>
                    <a:lnB w="9525" cap="flat" cmpd="sng" algn="ctr">
                      <a:solidFill>
                        <a:srgbClr val="2C3A4F"/>
                      </a:solidFill>
                      <a:prstDash val="solid"/>
                      <a:round/>
                      <a:headEnd type="none" w="med" len="med"/>
                      <a:tailEnd type="none" w="med" len="med"/>
                    </a:lnB>
                    <a:solidFill>
                      <a:srgbClr val="1D2B3E"/>
                    </a:solidFill>
                  </a:tcPr>
                </a:tc>
              </a:tr>
              <a:tr h="457200">
                <a:tc>
                  <a:txBody>
                    <a:bodyPr/>
                    <a:lstStyle/>
                    <a:p>
                      <a:pPr algn="l" indent="0" marL="0">
                        <a:buNone/>
                      </a:pPr>
                      <a:r>
                        <a:rPr lang="en-US" sz="850" dirty="0">
                          <a:solidFill>
                            <a:srgbClr val="FFFFFF"/>
                          </a:solidFill>
                          <a:latin typeface="Plus Jakarta Sans SemiBold" pitchFamily="34" charset="0"/>
                          <a:ea typeface="Plus Jakarta Sans SemiBold" pitchFamily="34" charset="-122"/>
                          <a:cs typeface="Plus Jakarta Sans SemiBold" pitchFamily="34" charset="-120"/>
                        </a:rPr>
                        <a:t>Executive roadmap session</a:t>
                      </a:r>
                      <a:endParaRPr lang="en-US" sz="850" dirty="0">
                        <a:latin typeface="Plus Jakarta Sans SemiBold" charset="0"/>
                        <a:ea typeface="Plus Jakarta Sans SemiBold" charset="0"/>
                        <a:cs typeface="Plus Jakarta Sans SemiBold" charset="0"/>
                      </a:endParaRPr>
                    </a:p>
                  </a:txBody>
                  <a:tcPr marL="101600" marR="101600" marT="38100" marB="38100" anchor="ctr">
                    <a:lnL w="0" cap="flat" cmpd="sng" algn="ctr">
                      <a:noFill/>
                    </a:lnL>
                    <a:lnR w="0" cap="flat" cmpd="sng" algn="ctr">
                      <a:noFill/>
                    </a:lnR>
                    <a:lnT w="9525" cap="flat" cmpd="sng" algn="ctr">
                      <a:solidFill>
                        <a:srgbClr val="2C3A4F"/>
                      </a:solidFill>
                      <a:prstDash val="solid"/>
                      <a:round/>
                      <a:headEnd type="none" w="med" len="med"/>
                      <a:tailEnd type="none" w="med" len="med"/>
                    </a:lnT>
                    <a:lnB w="9525" cap="flat" cmpd="sng" algn="ctr">
                      <a:solidFill>
                        <a:srgbClr val="2C3A4F"/>
                      </a:solidFill>
                      <a:prstDash val="solid"/>
                      <a:round/>
                      <a:headEnd type="none" w="med" len="med"/>
                      <a:tailEnd type="none" w="med" len="med"/>
                    </a:lnB>
                    <a:solidFill>
                      <a:srgbClr val="182638"/>
                    </a:solidFill>
                  </a:tcPr>
                </a:tc>
                <a:tc>
                  <a:txBody>
                    <a:bodyPr/>
                    <a:lstStyle/>
                    <a:p>
                      <a:pPr algn="ctr" indent="0" marL="0">
                        <a:buNone/>
                      </a:pPr>
                      <a:r>
                        <a:rPr lang="en-US" sz="850" dirty="0">
                          <a:solidFill>
                            <a:srgbClr val="C3C8D1"/>
                          </a:solidFill>
                          <a:latin typeface="Plus Jakarta Sans" pitchFamily="34" charset="0"/>
                          <a:ea typeface="Plus Jakarta Sans" pitchFamily="34" charset="-122"/>
                          <a:cs typeface="Plus Jakarta Sans" pitchFamily="34" charset="-120"/>
                        </a:rPr>
                        <a:t>—</a:t>
                      </a:r>
                      <a:endParaRPr lang="en-US" sz="85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2C3A4F"/>
                      </a:solidFill>
                      <a:prstDash val="solid"/>
                      <a:round/>
                      <a:headEnd type="none" w="med" len="med"/>
                      <a:tailEnd type="none" w="med" len="med"/>
                    </a:lnT>
                    <a:lnB w="9525" cap="flat" cmpd="sng" algn="ctr">
                      <a:solidFill>
                        <a:srgbClr val="2C3A4F"/>
                      </a:solidFill>
                      <a:prstDash val="solid"/>
                      <a:round/>
                      <a:headEnd type="none" w="med" len="med"/>
                      <a:tailEnd type="none" w="med" len="med"/>
                    </a:lnB>
                    <a:solidFill>
                      <a:srgbClr val="182638"/>
                    </a:solidFill>
                  </a:tcPr>
                </a:tc>
                <a:tc>
                  <a:txBody>
                    <a:bodyPr/>
                    <a:lstStyle/>
                    <a:p>
                      <a:pPr algn="ctr" indent="0" marL="0">
                        <a:buNone/>
                      </a:pPr>
                      <a:r>
                        <a:rPr lang="en-US" sz="850" dirty="0">
                          <a:solidFill>
                            <a:srgbClr val="C3C8D1"/>
                          </a:solidFill>
                          <a:latin typeface="Plus Jakarta Sans" pitchFamily="34" charset="0"/>
                          <a:ea typeface="Plus Jakarta Sans" pitchFamily="34" charset="-122"/>
                          <a:cs typeface="Plus Jakarta Sans" pitchFamily="34" charset="-120"/>
                        </a:rPr>
                        <a:t>—</a:t>
                      </a:r>
                      <a:endParaRPr lang="en-US" sz="85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2C3A4F"/>
                      </a:solidFill>
                      <a:prstDash val="solid"/>
                      <a:round/>
                      <a:headEnd type="none" w="med" len="med"/>
                      <a:tailEnd type="none" w="med" len="med"/>
                    </a:lnT>
                    <a:lnB w="9525" cap="flat" cmpd="sng" algn="ctr">
                      <a:solidFill>
                        <a:srgbClr val="2C3A4F"/>
                      </a:solidFill>
                      <a:prstDash val="solid"/>
                      <a:round/>
                      <a:headEnd type="none" w="med" len="med"/>
                      <a:tailEnd type="none" w="med" len="med"/>
                    </a:lnB>
                    <a:solidFill>
                      <a:srgbClr val="182638"/>
                    </a:solidFill>
                  </a:tcPr>
                </a:tc>
                <a:tc>
                  <a:txBody>
                    <a:bodyPr/>
                    <a:lstStyle/>
                    <a:p>
                      <a:pPr algn="ctr" indent="0" marL="0">
                        <a:buNone/>
                      </a:pPr>
                      <a:r>
                        <a:rPr lang="en-US" sz="850" dirty="0">
                          <a:solidFill>
                            <a:srgbClr val="C3C8D1"/>
                          </a:solidFill>
                          <a:latin typeface="Plus Jakarta Sans" pitchFamily="34" charset="0"/>
                          <a:ea typeface="Plus Jakarta Sans" pitchFamily="34" charset="-122"/>
                          <a:cs typeface="Plus Jakarta Sans" pitchFamily="34" charset="-120"/>
                        </a:rPr>
                        <a:t>Annual</a:t>
                      </a:r>
                      <a:endParaRPr lang="en-US" sz="85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2C3A4F"/>
                      </a:solidFill>
                      <a:prstDash val="solid"/>
                      <a:round/>
                      <a:headEnd type="none" w="med" len="med"/>
                      <a:tailEnd type="none" w="med" len="med"/>
                    </a:lnT>
                    <a:lnB w="9525" cap="flat" cmpd="sng" algn="ctr">
                      <a:solidFill>
                        <a:srgbClr val="2C3A4F"/>
                      </a:solidFill>
                      <a:prstDash val="solid"/>
                      <a:round/>
                      <a:headEnd type="none" w="med" len="med"/>
                      <a:tailEnd type="none" w="med" len="med"/>
                    </a:lnB>
                    <a:solidFill>
                      <a:srgbClr val="182638"/>
                    </a:solidFill>
                  </a:tcPr>
                </a:tc>
                <a:tc>
                  <a:txBody>
                    <a:bodyPr/>
                    <a:lstStyle/>
                    <a:p>
                      <a:pPr algn="ctr" indent="0" marL="0">
                        <a:buNone/>
                      </a:pPr>
                      <a:r>
                        <a:rPr lang="en-US" sz="850" dirty="0">
                          <a:solidFill>
                            <a:srgbClr val="C3C8D1"/>
                          </a:solidFill>
                          <a:latin typeface="Plus Jakarta Sans" pitchFamily="34" charset="0"/>
                          <a:ea typeface="Plus Jakarta Sans" pitchFamily="34" charset="-122"/>
                          <a:cs typeface="Plus Jakarta Sans" pitchFamily="34" charset="-120"/>
                        </a:rPr>
                        <a:t>Semi-ann.</a:t>
                      </a:r>
                      <a:endParaRPr lang="en-US" sz="85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2C3A4F"/>
                      </a:solidFill>
                      <a:prstDash val="solid"/>
                      <a:round/>
                      <a:headEnd type="none" w="med" len="med"/>
                      <a:tailEnd type="none" w="med" len="med"/>
                    </a:lnT>
                    <a:lnB w="9525" cap="flat" cmpd="sng" algn="ctr">
                      <a:solidFill>
                        <a:srgbClr val="2C3A4F"/>
                      </a:solidFill>
                      <a:prstDash val="solid"/>
                      <a:round/>
                      <a:headEnd type="none" w="med" len="med"/>
                      <a:tailEnd type="none" w="med" len="med"/>
                    </a:lnB>
                    <a:solidFill>
                      <a:srgbClr val="182638"/>
                    </a:solidFill>
                  </a:tcPr>
                </a:tc>
                <a:tc>
                  <a:txBody>
                    <a:bodyPr/>
                    <a:lstStyle/>
                    <a:p>
                      <a:pPr algn="ctr" indent="0" marL="0">
                        <a:buNone/>
                      </a:pPr>
                      <a:r>
                        <a:rPr lang="en-US" sz="850" b="1" dirty="0">
                          <a:solidFill>
                            <a:srgbClr val="15B6FF"/>
                          </a:solidFill>
                          <a:latin typeface="Plus Jakarta Sans" pitchFamily="34" charset="0"/>
                          <a:ea typeface="Plus Jakarta Sans" pitchFamily="34" charset="-122"/>
                          <a:cs typeface="Plus Jakarta Sans" pitchFamily="34" charset="-120"/>
                        </a:rPr>
                        <a:t>Quarterly</a:t>
                      </a:r>
                      <a:endParaRPr lang="en-US" sz="85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2C3A4F"/>
                      </a:solidFill>
                      <a:prstDash val="solid"/>
                      <a:round/>
                      <a:headEnd type="none" w="med" len="med"/>
                      <a:tailEnd type="none" w="med" len="med"/>
                    </a:lnT>
                    <a:lnB w="9525" cap="flat" cmpd="sng" algn="ctr">
                      <a:solidFill>
                        <a:srgbClr val="2C3A4F"/>
                      </a:solidFill>
                      <a:prstDash val="solid"/>
                      <a:round/>
                      <a:headEnd type="none" w="med" len="med"/>
                      <a:tailEnd type="none" w="med" len="med"/>
                    </a:lnB>
                    <a:solidFill>
                      <a:srgbClr val="182638"/>
                    </a:solidFill>
                  </a:tcPr>
                </a:tc>
              </a:tr>
            </a:tbl>
          </a:graphicData>
        </a:graphic>
      </p:graphicFrame>
      <p:sp>
        <p:nvSpPr>
          <p:cNvPr id="14" name="anim-9-10"/>
          <p:cNvSpPr/>
          <p:nvPr/>
        </p:nvSpPr>
        <p:spPr>
          <a:xfrm>
            <a:off x="508000" y="5664200"/>
            <a:ext cx="11176000" cy="406400"/>
          </a:xfrm>
          <a:prstGeom prst="roundRect">
            <a:avLst>
              <a:gd name="adj" fmla="val 50000"/>
            </a:avLst>
          </a:prstGeom>
          <a:solidFill>
            <a:srgbClr val="FFFFFF">
              <a:alpha val="4000"/>
            </a:srgbClr>
          </a:solidFill>
          <a:ln w="9525">
            <a:solidFill>
              <a:srgbClr val="FFFFFF">
                <a:alpha val="22000"/>
              </a:srgbClr>
            </a:solidFill>
            <a:prstDash val="solid"/>
          </a:ln>
        </p:spPr>
      </p:sp>
      <p:sp>
        <p:nvSpPr>
          <p:cNvPr id="15" name="anim-9-11"/>
          <p:cNvSpPr txBox="1"/>
          <p:nvPr/>
        </p:nvSpPr>
        <p:spPr>
          <a:xfrm>
            <a:off x="762000" y="5664200"/>
            <a:ext cx="2095500" cy="406400"/>
          </a:xfrm>
          <a:prstGeom prst="rect">
            <a:avLst/>
          </a:prstGeom>
          <a:noFill/>
          <a:ln/>
        </p:spPr>
        <p:txBody>
          <a:bodyPr wrap="square" lIns="0" tIns="0" rIns="0" bIns="0" rtlCol="0" anchor="ctr"/>
          <a:lstStyle/>
          <a:p>
            <a:pPr algn="l" indent="0" marL="0">
              <a:lnSpc>
                <a:spcPct val="112000"/>
              </a:lnSpc>
              <a:buNone/>
            </a:pPr>
            <a:r>
              <a:rPr lang="en-US" sz="1100" b="1" dirty="0">
                <a:solidFill>
                  <a:srgbClr val="15B6FF"/>
                </a:solidFill>
                <a:latin typeface="Plus Jakarta Sans" pitchFamily="34" charset="0"/>
                <a:ea typeface="Plus Jakarta Sans" pitchFamily="34" charset="-122"/>
                <a:cs typeface="Plus Jakarta Sans" pitchFamily="34" charset="-120"/>
              </a:rPr>
              <a:t>Launch Support</a:t>
            </a:r>
            <a:endParaRPr lang="en-US" sz="1100" dirty="0"/>
          </a:p>
        </p:txBody>
      </p:sp>
      <p:sp>
        <p:nvSpPr>
          <p:cNvPr id="16" name="anim-9-12"/>
          <p:cNvSpPr txBox="1"/>
          <p:nvPr/>
        </p:nvSpPr>
        <p:spPr>
          <a:xfrm>
            <a:off x="2921000" y="5664200"/>
            <a:ext cx="8572500" cy="406400"/>
          </a:xfrm>
          <a:prstGeom prst="rect">
            <a:avLst/>
          </a:prstGeom>
          <a:noFill/>
          <a:ln/>
        </p:spPr>
        <p:txBody>
          <a:bodyPr wrap="square" lIns="0" tIns="0" rIns="0" bIns="0" rtlCol="0" anchor="ctr"/>
          <a:lstStyle/>
          <a:p>
            <a:pPr algn="l" indent="0" marL="0">
              <a:lnSpc>
                <a:spcPct val="112000"/>
              </a:lnSpc>
              <a:buNone/>
            </a:pPr>
            <a:r>
              <a:rPr lang="en-US" sz="1000" dirty="0">
                <a:solidFill>
                  <a:srgbClr val="FFFFFF"/>
                </a:solidFill>
                <a:latin typeface="Plus Jakarta Sans Medium" pitchFamily="34" charset="0"/>
                <a:ea typeface="Plus Jakarta Sans Medium" pitchFamily="34" charset="-122"/>
                <a:cs typeface="Plus Jakarta Sans Medium" pitchFamily="34" charset="-120"/>
              </a:rPr>
              <a:t>Your first 03 qualified opportunities get discovery coaching, demo prep, scoping, pilot planning and proposal review.</a:t>
            </a:r>
            <a:endParaRPr lang="en-US" sz="10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500"/>
                                        <p:tgtEl>
                                          <p:spTgt spid="7"/>
                                        </p:tgtEl>
                                      </p:cBhvr>
                                    </p:animEffect>
                                  </p:childTnLst>
                                </p:cTn>
                              </p:par>
                              <p:par>
                                <p:cTn id="14" presetID="10" presetClass="entr" presetSubtype="0" fill="hold" grpId="0" nodeType="withEffect">
                                  <p:stCondLst>
                                    <p:cond delay="18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500"/>
                                        <p:tgtEl>
                                          <p:spTgt spid="8"/>
                                        </p:tgtEl>
                                      </p:cBhvr>
                                    </p:animEffect>
                                  </p:childTnLst>
                                </p:cTn>
                              </p:par>
                              <p:par>
                                <p:cTn id="17" presetID="10" presetClass="entr" presetSubtype="0" fill="hold" grpId="0" nodeType="withEffect">
                                  <p:stCondLst>
                                    <p:cond delay="18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500"/>
                                        <p:tgtEl>
                                          <p:spTgt spid="9"/>
                                        </p:tgtEl>
                                      </p:cBhvr>
                                    </p:animEffect>
                                  </p:childTnLst>
                                </p:cTn>
                              </p:par>
                              <p:par>
                                <p:cTn id="20" presetID="10" presetClass="entr" presetSubtype="0" fill="hold" grpId="0" nodeType="withEffect">
                                  <p:stCondLst>
                                    <p:cond delay="180"/>
                                  </p:stCondLst>
                                  <p:childTnLst>
                                    <p:set>
                                      <p:cBhvr>
                                        <p:cTn id="21" dur="1" fill="hold">
                                          <p:stCondLst>
                                            <p:cond delay="0"/>
                                          </p:stCondLst>
                                        </p:cTn>
                                        <p:tgtEl>
                                          <p:spTgt spid="21"/>
                                        </p:tgtEl>
                                        <p:attrNameLst>
                                          <p:attrName>style.visibility</p:attrName>
                                        </p:attrNameLst>
                                      </p:cBhvr>
                                      <p:to>
                                        <p:strVal val="visible"/>
                                      </p:to>
                                    </p:set>
                                    <p:animEffect transition="in" filter="fade">
                                      <p:cBhvr>
                                        <p:cTn id="22" dur="500"/>
                                        <p:tgtEl>
                                          <p:spTgt spid="21"/>
                                        </p:tgtEl>
                                      </p:cBhvr>
                                    </p:animEffect>
                                  </p:childTnLst>
                                </p:cTn>
                              </p:par>
                              <p:par>
                                <p:cTn id="23" presetID="10" presetClass="entr" presetSubtype="0" fill="hold" grpId="0" nodeType="withEffect">
                                  <p:stCondLst>
                                    <p:cond delay="360"/>
                                  </p:stCondLst>
                                  <p:childTnLst>
                                    <p:set>
                                      <p:cBhvr>
                                        <p:cTn id="24" dur="1" fill="hold">
                                          <p:stCondLst>
                                            <p:cond delay="0"/>
                                          </p:stCondLst>
                                        </p:cTn>
                                        <p:tgtEl>
                                          <p:spTgt spid="11"/>
                                        </p:tgtEl>
                                        <p:attrNameLst>
                                          <p:attrName>style.visibility</p:attrName>
                                        </p:attrNameLst>
                                      </p:cBhvr>
                                      <p:to>
                                        <p:strVal val="visible"/>
                                      </p:to>
                                    </p:set>
                                    <p:animEffect transition="in" filter="fade">
                                      <p:cBhvr>
                                        <p:cTn id="25" dur="500"/>
                                        <p:tgtEl>
                                          <p:spTgt spid="11"/>
                                        </p:tgtEl>
                                      </p:cBhvr>
                                    </p:animEffect>
                                  </p:childTnLst>
                                </p:cTn>
                              </p:par>
                              <p:par>
                                <p:cTn id="26" presetID="10" presetClass="entr" presetSubtype="0" fill="hold" grpId="0" nodeType="withEffect">
                                  <p:stCondLst>
                                    <p:cond delay="360"/>
                                  </p:stCondLst>
                                  <p:childTnLst>
                                    <p:set>
                                      <p:cBhvr>
                                        <p:cTn id="27" dur="1" fill="hold">
                                          <p:stCondLst>
                                            <p:cond delay="0"/>
                                          </p:stCondLst>
                                        </p:cTn>
                                        <p:tgtEl>
                                          <p:spTgt spid="12"/>
                                        </p:tgtEl>
                                        <p:attrNameLst>
                                          <p:attrName>style.visibility</p:attrName>
                                        </p:attrNameLst>
                                      </p:cBhvr>
                                      <p:to>
                                        <p:strVal val="visible"/>
                                      </p:to>
                                    </p:set>
                                    <p:animEffect transition="in" filter="fade">
                                      <p:cBhvr>
                                        <p:cTn id="28" dur="500"/>
                                        <p:tgtEl>
                                          <p:spTgt spid="12"/>
                                        </p:tgtEl>
                                      </p:cBhvr>
                                    </p:animEffect>
                                  </p:childTnLst>
                                </p:cTn>
                              </p:par>
                              <p:par>
                                <p:cTn id="29" presetID="10" presetClass="entr" presetSubtype="0" fill="hold" grpId="0" nodeType="withEffect">
                                  <p:stCondLst>
                                    <p:cond delay="360"/>
                                  </p:stCondLst>
                                  <p:childTnLst>
                                    <p:set>
                                      <p:cBhvr>
                                        <p:cTn id="30" dur="1" fill="hold">
                                          <p:stCondLst>
                                            <p:cond delay="0"/>
                                          </p:stCondLst>
                                        </p:cTn>
                                        <p:tgtEl>
                                          <p:spTgt spid="41"/>
                                        </p:tgtEl>
                                        <p:attrNameLst>
                                          <p:attrName>style.visibility</p:attrName>
                                        </p:attrNameLst>
                                      </p:cBhvr>
                                      <p:to>
                                        <p:strVal val="visible"/>
                                      </p:to>
                                    </p:set>
                                    <p:animEffect transition="in" filter="fade">
                                      <p:cBhvr>
                                        <p:cTn id="31" dur="500"/>
                                        <p:tgtEl>
                                          <p:spTgt spid="41"/>
                                        </p:tgtEl>
                                      </p:cBhvr>
                                    </p:animEffect>
                                  </p:childTnLst>
                                </p:cTn>
                              </p:par>
                              <p:par>
                                <p:cTn id="32" presetID="10" presetClass="entr" presetSubtype="0" fill="hold" grpId="0" nodeType="withEffect">
                                  <p:stCondLst>
                                    <p:cond delay="54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500"/>
                                        <p:tgtEl>
                                          <p:spTgt spid="14"/>
                                        </p:tgtEl>
                                      </p:cBhvr>
                                    </p:animEffect>
                                  </p:childTnLst>
                                </p:cTn>
                              </p:par>
                              <p:par>
                                <p:cTn id="35" presetID="10" presetClass="entr" presetSubtype="0" fill="hold" grpId="0" nodeType="withEffect">
                                  <p:stCondLst>
                                    <p:cond delay="540"/>
                                  </p:stCondLst>
                                  <p:childTnLst>
                                    <p:set>
                                      <p:cBhvr>
                                        <p:cTn id="36" dur="1" fill="hold">
                                          <p:stCondLst>
                                            <p:cond delay="0"/>
                                          </p:stCondLst>
                                        </p:cTn>
                                        <p:tgtEl>
                                          <p:spTgt spid="15"/>
                                        </p:tgtEl>
                                        <p:attrNameLst>
                                          <p:attrName>style.visibility</p:attrName>
                                        </p:attrNameLst>
                                      </p:cBhvr>
                                      <p:to>
                                        <p:strVal val="visible"/>
                                      </p:to>
                                    </p:set>
                                    <p:animEffect transition="in" filter="fade">
                                      <p:cBhvr>
                                        <p:cTn id="37" dur="500"/>
                                        <p:tgtEl>
                                          <p:spTgt spid="15"/>
                                        </p:tgtEl>
                                      </p:cBhvr>
                                    </p:animEffect>
                                  </p:childTnLst>
                                </p:cTn>
                              </p:par>
                              <p:par>
                                <p:cTn id="38" presetID="10" presetClass="entr" presetSubtype="0" fill="hold" grpId="0" nodeType="withEffect">
                                  <p:stCondLst>
                                    <p:cond delay="540"/>
                                  </p:stCondLst>
                                  <p:childTnLst>
                                    <p:set>
                                      <p:cBhvr>
                                        <p:cTn id="39" dur="1" fill="hold">
                                          <p:stCondLst>
                                            <p:cond delay="0"/>
                                          </p:stCondLst>
                                        </p:cTn>
                                        <p:tgtEl>
                                          <p:spTgt spid="16"/>
                                        </p:tgtEl>
                                        <p:attrNameLst>
                                          <p:attrName>style.visibility</p:attrName>
                                        </p:attrNameLst>
                                      </p:cBhvr>
                                      <p:to>
                                        <p:strVal val="visible"/>
                                      </p:to>
                                    </p:set>
                                    <p:animEffect transition="in" filter="fade">
                                      <p:cBhvr>
                                        <p:cTn id="40"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9" grpId="0" animBg="1"/>
      <p:bldP spid="11" grpId="0" animBg="1"/>
      <p:bldP spid="12" grpId="0" animBg="1"/>
      <p:bldP spid="14" grpId="0" animBg="1"/>
      <p:bldP spid="15" grpId="0" animBg="1"/>
      <p:bldP spid="16"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name="Slide 2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tmp/claude-0/-home-user-hosting/7c832a48-0979-56aa-9fdf-7d53efb9dc7a/scratchpad/build/imgd/logo-white.png">    </p:cNvPr>
          <p:cNvPicPr>
            <a:picLocks noChangeAspect="1"/>
          </p:cNvPicPr>
          <p:nvPr/>
        </p:nvPicPr>
        <p:blipFill>
          <a:blip r:embed="rId2"/>
          <a:stretch>
            <a:fillRect/>
          </a:stretch>
        </p:blipFill>
        <p:spPr>
          <a:xfrm>
            <a:off x="10414000" y="355600"/>
            <a:ext cx="1270000" cy="304800"/>
          </a:xfrm>
          <a:prstGeom prst="rect">
            <a:avLst/>
          </a:prstGeom>
        </p:spPr>
      </p:pic>
      <p:sp>
        <p:nvSpPr>
          <p:cNvPr id="3" name="Text 0"/>
          <p:cNvSpPr/>
          <p:nvPr/>
        </p:nvSpPr>
        <p:spPr>
          <a:xfrm>
            <a:off x="177800" y="6134100"/>
            <a:ext cx="1270000" cy="571500"/>
          </a:xfrm>
          <a:prstGeom prst="rect">
            <a:avLst/>
          </a:prstGeom>
          <a:noFill/>
          <a:ln/>
        </p:spPr>
        <p:txBody>
          <a:bodyPr wrap="square" lIns="0" tIns="0" rIns="0" bIns="0" rtlCol="0" anchor="ctr"/>
          <a:lstStyle/>
          <a:p>
            <a:pPr indent="0" marL="0">
              <a:buNone/>
            </a:pPr>
            <a:r>
              <a:rPr lang="en-US" sz="3550" b="1" dirty="0">
                <a:solidFill>
                  <a:srgbClr val="3F8FF2">
                    <a:alpha val="30000"/>
                  </a:srgbClr>
                </a:solidFill>
                <a:latin typeface="Plus Jakarta Sans" pitchFamily="34" charset="0"/>
                <a:ea typeface="Plus Jakarta Sans" pitchFamily="34" charset="-122"/>
                <a:cs typeface="Plus Jakarta Sans" pitchFamily="34" charset="-120"/>
              </a:rPr>
              <a:t>21</a:t>
            </a:r>
            <a:endParaRPr lang="en-US" sz="3550" dirty="0"/>
          </a:p>
        </p:txBody>
      </p:sp>
      <p:sp>
        <p:nvSpPr>
          <p:cNvPr id="4" name="Text 1"/>
          <p:cNvSpPr txBox="1"/>
          <p:nvPr/>
        </p:nvSpPr>
        <p:spPr>
          <a:xfrm>
            <a:off x="6604000" y="6477000"/>
            <a:ext cx="5080000" cy="152400"/>
          </a:xfrm>
          <a:prstGeom prst="rect">
            <a:avLst/>
          </a:prstGeom>
          <a:noFill/>
          <a:ln/>
        </p:spPr>
        <p:txBody>
          <a:bodyPr wrap="square" lIns="0" tIns="0" rIns="0" bIns="0" rtlCol="0" anchor="t"/>
          <a:lstStyle/>
          <a:p>
            <a:pPr algn="r" indent="0" marL="0">
              <a:lnSpc>
                <a:spcPct val="112000"/>
              </a:lnSpc>
              <a:buNone/>
            </a:pPr>
            <a:r>
              <a:rPr lang="en-US" sz="750" dirty="0">
                <a:solidFill>
                  <a:srgbClr val="8C93A3"/>
                </a:solidFill>
                <a:latin typeface="Plus Jakarta Sans" pitchFamily="34" charset="0"/>
                <a:ea typeface="Plus Jakarta Sans" pitchFamily="34" charset="-122"/>
                <a:cs typeface="Plus Jakarta Sans" pitchFamily="34" charset="-120"/>
              </a:rPr>
              <a:t>Partner-Confidential · NDA · Programme description only; not a contract</a:t>
            </a:r>
            <a:endParaRPr lang="en-US" sz="750" dirty="0"/>
          </a:p>
        </p:txBody>
      </p:sp>
      <p:pic>
        <p:nvPicPr>
          <p:cNvPr id="5" name="anim-1-1" descr="/tmp/claude-0/-home-user-hosting/7c832a48-0979-56aa-9fdf-7d53efb9dc7a/scratchpad/build/imgd/pointer.png">    </p:cNvPr>
          <p:cNvPicPr>
            <a:picLocks noChangeAspect="1"/>
          </p:cNvPicPr>
          <p:nvPr/>
        </p:nvPicPr>
        <p:blipFill>
          <a:blip r:embed="rId3"/>
          <a:stretch>
            <a:fillRect/>
          </a:stretch>
        </p:blipFill>
        <p:spPr>
          <a:xfrm>
            <a:off x="508000" y="285750"/>
            <a:ext cx="100964" cy="203200"/>
          </a:xfrm>
          <a:prstGeom prst="rect">
            <a:avLst/>
          </a:prstGeom>
        </p:spPr>
      </p:pic>
      <p:sp>
        <p:nvSpPr>
          <p:cNvPr id="6" name="anim-1-2"/>
          <p:cNvSpPr txBox="1"/>
          <p:nvPr/>
        </p:nvSpPr>
        <p:spPr>
          <a:xfrm>
            <a:off x="673100" y="304800"/>
            <a:ext cx="8890000" cy="190500"/>
          </a:xfrm>
          <a:prstGeom prst="rect">
            <a:avLst/>
          </a:prstGeom>
          <a:noFill/>
          <a:ln/>
        </p:spPr>
        <p:txBody>
          <a:bodyPr wrap="square" lIns="0" tIns="0" rIns="0" bIns="0" rtlCol="0" anchor="t"/>
          <a:lstStyle/>
          <a:p>
            <a:pPr algn="l" indent="0" marL="0">
              <a:lnSpc>
                <a:spcPct val="112000"/>
              </a:lnSpc>
              <a:buNone/>
            </a:pPr>
            <a:r>
              <a:rPr lang="en-US" sz="1000" spc="200" kern="0" dirty="0">
                <a:solidFill>
                  <a:srgbClr val="15B6FF"/>
                </a:solidFill>
                <a:latin typeface="Plus Jakarta Sans SemiBold" pitchFamily="34" charset="0"/>
                <a:ea typeface="Plus Jakarta Sans SemiBold" pitchFamily="34" charset="-122"/>
                <a:cs typeface="Plus Jakarta Sans SemiBold" pitchFamily="34" charset="-120"/>
              </a:rPr>
              <a:t>ACTIVATION PACKAGES &amp; CUSTOMER SUCCESS</a:t>
            </a:r>
            <a:endParaRPr lang="en-US" sz="1000" dirty="0"/>
          </a:p>
        </p:txBody>
      </p:sp>
      <p:sp>
        <p:nvSpPr>
          <p:cNvPr id="7" name="anim-1-3"/>
          <p:cNvSpPr txBox="1"/>
          <p:nvPr/>
        </p:nvSpPr>
        <p:spPr>
          <a:xfrm>
            <a:off x="508000" y="558800"/>
            <a:ext cx="9652000" cy="406400"/>
          </a:xfrm>
          <a:prstGeom prst="rect">
            <a:avLst/>
          </a:prstGeom>
          <a:noFill/>
          <a:ln/>
        </p:spPr>
        <p:txBody>
          <a:bodyPr wrap="square" lIns="0" tIns="0" rIns="0" bIns="0" rtlCol="0" anchor="ctr"/>
          <a:lstStyle/>
          <a:p>
            <a:pPr algn="l" indent="0" marL="0">
              <a:lnSpc>
                <a:spcPct val="112000"/>
              </a:lnSpc>
              <a:buNone/>
            </a:pPr>
            <a:r>
              <a:rPr lang="en-US" sz="2000" b="1" dirty="0">
                <a:solidFill>
                  <a:srgbClr val="FFFFFF"/>
                </a:solidFill>
                <a:latin typeface="Plus Jakarta Sans" pitchFamily="34" charset="0"/>
                <a:ea typeface="Plus Jakarta Sans" pitchFamily="34" charset="-122"/>
                <a:cs typeface="Plus Jakarta Sans" pitchFamily="34" charset="-120"/>
              </a:rPr>
              <a:t>Accelerate your </a:t>
            </a:r>
            <a:pPr algn="l" indent="0" marL="0">
              <a:lnSpc>
                <a:spcPct val="112000"/>
              </a:lnSpc>
              <a:buNone/>
            </a:pPr>
            <a:r>
              <a:rPr lang="en-US" sz="2000" b="1" i="1" dirty="0">
                <a:solidFill>
                  <a:srgbClr val="15B6FF"/>
                </a:solidFill>
                <a:latin typeface="Plus Jakarta Sans Light" pitchFamily="34" charset="0"/>
                <a:ea typeface="Plus Jakarta Sans Light" pitchFamily="34" charset="-122"/>
                <a:cs typeface="Plus Jakarta Sans Light" pitchFamily="34" charset="-120"/>
              </a:rPr>
              <a:t>launch</a:t>
            </a:r>
            <a:endParaRPr lang="en-US" sz="2000" dirty="0"/>
          </a:p>
        </p:txBody>
      </p:sp>
      <p:sp>
        <p:nvSpPr>
          <p:cNvPr id="8" name="anim-2-4"/>
          <p:cNvSpPr/>
          <p:nvPr/>
        </p:nvSpPr>
        <p:spPr>
          <a:xfrm>
            <a:off x="508000" y="1308100"/>
            <a:ext cx="2679700" cy="2603500"/>
          </a:xfrm>
          <a:prstGeom prst="roundRect">
            <a:avLst>
              <a:gd name="adj" fmla="val 7805"/>
            </a:avLst>
          </a:prstGeom>
          <a:solidFill>
            <a:srgbClr val="FFFFFF">
              <a:alpha val="5000"/>
            </a:srgbClr>
          </a:solidFill>
          <a:ln w="9525">
            <a:solidFill>
              <a:srgbClr val="FFFFFF">
                <a:alpha val="12000"/>
              </a:srgbClr>
            </a:solidFill>
            <a:prstDash val="solid"/>
          </a:ln>
        </p:spPr>
      </p:sp>
      <p:sp>
        <p:nvSpPr>
          <p:cNvPr id="9" name="anim-2-5"/>
          <p:cNvSpPr txBox="1"/>
          <p:nvPr/>
        </p:nvSpPr>
        <p:spPr>
          <a:xfrm>
            <a:off x="685800" y="1460500"/>
            <a:ext cx="2324100" cy="139700"/>
          </a:xfrm>
          <a:prstGeom prst="rect">
            <a:avLst/>
          </a:prstGeom>
          <a:noFill/>
          <a:ln/>
        </p:spPr>
        <p:txBody>
          <a:bodyPr wrap="square" lIns="0" tIns="0" rIns="0" bIns="0" rtlCol="0" anchor="t"/>
          <a:lstStyle/>
          <a:p>
            <a:pPr algn="l" indent="0" marL="0">
              <a:lnSpc>
                <a:spcPct val="112000"/>
              </a:lnSpc>
              <a:buNone/>
            </a:pPr>
            <a:r>
              <a:rPr lang="en-US" sz="750" spc="200" kern="0" dirty="0">
                <a:solidFill>
                  <a:srgbClr val="15B6FF"/>
                </a:solidFill>
                <a:latin typeface="Plus Jakarta Sans SemiBold" pitchFamily="34" charset="0"/>
                <a:ea typeface="Plus Jakarta Sans SemiBold" pitchFamily="34" charset="-122"/>
                <a:cs typeface="Plus Jakarta Sans SemiBold" pitchFamily="34" charset="-120"/>
              </a:rPr>
              <a:t>LEVEL 01–02</a:t>
            </a:r>
            <a:endParaRPr lang="en-US" sz="750" dirty="0"/>
          </a:p>
        </p:txBody>
      </p:sp>
      <p:sp>
        <p:nvSpPr>
          <p:cNvPr id="10" name="anim-2-6"/>
          <p:cNvSpPr txBox="1"/>
          <p:nvPr/>
        </p:nvSpPr>
        <p:spPr>
          <a:xfrm>
            <a:off x="685800" y="1625600"/>
            <a:ext cx="2324100" cy="279400"/>
          </a:xfrm>
          <a:prstGeom prst="rect">
            <a:avLst/>
          </a:prstGeom>
          <a:noFill/>
          <a:ln/>
        </p:spPr>
        <p:txBody>
          <a:bodyPr wrap="square" lIns="0" tIns="0" rIns="0" bIns="0" rtlCol="0" anchor="t"/>
          <a:lstStyle/>
          <a:p>
            <a:pPr algn="l" indent="0" marL="0">
              <a:lnSpc>
                <a:spcPct val="112000"/>
              </a:lnSpc>
              <a:buNone/>
            </a:pPr>
            <a:r>
              <a:rPr lang="en-US" sz="1500" b="1" dirty="0">
                <a:solidFill>
                  <a:srgbClr val="FFFFFF"/>
                </a:solidFill>
                <a:latin typeface="Plus Jakarta Sans" pitchFamily="34" charset="0"/>
                <a:ea typeface="Plus Jakarta Sans" pitchFamily="34" charset="-122"/>
                <a:cs typeface="Plus Jakarta Sans" pitchFamily="34" charset="-120"/>
              </a:rPr>
              <a:t>Foundation</a:t>
            </a:r>
            <a:endParaRPr lang="en-US" sz="1500" dirty="0"/>
          </a:p>
        </p:txBody>
      </p:sp>
      <p:sp>
        <p:nvSpPr>
          <p:cNvPr id="11" name="anim-2-7"/>
          <p:cNvSpPr txBox="1"/>
          <p:nvPr/>
        </p:nvSpPr>
        <p:spPr>
          <a:xfrm>
            <a:off x="685800" y="2032000"/>
            <a:ext cx="2324100" cy="571500"/>
          </a:xfrm>
          <a:prstGeom prst="rect">
            <a:avLst/>
          </a:prstGeom>
          <a:noFill/>
          <a:ln/>
        </p:spPr>
        <p:txBody>
          <a:bodyPr wrap="square" lIns="0" tIns="0" rIns="0" bIns="0" rtlCol="0" anchor="t"/>
          <a:lstStyle/>
          <a:p>
            <a:pPr algn="l" indent="0" marL="0">
              <a:lnSpc>
                <a:spcPct val="112000"/>
              </a:lnSpc>
              <a:buNone/>
            </a:pPr>
            <a:r>
              <a:rPr lang="en-US" sz="3600" b="1" dirty="0">
                <a:solidFill>
                  <a:srgbClr val="FFFFFF"/>
                </a:solidFill>
                <a:latin typeface="Plus Jakarta Sans" pitchFamily="34" charset="0"/>
                <a:ea typeface="Plus Jakarta Sans" pitchFamily="34" charset="-122"/>
                <a:cs typeface="Plus Jakarta Sans" pitchFamily="34" charset="-120"/>
              </a:rPr>
              <a:t>$2,500</a:t>
            </a:r>
            <a:endParaRPr lang="en-US" sz="3600" dirty="0"/>
          </a:p>
        </p:txBody>
      </p:sp>
      <p:sp>
        <p:nvSpPr>
          <p:cNvPr id="12" name="anim-2-8"/>
          <p:cNvSpPr txBox="1"/>
          <p:nvPr/>
        </p:nvSpPr>
        <p:spPr>
          <a:xfrm>
            <a:off x="685800" y="2730500"/>
            <a:ext cx="2324100" cy="1016000"/>
          </a:xfrm>
          <a:prstGeom prst="rect">
            <a:avLst/>
          </a:prstGeom>
          <a:noFill/>
          <a:ln/>
        </p:spPr>
        <p:txBody>
          <a:bodyPr wrap="square" lIns="0" tIns="0" rIns="0" bIns="0" rtlCol="0" anchor="t"/>
          <a:lstStyle/>
          <a:p>
            <a:pPr algn="l" indent="0" marL="0">
              <a:lnSpc>
                <a:spcPct val="125000"/>
              </a:lnSpc>
              <a:buNone/>
            </a:pPr>
            <a:r>
              <a:rPr lang="en-US" sz="950" dirty="0">
                <a:solidFill>
                  <a:srgbClr val="C3C8D1"/>
                </a:solidFill>
                <a:latin typeface="Plus Jakarta Sans" pitchFamily="34" charset="0"/>
                <a:ea typeface="Plus Jakarta Sans" pitchFamily="34" charset="-122"/>
                <a:cs typeface="Plus Jakarta Sans" pitchFamily="34" charset="-120"/>
              </a:rPr>
              <a:t>Sales onboarding, basic demo, 02 certifications, portal.</a:t>
            </a:r>
            <a:endParaRPr lang="en-US" sz="950" dirty="0"/>
          </a:p>
        </p:txBody>
      </p:sp>
      <p:sp>
        <p:nvSpPr>
          <p:cNvPr id="13" name="anim-3-9"/>
          <p:cNvSpPr/>
          <p:nvPr/>
        </p:nvSpPr>
        <p:spPr>
          <a:xfrm>
            <a:off x="3340100" y="1308100"/>
            <a:ext cx="2679700" cy="2603500"/>
          </a:xfrm>
          <a:prstGeom prst="roundRect">
            <a:avLst>
              <a:gd name="adj" fmla="val 7805"/>
            </a:avLst>
          </a:prstGeom>
          <a:solidFill>
            <a:srgbClr val="FFFFFF">
              <a:alpha val="5000"/>
            </a:srgbClr>
          </a:solidFill>
          <a:ln w="9525">
            <a:solidFill>
              <a:srgbClr val="FFFFFF">
                <a:alpha val="12000"/>
              </a:srgbClr>
            </a:solidFill>
            <a:prstDash val="solid"/>
          </a:ln>
        </p:spPr>
      </p:sp>
      <p:sp>
        <p:nvSpPr>
          <p:cNvPr id="14" name="anim-3-10"/>
          <p:cNvSpPr txBox="1"/>
          <p:nvPr/>
        </p:nvSpPr>
        <p:spPr>
          <a:xfrm>
            <a:off x="3517900" y="1460500"/>
            <a:ext cx="2324100" cy="139700"/>
          </a:xfrm>
          <a:prstGeom prst="rect">
            <a:avLst/>
          </a:prstGeom>
          <a:noFill/>
          <a:ln/>
        </p:spPr>
        <p:txBody>
          <a:bodyPr wrap="square" lIns="0" tIns="0" rIns="0" bIns="0" rtlCol="0" anchor="t"/>
          <a:lstStyle/>
          <a:p>
            <a:pPr algn="l" indent="0" marL="0">
              <a:lnSpc>
                <a:spcPct val="112000"/>
              </a:lnSpc>
              <a:buNone/>
            </a:pPr>
            <a:r>
              <a:rPr lang="en-US" sz="750" spc="200" kern="0" dirty="0">
                <a:solidFill>
                  <a:srgbClr val="15B6FF"/>
                </a:solidFill>
                <a:latin typeface="Plus Jakarta Sans SemiBold" pitchFamily="34" charset="0"/>
                <a:ea typeface="Plus Jakarta Sans SemiBold" pitchFamily="34" charset="-122"/>
                <a:cs typeface="Plus Jakarta Sans SemiBold" pitchFamily="34" charset="-120"/>
              </a:rPr>
              <a:t>LEVEL 02–04</a:t>
            </a:r>
            <a:endParaRPr lang="en-US" sz="750" dirty="0"/>
          </a:p>
        </p:txBody>
      </p:sp>
      <p:sp>
        <p:nvSpPr>
          <p:cNvPr id="15" name="anim-3-11"/>
          <p:cNvSpPr txBox="1"/>
          <p:nvPr/>
        </p:nvSpPr>
        <p:spPr>
          <a:xfrm>
            <a:off x="3517900" y="1625600"/>
            <a:ext cx="2324100" cy="279400"/>
          </a:xfrm>
          <a:prstGeom prst="rect">
            <a:avLst/>
          </a:prstGeom>
          <a:noFill/>
          <a:ln/>
        </p:spPr>
        <p:txBody>
          <a:bodyPr wrap="square" lIns="0" tIns="0" rIns="0" bIns="0" rtlCol="0" anchor="t"/>
          <a:lstStyle/>
          <a:p>
            <a:pPr algn="l" indent="0" marL="0">
              <a:lnSpc>
                <a:spcPct val="112000"/>
              </a:lnSpc>
              <a:buNone/>
            </a:pPr>
            <a:r>
              <a:rPr lang="en-US" sz="1500" b="1" dirty="0">
                <a:solidFill>
                  <a:srgbClr val="FFFFFF"/>
                </a:solidFill>
                <a:latin typeface="Plus Jakarta Sans" pitchFamily="34" charset="0"/>
                <a:ea typeface="Plus Jakarta Sans" pitchFamily="34" charset="-122"/>
                <a:cs typeface="Plus Jakarta Sans" pitchFamily="34" charset="-120"/>
              </a:rPr>
              <a:t>Growth</a:t>
            </a:r>
            <a:endParaRPr lang="en-US" sz="1500" dirty="0"/>
          </a:p>
        </p:txBody>
      </p:sp>
      <p:sp>
        <p:nvSpPr>
          <p:cNvPr id="16" name="anim-3-12"/>
          <p:cNvSpPr txBox="1"/>
          <p:nvPr/>
        </p:nvSpPr>
        <p:spPr>
          <a:xfrm>
            <a:off x="3517900" y="2032000"/>
            <a:ext cx="2324100" cy="571500"/>
          </a:xfrm>
          <a:prstGeom prst="rect">
            <a:avLst/>
          </a:prstGeom>
          <a:noFill/>
          <a:ln/>
        </p:spPr>
        <p:txBody>
          <a:bodyPr wrap="square" lIns="0" tIns="0" rIns="0" bIns="0" rtlCol="0" anchor="t"/>
          <a:lstStyle/>
          <a:p>
            <a:pPr algn="l" indent="0" marL="0">
              <a:lnSpc>
                <a:spcPct val="112000"/>
              </a:lnSpc>
              <a:buNone/>
            </a:pPr>
            <a:r>
              <a:rPr lang="en-US" sz="3600" b="1" dirty="0">
                <a:solidFill>
                  <a:srgbClr val="FFFFFF"/>
                </a:solidFill>
                <a:latin typeface="Plus Jakarta Sans" pitchFamily="34" charset="0"/>
                <a:ea typeface="Plus Jakarta Sans" pitchFamily="34" charset="-122"/>
                <a:cs typeface="Plus Jakarta Sans" pitchFamily="34" charset="-120"/>
              </a:rPr>
              <a:t>$5,000</a:t>
            </a:r>
            <a:endParaRPr lang="en-US" sz="3600" dirty="0"/>
          </a:p>
        </p:txBody>
      </p:sp>
      <p:sp>
        <p:nvSpPr>
          <p:cNvPr id="17" name="anim-3-13"/>
          <p:cNvSpPr txBox="1"/>
          <p:nvPr/>
        </p:nvSpPr>
        <p:spPr>
          <a:xfrm>
            <a:off x="3517900" y="2730500"/>
            <a:ext cx="2324100" cy="1016000"/>
          </a:xfrm>
          <a:prstGeom prst="rect">
            <a:avLst/>
          </a:prstGeom>
          <a:noFill/>
          <a:ln/>
        </p:spPr>
        <p:txBody>
          <a:bodyPr wrap="square" lIns="0" tIns="0" rIns="0" bIns="0" rtlCol="0" anchor="t"/>
          <a:lstStyle/>
          <a:p>
            <a:pPr algn="l" indent="0" marL="0">
              <a:lnSpc>
                <a:spcPct val="125000"/>
              </a:lnSpc>
              <a:buNone/>
            </a:pPr>
            <a:r>
              <a:rPr lang="en-US" sz="950" dirty="0">
                <a:solidFill>
                  <a:srgbClr val="C3C8D1"/>
                </a:solidFill>
                <a:latin typeface="Plus Jakarta Sans" pitchFamily="34" charset="0"/>
                <a:ea typeface="Plus Jakarta Sans" pitchFamily="34" charset="-122"/>
                <a:cs typeface="Plus Jakarta Sans" pitchFamily="34" charset="-120"/>
              </a:rPr>
              <a:t>Demo access, 05 certifications, 10 advisory hours, GTM workshop.</a:t>
            </a:r>
            <a:endParaRPr lang="en-US" sz="950" dirty="0"/>
          </a:p>
        </p:txBody>
      </p:sp>
      <p:sp>
        <p:nvSpPr>
          <p:cNvPr id="18" name="anim-4-14"/>
          <p:cNvSpPr/>
          <p:nvPr/>
        </p:nvSpPr>
        <p:spPr>
          <a:xfrm>
            <a:off x="6172200" y="1308100"/>
            <a:ext cx="2679700" cy="2603500"/>
          </a:xfrm>
          <a:prstGeom prst="roundRect">
            <a:avLst>
              <a:gd name="adj" fmla="val 7805"/>
            </a:avLst>
          </a:prstGeom>
          <a:solidFill>
            <a:srgbClr val="FFFFFF">
              <a:alpha val="5000"/>
            </a:srgbClr>
          </a:solidFill>
          <a:ln w="9525">
            <a:solidFill>
              <a:srgbClr val="FFFFFF">
                <a:alpha val="12000"/>
              </a:srgbClr>
            </a:solidFill>
            <a:prstDash val="solid"/>
          </a:ln>
        </p:spPr>
      </p:sp>
      <p:sp>
        <p:nvSpPr>
          <p:cNvPr id="19" name="anim-4-15"/>
          <p:cNvSpPr txBox="1"/>
          <p:nvPr/>
        </p:nvSpPr>
        <p:spPr>
          <a:xfrm>
            <a:off x="6350000" y="1460500"/>
            <a:ext cx="2324100" cy="139700"/>
          </a:xfrm>
          <a:prstGeom prst="rect">
            <a:avLst/>
          </a:prstGeom>
          <a:noFill/>
          <a:ln/>
        </p:spPr>
        <p:txBody>
          <a:bodyPr wrap="square" lIns="0" tIns="0" rIns="0" bIns="0" rtlCol="0" anchor="t"/>
          <a:lstStyle/>
          <a:p>
            <a:pPr algn="l" indent="0" marL="0">
              <a:lnSpc>
                <a:spcPct val="112000"/>
              </a:lnSpc>
              <a:buNone/>
            </a:pPr>
            <a:r>
              <a:rPr lang="en-US" sz="750" spc="200" kern="0" dirty="0">
                <a:solidFill>
                  <a:srgbClr val="15B6FF"/>
                </a:solidFill>
                <a:latin typeface="Plus Jakarta Sans SemiBold" pitchFamily="34" charset="0"/>
                <a:ea typeface="Plus Jakarta Sans SemiBold" pitchFamily="34" charset="-122"/>
                <a:cs typeface="Plus Jakarta Sans SemiBold" pitchFamily="34" charset="-120"/>
              </a:rPr>
              <a:t>LEVEL 03–05</a:t>
            </a:r>
            <a:endParaRPr lang="en-US" sz="750" dirty="0"/>
          </a:p>
        </p:txBody>
      </p:sp>
      <p:sp>
        <p:nvSpPr>
          <p:cNvPr id="20" name="anim-4-16"/>
          <p:cNvSpPr txBox="1"/>
          <p:nvPr/>
        </p:nvSpPr>
        <p:spPr>
          <a:xfrm>
            <a:off x="6350000" y="1625600"/>
            <a:ext cx="2324100" cy="279400"/>
          </a:xfrm>
          <a:prstGeom prst="rect">
            <a:avLst/>
          </a:prstGeom>
          <a:noFill/>
          <a:ln/>
        </p:spPr>
        <p:txBody>
          <a:bodyPr wrap="square" lIns="0" tIns="0" rIns="0" bIns="0" rtlCol="0" anchor="t"/>
          <a:lstStyle/>
          <a:p>
            <a:pPr algn="l" indent="0" marL="0">
              <a:lnSpc>
                <a:spcPct val="112000"/>
              </a:lnSpc>
              <a:buNone/>
            </a:pPr>
            <a:r>
              <a:rPr lang="en-US" sz="1500" b="1" dirty="0">
                <a:solidFill>
                  <a:srgbClr val="FFFFFF"/>
                </a:solidFill>
                <a:latin typeface="Plus Jakarta Sans" pitchFamily="34" charset="0"/>
                <a:ea typeface="Plus Jakarta Sans" pitchFamily="34" charset="-122"/>
                <a:cs typeface="Plus Jakarta Sans" pitchFamily="34" charset="-120"/>
              </a:rPr>
              <a:t>Practice Builder</a:t>
            </a:r>
            <a:endParaRPr lang="en-US" sz="1500" dirty="0"/>
          </a:p>
        </p:txBody>
      </p:sp>
      <p:sp>
        <p:nvSpPr>
          <p:cNvPr id="21" name="anim-4-17"/>
          <p:cNvSpPr txBox="1"/>
          <p:nvPr/>
        </p:nvSpPr>
        <p:spPr>
          <a:xfrm>
            <a:off x="6350000" y="2032000"/>
            <a:ext cx="2324100" cy="571500"/>
          </a:xfrm>
          <a:prstGeom prst="rect">
            <a:avLst/>
          </a:prstGeom>
          <a:noFill/>
          <a:ln/>
        </p:spPr>
        <p:txBody>
          <a:bodyPr wrap="square" lIns="0" tIns="0" rIns="0" bIns="0" rtlCol="0" anchor="t"/>
          <a:lstStyle/>
          <a:p>
            <a:pPr algn="l" indent="0" marL="0">
              <a:lnSpc>
                <a:spcPct val="112000"/>
              </a:lnSpc>
              <a:buNone/>
            </a:pPr>
            <a:r>
              <a:rPr lang="en-US" sz="3600" b="1" dirty="0">
                <a:solidFill>
                  <a:srgbClr val="FFFFFF"/>
                </a:solidFill>
                <a:latin typeface="Plus Jakarta Sans" pitchFamily="34" charset="0"/>
                <a:ea typeface="Plus Jakarta Sans" pitchFamily="34" charset="-122"/>
                <a:cs typeface="Plus Jakarta Sans" pitchFamily="34" charset="-120"/>
              </a:rPr>
              <a:t>$10,000</a:t>
            </a:r>
            <a:endParaRPr lang="en-US" sz="3600" dirty="0"/>
          </a:p>
        </p:txBody>
      </p:sp>
      <p:sp>
        <p:nvSpPr>
          <p:cNvPr id="22" name="anim-4-18"/>
          <p:cNvSpPr txBox="1"/>
          <p:nvPr/>
        </p:nvSpPr>
        <p:spPr>
          <a:xfrm>
            <a:off x="6350000" y="2730500"/>
            <a:ext cx="2324100" cy="1016000"/>
          </a:xfrm>
          <a:prstGeom prst="rect">
            <a:avLst/>
          </a:prstGeom>
          <a:noFill/>
          <a:ln/>
        </p:spPr>
        <p:txBody>
          <a:bodyPr wrap="square" lIns="0" tIns="0" rIns="0" bIns="0" rtlCol="0" anchor="t"/>
          <a:lstStyle/>
          <a:p>
            <a:pPr algn="l" indent="0" marL="0">
              <a:lnSpc>
                <a:spcPct val="125000"/>
              </a:lnSpc>
              <a:buNone/>
            </a:pPr>
            <a:r>
              <a:rPr lang="en-US" sz="950" dirty="0">
                <a:solidFill>
                  <a:srgbClr val="C3C8D1"/>
                </a:solidFill>
                <a:latin typeface="Plus Jakarta Sans" pitchFamily="34" charset="0"/>
                <a:ea typeface="Plus Jakarta Sans" pitchFamily="34" charset="-122"/>
                <a:cs typeface="Plus Jakarta Sans" pitchFamily="34" charset="-120"/>
              </a:rPr>
              <a:t>Advanced sandbox, 10 certifications, 25 advisory hours, architecture workshop.</a:t>
            </a:r>
            <a:endParaRPr lang="en-US" sz="950" dirty="0"/>
          </a:p>
        </p:txBody>
      </p:sp>
      <p:sp>
        <p:nvSpPr>
          <p:cNvPr id="23" name="anim-5-19"/>
          <p:cNvSpPr/>
          <p:nvPr/>
        </p:nvSpPr>
        <p:spPr>
          <a:xfrm>
            <a:off x="9004300" y="1308100"/>
            <a:ext cx="2679700" cy="2603500"/>
          </a:xfrm>
          <a:prstGeom prst="roundRect">
            <a:avLst>
              <a:gd name="adj" fmla="val 7805"/>
            </a:avLst>
          </a:prstGeom>
          <a:solidFill>
            <a:srgbClr val="194EFF"/>
          </a:solidFill>
          <a:ln w="9525">
            <a:solidFill>
              <a:srgbClr val="15B6FF">
                <a:alpha val="40000"/>
              </a:srgbClr>
            </a:solidFill>
            <a:prstDash val="solid"/>
          </a:ln>
        </p:spPr>
      </p:sp>
      <p:sp>
        <p:nvSpPr>
          <p:cNvPr id="24" name="anim-5-20"/>
          <p:cNvSpPr txBox="1"/>
          <p:nvPr/>
        </p:nvSpPr>
        <p:spPr>
          <a:xfrm>
            <a:off x="9182100" y="1460500"/>
            <a:ext cx="2324100" cy="139700"/>
          </a:xfrm>
          <a:prstGeom prst="rect">
            <a:avLst/>
          </a:prstGeom>
          <a:noFill/>
          <a:ln/>
        </p:spPr>
        <p:txBody>
          <a:bodyPr wrap="square" lIns="0" tIns="0" rIns="0" bIns="0" rtlCol="0" anchor="t"/>
          <a:lstStyle/>
          <a:p>
            <a:pPr algn="l" indent="0" marL="0">
              <a:lnSpc>
                <a:spcPct val="112000"/>
              </a:lnSpc>
              <a:buNone/>
            </a:pPr>
            <a:r>
              <a:rPr lang="en-US" sz="750" spc="200" kern="0" dirty="0">
                <a:solidFill>
                  <a:srgbClr val="FFFFFF"/>
                </a:solidFill>
                <a:latin typeface="Plus Jakarta Sans SemiBold" pitchFamily="34" charset="0"/>
                <a:ea typeface="Plus Jakarta Sans SemiBold" pitchFamily="34" charset="-122"/>
                <a:cs typeface="Plus Jakarta Sans SemiBold" pitchFamily="34" charset="-120"/>
              </a:rPr>
              <a:t>LEVEL 04–05</a:t>
            </a:r>
            <a:endParaRPr lang="en-US" sz="750" dirty="0"/>
          </a:p>
        </p:txBody>
      </p:sp>
      <p:sp>
        <p:nvSpPr>
          <p:cNvPr id="25" name="anim-5-21"/>
          <p:cNvSpPr txBox="1"/>
          <p:nvPr/>
        </p:nvSpPr>
        <p:spPr>
          <a:xfrm>
            <a:off x="9182100" y="1625600"/>
            <a:ext cx="2324100" cy="279400"/>
          </a:xfrm>
          <a:prstGeom prst="rect">
            <a:avLst/>
          </a:prstGeom>
          <a:noFill/>
          <a:ln/>
        </p:spPr>
        <p:txBody>
          <a:bodyPr wrap="square" lIns="0" tIns="0" rIns="0" bIns="0" rtlCol="0" anchor="t"/>
          <a:lstStyle/>
          <a:p>
            <a:pPr algn="l" indent="0" marL="0">
              <a:lnSpc>
                <a:spcPct val="112000"/>
              </a:lnSpc>
              <a:buNone/>
            </a:pPr>
            <a:r>
              <a:rPr lang="en-US" sz="1500" b="1" dirty="0">
                <a:solidFill>
                  <a:srgbClr val="FFFFFF"/>
                </a:solidFill>
                <a:latin typeface="Plus Jakarta Sans" pitchFamily="34" charset="0"/>
                <a:ea typeface="Plus Jakarta Sans" pitchFamily="34" charset="-122"/>
                <a:cs typeface="Plus Jakarta Sans" pitchFamily="34" charset="-120"/>
              </a:rPr>
              <a:t>Strategic Alliance</a:t>
            </a:r>
            <a:endParaRPr lang="en-US" sz="1500" dirty="0"/>
          </a:p>
        </p:txBody>
      </p:sp>
      <p:sp>
        <p:nvSpPr>
          <p:cNvPr id="26" name="anim-5-22"/>
          <p:cNvSpPr txBox="1"/>
          <p:nvPr/>
        </p:nvSpPr>
        <p:spPr>
          <a:xfrm>
            <a:off x="9182100" y="2032000"/>
            <a:ext cx="2324100" cy="571500"/>
          </a:xfrm>
          <a:prstGeom prst="rect">
            <a:avLst/>
          </a:prstGeom>
          <a:noFill/>
          <a:ln/>
        </p:spPr>
        <p:txBody>
          <a:bodyPr wrap="square" lIns="0" tIns="0" rIns="0" bIns="0" rtlCol="0" anchor="t"/>
          <a:lstStyle/>
          <a:p>
            <a:pPr algn="l" indent="0" marL="0">
              <a:lnSpc>
                <a:spcPct val="112000"/>
              </a:lnSpc>
              <a:buNone/>
            </a:pPr>
            <a:r>
              <a:rPr lang="en-US" sz="3600" b="1" dirty="0">
                <a:solidFill>
                  <a:srgbClr val="FFFFFF"/>
                </a:solidFill>
                <a:latin typeface="Plus Jakarta Sans" pitchFamily="34" charset="0"/>
                <a:ea typeface="Plus Jakarta Sans" pitchFamily="34" charset="-122"/>
                <a:cs typeface="Plus Jakarta Sans" pitchFamily="34" charset="-120"/>
              </a:rPr>
              <a:t>$20,000</a:t>
            </a:r>
            <a:endParaRPr lang="en-US" sz="3600" dirty="0"/>
          </a:p>
        </p:txBody>
      </p:sp>
      <p:sp>
        <p:nvSpPr>
          <p:cNvPr id="27" name="anim-5-23"/>
          <p:cNvSpPr txBox="1"/>
          <p:nvPr/>
        </p:nvSpPr>
        <p:spPr>
          <a:xfrm>
            <a:off x="9182100" y="2730500"/>
            <a:ext cx="2324100" cy="1016000"/>
          </a:xfrm>
          <a:prstGeom prst="rect">
            <a:avLst/>
          </a:prstGeom>
          <a:noFill/>
          <a:ln/>
        </p:spPr>
        <p:txBody>
          <a:bodyPr wrap="square" lIns="0" tIns="0" rIns="0" bIns="0" rtlCol="0" anchor="t"/>
          <a:lstStyle/>
          <a:p>
            <a:pPr algn="l" indent="0" marL="0">
              <a:lnSpc>
                <a:spcPct val="125000"/>
              </a:lnSpc>
              <a:buNone/>
            </a:pPr>
            <a:r>
              <a:rPr lang="en-US" sz="950" dirty="0">
                <a:solidFill>
                  <a:srgbClr val="FFFFFF"/>
                </a:solidFill>
                <a:latin typeface="Plus Jakarta Sans" pitchFamily="34" charset="0"/>
                <a:ea typeface="Plus Jakarta Sans" pitchFamily="34" charset="-122"/>
                <a:cs typeface="Plus Jakarta Sans" pitchFamily="34" charset="-120"/>
              </a:rPr>
              <a:t>Executive enablement, joint account mapping, 50 advisory hours, roadmap session.</a:t>
            </a:r>
            <a:endParaRPr lang="en-US" sz="950" dirty="0"/>
          </a:p>
        </p:txBody>
      </p:sp>
      <p:sp>
        <p:nvSpPr>
          <p:cNvPr id="28" name="anim-6-24"/>
          <p:cNvSpPr/>
          <p:nvPr/>
        </p:nvSpPr>
        <p:spPr>
          <a:xfrm>
            <a:off x="508000" y="4064000"/>
            <a:ext cx="11176000" cy="1447800"/>
          </a:xfrm>
          <a:prstGeom prst="roundRect">
            <a:avLst>
              <a:gd name="adj" fmla="val 12281"/>
            </a:avLst>
          </a:prstGeom>
          <a:solidFill>
            <a:srgbClr val="FFFFFF">
              <a:alpha val="5000"/>
            </a:srgbClr>
          </a:solidFill>
          <a:ln w="9525">
            <a:solidFill>
              <a:srgbClr val="FFFFFF">
                <a:alpha val="12000"/>
              </a:srgbClr>
            </a:solidFill>
            <a:prstDash val="solid"/>
          </a:ln>
        </p:spPr>
      </p:sp>
      <p:sp>
        <p:nvSpPr>
          <p:cNvPr id="29" name="anim-6-25"/>
          <p:cNvSpPr txBox="1"/>
          <p:nvPr/>
        </p:nvSpPr>
        <p:spPr>
          <a:xfrm>
            <a:off x="711200" y="4203700"/>
            <a:ext cx="5715000" cy="165100"/>
          </a:xfrm>
          <a:prstGeom prst="rect">
            <a:avLst/>
          </a:prstGeom>
          <a:noFill/>
          <a:ln/>
        </p:spPr>
        <p:txBody>
          <a:bodyPr wrap="square" lIns="0" tIns="0" rIns="0" bIns="0" rtlCol="0" anchor="t"/>
          <a:lstStyle/>
          <a:p>
            <a:pPr algn="l" indent="0" marL="0">
              <a:lnSpc>
                <a:spcPct val="112000"/>
              </a:lnSpc>
              <a:buNone/>
            </a:pPr>
            <a:r>
              <a:rPr lang="en-US" sz="800" spc="200" kern="0" dirty="0">
                <a:solidFill>
                  <a:srgbClr val="15B6FF"/>
                </a:solidFill>
                <a:latin typeface="Plus Jakarta Sans SemiBold" pitchFamily="34" charset="0"/>
                <a:ea typeface="Plus Jakarta Sans SemiBold" pitchFamily="34" charset="-122"/>
                <a:cs typeface="Plus Jakarta Sans SemiBold" pitchFamily="34" charset="-120"/>
              </a:rPr>
              <a:t>SHARED CUSTOMER-SUCCESS COMMITMENT</a:t>
            </a:r>
            <a:endParaRPr lang="en-US" sz="800" dirty="0"/>
          </a:p>
        </p:txBody>
      </p:sp>
      <p:sp>
        <p:nvSpPr>
          <p:cNvPr id="30" name="anim-7-26"/>
          <p:cNvSpPr/>
          <p:nvPr/>
        </p:nvSpPr>
        <p:spPr>
          <a:xfrm>
            <a:off x="711200" y="4483100"/>
            <a:ext cx="1689100" cy="863600"/>
          </a:xfrm>
          <a:prstGeom prst="roundRect">
            <a:avLst>
              <a:gd name="adj" fmla="val 17647"/>
            </a:avLst>
          </a:prstGeom>
          <a:solidFill>
            <a:srgbClr val="FFFFFF">
              <a:alpha val="7000"/>
            </a:srgbClr>
          </a:solidFill>
          <a:ln w="9525">
            <a:solidFill>
              <a:srgbClr val="FFFFFF">
                <a:alpha val="18000"/>
              </a:srgbClr>
            </a:solidFill>
            <a:prstDash val="solid"/>
          </a:ln>
        </p:spPr>
      </p:sp>
      <p:sp>
        <p:nvSpPr>
          <p:cNvPr id="31" name="anim-7-27"/>
          <p:cNvSpPr txBox="1"/>
          <p:nvPr/>
        </p:nvSpPr>
        <p:spPr>
          <a:xfrm>
            <a:off x="838200" y="4572000"/>
            <a:ext cx="508000" cy="254000"/>
          </a:xfrm>
          <a:prstGeom prst="rect">
            <a:avLst/>
          </a:prstGeom>
          <a:noFill/>
          <a:ln/>
        </p:spPr>
        <p:txBody>
          <a:bodyPr wrap="square" lIns="0" tIns="0" rIns="0" bIns="0" rtlCol="0" anchor="t"/>
          <a:lstStyle/>
          <a:p>
            <a:pPr algn="l" indent="0" marL="0">
              <a:lnSpc>
                <a:spcPct val="112000"/>
              </a:lnSpc>
              <a:buNone/>
            </a:pPr>
            <a:r>
              <a:rPr lang="en-US" sz="1600" dirty="0">
                <a:solidFill>
                  <a:srgbClr val="15B6FF"/>
                </a:solidFill>
                <a:latin typeface="Plus Jakarta Sans Light" pitchFamily="34" charset="0"/>
                <a:ea typeface="Plus Jakarta Sans Light" pitchFamily="34" charset="-122"/>
                <a:cs typeface="Plus Jakarta Sans Light" pitchFamily="34" charset="-120"/>
              </a:rPr>
              <a:t>01</a:t>
            </a:r>
            <a:endParaRPr lang="en-US" sz="1600" dirty="0"/>
          </a:p>
        </p:txBody>
      </p:sp>
      <p:sp>
        <p:nvSpPr>
          <p:cNvPr id="32" name="anim-7-28"/>
          <p:cNvSpPr txBox="1"/>
          <p:nvPr/>
        </p:nvSpPr>
        <p:spPr>
          <a:xfrm>
            <a:off x="838200" y="4889500"/>
            <a:ext cx="1435100" cy="381000"/>
          </a:xfrm>
          <a:prstGeom prst="rect">
            <a:avLst/>
          </a:prstGeom>
          <a:noFill/>
          <a:ln/>
        </p:spPr>
        <p:txBody>
          <a:bodyPr wrap="square" lIns="0" tIns="0" rIns="0" bIns="0" rtlCol="0" anchor="t"/>
          <a:lstStyle/>
          <a:p>
            <a:pPr algn="l" indent="0" marL="0">
              <a:lnSpc>
                <a:spcPct val="112000"/>
              </a:lnSpc>
              <a:buNone/>
            </a:pPr>
            <a:r>
              <a:rPr lang="en-US" sz="950" b="1" dirty="0">
                <a:solidFill>
                  <a:srgbClr val="FFFFFF"/>
                </a:solidFill>
                <a:latin typeface="Plus Jakarta Sans" pitchFamily="34" charset="0"/>
                <a:ea typeface="Plus Jakarta Sans" pitchFamily="34" charset="-122"/>
                <a:cs typeface="Plus Jakarta Sans" pitchFamily="34" charset="-120"/>
              </a:rPr>
              <a:t>Discovery &amp; qualification</a:t>
            </a:r>
            <a:endParaRPr lang="en-US" sz="950" dirty="0"/>
          </a:p>
        </p:txBody>
      </p:sp>
      <p:sp>
        <p:nvSpPr>
          <p:cNvPr id="33" name="anim-7-29"/>
          <p:cNvSpPr txBox="1"/>
          <p:nvPr/>
        </p:nvSpPr>
        <p:spPr>
          <a:xfrm>
            <a:off x="2387600" y="4787900"/>
            <a:ext cx="152400" cy="228600"/>
          </a:xfrm>
          <a:prstGeom prst="rect">
            <a:avLst/>
          </a:prstGeom>
          <a:noFill/>
          <a:ln/>
        </p:spPr>
        <p:txBody>
          <a:bodyPr wrap="square" lIns="0" tIns="0" rIns="0" bIns="0" rtlCol="0" anchor="t"/>
          <a:lstStyle/>
          <a:p>
            <a:pPr algn="l" indent="0" marL="0">
              <a:lnSpc>
                <a:spcPct val="112000"/>
              </a:lnSpc>
              <a:buNone/>
            </a:pPr>
            <a:r>
              <a:rPr lang="en-US" sz="1000" b="1" dirty="0">
                <a:solidFill>
                  <a:srgbClr val="15B6FF"/>
                </a:solidFill>
                <a:latin typeface="Plus Jakarta Sans" pitchFamily="34" charset="0"/>
                <a:ea typeface="Plus Jakarta Sans" pitchFamily="34" charset="-122"/>
                <a:cs typeface="Plus Jakarta Sans" pitchFamily="34" charset="-120"/>
              </a:rPr>
              <a:t>→</a:t>
            </a:r>
            <a:endParaRPr lang="en-US" sz="1000" dirty="0"/>
          </a:p>
        </p:txBody>
      </p:sp>
      <p:sp>
        <p:nvSpPr>
          <p:cNvPr id="34" name="anim-7-30"/>
          <p:cNvSpPr/>
          <p:nvPr/>
        </p:nvSpPr>
        <p:spPr>
          <a:xfrm>
            <a:off x="2527300" y="4483100"/>
            <a:ext cx="1689100" cy="863600"/>
          </a:xfrm>
          <a:prstGeom prst="roundRect">
            <a:avLst>
              <a:gd name="adj" fmla="val 17647"/>
            </a:avLst>
          </a:prstGeom>
          <a:solidFill>
            <a:srgbClr val="FFFFFF">
              <a:alpha val="7000"/>
            </a:srgbClr>
          </a:solidFill>
          <a:ln w="9525">
            <a:solidFill>
              <a:srgbClr val="FFFFFF">
                <a:alpha val="18000"/>
              </a:srgbClr>
            </a:solidFill>
            <a:prstDash val="solid"/>
          </a:ln>
        </p:spPr>
      </p:sp>
      <p:sp>
        <p:nvSpPr>
          <p:cNvPr id="35" name="anim-7-31"/>
          <p:cNvSpPr txBox="1"/>
          <p:nvPr/>
        </p:nvSpPr>
        <p:spPr>
          <a:xfrm>
            <a:off x="2654300" y="4572000"/>
            <a:ext cx="508000" cy="254000"/>
          </a:xfrm>
          <a:prstGeom prst="rect">
            <a:avLst/>
          </a:prstGeom>
          <a:noFill/>
          <a:ln/>
        </p:spPr>
        <p:txBody>
          <a:bodyPr wrap="square" lIns="0" tIns="0" rIns="0" bIns="0" rtlCol="0" anchor="t"/>
          <a:lstStyle/>
          <a:p>
            <a:pPr algn="l" indent="0" marL="0">
              <a:lnSpc>
                <a:spcPct val="112000"/>
              </a:lnSpc>
              <a:buNone/>
            </a:pPr>
            <a:r>
              <a:rPr lang="en-US" sz="1600" dirty="0">
                <a:solidFill>
                  <a:srgbClr val="15B6FF"/>
                </a:solidFill>
                <a:latin typeface="Plus Jakarta Sans Light" pitchFamily="34" charset="0"/>
                <a:ea typeface="Plus Jakarta Sans Light" pitchFamily="34" charset="-122"/>
                <a:cs typeface="Plus Jakarta Sans Light" pitchFamily="34" charset="-120"/>
              </a:rPr>
              <a:t>02</a:t>
            </a:r>
            <a:endParaRPr lang="en-US" sz="1600" dirty="0"/>
          </a:p>
        </p:txBody>
      </p:sp>
      <p:sp>
        <p:nvSpPr>
          <p:cNvPr id="36" name="anim-7-32"/>
          <p:cNvSpPr txBox="1"/>
          <p:nvPr/>
        </p:nvSpPr>
        <p:spPr>
          <a:xfrm>
            <a:off x="2654300" y="4889500"/>
            <a:ext cx="1435100" cy="381000"/>
          </a:xfrm>
          <a:prstGeom prst="rect">
            <a:avLst/>
          </a:prstGeom>
          <a:noFill/>
          <a:ln/>
        </p:spPr>
        <p:txBody>
          <a:bodyPr wrap="square" lIns="0" tIns="0" rIns="0" bIns="0" rtlCol="0" anchor="t"/>
          <a:lstStyle/>
          <a:p>
            <a:pPr algn="l" indent="0" marL="0">
              <a:lnSpc>
                <a:spcPct val="112000"/>
              </a:lnSpc>
              <a:buNone/>
            </a:pPr>
            <a:r>
              <a:rPr lang="en-US" sz="950" b="1" dirty="0">
                <a:solidFill>
                  <a:srgbClr val="FFFFFF"/>
                </a:solidFill>
                <a:latin typeface="Plus Jakarta Sans" pitchFamily="34" charset="0"/>
                <a:ea typeface="Plus Jakarta Sans" pitchFamily="34" charset="-122"/>
                <a:cs typeface="Plus Jakarta Sans" pitchFamily="34" charset="-120"/>
              </a:rPr>
              <a:t>Proposal &amp; scoping</a:t>
            </a:r>
            <a:endParaRPr lang="en-US" sz="950" dirty="0"/>
          </a:p>
        </p:txBody>
      </p:sp>
      <p:sp>
        <p:nvSpPr>
          <p:cNvPr id="37" name="anim-7-33"/>
          <p:cNvSpPr txBox="1"/>
          <p:nvPr/>
        </p:nvSpPr>
        <p:spPr>
          <a:xfrm>
            <a:off x="4203700" y="4787900"/>
            <a:ext cx="152400" cy="228600"/>
          </a:xfrm>
          <a:prstGeom prst="rect">
            <a:avLst/>
          </a:prstGeom>
          <a:noFill/>
          <a:ln/>
        </p:spPr>
        <p:txBody>
          <a:bodyPr wrap="square" lIns="0" tIns="0" rIns="0" bIns="0" rtlCol="0" anchor="t"/>
          <a:lstStyle/>
          <a:p>
            <a:pPr algn="l" indent="0" marL="0">
              <a:lnSpc>
                <a:spcPct val="112000"/>
              </a:lnSpc>
              <a:buNone/>
            </a:pPr>
            <a:r>
              <a:rPr lang="en-US" sz="1000" b="1" dirty="0">
                <a:solidFill>
                  <a:srgbClr val="15B6FF"/>
                </a:solidFill>
                <a:latin typeface="Plus Jakarta Sans" pitchFamily="34" charset="0"/>
                <a:ea typeface="Plus Jakarta Sans" pitchFamily="34" charset="-122"/>
                <a:cs typeface="Plus Jakarta Sans" pitchFamily="34" charset="-120"/>
              </a:rPr>
              <a:t>→</a:t>
            </a:r>
            <a:endParaRPr lang="en-US" sz="1000" dirty="0"/>
          </a:p>
        </p:txBody>
      </p:sp>
      <p:sp>
        <p:nvSpPr>
          <p:cNvPr id="38" name="anim-7-34"/>
          <p:cNvSpPr/>
          <p:nvPr/>
        </p:nvSpPr>
        <p:spPr>
          <a:xfrm>
            <a:off x="4343400" y="4483100"/>
            <a:ext cx="1689100" cy="863600"/>
          </a:xfrm>
          <a:prstGeom prst="roundRect">
            <a:avLst>
              <a:gd name="adj" fmla="val 17647"/>
            </a:avLst>
          </a:prstGeom>
          <a:solidFill>
            <a:srgbClr val="FFFFFF">
              <a:alpha val="7000"/>
            </a:srgbClr>
          </a:solidFill>
          <a:ln w="9525">
            <a:solidFill>
              <a:srgbClr val="FFFFFF">
                <a:alpha val="18000"/>
              </a:srgbClr>
            </a:solidFill>
            <a:prstDash val="solid"/>
          </a:ln>
        </p:spPr>
      </p:sp>
      <p:sp>
        <p:nvSpPr>
          <p:cNvPr id="39" name="anim-7-35"/>
          <p:cNvSpPr txBox="1"/>
          <p:nvPr/>
        </p:nvSpPr>
        <p:spPr>
          <a:xfrm>
            <a:off x="4470400" y="4572000"/>
            <a:ext cx="508000" cy="254000"/>
          </a:xfrm>
          <a:prstGeom prst="rect">
            <a:avLst/>
          </a:prstGeom>
          <a:noFill/>
          <a:ln/>
        </p:spPr>
        <p:txBody>
          <a:bodyPr wrap="square" lIns="0" tIns="0" rIns="0" bIns="0" rtlCol="0" anchor="t"/>
          <a:lstStyle/>
          <a:p>
            <a:pPr algn="l" indent="0" marL="0">
              <a:lnSpc>
                <a:spcPct val="112000"/>
              </a:lnSpc>
              <a:buNone/>
            </a:pPr>
            <a:r>
              <a:rPr lang="en-US" sz="1600" dirty="0">
                <a:solidFill>
                  <a:srgbClr val="15B6FF"/>
                </a:solidFill>
                <a:latin typeface="Plus Jakarta Sans Light" pitchFamily="34" charset="0"/>
                <a:ea typeface="Plus Jakarta Sans Light" pitchFamily="34" charset="-122"/>
                <a:cs typeface="Plus Jakarta Sans Light" pitchFamily="34" charset="-120"/>
              </a:rPr>
              <a:t>03</a:t>
            </a:r>
            <a:endParaRPr lang="en-US" sz="1600" dirty="0"/>
          </a:p>
        </p:txBody>
      </p:sp>
      <p:sp>
        <p:nvSpPr>
          <p:cNvPr id="40" name="anim-7-36"/>
          <p:cNvSpPr txBox="1"/>
          <p:nvPr/>
        </p:nvSpPr>
        <p:spPr>
          <a:xfrm>
            <a:off x="4470400" y="4889500"/>
            <a:ext cx="1435100" cy="381000"/>
          </a:xfrm>
          <a:prstGeom prst="rect">
            <a:avLst/>
          </a:prstGeom>
          <a:noFill/>
          <a:ln/>
        </p:spPr>
        <p:txBody>
          <a:bodyPr wrap="square" lIns="0" tIns="0" rIns="0" bIns="0" rtlCol="0" anchor="t"/>
          <a:lstStyle/>
          <a:p>
            <a:pPr algn="l" indent="0" marL="0">
              <a:lnSpc>
                <a:spcPct val="112000"/>
              </a:lnSpc>
              <a:buNone/>
            </a:pPr>
            <a:r>
              <a:rPr lang="en-US" sz="950" b="1" dirty="0">
                <a:solidFill>
                  <a:srgbClr val="FFFFFF"/>
                </a:solidFill>
                <a:latin typeface="Plus Jakarta Sans" pitchFamily="34" charset="0"/>
                <a:ea typeface="Plus Jakarta Sans" pitchFamily="34" charset="-122"/>
                <a:cs typeface="Plus Jakarta Sans" pitchFamily="34" charset="-120"/>
              </a:rPr>
              <a:t>Implementation readiness</a:t>
            </a:r>
            <a:endParaRPr lang="en-US" sz="950" dirty="0"/>
          </a:p>
        </p:txBody>
      </p:sp>
      <p:sp>
        <p:nvSpPr>
          <p:cNvPr id="41" name="anim-7-37"/>
          <p:cNvSpPr txBox="1"/>
          <p:nvPr/>
        </p:nvSpPr>
        <p:spPr>
          <a:xfrm>
            <a:off x="6019800" y="4787900"/>
            <a:ext cx="152400" cy="228600"/>
          </a:xfrm>
          <a:prstGeom prst="rect">
            <a:avLst/>
          </a:prstGeom>
          <a:noFill/>
          <a:ln/>
        </p:spPr>
        <p:txBody>
          <a:bodyPr wrap="square" lIns="0" tIns="0" rIns="0" bIns="0" rtlCol="0" anchor="t"/>
          <a:lstStyle/>
          <a:p>
            <a:pPr algn="l" indent="0" marL="0">
              <a:lnSpc>
                <a:spcPct val="112000"/>
              </a:lnSpc>
              <a:buNone/>
            </a:pPr>
            <a:r>
              <a:rPr lang="en-US" sz="1000" b="1" dirty="0">
                <a:solidFill>
                  <a:srgbClr val="15B6FF"/>
                </a:solidFill>
                <a:latin typeface="Plus Jakarta Sans" pitchFamily="34" charset="0"/>
                <a:ea typeface="Plus Jakarta Sans" pitchFamily="34" charset="-122"/>
                <a:cs typeface="Plus Jakarta Sans" pitchFamily="34" charset="-120"/>
              </a:rPr>
              <a:t>→</a:t>
            </a:r>
            <a:endParaRPr lang="en-US" sz="1000" dirty="0"/>
          </a:p>
        </p:txBody>
      </p:sp>
      <p:sp>
        <p:nvSpPr>
          <p:cNvPr id="42" name="anim-7-38"/>
          <p:cNvSpPr/>
          <p:nvPr/>
        </p:nvSpPr>
        <p:spPr>
          <a:xfrm>
            <a:off x="6159500" y="4483100"/>
            <a:ext cx="1689100" cy="863600"/>
          </a:xfrm>
          <a:prstGeom prst="roundRect">
            <a:avLst>
              <a:gd name="adj" fmla="val 17647"/>
            </a:avLst>
          </a:prstGeom>
          <a:solidFill>
            <a:srgbClr val="FFFFFF">
              <a:alpha val="7000"/>
            </a:srgbClr>
          </a:solidFill>
          <a:ln w="9525">
            <a:solidFill>
              <a:srgbClr val="FFFFFF">
                <a:alpha val="18000"/>
              </a:srgbClr>
            </a:solidFill>
            <a:prstDash val="solid"/>
          </a:ln>
        </p:spPr>
      </p:sp>
      <p:sp>
        <p:nvSpPr>
          <p:cNvPr id="43" name="anim-7-39"/>
          <p:cNvSpPr txBox="1"/>
          <p:nvPr/>
        </p:nvSpPr>
        <p:spPr>
          <a:xfrm>
            <a:off x="6286500" y="4572000"/>
            <a:ext cx="508000" cy="254000"/>
          </a:xfrm>
          <a:prstGeom prst="rect">
            <a:avLst/>
          </a:prstGeom>
          <a:noFill/>
          <a:ln/>
        </p:spPr>
        <p:txBody>
          <a:bodyPr wrap="square" lIns="0" tIns="0" rIns="0" bIns="0" rtlCol="0" anchor="t"/>
          <a:lstStyle/>
          <a:p>
            <a:pPr algn="l" indent="0" marL="0">
              <a:lnSpc>
                <a:spcPct val="112000"/>
              </a:lnSpc>
              <a:buNone/>
            </a:pPr>
            <a:r>
              <a:rPr lang="en-US" sz="1600" dirty="0">
                <a:solidFill>
                  <a:srgbClr val="15B6FF"/>
                </a:solidFill>
                <a:latin typeface="Plus Jakarta Sans Light" pitchFamily="34" charset="0"/>
                <a:ea typeface="Plus Jakarta Sans Light" pitchFamily="34" charset="-122"/>
                <a:cs typeface="Plus Jakarta Sans Light" pitchFamily="34" charset="-120"/>
              </a:rPr>
              <a:t>04</a:t>
            </a:r>
            <a:endParaRPr lang="en-US" sz="1600" dirty="0"/>
          </a:p>
        </p:txBody>
      </p:sp>
      <p:sp>
        <p:nvSpPr>
          <p:cNvPr id="44" name="anim-7-40"/>
          <p:cNvSpPr txBox="1"/>
          <p:nvPr/>
        </p:nvSpPr>
        <p:spPr>
          <a:xfrm>
            <a:off x="6286500" y="4889500"/>
            <a:ext cx="1435100" cy="381000"/>
          </a:xfrm>
          <a:prstGeom prst="rect">
            <a:avLst/>
          </a:prstGeom>
          <a:noFill/>
          <a:ln/>
        </p:spPr>
        <p:txBody>
          <a:bodyPr wrap="square" lIns="0" tIns="0" rIns="0" bIns="0" rtlCol="0" anchor="t"/>
          <a:lstStyle/>
          <a:p>
            <a:pPr algn="l" indent="0" marL="0">
              <a:lnSpc>
                <a:spcPct val="112000"/>
              </a:lnSpc>
              <a:buNone/>
            </a:pPr>
            <a:r>
              <a:rPr lang="en-US" sz="950" b="1" dirty="0">
                <a:solidFill>
                  <a:srgbClr val="FFFFFF"/>
                </a:solidFill>
                <a:latin typeface="Plus Jakarta Sans" pitchFamily="34" charset="0"/>
                <a:ea typeface="Plus Jakarta Sans" pitchFamily="34" charset="-122"/>
                <a:cs typeface="Plus Jakarta Sans" pitchFamily="34" charset="-120"/>
              </a:rPr>
              <a:t>Customer success</a:t>
            </a:r>
            <a:endParaRPr lang="en-US" sz="950" dirty="0"/>
          </a:p>
        </p:txBody>
      </p:sp>
      <p:sp>
        <p:nvSpPr>
          <p:cNvPr id="45" name="anim-7-41"/>
          <p:cNvSpPr txBox="1"/>
          <p:nvPr/>
        </p:nvSpPr>
        <p:spPr>
          <a:xfrm>
            <a:off x="7835900" y="4787900"/>
            <a:ext cx="152400" cy="228600"/>
          </a:xfrm>
          <a:prstGeom prst="rect">
            <a:avLst/>
          </a:prstGeom>
          <a:noFill/>
          <a:ln/>
        </p:spPr>
        <p:txBody>
          <a:bodyPr wrap="square" lIns="0" tIns="0" rIns="0" bIns="0" rtlCol="0" anchor="t"/>
          <a:lstStyle/>
          <a:p>
            <a:pPr algn="l" indent="0" marL="0">
              <a:lnSpc>
                <a:spcPct val="112000"/>
              </a:lnSpc>
              <a:buNone/>
            </a:pPr>
            <a:r>
              <a:rPr lang="en-US" sz="1000" b="1" dirty="0">
                <a:solidFill>
                  <a:srgbClr val="15B6FF"/>
                </a:solidFill>
                <a:latin typeface="Plus Jakarta Sans" pitchFamily="34" charset="0"/>
                <a:ea typeface="Plus Jakarta Sans" pitchFamily="34" charset="-122"/>
                <a:cs typeface="Plus Jakarta Sans" pitchFamily="34" charset="-120"/>
              </a:rPr>
              <a:t>→</a:t>
            </a:r>
            <a:endParaRPr lang="en-US" sz="1000" dirty="0"/>
          </a:p>
        </p:txBody>
      </p:sp>
      <p:sp>
        <p:nvSpPr>
          <p:cNvPr id="46" name="anim-7-42"/>
          <p:cNvSpPr/>
          <p:nvPr/>
        </p:nvSpPr>
        <p:spPr>
          <a:xfrm>
            <a:off x="7975600" y="4483100"/>
            <a:ext cx="1689100" cy="863600"/>
          </a:xfrm>
          <a:prstGeom prst="roundRect">
            <a:avLst>
              <a:gd name="adj" fmla="val 17647"/>
            </a:avLst>
          </a:prstGeom>
          <a:solidFill>
            <a:srgbClr val="FFFFFF">
              <a:alpha val="7000"/>
            </a:srgbClr>
          </a:solidFill>
          <a:ln w="9525">
            <a:solidFill>
              <a:srgbClr val="FFFFFF">
                <a:alpha val="18000"/>
              </a:srgbClr>
            </a:solidFill>
            <a:prstDash val="solid"/>
          </a:ln>
        </p:spPr>
      </p:sp>
      <p:sp>
        <p:nvSpPr>
          <p:cNvPr id="47" name="anim-7-43"/>
          <p:cNvSpPr txBox="1"/>
          <p:nvPr/>
        </p:nvSpPr>
        <p:spPr>
          <a:xfrm>
            <a:off x="8102600" y="4572000"/>
            <a:ext cx="508000" cy="254000"/>
          </a:xfrm>
          <a:prstGeom prst="rect">
            <a:avLst/>
          </a:prstGeom>
          <a:noFill/>
          <a:ln/>
        </p:spPr>
        <p:txBody>
          <a:bodyPr wrap="square" lIns="0" tIns="0" rIns="0" bIns="0" rtlCol="0" anchor="t"/>
          <a:lstStyle/>
          <a:p>
            <a:pPr algn="l" indent="0" marL="0">
              <a:lnSpc>
                <a:spcPct val="112000"/>
              </a:lnSpc>
              <a:buNone/>
            </a:pPr>
            <a:r>
              <a:rPr lang="en-US" sz="1600" dirty="0">
                <a:solidFill>
                  <a:srgbClr val="15B6FF"/>
                </a:solidFill>
                <a:latin typeface="Plus Jakarta Sans Light" pitchFamily="34" charset="0"/>
                <a:ea typeface="Plus Jakarta Sans Light" pitchFamily="34" charset="-122"/>
                <a:cs typeface="Plus Jakarta Sans Light" pitchFamily="34" charset="-120"/>
              </a:rPr>
              <a:t>05</a:t>
            </a:r>
            <a:endParaRPr lang="en-US" sz="1600" dirty="0"/>
          </a:p>
        </p:txBody>
      </p:sp>
      <p:sp>
        <p:nvSpPr>
          <p:cNvPr id="48" name="anim-7-44"/>
          <p:cNvSpPr txBox="1"/>
          <p:nvPr/>
        </p:nvSpPr>
        <p:spPr>
          <a:xfrm>
            <a:off x="8102600" y="4889500"/>
            <a:ext cx="1435100" cy="381000"/>
          </a:xfrm>
          <a:prstGeom prst="rect">
            <a:avLst/>
          </a:prstGeom>
          <a:noFill/>
          <a:ln/>
        </p:spPr>
        <p:txBody>
          <a:bodyPr wrap="square" lIns="0" tIns="0" rIns="0" bIns="0" rtlCol="0" anchor="t"/>
          <a:lstStyle/>
          <a:p>
            <a:pPr algn="l" indent="0" marL="0">
              <a:lnSpc>
                <a:spcPct val="112000"/>
              </a:lnSpc>
              <a:buNone/>
            </a:pPr>
            <a:r>
              <a:rPr lang="en-US" sz="950" b="1" dirty="0">
                <a:solidFill>
                  <a:srgbClr val="FFFFFF"/>
                </a:solidFill>
                <a:latin typeface="Plus Jakarta Sans" pitchFamily="34" charset="0"/>
                <a:ea typeface="Plus Jakarta Sans" pitchFamily="34" charset="-122"/>
                <a:cs typeface="Plus Jakarta Sans" pitchFamily="34" charset="-120"/>
              </a:rPr>
              <a:t>Escalation handling</a:t>
            </a:r>
            <a:endParaRPr lang="en-US" sz="950" dirty="0"/>
          </a:p>
        </p:txBody>
      </p:sp>
      <p:sp>
        <p:nvSpPr>
          <p:cNvPr id="49" name="anim-7-45"/>
          <p:cNvSpPr txBox="1"/>
          <p:nvPr/>
        </p:nvSpPr>
        <p:spPr>
          <a:xfrm>
            <a:off x="9652000" y="4787900"/>
            <a:ext cx="152400" cy="228600"/>
          </a:xfrm>
          <a:prstGeom prst="rect">
            <a:avLst/>
          </a:prstGeom>
          <a:noFill/>
          <a:ln/>
        </p:spPr>
        <p:txBody>
          <a:bodyPr wrap="square" lIns="0" tIns="0" rIns="0" bIns="0" rtlCol="0" anchor="t"/>
          <a:lstStyle/>
          <a:p>
            <a:pPr algn="l" indent="0" marL="0">
              <a:lnSpc>
                <a:spcPct val="112000"/>
              </a:lnSpc>
              <a:buNone/>
            </a:pPr>
            <a:r>
              <a:rPr lang="en-US" sz="1000" b="1" dirty="0">
                <a:solidFill>
                  <a:srgbClr val="15B6FF"/>
                </a:solidFill>
                <a:latin typeface="Plus Jakarta Sans" pitchFamily="34" charset="0"/>
                <a:ea typeface="Plus Jakarta Sans" pitchFamily="34" charset="-122"/>
                <a:cs typeface="Plus Jakarta Sans" pitchFamily="34" charset="-120"/>
              </a:rPr>
              <a:t>→</a:t>
            </a:r>
            <a:endParaRPr lang="en-US" sz="1000" dirty="0"/>
          </a:p>
        </p:txBody>
      </p:sp>
      <p:sp>
        <p:nvSpPr>
          <p:cNvPr id="50" name="anim-7-46"/>
          <p:cNvSpPr/>
          <p:nvPr/>
        </p:nvSpPr>
        <p:spPr>
          <a:xfrm>
            <a:off x="9791700" y="4483100"/>
            <a:ext cx="1689100" cy="863600"/>
          </a:xfrm>
          <a:prstGeom prst="roundRect">
            <a:avLst>
              <a:gd name="adj" fmla="val 17647"/>
            </a:avLst>
          </a:prstGeom>
          <a:solidFill>
            <a:srgbClr val="194EFF"/>
          </a:solidFill>
          <a:ln/>
        </p:spPr>
      </p:sp>
      <p:sp>
        <p:nvSpPr>
          <p:cNvPr id="51" name="anim-7-47"/>
          <p:cNvSpPr txBox="1"/>
          <p:nvPr/>
        </p:nvSpPr>
        <p:spPr>
          <a:xfrm>
            <a:off x="9918700" y="4572000"/>
            <a:ext cx="508000" cy="254000"/>
          </a:xfrm>
          <a:prstGeom prst="rect">
            <a:avLst/>
          </a:prstGeom>
          <a:noFill/>
          <a:ln/>
        </p:spPr>
        <p:txBody>
          <a:bodyPr wrap="square" lIns="0" tIns="0" rIns="0" bIns="0" rtlCol="0" anchor="t"/>
          <a:lstStyle/>
          <a:p>
            <a:pPr algn="l" indent="0" marL="0">
              <a:lnSpc>
                <a:spcPct val="112000"/>
              </a:lnSpc>
              <a:buNone/>
            </a:pPr>
            <a:r>
              <a:rPr lang="en-US" sz="1600" dirty="0">
                <a:solidFill>
                  <a:srgbClr val="FFFFFF"/>
                </a:solidFill>
                <a:latin typeface="Plus Jakarta Sans Light" pitchFamily="34" charset="0"/>
                <a:ea typeface="Plus Jakarta Sans Light" pitchFamily="34" charset="-122"/>
                <a:cs typeface="Plus Jakarta Sans Light" pitchFamily="34" charset="-120"/>
              </a:rPr>
              <a:t>06</a:t>
            </a:r>
            <a:endParaRPr lang="en-US" sz="1600" dirty="0"/>
          </a:p>
        </p:txBody>
      </p:sp>
      <p:sp>
        <p:nvSpPr>
          <p:cNvPr id="52" name="anim-7-48"/>
          <p:cNvSpPr txBox="1"/>
          <p:nvPr/>
        </p:nvSpPr>
        <p:spPr>
          <a:xfrm>
            <a:off x="9918700" y="4889500"/>
            <a:ext cx="1435100" cy="381000"/>
          </a:xfrm>
          <a:prstGeom prst="rect">
            <a:avLst/>
          </a:prstGeom>
          <a:noFill/>
          <a:ln/>
        </p:spPr>
        <p:txBody>
          <a:bodyPr wrap="square" lIns="0" tIns="0" rIns="0" bIns="0" rtlCol="0" anchor="t"/>
          <a:lstStyle/>
          <a:p>
            <a:pPr algn="l" indent="0" marL="0">
              <a:lnSpc>
                <a:spcPct val="112000"/>
              </a:lnSpc>
              <a:buNone/>
            </a:pPr>
            <a:r>
              <a:rPr lang="en-US" sz="950" b="1" dirty="0">
                <a:solidFill>
                  <a:srgbClr val="FFFFFF"/>
                </a:solidFill>
                <a:latin typeface="Plus Jakarta Sans" pitchFamily="34" charset="0"/>
                <a:ea typeface="Plus Jakarta Sans" pitchFamily="34" charset="-122"/>
                <a:cs typeface="Plus Jakarta Sans" pitchFamily="34" charset="-120"/>
              </a:rPr>
              <a:t>Ongoing governance</a:t>
            </a:r>
            <a:endParaRPr lang="en-US" sz="950" dirty="0"/>
          </a:p>
        </p:txBody>
      </p:sp>
      <p:sp>
        <p:nvSpPr>
          <p:cNvPr id="53" name="anim-9-49"/>
          <p:cNvSpPr/>
          <p:nvPr/>
        </p:nvSpPr>
        <p:spPr>
          <a:xfrm>
            <a:off x="508000" y="5664200"/>
            <a:ext cx="11176000" cy="406400"/>
          </a:xfrm>
          <a:prstGeom prst="roundRect">
            <a:avLst>
              <a:gd name="adj" fmla="val 50000"/>
            </a:avLst>
          </a:prstGeom>
          <a:solidFill>
            <a:srgbClr val="FFFFFF">
              <a:alpha val="4000"/>
            </a:srgbClr>
          </a:solidFill>
          <a:ln w="9525">
            <a:solidFill>
              <a:srgbClr val="FFFFFF">
                <a:alpha val="22000"/>
              </a:srgbClr>
            </a:solidFill>
            <a:prstDash val="solid"/>
          </a:ln>
        </p:spPr>
      </p:sp>
      <p:sp>
        <p:nvSpPr>
          <p:cNvPr id="54" name="anim-9-50"/>
          <p:cNvSpPr txBox="1"/>
          <p:nvPr/>
        </p:nvSpPr>
        <p:spPr>
          <a:xfrm>
            <a:off x="762000" y="5664200"/>
            <a:ext cx="2095500" cy="406400"/>
          </a:xfrm>
          <a:prstGeom prst="rect">
            <a:avLst/>
          </a:prstGeom>
          <a:noFill/>
          <a:ln/>
        </p:spPr>
        <p:txBody>
          <a:bodyPr wrap="square" lIns="0" tIns="0" rIns="0" bIns="0" rtlCol="0" anchor="ctr"/>
          <a:lstStyle/>
          <a:p>
            <a:pPr algn="l" indent="0" marL="0">
              <a:lnSpc>
                <a:spcPct val="112000"/>
              </a:lnSpc>
              <a:buNone/>
            </a:pPr>
            <a:r>
              <a:rPr lang="en-US" sz="1100" b="1" dirty="0">
                <a:solidFill>
                  <a:srgbClr val="15B6FF"/>
                </a:solidFill>
                <a:latin typeface="Plus Jakarta Sans" pitchFamily="34" charset="0"/>
                <a:ea typeface="Plus Jakarta Sans" pitchFamily="34" charset="-122"/>
                <a:cs typeface="Plus Jakarta Sans" pitchFamily="34" charset="-120"/>
              </a:rPr>
              <a:t>Commitment</a:t>
            </a:r>
            <a:endParaRPr lang="en-US" sz="1100" dirty="0"/>
          </a:p>
        </p:txBody>
      </p:sp>
      <p:sp>
        <p:nvSpPr>
          <p:cNvPr id="55" name="anim-9-51"/>
          <p:cNvSpPr txBox="1"/>
          <p:nvPr/>
        </p:nvSpPr>
        <p:spPr>
          <a:xfrm>
            <a:off x="2921000" y="5664200"/>
            <a:ext cx="8572500" cy="406400"/>
          </a:xfrm>
          <a:prstGeom prst="rect">
            <a:avLst/>
          </a:prstGeom>
          <a:noFill/>
          <a:ln/>
        </p:spPr>
        <p:txBody>
          <a:bodyPr wrap="square" lIns="0" tIns="0" rIns="0" bIns="0" rtlCol="0" anchor="ctr"/>
          <a:lstStyle/>
          <a:p>
            <a:pPr algn="l" indent="0" marL="0">
              <a:lnSpc>
                <a:spcPct val="112000"/>
              </a:lnSpc>
              <a:buNone/>
            </a:pPr>
            <a:r>
              <a:rPr lang="en-US" sz="1000" dirty="0">
                <a:solidFill>
                  <a:srgbClr val="FFFFFF"/>
                </a:solidFill>
                <a:latin typeface="Plus Jakarta Sans Medium" pitchFamily="34" charset="0"/>
                <a:ea typeface="Plus Jakarta Sans Medium" pitchFamily="34" charset="-122"/>
                <a:cs typeface="Plus Jakarta Sans Medium" pitchFamily="34" charset="-120"/>
              </a:rPr>
              <a:t>Level 04–05 partners keep a joint business plan, run ≥01 approved executive event or campaign, and show practice adoption.</a:t>
            </a:r>
            <a:endParaRPr lang="en-US" sz="10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500"/>
                                        <p:tgtEl>
                                          <p:spTgt spid="7"/>
                                        </p:tgtEl>
                                      </p:cBhvr>
                                    </p:animEffect>
                                  </p:childTnLst>
                                </p:cTn>
                              </p:par>
                              <p:par>
                                <p:cTn id="14" presetID="10" presetClass="entr" presetSubtype="0" fill="hold" grpId="0" nodeType="withEffect">
                                  <p:stCondLst>
                                    <p:cond delay="18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500"/>
                                        <p:tgtEl>
                                          <p:spTgt spid="8"/>
                                        </p:tgtEl>
                                      </p:cBhvr>
                                    </p:animEffect>
                                  </p:childTnLst>
                                </p:cTn>
                              </p:par>
                              <p:par>
                                <p:cTn id="17" presetID="10" presetClass="entr" presetSubtype="0" fill="hold" grpId="0" nodeType="withEffect">
                                  <p:stCondLst>
                                    <p:cond delay="18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500"/>
                                        <p:tgtEl>
                                          <p:spTgt spid="9"/>
                                        </p:tgtEl>
                                      </p:cBhvr>
                                    </p:animEffect>
                                  </p:childTnLst>
                                </p:cTn>
                              </p:par>
                              <p:par>
                                <p:cTn id="20" presetID="10" presetClass="entr" presetSubtype="0" fill="hold" grpId="0" nodeType="withEffect">
                                  <p:stCondLst>
                                    <p:cond delay="180"/>
                                  </p:stCondLst>
                                  <p:childTnLst>
                                    <p:set>
                                      <p:cBhvr>
                                        <p:cTn id="21" dur="1" fill="hold">
                                          <p:stCondLst>
                                            <p:cond delay="0"/>
                                          </p:stCondLst>
                                        </p:cTn>
                                        <p:tgtEl>
                                          <p:spTgt spid="10"/>
                                        </p:tgtEl>
                                        <p:attrNameLst>
                                          <p:attrName>style.visibility</p:attrName>
                                        </p:attrNameLst>
                                      </p:cBhvr>
                                      <p:to>
                                        <p:strVal val="visible"/>
                                      </p:to>
                                    </p:set>
                                    <p:animEffect transition="in" filter="fade">
                                      <p:cBhvr>
                                        <p:cTn id="22" dur="500"/>
                                        <p:tgtEl>
                                          <p:spTgt spid="10"/>
                                        </p:tgtEl>
                                      </p:cBhvr>
                                    </p:animEffect>
                                  </p:childTnLst>
                                </p:cTn>
                              </p:par>
                              <p:par>
                                <p:cTn id="23" presetID="10" presetClass="entr" presetSubtype="0" fill="hold" grpId="0" nodeType="withEffect">
                                  <p:stCondLst>
                                    <p:cond delay="180"/>
                                  </p:stCondLst>
                                  <p:childTnLst>
                                    <p:set>
                                      <p:cBhvr>
                                        <p:cTn id="24" dur="1" fill="hold">
                                          <p:stCondLst>
                                            <p:cond delay="0"/>
                                          </p:stCondLst>
                                        </p:cTn>
                                        <p:tgtEl>
                                          <p:spTgt spid="11"/>
                                        </p:tgtEl>
                                        <p:attrNameLst>
                                          <p:attrName>style.visibility</p:attrName>
                                        </p:attrNameLst>
                                      </p:cBhvr>
                                      <p:to>
                                        <p:strVal val="visible"/>
                                      </p:to>
                                    </p:set>
                                    <p:animEffect transition="in" filter="fade">
                                      <p:cBhvr>
                                        <p:cTn id="25" dur="500"/>
                                        <p:tgtEl>
                                          <p:spTgt spid="11"/>
                                        </p:tgtEl>
                                      </p:cBhvr>
                                    </p:animEffect>
                                  </p:childTnLst>
                                </p:cTn>
                              </p:par>
                              <p:par>
                                <p:cTn id="26" presetID="10" presetClass="entr" presetSubtype="0" fill="hold" grpId="0" nodeType="withEffect">
                                  <p:stCondLst>
                                    <p:cond delay="180"/>
                                  </p:stCondLst>
                                  <p:childTnLst>
                                    <p:set>
                                      <p:cBhvr>
                                        <p:cTn id="27" dur="1" fill="hold">
                                          <p:stCondLst>
                                            <p:cond delay="0"/>
                                          </p:stCondLst>
                                        </p:cTn>
                                        <p:tgtEl>
                                          <p:spTgt spid="12"/>
                                        </p:tgtEl>
                                        <p:attrNameLst>
                                          <p:attrName>style.visibility</p:attrName>
                                        </p:attrNameLst>
                                      </p:cBhvr>
                                      <p:to>
                                        <p:strVal val="visible"/>
                                      </p:to>
                                    </p:set>
                                    <p:animEffect transition="in" filter="fade">
                                      <p:cBhvr>
                                        <p:cTn id="28" dur="500"/>
                                        <p:tgtEl>
                                          <p:spTgt spid="12"/>
                                        </p:tgtEl>
                                      </p:cBhvr>
                                    </p:animEffect>
                                  </p:childTnLst>
                                </p:cTn>
                              </p:par>
                              <p:par>
                                <p:cTn id="29" presetID="10" presetClass="entr" presetSubtype="0" fill="hold" grpId="0" nodeType="withEffect">
                                  <p:stCondLst>
                                    <p:cond delay="360"/>
                                  </p:stCondLst>
                                  <p:childTnLst>
                                    <p:set>
                                      <p:cBhvr>
                                        <p:cTn id="30" dur="1" fill="hold">
                                          <p:stCondLst>
                                            <p:cond delay="0"/>
                                          </p:stCondLst>
                                        </p:cTn>
                                        <p:tgtEl>
                                          <p:spTgt spid="13"/>
                                        </p:tgtEl>
                                        <p:attrNameLst>
                                          <p:attrName>style.visibility</p:attrName>
                                        </p:attrNameLst>
                                      </p:cBhvr>
                                      <p:to>
                                        <p:strVal val="visible"/>
                                      </p:to>
                                    </p:set>
                                    <p:animEffect transition="in" filter="fade">
                                      <p:cBhvr>
                                        <p:cTn id="31" dur="500"/>
                                        <p:tgtEl>
                                          <p:spTgt spid="13"/>
                                        </p:tgtEl>
                                      </p:cBhvr>
                                    </p:animEffect>
                                  </p:childTnLst>
                                </p:cTn>
                              </p:par>
                              <p:par>
                                <p:cTn id="32" presetID="10" presetClass="entr" presetSubtype="0" fill="hold" grpId="0" nodeType="withEffect">
                                  <p:stCondLst>
                                    <p:cond delay="36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500"/>
                                        <p:tgtEl>
                                          <p:spTgt spid="14"/>
                                        </p:tgtEl>
                                      </p:cBhvr>
                                    </p:animEffect>
                                  </p:childTnLst>
                                </p:cTn>
                              </p:par>
                              <p:par>
                                <p:cTn id="35" presetID="10" presetClass="entr" presetSubtype="0" fill="hold" grpId="0" nodeType="withEffect">
                                  <p:stCondLst>
                                    <p:cond delay="360"/>
                                  </p:stCondLst>
                                  <p:childTnLst>
                                    <p:set>
                                      <p:cBhvr>
                                        <p:cTn id="36" dur="1" fill="hold">
                                          <p:stCondLst>
                                            <p:cond delay="0"/>
                                          </p:stCondLst>
                                        </p:cTn>
                                        <p:tgtEl>
                                          <p:spTgt spid="15"/>
                                        </p:tgtEl>
                                        <p:attrNameLst>
                                          <p:attrName>style.visibility</p:attrName>
                                        </p:attrNameLst>
                                      </p:cBhvr>
                                      <p:to>
                                        <p:strVal val="visible"/>
                                      </p:to>
                                    </p:set>
                                    <p:animEffect transition="in" filter="fade">
                                      <p:cBhvr>
                                        <p:cTn id="37" dur="500"/>
                                        <p:tgtEl>
                                          <p:spTgt spid="15"/>
                                        </p:tgtEl>
                                      </p:cBhvr>
                                    </p:animEffect>
                                  </p:childTnLst>
                                </p:cTn>
                              </p:par>
                              <p:par>
                                <p:cTn id="38" presetID="10" presetClass="entr" presetSubtype="0" fill="hold" grpId="0" nodeType="withEffect">
                                  <p:stCondLst>
                                    <p:cond delay="360"/>
                                  </p:stCondLst>
                                  <p:childTnLst>
                                    <p:set>
                                      <p:cBhvr>
                                        <p:cTn id="39" dur="1" fill="hold">
                                          <p:stCondLst>
                                            <p:cond delay="0"/>
                                          </p:stCondLst>
                                        </p:cTn>
                                        <p:tgtEl>
                                          <p:spTgt spid="16"/>
                                        </p:tgtEl>
                                        <p:attrNameLst>
                                          <p:attrName>style.visibility</p:attrName>
                                        </p:attrNameLst>
                                      </p:cBhvr>
                                      <p:to>
                                        <p:strVal val="visible"/>
                                      </p:to>
                                    </p:set>
                                    <p:animEffect transition="in" filter="fade">
                                      <p:cBhvr>
                                        <p:cTn id="40" dur="500"/>
                                        <p:tgtEl>
                                          <p:spTgt spid="16"/>
                                        </p:tgtEl>
                                      </p:cBhvr>
                                    </p:animEffect>
                                  </p:childTnLst>
                                </p:cTn>
                              </p:par>
                              <p:par>
                                <p:cTn id="41" presetID="10" presetClass="entr" presetSubtype="0" fill="hold" grpId="0" nodeType="withEffect">
                                  <p:stCondLst>
                                    <p:cond delay="360"/>
                                  </p:stCondLst>
                                  <p:childTnLst>
                                    <p:set>
                                      <p:cBhvr>
                                        <p:cTn id="42" dur="1" fill="hold">
                                          <p:stCondLst>
                                            <p:cond delay="0"/>
                                          </p:stCondLst>
                                        </p:cTn>
                                        <p:tgtEl>
                                          <p:spTgt spid="17"/>
                                        </p:tgtEl>
                                        <p:attrNameLst>
                                          <p:attrName>style.visibility</p:attrName>
                                        </p:attrNameLst>
                                      </p:cBhvr>
                                      <p:to>
                                        <p:strVal val="visible"/>
                                      </p:to>
                                    </p:set>
                                    <p:animEffect transition="in" filter="fade">
                                      <p:cBhvr>
                                        <p:cTn id="43" dur="500"/>
                                        <p:tgtEl>
                                          <p:spTgt spid="17"/>
                                        </p:tgtEl>
                                      </p:cBhvr>
                                    </p:animEffect>
                                  </p:childTnLst>
                                </p:cTn>
                              </p:par>
                              <p:par>
                                <p:cTn id="44" presetID="10" presetClass="entr" presetSubtype="0" fill="hold" grpId="0" nodeType="withEffect">
                                  <p:stCondLst>
                                    <p:cond delay="540"/>
                                  </p:stCondLst>
                                  <p:childTnLst>
                                    <p:set>
                                      <p:cBhvr>
                                        <p:cTn id="45" dur="1" fill="hold">
                                          <p:stCondLst>
                                            <p:cond delay="0"/>
                                          </p:stCondLst>
                                        </p:cTn>
                                        <p:tgtEl>
                                          <p:spTgt spid="18"/>
                                        </p:tgtEl>
                                        <p:attrNameLst>
                                          <p:attrName>style.visibility</p:attrName>
                                        </p:attrNameLst>
                                      </p:cBhvr>
                                      <p:to>
                                        <p:strVal val="visible"/>
                                      </p:to>
                                    </p:set>
                                    <p:animEffect transition="in" filter="fade">
                                      <p:cBhvr>
                                        <p:cTn id="46" dur="500"/>
                                        <p:tgtEl>
                                          <p:spTgt spid="18"/>
                                        </p:tgtEl>
                                      </p:cBhvr>
                                    </p:animEffect>
                                  </p:childTnLst>
                                </p:cTn>
                              </p:par>
                              <p:par>
                                <p:cTn id="47" presetID="10" presetClass="entr" presetSubtype="0" fill="hold" grpId="0" nodeType="withEffect">
                                  <p:stCondLst>
                                    <p:cond delay="540"/>
                                  </p:stCondLst>
                                  <p:childTnLst>
                                    <p:set>
                                      <p:cBhvr>
                                        <p:cTn id="48" dur="1" fill="hold">
                                          <p:stCondLst>
                                            <p:cond delay="0"/>
                                          </p:stCondLst>
                                        </p:cTn>
                                        <p:tgtEl>
                                          <p:spTgt spid="19"/>
                                        </p:tgtEl>
                                        <p:attrNameLst>
                                          <p:attrName>style.visibility</p:attrName>
                                        </p:attrNameLst>
                                      </p:cBhvr>
                                      <p:to>
                                        <p:strVal val="visible"/>
                                      </p:to>
                                    </p:set>
                                    <p:animEffect transition="in" filter="fade">
                                      <p:cBhvr>
                                        <p:cTn id="49" dur="500"/>
                                        <p:tgtEl>
                                          <p:spTgt spid="19"/>
                                        </p:tgtEl>
                                      </p:cBhvr>
                                    </p:animEffect>
                                  </p:childTnLst>
                                </p:cTn>
                              </p:par>
                              <p:par>
                                <p:cTn id="50" presetID="10" presetClass="entr" presetSubtype="0" fill="hold" grpId="0" nodeType="withEffect">
                                  <p:stCondLst>
                                    <p:cond delay="540"/>
                                  </p:stCondLst>
                                  <p:childTnLst>
                                    <p:set>
                                      <p:cBhvr>
                                        <p:cTn id="51" dur="1" fill="hold">
                                          <p:stCondLst>
                                            <p:cond delay="0"/>
                                          </p:stCondLst>
                                        </p:cTn>
                                        <p:tgtEl>
                                          <p:spTgt spid="20"/>
                                        </p:tgtEl>
                                        <p:attrNameLst>
                                          <p:attrName>style.visibility</p:attrName>
                                        </p:attrNameLst>
                                      </p:cBhvr>
                                      <p:to>
                                        <p:strVal val="visible"/>
                                      </p:to>
                                    </p:set>
                                    <p:animEffect transition="in" filter="fade">
                                      <p:cBhvr>
                                        <p:cTn id="52" dur="500"/>
                                        <p:tgtEl>
                                          <p:spTgt spid="20"/>
                                        </p:tgtEl>
                                      </p:cBhvr>
                                    </p:animEffect>
                                  </p:childTnLst>
                                </p:cTn>
                              </p:par>
                              <p:par>
                                <p:cTn id="53" presetID="10" presetClass="entr" presetSubtype="0" fill="hold" grpId="0" nodeType="withEffect">
                                  <p:stCondLst>
                                    <p:cond delay="540"/>
                                  </p:stCondLst>
                                  <p:childTnLst>
                                    <p:set>
                                      <p:cBhvr>
                                        <p:cTn id="54" dur="1" fill="hold">
                                          <p:stCondLst>
                                            <p:cond delay="0"/>
                                          </p:stCondLst>
                                        </p:cTn>
                                        <p:tgtEl>
                                          <p:spTgt spid="21"/>
                                        </p:tgtEl>
                                        <p:attrNameLst>
                                          <p:attrName>style.visibility</p:attrName>
                                        </p:attrNameLst>
                                      </p:cBhvr>
                                      <p:to>
                                        <p:strVal val="visible"/>
                                      </p:to>
                                    </p:set>
                                    <p:animEffect transition="in" filter="fade">
                                      <p:cBhvr>
                                        <p:cTn id="55" dur="500"/>
                                        <p:tgtEl>
                                          <p:spTgt spid="21"/>
                                        </p:tgtEl>
                                      </p:cBhvr>
                                    </p:animEffect>
                                  </p:childTnLst>
                                </p:cTn>
                              </p:par>
                              <p:par>
                                <p:cTn id="56" presetID="10" presetClass="entr" presetSubtype="0" fill="hold" grpId="0" nodeType="withEffect">
                                  <p:stCondLst>
                                    <p:cond delay="540"/>
                                  </p:stCondLst>
                                  <p:childTnLst>
                                    <p:set>
                                      <p:cBhvr>
                                        <p:cTn id="57" dur="1" fill="hold">
                                          <p:stCondLst>
                                            <p:cond delay="0"/>
                                          </p:stCondLst>
                                        </p:cTn>
                                        <p:tgtEl>
                                          <p:spTgt spid="22"/>
                                        </p:tgtEl>
                                        <p:attrNameLst>
                                          <p:attrName>style.visibility</p:attrName>
                                        </p:attrNameLst>
                                      </p:cBhvr>
                                      <p:to>
                                        <p:strVal val="visible"/>
                                      </p:to>
                                    </p:set>
                                    <p:animEffect transition="in" filter="fade">
                                      <p:cBhvr>
                                        <p:cTn id="58" dur="500"/>
                                        <p:tgtEl>
                                          <p:spTgt spid="22"/>
                                        </p:tgtEl>
                                      </p:cBhvr>
                                    </p:animEffect>
                                  </p:childTnLst>
                                </p:cTn>
                              </p:par>
                              <p:par>
                                <p:cTn id="59" presetID="10" presetClass="entr" presetSubtype="0" fill="hold" grpId="0" nodeType="withEffect">
                                  <p:stCondLst>
                                    <p:cond delay="720"/>
                                  </p:stCondLst>
                                  <p:childTnLst>
                                    <p:set>
                                      <p:cBhvr>
                                        <p:cTn id="60" dur="1" fill="hold">
                                          <p:stCondLst>
                                            <p:cond delay="0"/>
                                          </p:stCondLst>
                                        </p:cTn>
                                        <p:tgtEl>
                                          <p:spTgt spid="23"/>
                                        </p:tgtEl>
                                        <p:attrNameLst>
                                          <p:attrName>style.visibility</p:attrName>
                                        </p:attrNameLst>
                                      </p:cBhvr>
                                      <p:to>
                                        <p:strVal val="visible"/>
                                      </p:to>
                                    </p:set>
                                    <p:animEffect transition="in" filter="fade">
                                      <p:cBhvr>
                                        <p:cTn id="61" dur="500"/>
                                        <p:tgtEl>
                                          <p:spTgt spid="23"/>
                                        </p:tgtEl>
                                      </p:cBhvr>
                                    </p:animEffect>
                                  </p:childTnLst>
                                </p:cTn>
                              </p:par>
                              <p:par>
                                <p:cTn id="62" presetID="10" presetClass="entr" presetSubtype="0" fill="hold" grpId="0" nodeType="withEffect">
                                  <p:stCondLst>
                                    <p:cond delay="720"/>
                                  </p:stCondLst>
                                  <p:childTnLst>
                                    <p:set>
                                      <p:cBhvr>
                                        <p:cTn id="63" dur="1" fill="hold">
                                          <p:stCondLst>
                                            <p:cond delay="0"/>
                                          </p:stCondLst>
                                        </p:cTn>
                                        <p:tgtEl>
                                          <p:spTgt spid="24"/>
                                        </p:tgtEl>
                                        <p:attrNameLst>
                                          <p:attrName>style.visibility</p:attrName>
                                        </p:attrNameLst>
                                      </p:cBhvr>
                                      <p:to>
                                        <p:strVal val="visible"/>
                                      </p:to>
                                    </p:set>
                                    <p:animEffect transition="in" filter="fade">
                                      <p:cBhvr>
                                        <p:cTn id="64" dur="500"/>
                                        <p:tgtEl>
                                          <p:spTgt spid="24"/>
                                        </p:tgtEl>
                                      </p:cBhvr>
                                    </p:animEffect>
                                  </p:childTnLst>
                                </p:cTn>
                              </p:par>
                              <p:par>
                                <p:cTn id="65" presetID="10" presetClass="entr" presetSubtype="0" fill="hold" grpId="0" nodeType="withEffect">
                                  <p:stCondLst>
                                    <p:cond delay="720"/>
                                  </p:stCondLst>
                                  <p:childTnLst>
                                    <p:set>
                                      <p:cBhvr>
                                        <p:cTn id="66" dur="1" fill="hold">
                                          <p:stCondLst>
                                            <p:cond delay="0"/>
                                          </p:stCondLst>
                                        </p:cTn>
                                        <p:tgtEl>
                                          <p:spTgt spid="25"/>
                                        </p:tgtEl>
                                        <p:attrNameLst>
                                          <p:attrName>style.visibility</p:attrName>
                                        </p:attrNameLst>
                                      </p:cBhvr>
                                      <p:to>
                                        <p:strVal val="visible"/>
                                      </p:to>
                                    </p:set>
                                    <p:animEffect transition="in" filter="fade">
                                      <p:cBhvr>
                                        <p:cTn id="67" dur="500"/>
                                        <p:tgtEl>
                                          <p:spTgt spid="25"/>
                                        </p:tgtEl>
                                      </p:cBhvr>
                                    </p:animEffect>
                                  </p:childTnLst>
                                </p:cTn>
                              </p:par>
                              <p:par>
                                <p:cTn id="68" presetID="10" presetClass="entr" presetSubtype="0" fill="hold" grpId="0" nodeType="withEffect">
                                  <p:stCondLst>
                                    <p:cond delay="720"/>
                                  </p:stCondLst>
                                  <p:childTnLst>
                                    <p:set>
                                      <p:cBhvr>
                                        <p:cTn id="69" dur="1" fill="hold">
                                          <p:stCondLst>
                                            <p:cond delay="0"/>
                                          </p:stCondLst>
                                        </p:cTn>
                                        <p:tgtEl>
                                          <p:spTgt spid="26"/>
                                        </p:tgtEl>
                                        <p:attrNameLst>
                                          <p:attrName>style.visibility</p:attrName>
                                        </p:attrNameLst>
                                      </p:cBhvr>
                                      <p:to>
                                        <p:strVal val="visible"/>
                                      </p:to>
                                    </p:set>
                                    <p:animEffect transition="in" filter="fade">
                                      <p:cBhvr>
                                        <p:cTn id="70" dur="500"/>
                                        <p:tgtEl>
                                          <p:spTgt spid="26"/>
                                        </p:tgtEl>
                                      </p:cBhvr>
                                    </p:animEffect>
                                  </p:childTnLst>
                                </p:cTn>
                              </p:par>
                              <p:par>
                                <p:cTn id="71" presetID="10" presetClass="entr" presetSubtype="0" fill="hold" grpId="0" nodeType="withEffect">
                                  <p:stCondLst>
                                    <p:cond delay="720"/>
                                  </p:stCondLst>
                                  <p:childTnLst>
                                    <p:set>
                                      <p:cBhvr>
                                        <p:cTn id="72" dur="1" fill="hold">
                                          <p:stCondLst>
                                            <p:cond delay="0"/>
                                          </p:stCondLst>
                                        </p:cTn>
                                        <p:tgtEl>
                                          <p:spTgt spid="27"/>
                                        </p:tgtEl>
                                        <p:attrNameLst>
                                          <p:attrName>style.visibility</p:attrName>
                                        </p:attrNameLst>
                                      </p:cBhvr>
                                      <p:to>
                                        <p:strVal val="visible"/>
                                      </p:to>
                                    </p:set>
                                    <p:animEffect transition="in" filter="fade">
                                      <p:cBhvr>
                                        <p:cTn id="73" dur="500"/>
                                        <p:tgtEl>
                                          <p:spTgt spid="27"/>
                                        </p:tgtEl>
                                      </p:cBhvr>
                                    </p:animEffect>
                                  </p:childTnLst>
                                </p:cTn>
                              </p:par>
                              <p:par>
                                <p:cTn id="74" presetID="10" presetClass="entr" presetSubtype="0" fill="hold" grpId="0" nodeType="withEffect">
                                  <p:stCondLst>
                                    <p:cond delay="900"/>
                                  </p:stCondLst>
                                  <p:childTnLst>
                                    <p:set>
                                      <p:cBhvr>
                                        <p:cTn id="75" dur="1" fill="hold">
                                          <p:stCondLst>
                                            <p:cond delay="0"/>
                                          </p:stCondLst>
                                        </p:cTn>
                                        <p:tgtEl>
                                          <p:spTgt spid="28"/>
                                        </p:tgtEl>
                                        <p:attrNameLst>
                                          <p:attrName>style.visibility</p:attrName>
                                        </p:attrNameLst>
                                      </p:cBhvr>
                                      <p:to>
                                        <p:strVal val="visible"/>
                                      </p:to>
                                    </p:set>
                                    <p:animEffect transition="in" filter="fade">
                                      <p:cBhvr>
                                        <p:cTn id="76" dur="500"/>
                                        <p:tgtEl>
                                          <p:spTgt spid="28"/>
                                        </p:tgtEl>
                                      </p:cBhvr>
                                    </p:animEffect>
                                  </p:childTnLst>
                                </p:cTn>
                              </p:par>
                              <p:par>
                                <p:cTn id="77" presetID="10" presetClass="entr" presetSubtype="0" fill="hold" grpId="0" nodeType="withEffect">
                                  <p:stCondLst>
                                    <p:cond delay="900"/>
                                  </p:stCondLst>
                                  <p:childTnLst>
                                    <p:set>
                                      <p:cBhvr>
                                        <p:cTn id="78" dur="1" fill="hold">
                                          <p:stCondLst>
                                            <p:cond delay="0"/>
                                          </p:stCondLst>
                                        </p:cTn>
                                        <p:tgtEl>
                                          <p:spTgt spid="29"/>
                                        </p:tgtEl>
                                        <p:attrNameLst>
                                          <p:attrName>style.visibility</p:attrName>
                                        </p:attrNameLst>
                                      </p:cBhvr>
                                      <p:to>
                                        <p:strVal val="visible"/>
                                      </p:to>
                                    </p:set>
                                    <p:animEffect transition="in" filter="fade">
                                      <p:cBhvr>
                                        <p:cTn id="79" dur="500"/>
                                        <p:tgtEl>
                                          <p:spTgt spid="29"/>
                                        </p:tgtEl>
                                      </p:cBhvr>
                                    </p:animEffect>
                                  </p:childTnLst>
                                </p:cTn>
                              </p:par>
                              <p:par>
                                <p:cTn id="80" presetID="10" presetClass="entr" presetSubtype="0" fill="hold" grpId="0" nodeType="withEffect">
                                  <p:stCondLst>
                                    <p:cond delay="1080"/>
                                  </p:stCondLst>
                                  <p:childTnLst>
                                    <p:set>
                                      <p:cBhvr>
                                        <p:cTn id="81" dur="1" fill="hold">
                                          <p:stCondLst>
                                            <p:cond delay="0"/>
                                          </p:stCondLst>
                                        </p:cTn>
                                        <p:tgtEl>
                                          <p:spTgt spid="30"/>
                                        </p:tgtEl>
                                        <p:attrNameLst>
                                          <p:attrName>style.visibility</p:attrName>
                                        </p:attrNameLst>
                                      </p:cBhvr>
                                      <p:to>
                                        <p:strVal val="visible"/>
                                      </p:to>
                                    </p:set>
                                    <p:animEffect transition="in" filter="fade">
                                      <p:cBhvr>
                                        <p:cTn id="82" dur="500"/>
                                        <p:tgtEl>
                                          <p:spTgt spid="30"/>
                                        </p:tgtEl>
                                      </p:cBhvr>
                                    </p:animEffect>
                                  </p:childTnLst>
                                </p:cTn>
                              </p:par>
                              <p:par>
                                <p:cTn id="83" presetID="10" presetClass="entr" presetSubtype="0" fill="hold" grpId="0" nodeType="withEffect">
                                  <p:stCondLst>
                                    <p:cond delay="1080"/>
                                  </p:stCondLst>
                                  <p:childTnLst>
                                    <p:set>
                                      <p:cBhvr>
                                        <p:cTn id="84" dur="1" fill="hold">
                                          <p:stCondLst>
                                            <p:cond delay="0"/>
                                          </p:stCondLst>
                                        </p:cTn>
                                        <p:tgtEl>
                                          <p:spTgt spid="31"/>
                                        </p:tgtEl>
                                        <p:attrNameLst>
                                          <p:attrName>style.visibility</p:attrName>
                                        </p:attrNameLst>
                                      </p:cBhvr>
                                      <p:to>
                                        <p:strVal val="visible"/>
                                      </p:to>
                                    </p:set>
                                    <p:animEffect transition="in" filter="fade">
                                      <p:cBhvr>
                                        <p:cTn id="85" dur="500"/>
                                        <p:tgtEl>
                                          <p:spTgt spid="31"/>
                                        </p:tgtEl>
                                      </p:cBhvr>
                                    </p:animEffect>
                                  </p:childTnLst>
                                </p:cTn>
                              </p:par>
                              <p:par>
                                <p:cTn id="86" presetID="10" presetClass="entr" presetSubtype="0" fill="hold" grpId="0" nodeType="withEffect">
                                  <p:stCondLst>
                                    <p:cond delay="1080"/>
                                  </p:stCondLst>
                                  <p:childTnLst>
                                    <p:set>
                                      <p:cBhvr>
                                        <p:cTn id="87" dur="1" fill="hold">
                                          <p:stCondLst>
                                            <p:cond delay="0"/>
                                          </p:stCondLst>
                                        </p:cTn>
                                        <p:tgtEl>
                                          <p:spTgt spid="32"/>
                                        </p:tgtEl>
                                        <p:attrNameLst>
                                          <p:attrName>style.visibility</p:attrName>
                                        </p:attrNameLst>
                                      </p:cBhvr>
                                      <p:to>
                                        <p:strVal val="visible"/>
                                      </p:to>
                                    </p:set>
                                    <p:animEffect transition="in" filter="fade">
                                      <p:cBhvr>
                                        <p:cTn id="88" dur="500"/>
                                        <p:tgtEl>
                                          <p:spTgt spid="32"/>
                                        </p:tgtEl>
                                      </p:cBhvr>
                                    </p:animEffect>
                                  </p:childTnLst>
                                </p:cTn>
                              </p:par>
                              <p:par>
                                <p:cTn id="89" presetID="10" presetClass="entr" presetSubtype="0" fill="hold" grpId="0" nodeType="withEffect">
                                  <p:stCondLst>
                                    <p:cond delay="1080"/>
                                  </p:stCondLst>
                                  <p:childTnLst>
                                    <p:set>
                                      <p:cBhvr>
                                        <p:cTn id="90" dur="1" fill="hold">
                                          <p:stCondLst>
                                            <p:cond delay="0"/>
                                          </p:stCondLst>
                                        </p:cTn>
                                        <p:tgtEl>
                                          <p:spTgt spid="33"/>
                                        </p:tgtEl>
                                        <p:attrNameLst>
                                          <p:attrName>style.visibility</p:attrName>
                                        </p:attrNameLst>
                                      </p:cBhvr>
                                      <p:to>
                                        <p:strVal val="visible"/>
                                      </p:to>
                                    </p:set>
                                    <p:animEffect transition="in" filter="fade">
                                      <p:cBhvr>
                                        <p:cTn id="91" dur="500"/>
                                        <p:tgtEl>
                                          <p:spTgt spid="33"/>
                                        </p:tgtEl>
                                      </p:cBhvr>
                                    </p:animEffect>
                                  </p:childTnLst>
                                </p:cTn>
                              </p:par>
                              <p:par>
                                <p:cTn id="92" presetID="10" presetClass="entr" presetSubtype="0" fill="hold" grpId="0" nodeType="withEffect">
                                  <p:stCondLst>
                                    <p:cond delay="1080"/>
                                  </p:stCondLst>
                                  <p:childTnLst>
                                    <p:set>
                                      <p:cBhvr>
                                        <p:cTn id="93" dur="1" fill="hold">
                                          <p:stCondLst>
                                            <p:cond delay="0"/>
                                          </p:stCondLst>
                                        </p:cTn>
                                        <p:tgtEl>
                                          <p:spTgt spid="34"/>
                                        </p:tgtEl>
                                        <p:attrNameLst>
                                          <p:attrName>style.visibility</p:attrName>
                                        </p:attrNameLst>
                                      </p:cBhvr>
                                      <p:to>
                                        <p:strVal val="visible"/>
                                      </p:to>
                                    </p:set>
                                    <p:animEffect transition="in" filter="fade">
                                      <p:cBhvr>
                                        <p:cTn id="94" dur="500"/>
                                        <p:tgtEl>
                                          <p:spTgt spid="34"/>
                                        </p:tgtEl>
                                      </p:cBhvr>
                                    </p:animEffect>
                                  </p:childTnLst>
                                </p:cTn>
                              </p:par>
                              <p:par>
                                <p:cTn id="95" presetID="10" presetClass="entr" presetSubtype="0" fill="hold" grpId="0" nodeType="withEffect">
                                  <p:stCondLst>
                                    <p:cond delay="1080"/>
                                  </p:stCondLst>
                                  <p:childTnLst>
                                    <p:set>
                                      <p:cBhvr>
                                        <p:cTn id="96" dur="1" fill="hold">
                                          <p:stCondLst>
                                            <p:cond delay="0"/>
                                          </p:stCondLst>
                                        </p:cTn>
                                        <p:tgtEl>
                                          <p:spTgt spid="35"/>
                                        </p:tgtEl>
                                        <p:attrNameLst>
                                          <p:attrName>style.visibility</p:attrName>
                                        </p:attrNameLst>
                                      </p:cBhvr>
                                      <p:to>
                                        <p:strVal val="visible"/>
                                      </p:to>
                                    </p:set>
                                    <p:animEffect transition="in" filter="fade">
                                      <p:cBhvr>
                                        <p:cTn id="97" dur="500"/>
                                        <p:tgtEl>
                                          <p:spTgt spid="35"/>
                                        </p:tgtEl>
                                      </p:cBhvr>
                                    </p:animEffect>
                                  </p:childTnLst>
                                </p:cTn>
                              </p:par>
                              <p:par>
                                <p:cTn id="98" presetID="10" presetClass="entr" presetSubtype="0" fill="hold" grpId="0" nodeType="withEffect">
                                  <p:stCondLst>
                                    <p:cond delay="1080"/>
                                  </p:stCondLst>
                                  <p:childTnLst>
                                    <p:set>
                                      <p:cBhvr>
                                        <p:cTn id="99" dur="1" fill="hold">
                                          <p:stCondLst>
                                            <p:cond delay="0"/>
                                          </p:stCondLst>
                                        </p:cTn>
                                        <p:tgtEl>
                                          <p:spTgt spid="36"/>
                                        </p:tgtEl>
                                        <p:attrNameLst>
                                          <p:attrName>style.visibility</p:attrName>
                                        </p:attrNameLst>
                                      </p:cBhvr>
                                      <p:to>
                                        <p:strVal val="visible"/>
                                      </p:to>
                                    </p:set>
                                    <p:animEffect transition="in" filter="fade">
                                      <p:cBhvr>
                                        <p:cTn id="100" dur="500"/>
                                        <p:tgtEl>
                                          <p:spTgt spid="36"/>
                                        </p:tgtEl>
                                      </p:cBhvr>
                                    </p:animEffect>
                                  </p:childTnLst>
                                </p:cTn>
                              </p:par>
                              <p:par>
                                <p:cTn id="101" presetID="10" presetClass="entr" presetSubtype="0" fill="hold" grpId="0" nodeType="withEffect">
                                  <p:stCondLst>
                                    <p:cond delay="1080"/>
                                  </p:stCondLst>
                                  <p:childTnLst>
                                    <p:set>
                                      <p:cBhvr>
                                        <p:cTn id="102" dur="1" fill="hold">
                                          <p:stCondLst>
                                            <p:cond delay="0"/>
                                          </p:stCondLst>
                                        </p:cTn>
                                        <p:tgtEl>
                                          <p:spTgt spid="37"/>
                                        </p:tgtEl>
                                        <p:attrNameLst>
                                          <p:attrName>style.visibility</p:attrName>
                                        </p:attrNameLst>
                                      </p:cBhvr>
                                      <p:to>
                                        <p:strVal val="visible"/>
                                      </p:to>
                                    </p:set>
                                    <p:animEffect transition="in" filter="fade">
                                      <p:cBhvr>
                                        <p:cTn id="103" dur="500"/>
                                        <p:tgtEl>
                                          <p:spTgt spid="37"/>
                                        </p:tgtEl>
                                      </p:cBhvr>
                                    </p:animEffect>
                                  </p:childTnLst>
                                </p:cTn>
                              </p:par>
                              <p:par>
                                <p:cTn id="104" presetID="10" presetClass="entr" presetSubtype="0" fill="hold" grpId="0" nodeType="withEffect">
                                  <p:stCondLst>
                                    <p:cond delay="1080"/>
                                  </p:stCondLst>
                                  <p:childTnLst>
                                    <p:set>
                                      <p:cBhvr>
                                        <p:cTn id="105" dur="1" fill="hold">
                                          <p:stCondLst>
                                            <p:cond delay="0"/>
                                          </p:stCondLst>
                                        </p:cTn>
                                        <p:tgtEl>
                                          <p:spTgt spid="38"/>
                                        </p:tgtEl>
                                        <p:attrNameLst>
                                          <p:attrName>style.visibility</p:attrName>
                                        </p:attrNameLst>
                                      </p:cBhvr>
                                      <p:to>
                                        <p:strVal val="visible"/>
                                      </p:to>
                                    </p:set>
                                    <p:animEffect transition="in" filter="fade">
                                      <p:cBhvr>
                                        <p:cTn id="106" dur="500"/>
                                        <p:tgtEl>
                                          <p:spTgt spid="38"/>
                                        </p:tgtEl>
                                      </p:cBhvr>
                                    </p:animEffect>
                                  </p:childTnLst>
                                </p:cTn>
                              </p:par>
                              <p:par>
                                <p:cTn id="107" presetID="10" presetClass="entr" presetSubtype="0" fill="hold" grpId="0" nodeType="withEffect">
                                  <p:stCondLst>
                                    <p:cond delay="1080"/>
                                  </p:stCondLst>
                                  <p:childTnLst>
                                    <p:set>
                                      <p:cBhvr>
                                        <p:cTn id="108" dur="1" fill="hold">
                                          <p:stCondLst>
                                            <p:cond delay="0"/>
                                          </p:stCondLst>
                                        </p:cTn>
                                        <p:tgtEl>
                                          <p:spTgt spid="39"/>
                                        </p:tgtEl>
                                        <p:attrNameLst>
                                          <p:attrName>style.visibility</p:attrName>
                                        </p:attrNameLst>
                                      </p:cBhvr>
                                      <p:to>
                                        <p:strVal val="visible"/>
                                      </p:to>
                                    </p:set>
                                    <p:animEffect transition="in" filter="fade">
                                      <p:cBhvr>
                                        <p:cTn id="109" dur="500"/>
                                        <p:tgtEl>
                                          <p:spTgt spid="39"/>
                                        </p:tgtEl>
                                      </p:cBhvr>
                                    </p:animEffect>
                                  </p:childTnLst>
                                </p:cTn>
                              </p:par>
                              <p:par>
                                <p:cTn id="110" presetID="10" presetClass="entr" presetSubtype="0" fill="hold" grpId="0" nodeType="withEffect">
                                  <p:stCondLst>
                                    <p:cond delay="1080"/>
                                  </p:stCondLst>
                                  <p:childTnLst>
                                    <p:set>
                                      <p:cBhvr>
                                        <p:cTn id="111" dur="1" fill="hold">
                                          <p:stCondLst>
                                            <p:cond delay="0"/>
                                          </p:stCondLst>
                                        </p:cTn>
                                        <p:tgtEl>
                                          <p:spTgt spid="40"/>
                                        </p:tgtEl>
                                        <p:attrNameLst>
                                          <p:attrName>style.visibility</p:attrName>
                                        </p:attrNameLst>
                                      </p:cBhvr>
                                      <p:to>
                                        <p:strVal val="visible"/>
                                      </p:to>
                                    </p:set>
                                    <p:animEffect transition="in" filter="fade">
                                      <p:cBhvr>
                                        <p:cTn id="112" dur="500"/>
                                        <p:tgtEl>
                                          <p:spTgt spid="40"/>
                                        </p:tgtEl>
                                      </p:cBhvr>
                                    </p:animEffect>
                                  </p:childTnLst>
                                </p:cTn>
                              </p:par>
                              <p:par>
                                <p:cTn id="113" presetID="10" presetClass="entr" presetSubtype="0" fill="hold" grpId="0" nodeType="withEffect">
                                  <p:stCondLst>
                                    <p:cond delay="1080"/>
                                  </p:stCondLst>
                                  <p:childTnLst>
                                    <p:set>
                                      <p:cBhvr>
                                        <p:cTn id="114" dur="1" fill="hold">
                                          <p:stCondLst>
                                            <p:cond delay="0"/>
                                          </p:stCondLst>
                                        </p:cTn>
                                        <p:tgtEl>
                                          <p:spTgt spid="41"/>
                                        </p:tgtEl>
                                        <p:attrNameLst>
                                          <p:attrName>style.visibility</p:attrName>
                                        </p:attrNameLst>
                                      </p:cBhvr>
                                      <p:to>
                                        <p:strVal val="visible"/>
                                      </p:to>
                                    </p:set>
                                    <p:animEffect transition="in" filter="fade">
                                      <p:cBhvr>
                                        <p:cTn id="115" dur="500"/>
                                        <p:tgtEl>
                                          <p:spTgt spid="41"/>
                                        </p:tgtEl>
                                      </p:cBhvr>
                                    </p:animEffect>
                                  </p:childTnLst>
                                </p:cTn>
                              </p:par>
                              <p:par>
                                <p:cTn id="116" presetID="10" presetClass="entr" presetSubtype="0" fill="hold" grpId="0" nodeType="withEffect">
                                  <p:stCondLst>
                                    <p:cond delay="1080"/>
                                  </p:stCondLst>
                                  <p:childTnLst>
                                    <p:set>
                                      <p:cBhvr>
                                        <p:cTn id="117" dur="1" fill="hold">
                                          <p:stCondLst>
                                            <p:cond delay="0"/>
                                          </p:stCondLst>
                                        </p:cTn>
                                        <p:tgtEl>
                                          <p:spTgt spid="42"/>
                                        </p:tgtEl>
                                        <p:attrNameLst>
                                          <p:attrName>style.visibility</p:attrName>
                                        </p:attrNameLst>
                                      </p:cBhvr>
                                      <p:to>
                                        <p:strVal val="visible"/>
                                      </p:to>
                                    </p:set>
                                    <p:animEffect transition="in" filter="fade">
                                      <p:cBhvr>
                                        <p:cTn id="118" dur="500"/>
                                        <p:tgtEl>
                                          <p:spTgt spid="42"/>
                                        </p:tgtEl>
                                      </p:cBhvr>
                                    </p:animEffect>
                                  </p:childTnLst>
                                </p:cTn>
                              </p:par>
                              <p:par>
                                <p:cTn id="119" presetID="10" presetClass="entr" presetSubtype="0" fill="hold" grpId="0" nodeType="withEffect">
                                  <p:stCondLst>
                                    <p:cond delay="1080"/>
                                  </p:stCondLst>
                                  <p:childTnLst>
                                    <p:set>
                                      <p:cBhvr>
                                        <p:cTn id="120" dur="1" fill="hold">
                                          <p:stCondLst>
                                            <p:cond delay="0"/>
                                          </p:stCondLst>
                                        </p:cTn>
                                        <p:tgtEl>
                                          <p:spTgt spid="43"/>
                                        </p:tgtEl>
                                        <p:attrNameLst>
                                          <p:attrName>style.visibility</p:attrName>
                                        </p:attrNameLst>
                                      </p:cBhvr>
                                      <p:to>
                                        <p:strVal val="visible"/>
                                      </p:to>
                                    </p:set>
                                    <p:animEffect transition="in" filter="fade">
                                      <p:cBhvr>
                                        <p:cTn id="121" dur="500"/>
                                        <p:tgtEl>
                                          <p:spTgt spid="43"/>
                                        </p:tgtEl>
                                      </p:cBhvr>
                                    </p:animEffect>
                                  </p:childTnLst>
                                </p:cTn>
                              </p:par>
                              <p:par>
                                <p:cTn id="122" presetID="10" presetClass="entr" presetSubtype="0" fill="hold" grpId="0" nodeType="withEffect">
                                  <p:stCondLst>
                                    <p:cond delay="1080"/>
                                  </p:stCondLst>
                                  <p:childTnLst>
                                    <p:set>
                                      <p:cBhvr>
                                        <p:cTn id="123" dur="1" fill="hold">
                                          <p:stCondLst>
                                            <p:cond delay="0"/>
                                          </p:stCondLst>
                                        </p:cTn>
                                        <p:tgtEl>
                                          <p:spTgt spid="44"/>
                                        </p:tgtEl>
                                        <p:attrNameLst>
                                          <p:attrName>style.visibility</p:attrName>
                                        </p:attrNameLst>
                                      </p:cBhvr>
                                      <p:to>
                                        <p:strVal val="visible"/>
                                      </p:to>
                                    </p:set>
                                    <p:animEffect transition="in" filter="fade">
                                      <p:cBhvr>
                                        <p:cTn id="124" dur="500"/>
                                        <p:tgtEl>
                                          <p:spTgt spid="44"/>
                                        </p:tgtEl>
                                      </p:cBhvr>
                                    </p:animEffect>
                                  </p:childTnLst>
                                </p:cTn>
                              </p:par>
                              <p:par>
                                <p:cTn id="125" presetID="10" presetClass="entr" presetSubtype="0" fill="hold" grpId="0" nodeType="withEffect">
                                  <p:stCondLst>
                                    <p:cond delay="1080"/>
                                  </p:stCondLst>
                                  <p:childTnLst>
                                    <p:set>
                                      <p:cBhvr>
                                        <p:cTn id="126" dur="1" fill="hold">
                                          <p:stCondLst>
                                            <p:cond delay="0"/>
                                          </p:stCondLst>
                                        </p:cTn>
                                        <p:tgtEl>
                                          <p:spTgt spid="45"/>
                                        </p:tgtEl>
                                        <p:attrNameLst>
                                          <p:attrName>style.visibility</p:attrName>
                                        </p:attrNameLst>
                                      </p:cBhvr>
                                      <p:to>
                                        <p:strVal val="visible"/>
                                      </p:to>
                                    </p:set>
                                    <p:animEffect transition="in" filter="fade">
                                      <p:cBhvr>
                                        <p:cTn id="127" dur="500"/>
                                        <p:tgtEl>
                                          <p:spTgt spid="45"/>
                                        </p:tgtEl>
                                      </p:cBhvr>
                                    </p:animEffect>
                                  </p:childTnLst>
                                </p:cTn>
                              </p:par>
                              <p:par>
                                <p:cTn id="128" presetID="10" presetClass="entr" presetSubtype="0" fill="hold" grpId="0" nodeType="withEffect">
                                  <p:stCondLst>
                                    <p:cond delay="1080"/>
                                  </p:stCondLst>
                                  <p:childTnLst>
                                    <p:set>
                                      <p:cBhvr>
                                        <p:cTn id="129" dur="1" fill="hold">
                                          <p:stCondLst>
                                            <p:cond delay="0"/>
                                          </p:stCondLst>
                                        </p:cTn>
                                        <p:tgtEl>
                                          <p:spTgt spid="46"/>
                                        </p:tgtEl>
                                        <p:attrNameLst>
                                          <p:attrName>style.visibility</p:attrName>
                                        </p:attrNameLst>
                                      </p:cBhvr>
                                      <p:to>
                                        <p:strVal val="visible"/>
                                      </p:to>
                                    </p:set>
                                    <p:animEffect transition="in" filter="fade">
                                      <p:cBhvr>
                                        <p:cTn id="130" dur="500"/>
                                        <p:tgtEl>
                                          <p:spTgt spid="46"/>
                                        </p:tgtEl>
                                      </p:cBhvr>
                                    </p:animEffect>
                                  </p:childTnLst>
                                </p:cTn>
                              </p:par>
                              <p:par>
                                <p:cTn id="131" presetID="10" presetClass="entr" presetSubtype="0" fill="hold" grpId="0" nodeType="withEffect">
                                  <p:stCondLst>
                                    <p:cond delay="1080"/>
                                  </p:stCondLst>
                                  <p:childTnLst>
                                    <p:set>
                                      <p:cBhvr>
                                        <p:cTn id="132" dur="1" fill="hold">
                                          <p:stCondLst>
                                            <p:cond delay="0"/>
                                          </p:stCondLst>
                                        </p:cTn>
                                        <p:tgtEl>
                                          <p:spTgt spid="47"/>
                                        </p:tgtEl>
                                        <p:attrNameLst>
                                          <p:attrName>style.visibility</p:attrName>
                                        </p:attrNameLst>
                                      </p:cBhvr>
                                      <p:to>
                                        <p:strVal val="visible"/>
                                      </p:to>
                                    </p:set>
                                    <p:animEffect transition="in" filter="fade">
                                      <p:cBhvr>
                                        <p:cTn id="133" dur="500"/>
                                        <p:tgtEl>
                                          <p:spTgt spid="47"/>
                                        </p:tgtEl>
                                      </p:cBhvr>
                                    </p:animEffect>
                                  </p:childTnLst>
                                </p:cTn>
                              </p:par>
                              <p:par>
                                <p:cTn id="134" presetID="10" presetClass="entr" presetSubtype="0" fill="hold" grpId="0" nodeType="withEffect">
                                  <p:stCondLst>
                                    <p:cond delay="1080"/>
                                  </p:stCondLst>
                                  <p:childTnLst>
                                    <p:set>
                                      <p:cBhvr>
                                        <p:cTn id="135" dur="1" fill="hold">
                                          <p:stCondLst>
                                            <p:cond delay="0"/>
                                          </p:stCondLst>
                                        </p:cTn>
                                        <p:tgtEl>
                                          <p:spTgt spid="48"/>
                                        </p:tgtEl>
                                        <p:attrNameLst>
                                          <p:attrName>style.visibility</p:attrName>
                                        </p:attrNameLst>
                                      </p:cBhvr>
                                      <p:to>
                                        <p:strVal val="visible"/>
                                      </p:to>
                                    </p:set>
                                    <p:animEffect transition="in" filter="fade">
                                      <p:cBhvr>
                                        <p:cTn id="136" dur="500"/>
                                        <p:tgtEl>
                                          <p:spTgt spid="48"/>
                                        </p:tgtEl>
                                      </p:cBhvr>
                                    </p:animEffect>
                                  </p:childTnLst>
                                </p:cTn>
                              </p:par>
                              <p:par>
                                <p:cTn id="137" presetID="10" presetClass="entr" presetSubtype="0" fill="hold" grpId="0" nodeType="withEffect">
                                  <p:stCondLst>
                                    <p:cond delay="1080"/>
                                  </p:stCondLst>
                                  <p:childTnLst>
                                    <p:set>
                                      <p:cBhvr>
                                        <p:cTn id="138" dur="1" fill="hold">
                                          <p:stCondLst>
                                            <p:cond delay="0"/>
                                          </p:stCondLst>
                                        </p:cTn>
                                        <p:tgtEl>
                                          <p:spTgt spid="49"/>
                                        </p:tgtEl>
                                        <p:attrNameLst>
                                          <p:attrName>style.visibility</p:attrName>
                                        </p:attrNameLst>
                                      </p:cBhvr>
                                      <p:to>
                                        <p:strVal val="visible"/>
                                      </p:to>
                                    </p:set>
                                    <p:animEffect transition="in" filter="fade">
                                      <p:cBhvr>
                                        <p:cTn id="139" dur="500"/>
                                        <p:tgtEl>
                                          <p:spTgt spid="49"/>
                                        </p:tgtEl>
                                      </p:cBhvr>
                                    </p:animEffect>
                                  </p:childTnLst>
                                </p:cTn>
                              </p:par>
                              <p:par>
                                <p:cTn id="140" presetID="10" presetClass="entr" presetSubtype="0" fill="hold" grpId="0" nodeType="withEffect">
                                  <p:stCondLst>
                                    <p:cond delay="1080"/>
                                  </p:stCondLst>
                                  <p:childTnLst>
                                    <p:set>
                                      <p:cBhvr>
                                        <p:cTn id="141" dur="1" fill="hold">
                                          <p:stCondLst>
                                            <p:cond delay="0"/>
                                          </p:stCondLst>
                                        </p:cTn>
                                        <p:tgtEl>
                                          <p:spTgt spid="50"/>
                                        </p:tgtEl>
                                        <p:attrNameLst>
                                          <p:attrName>style.visibility</p:attrName>
                                        </p:attrNameLst>
                                      </p:cBhvr>
                                      <p:to>
                                        <p:strVal val="visible"/>
                                      </p:to>
                                    </p:set>
                                    <p:animEffect transition="in" filter="fade">
                                      <p:cBhvr>
                                        <p:cTn id="142" dur="500"/>
                                        <p:tgtEl>
                                          <p:spTgt spid="50"/>
                                        </p:tgtEl>
                                      </p:cBhvr>
                                    </p:animEffect>
                                  </p:childTnLst>
                                </p:cTn>
                              </p:par>
                              <p:par>
                                <p:cTn id="143" presetID="10" presetClass="entr" presetSubtype="0" fill="hold" grpId="0" nodeType="withEffect">
                                  <p:stCondLst>
                                    <p:cond delay="1080"/>
                                  </p:stCondLst>
                                  <p:childTnLst>
                                    <p:set>
                                      <p:cBhvr>
                                        <p:cTn id="144" dur="1" fill="hold">
                                          <p:stCondLst>
                                            <p:cond delay="0"/>
                                          </p:stCondLst>
                                        </p:cTn>
                                        <p:tgtEl>
                                          <p:spTgt spid="51"/>
                                        </p:tgtEl>
                                        <p:attrNameLst>
                                          <p:attrName>style.visibility</p:attrName>
                                        </p:attrNameLst>
                                      </p:cBhvr>
                                      <p:to>
                                        <p:strVal val="visible"/>
                                      </p:to>
                                    </p:set>
                                    <p:animEffect transition="in" filter="fade">
                                      <p:cBhvr>
                                        <p:cTn id="145" dur="500"/>
                                        <p:tgtEl>
                                          <p:spTgt spid="51"/>
                                        </p:tgtEl>
                                      </p:cBhvr>
                                    </p:animEffect>
                                  </p:childTnLst>
                                </p:cTn>
                              </p:par>
                              <p:par>
                                <p:cTn id="146" presetID="10" presetClass="entr" presetSubtype="0" fill="hold" grpId="0" nodeType="withEffect">
                                  <p:stCondLst>
                                    <p:cond delay="1080"/>
                                  </p:stCondLst>
                                  <p:childTnLst>
                                    <p:set>
                                      <p:cBhvr>
                                        <p:cTn id="147" dur="1" fill="hold">
                                          <p:stCondLst>
                                            <p:cond delay="0"/>
                                          </p:stCondLst>
                                        </p:cTn>
                                        <p:tgtEl>
                                          <p:spTgt spid="52"/>
                                        </p:tgtEl>
                                        <p:attrNameLst>
                                          <p:attrName>style.visibility</p:attrName>
                                        </p:attrNameLst>
                                      </p:cBhvr>
                                      <p:to>
                                        <p:strVal val="visible"/>
                                      </p:to>
                                    </p:set>
                                    <p:animEffect transition="in" filter="fade">
                                      <p:cBhvr>
                                        <p:cTn id="148" dur="500"/>
                                        <p:tgtEl>
                                          <p:spTgt spid="52"/>
                                        </p:tgtEl>
                                      </p:cBhvr>
                                    </p:animEffect>
                                  </p:childTnLst>
                                </p:cTn>
                              </p:par>
                              <p:par>
                                <p:cTn id="149" presetID="10" presetClass="entr" presetSubtype="0" fill="hold" grpId="0" nodeType="withEffect">
                                  <p:stCondLst>
                                    <p:cond delay="1260"/>
                                  </p:stCondLst>
                                  <p:childTnLst>
                                    <p:set>
                                      <p:cBhvr>
                                        <p:cTn id="150" dur="1" fill="hold">
                                          <p:stCondLst>
                                            <p:cond delay="0"/>
                                          </p:stCondLst>
                                        </p:cTn>
                                        <p:tgtEl>
                                          <p:spTgt spid="53"/>
                                        </p:tgtEl>
                                        <p:attrNameLst>
                                          <p:attrName>style.visibility</p:attrName>
                                        </p:attrNameLst>
                                      </p:cBhvr>
                                      <p:to>
                                        <p:strVal val="visible"/>
                                      </p:to>
                                    </p:set>
                                    <p:animEffect transition="in" filter="fade">
                                      <p:cBhvr>
                                        <p:cTn id="151" dur="500"/>
                                        <p:tgtEl>
                                          <p:spTgt spid="53"/>
                                        </p:tgtEl>
                                      </p:cBhvr>
                                    </p:animEffect>
                                  </p:childTnLst>
                                </p:cTn>
                              </p:par>
                              <p:par>
                                <p:cTn id="152" presetID="10" presetClass="entr" presetSubtype="0" fill="hold" grpId="0" nodeType="withEffect">
                                  <p:stCondLst>
                                    <p:cond delay="1260"/>
                                  </p:stCondLst>
                                  <p:childTnLst>
                                    <p:set>
                                      <p:cBhvr>
                                        <p:cTn id="153" dur="1" fill="hold">
                                          <p:stCondLst>
                                            <p:cond delay="0"/>
                                          </p:stCondLst>
                                        </p:cTn>
                                        <p:tgtEl>
                                          <p:spTgt spid="54"/>
                                        </p:tgtEl>
                                        <p:attrNameLst>
                                          <p:attrName>style.visibility</p:attrName>
                                        </p:attrNameLst>
                                      </p:cBhvr>
                                      <p:to>
                                        <p:strVal val="visible"/>
                                      </p:to>
                                    </p:set>
                                    <p:animEffect transition="in" filter="fade">
                                      <p:cBhvr>
                                        <p:cTn id="154" dur="500"/>
                                        <p:tgtEl>
                                          <p:spTgt spid="54"/>
                                        </p:tgtEl>
                                      </p:cBhvr>
                                    </p:animEffect>
                                  </p:childTnLst>
                                </p:cTn>
                              </p:par>
                              <p:par>
                                <p:cTn id="155" presetID="10" presetClass="entr" presetSubtype="0" fill="hold" grpId="0" nodeType="withEffect">
                                  <p:stCondLst>
                                    <p:cond delay="1260"/>
                                  </p:stCondLst>
                                  <p:childTnLst>
                                    <p:set>
                                      <p:cBhvr>
                                        <p:cTn id="156" dur="1" fill="hold">
                                          <p:stCondLst>
                                            <p:cond delay="0"/>
                                          </p:stCondLst>
                                        </p:cTn>
                                        <p:tgtEl>
                                          <p:spTgt spid="55"/>
                                        </p:tgtEl>
                                        <p:attrNameLst>
                                          <p:attrName>style.visibility</p:attrName>
                                        </p:attrNameLst>
                                      </p:cBhvr>
                                      <p:to>
                                        <p:strVal val="visible"/>
                                      </p:to>
                                    </p:set>
                                    <p:animEffect transition="in" filter="fade">
                                      <p:cBhvr>
                                        <p:cTn id="157" dur="500"/>
                                        <p:tgtEl>
                                          <p:spTgt spid="5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P spid="44" grpId="0" animBg="1"/>
      <p:bldP spid="45" grpId="0" animBg="1"/>
      <p:bldP spid="46" grpId="0" animBg="1"/>
      <p:bldP spid="47" grpId="0" animBg="1"/>
      <p:bldP spid="48" grpId="0" animBg="1"/>
      <p:bldP spid="49" grpId="0" animBg="1"/>
      <p:bldP spid="50" grpId="0" animBg="1"/>
      <p:bldP spid="51" grpId="0" animBg="1"/>
      <p:bldP spid="52" grpId="0" animBg="1"/>
      <p:bldP spid="53" grpId="0" animBg="1"/>
      <p:bldP spid="54" grpId="0" animBg="1"/>
      <p:bldP spid="55"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pic>
        <p:nvPicPr>
          <p:cNvPr id="2" name="anim-1-1" descr="/tmp/claude-0/-home-user-hosting/7c832a48-0979-56aa-9fdf-7d53efb9dc7a/scratchpad/build/img/chev-grad.png">    </p:cNvPr>
          <p:cNvPicPr>
            <a:picLocks noChangeAspect="1"/>
          </p:cNvPicPr>
          <p:nvPr/>
        </p:nvPicPr>
        <p:blipFill>
          <a:blip r:embed="rId1"/>
          <a:stretch>
            <a:fillRect/>
          </a:stretch>
        </p:blipFill>
        <p:spPr>
          <a:xfrm>
            <a:off x="-3048000" y="-1536700"/>
            <a:ext cx="6235700" cy="9937750"/>
          </a:xfrm>
          <a:prstGeom prst="rect">
            <a:avLst/>
          </a:prstGeom>
        </p:spPr>
      </p:pic>
      <p:pic>
        <p:nvPicPr>
          <p:cNvPr id="3" name="anim-1-2" descr="/tmp/claude-0/-home-user-hosting/7c832a48-0979-56aa-9fdf-7d53efb9dc7a/scratchpad/build/img/chev-grad.png">    </p:cNvPr>
          <p:cNvPicPr>
            <a:picLocks noChangeAspect="1"/>
          </p:cNvPicPr>
          <p:nvPr/>
        </p:nvPicPr>
        <p:blipFill>
          <a:blip r:embed="rId2">
            <a:alphaModFix amt="10000"/>
          </a:blip>
          <a:stretch>
            <a:fillRect/>
          </a:stretch>
        </p:blipFill>
        <p:spPr>
          <a:xfrm>
            <a:off x="-196850" y="-1536700"/>
            <a:ext cx="6235700" cy="9937750"/>
          </a:xfrm>
          <a:prstGeom prst="rect">
            <a:avLst/>
          </a:prstGeom>
        </p:spPr>
      </p:pic>
      <p:pic>
        <p:nvPicPr>
          <p:cNvPr id="4" name="anim-1-3" descr="/tmp/claude-0/-home-user-hosting/7c832a48-0979-56aa-9fdf-7d53efb9dc7a/scratchpad/build/img/chev-surf.png">    </p:cNvPr>
          <p:cNvPicPr>
            <a:picLocks noChangeAspect="1"/>
          </p:cNvPicPr>
          <p:nvPr/>
        </p:nvPicPr>
        <p:blipFill>
          <a:blip r:embed="rId3"/>
          <a:stretch>
            <a:fillRect/>
          </a:stretch>
        </p:blipFill>
        <p:spPr>
          <a:xfrm>
            <a:off x="2660650" y="-1536700"/>
            <a:ext cx="6235700" cy="9937750"/>
          </a:xfrm>
          <a:prstGeom prst="rect">
            <a:avLst/>
          </a:prstGeom>
        </p:spPr>
      </p:pic>
      <p:pic>
        <p:nvPicPr>
          <p:cNvPr id="5" name="anim-1-4" descr="/tmp/claude-0/-home-user-hosting/7c832a48-0979-56aa-9fdf-7d53efb9dc7a/scratchpad/build/img/chev-surf.png">    </p:cNvPr>
          <p:cNvPicPr>
            <a:picLocks noChangeAspect="1"/>
          </p:cNvPicPr>
          <p:nvPr/>
        </p:nvPicPr>
        <p:blipFill>
          <a:blip r:embed="rId4"/>
          <a:stretch>
            <a:fillRect/>
          </a:stretch>
        </p:blipFill>
        <p:spPr>
          <a:xfrm>
            <a:off x="5518150" y="-1536700"/>
            <a:ext cx="6235700" cy="9937750"/>
          </a:xfrm>
          <a:prstGeom prst="rect">
            <a:avLst/>
          </a:prstGeom>
        </p:spPr>
      </p:pic>
      <p:sp>
        <p:nvSpPr>
          <p:cNvPr id="6" name="anim-2-5"/>
          <p:cNvSpPr/>
          <p:nvPr/>
        </p:nvSpPr>
        <p:spPr>
          <a:xfrm>
            <a:off x="2635250" y="2717800"/>
            <a:ext cx="6921500" cy="1428750"/>
          </a:xfrm>
          <a:prstGeom prst="rect">
            <a:avLst/>
          </a:prstGeom>
          <a:solidFill>
            <a:srgbClr val="FFFFFF"/>
          </a:solidFill>
          <a:ln/>
        </p:spPr>
      </p:sp>
      <p:pic>
        <p:nvPicPr>
          <p:cNvPr id="7" name="anim-2-6" descr="/tmp/claude-0/-home-user-hosting/7c832a48-0979-56aa-9fdf-7d53efb9dc7a/scratchpad/build/img/pointer.png">    </p:cNvPr>
          <p:cNvPicPr>
            <a:picLocks noChangeAspect="1"/>
          </p:cNvPicPr>
          <p:nvPr/>
        </p:nvPicPr>
        <p:blipFill>
          <a:blip r:embed="rId5"/>
          <a:stretch>
            <a:fillRect/>
          </a:stretch>
        </p:blipFill>
        <p:spPr>
          <a:xfrm>
            <a:off x="5537200" y="2806700"/>
            <a:ext cx="107274" cy="215900"/>
          </a:xfrm>
          <a:prstGeom prst="rect">
            <a:avLst/>
          </a:prstGeom>
        </p:spPr>
      </p:pic>
      <p:sp>
        <p:nvSpPr>
          <p:cNvPr id="8" name="anim-2-7"/>
          <p:cNvSpPr txBox="1"/>
          <p:nvPr/>
        </p:nvSpPr>
        <p:spPr>
          <a:xfrm>
            <a:off x="5721350" y="2819400"/>
            <a:ext cx="1187450" cy="209550"/>
          </a:xfrm>
          <a:prstGeom prst="rect">
            <a:avLst/>
          </a:prstGeom>
          <a:noFill/>
          <a:ln/>
        </p:spPr>
        <p:txBody>
          <a:bodyPr wrap="square" lIns="0" tIns="0" rIns="0" bIns="0" rtlCol="0" anchor="t"/>
          <a:lstStyle/>
          <a:p>
            <a:pPr algn="l" indent="0" marL="0">
              <a:lnSpc>
                <a:spcPct val="112000"/>
              </a:lnSpc>
              <a:buNone/>
            </a:pPr>
            <a:r>
              <a:rPr lang="en-US" sz="1300" b="1" spc="400" kern="0" dirty="0">
                <a:solidFill>
                  <a:srgbClr val="194EFF"/>
                </a:solidFill>
                <a:latin typeface="Plus Jakarta Sans" pitchFamily="34" charset="0"/>
                <a:ea typeface="Plus Jakarta Sans" pitchFamily="34" charset="-122"/>
                <a:cs typeface="Plus Jakarta Sans" pitchFamily="34" charset="-120"/>
              </a:rPr>
              <a:t>PART 04</a:t>
            </a:r>
            <a:endParaRPr lang="en-US" sz="1300" dirty="0"/>
          </a:p>
        </p:txBody>
      </p:sp>
      <p:sp>
        <p:nvSpPr>
          <p:cNvPr id="9" name="anim-2-8"/>
          <p:cNvSpPr txBox="1"/>
          <p:nvPr/>
        </p:nvSpPr>
        <p:spPr>
          <a:xfrm>
            <a:off x="2736850" y="3175000"/>
            <a:ext cx="6718300" cy="635000"/>
          </a:xfrm>
          <a:prstGeom prst="rect">
            <a:avLst/>
          </a:prstGeom>
          <a:noFill/>
          <a:ln/>
        </p:spPr>
        <p:txBody>
          <a:bodyPr wrap="square" lIns="0" tIns="0" rIns="0" bIns="0" rtlCol="0" anchor="ctr"/>
          <a:lstStyle/>
          <a:p>
            <a:pPr algn="ctr" indent="0" marL="0">
              <a:lnSpc>
                <a:spcPct val="112000"/>
              </a:lnSpc>
              <a:buNone/>
            </a:pPr>
            <a:r>
              <a:rPr lang="en-US" sz="4000" b="1" dirty="0">
                <a:solidFill>
                  <a:srgbClr val="13151C"/>
                </a:solidFill>
                <a:latin typeface="Plus Jakarta Sans" pitchFamily="34" charset="0"/>
                <a:ea typeface="Plus Jakarta Sans" pitchFamily="34" charset="-122"/>
                <a:cs typeface="Plus Jakarta Sans" pitchFamily="34" charset="-120"/>
              </a:rPr>
              <a:t>GOVERNANCE &amp; LAUNCH</a:t>
            </a:r>
            <a:endParaRPr lang="en-US" sz="4000" dirty="0"/>
          </a:p>
        </p:txBody>
      </p:sp>
      <p:sp>
        <p:nvSpPr>
          <p:cNvPr id="10" name="anim-2-9"/>
          <p:cNvSpPr/>
          <p:nvPr/>
        </p:nvSpPr>
        <p:spPr>
          <a:xfrm>
            <a:off x="5410200" y="3994150"/>
            <a:ext cx="1371600" cy="50800"/>
          </a:xfrm>
          <a:prstGeom prst="roundRect">
            <a:avLst>
              <a:gd name="adj" fmla="val 37500"/>
            </a:avLst>
          </a:prstGeom>
          <a:solidFill>
            <a:srgbClr val="194EFF"/>
          </a:solidFill>
          <a:ln/>
        </p:spPr>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500"/>
                                        <p:tgtEl>
                                          <p:spTgt spid="3"/>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4"/>
                                        </p:tgtEl>
                                        <p:attrNameLst>
                                          <p:attrName>style.visibility</p:attrName>
                                        </p:attrNameLst>
                                      </p:cBhvr>
                                      <p:to>
                                        <p:strVal val="visible"/>
                                      </p:to>
                                    </p:set>
                                    <p:animEffect transition="in" filter="fade">
                                      <p:cBhvr>
                                        <p:cTn id="13" dur="500"/>
                                        <p:tgtEl>
                                          <p:spTgt spid="4"/>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5"/>
                                        </p:tgtEl>
                                        <p:attrNameLst>
                                          <p:attrName>style.visibility</p:attrName>
                                        </p:attrNameLst>
                                      </p:cBhvr>
                                      <p:to>
                                        <p:strVal val="visible"/>
                                      </p:to>
                                    </p:set>
                                    <p:animEffect transition="in" filter="fade">
                                      <p:cBhvr>
                                        <p:cTn id="16" dur="500"/>
                                        <p:tgtEl>
                                          <p:spTgt spid="5"/>
                                        </p:tgtEl>
                                      </p:cBhvr>
                                    </p:animEffect>
                                  </p:childTnLst>
                                </p:cTn>
                              </p:par>
                              <p:par>
                                <p:cTn id="17" presetID="10" presetClass="entr" presetSubtype="0" fill="hold" grpId="0" nodeType="withEffect">
                                  <p:stCondLst>
                                    <p:cond delay="180"/>
                                  </p:stCondLst>
                                  <p:childTnLst>
                                    <p:set>
                                      <p:cBhvr>
                                        <p:cTn id="18" dur="1" fill="hold">
                                          <p:stCondLst>
                                            <p:cond delay="0"/>
                                          </p:stCondLst>
                                        </p:cTn>
                                        <p:tgtEl>
                                          <p:spTgt spid="6"/>
                                        </p:tgtEl>
                                        <p:attrNameLst>
                                          <p:attrName>style.visibility</p:attrName>
                                        </p:attrNameLst>
                                      </p:cBhvr>
                                      <p:to>
                                        <p:strVal val="visible"/>
                                      </p:to>
                                    </p:set>
                                    <p:animEffect transition="in" filter="fade">
                                      <p:cBhvr>
                                        <p:cTn id="19" dur="500"/>
                                        <p:tgtEl>
                                          <p:spTgt spid="6"/>
                                        </p:tgtEl>
                                      </p:cBhvr>
                                    </p:animEffect>
                                  </p:childTnLst>
                                </p:cTn>
                              </p:par>
                              <p:par>
                                <p:cTn id="20" presetID="10" presetClass="entr" presetSubtype="0" fill="hold" grpId="0" nodeType="withEffect">
                                  <p:stCondLst>
                                    <p:cond delay="180"/>
                                  </p:stCondLst>
                                  <p:childTnLst>
                                    <p:set>
                                      <p:cBhvr>
                                        <p:cTn id="21" dur="1" fill="hold">
                                          <p:stCondLst>
                                            <p:cond delay="0"/>
                                          </p:stCondLst>
                                        </p:cTn>
                                        <p:tgtEl>
                                          <p:spTgt spid="7"/>
                                        </p:tgtEl>
                                        <p:attrNameLst>
                                          <p:attrName>style.visibility</p:attrName>
                                        </p:attrNameLst>
                                      </p:cBhvr>
                                      <p:to>
                                        <p:strVal val="visible"/>
                                      </p:to>
                                    </p:set>
                                    <p:animEffect transition="in" filter="fade">
                                      <p:cBhvr>
                                        <p:cTn id="22" dur="500"/>
                                        <p:tgtEl>
                                          <p:spTgt spid="7"/>
                                        </p:tgtEl>
                                      </p:cBhvr>
                                    </p:animEffect>
                                  </p:childTnLst>
                                </p:cTn>
                              </p:par>
                              <p:par>
                                <p:cTn id="23" presetID="10" presetClass="entr" presetSubtype="0" fill="hold" grpId="0" nodeType="withEffect">
                                  <p:stCondLst>
                                    <p:cond delay="180"/>
                                  </p:stCondLst>
                                  <p:childTnLst>
                                    <p:set>
                                      <p:cBhvr>
                                        <p:cTn id="24" dur="1" fill="hold">
                                          <p:stCondLst>
                                            <p:cond delay="0"/>
                                          </p:stCondLst>
                                        </p:cTn>
                                        <p:tgtEl>
                                          <p:spTgt spid="8"/>
                                        </p:tgtEl>
                                        <p:attrNameLst>
                                          <p:attrName>style.visibility</p:attrName>
                                        </p:attrNameLst>
                                      </p:cBhvr>
                                      <p:to>
                                        <p:strVal val="visible"/>
                                      </p:to>
                                    </p:set>
                                    <p:animEffect transition="in" filter="fade">
                                      <p:cBhvr>
                                        <p:cTn id="25" dur="500"/>
                                        <p:tgtEl>
                                          <p:spTgt spid="8"/>
                                        </p:tgtEl>
                                      </p:cBhvr>
                                    </p:animEffect>
                                  </p:childTnLst>
                                </p:cTn>
                              </p:par>
                              <p:par>
                                <p:cTn id="26" presetID="10" presetClass="entr" presetSubtype="0" fill="hold" grpId="0" nodeType="withEffect">
                                  <p:stCondLst>
                                    <p:cond delay="180"/>
                                  </p:stCondLst>
                                  <p:childTnLst>
                                    <p:set>
                                      <p:cBhvr>
                                        <p:cTn id="27" dur="1" fill="hold">
                                          <p:stCondLst>
                                            <p:cond delay="0"/>
                                          </p:stCondLst>
                                        </p:cTn>
                                        <p:tgtEl>
                                          <p:spTgt spid="9"/>
                                        </p:tgtEl>
                                        <p:attrNameLst>
                                          <p:attrName>style.visibility</p:attrName>
                                        </p:attrNameLst>
                                      </p:cBhvr>
                                      <p:to>
                                        <p:strVal val="visible"/>
                                      </p:to>
                                    </p:set>
                                    <p:animEffect transition="in" filter="fade">
                                      <p:cBhvr>
                                        <p:cTn id="28" dur="500"/>
                                        <p:tgtEl>
                                          <p:spTgt spid="9"/>
                                        </p:tgtEl>
                                      </p:cBhvr>
                                    </p:animEffect>
                                  </p:childTnLst>
                                </p:cTn>
                              </p:par>
                              <p:par>
                                <p:cTn id="29" presetID="10" presetClass="entr" presetSubtype="0" fill="hold" grpId="0" nodeType="withEffect">
                                  <p:stCondLst>
                                    <p:cond delay="180"/>
                                  </p:stCondLst>
                                  <p:childTnLst>
                                    <p:set>
                                      <p:cBhvr>
                                        <p:cTn id="30" dur="1" fill="hold">
                                          <p:stCondLst>
                                            <p:cond delay="0"/>
                                          </p:stCondLst>
                                        </p:cTn>
                                        <p:tgtEl>
                                          <p:spTgt spid="10"/>
                                        </p:tgtEl>
                                        <p:attrNameLst>
                                          <p:attrName>style.visibility</p:attrName>
                                        </p:attrNameLst>
                                      </p:cBhvr>
                                      <p:to>
                                        <p:strVal val="visible"/>
                                      </p:to>
                                    </p:set>
                                    <p:animEffect transition="in" filter="fade">
                                      <p:cBhvr>
                                        <p:cTn id="31"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8" grpId="0" animBg="1"/>
      <p:bldP spid="9" grpId="0" animBg="1"/>
      <p:bldP spid="10"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pic>
        <p:nvPicPr>
          <p:cNvPr id="2" name="anim-1-1" descr="/tmp/claude-0/-home-user-hosting/7c832a48-0979-56aa-9fdf-7d53efb9dc7a/scratchpad/build/img/pointer.png">    </p:cNvPr>
          <p:cNvPicPr>
            <a:picLocks noChangeAspect="1"/>
          </p:cNvPicPr>
          <p:nvPr/>
        </p:nvPicPr>
        <p:blipFill>
          <a:blip r:embed="rId1"/>
          <a:stretch>
            <a:fillRect/>
          </a:stretch>
        </p:blipFill>
        <p:spPr>
          <a:xfrm>
            <a:off x="304800" y="241300"/>
            <a:ext cx="107274" cy="215900"/>
          </a:xfrm>
          <a:prstGeom prst="rect">
            <a:avLst/>
          </a:prstGeom>
        </p:spPr>
      </p:pic>
      <p:sp>
        <p:nvSpPr>
          <p:cNvPr id="3" name="anim-1-2"/>
          <p:cNvSpPr txBox="1"/>
          <p:nvPr/>
        </p:nvSpPr>
        <p:spPr>
          <a:xfrm>
            <a:off x="482600" y="254000"/>
            <a:ext cx="10160000" cy="215900"/>
          </a:xfrm>
          <a:prstGeom prst="rect">
            <a:avLst/>
          </a:prstGeom>
          <a:noFill/>
          <a:ln/>
        </p:spPr>
        <p:txBody>
          <a:bodyPr wrap="square" lIns="0" tIns="0" rIns="0" bIns="0" rtlCol="0" anchor="t"/>
          <a:lstStyle/>
          <a:p>
            <a:pPr algn="l" indent="0" marL="0">
              <a:lnSpc>
                <a:spcPct val="112000"/>
              </a:lnSpc>
              <a:buNone/>
            </a:pPr>
            <a:r>
              <a:rPr lang="en-US" sz="1200" b="1" spc="100" kern="0" dirty="0">
                <a:solidFill>
                  <a:srgbClr val="194EFF"/>
                </a:solidFill>
                <a:latin typeface="Plus Jakarta Sans" pitchFamily="34" charset="0"/>
                <a:ea typeface="Plus Jakarta Sans" pitchFamily="34" charset="-122"/>
                <a:cs typeface="Plus Jakarta Sans" pitchFamily="34" charset="-120"/>
              </a:rPr>
              <a:t>COMPLIANCE, RESPONSIBLE AI &amp; BRAND</a:t>
            </a:r>
            <a:endParaRPr lang="en-US" sz="1200" dirty="0"/>
          </a:p>
        </p:txBody>
      </p:sp>
      <p:sp>
        <p:nvSpPr>
          <p:cNvPr id="4" name="anim-1-3"/>
          <p:cNvSpPr txBox="1"/>
          <p:nvPr/>
        </p:nvSpPr>
        <p:spPr>
          <a:xfrm>
            <a:off x="304800" y="546100"/>
            <a:ext cx="11582400" cy="406400"/>
          </a:xfrm>
          <a:prstGeom prst="rect">
            <a:avLst/>
          </a:prstGeom>
          <a:noFill/>
          <a:ln/>
        </p:spPr>
        <p:txBody>
          <a:bodyPr wrap="square" lIns="0" tIns="0" rIns="0" bIns="0" rtlCol="0" anchor="ctr"/>
          <a:lstStyle/>
          <a:p>
            <a:pPr algn="l" indent="0" marL="0">
              <a:lnSpc>
                <a:spcPct val="112000"/>
              </a:lnSpc>
              <a:buNone/>
            </a:pPr>
            <a:r>
              <a:rPr lang="en-US" sz="2000" b="1" dirty="0">
                <a:solidFill>
                  <a:srgbClr val="13151C"/>
                </a:solidFill>
                <a:latin typeface="Plus Jakarta Sans" pitchFamily="34" charset="0"/>
                <a:ea typeface="Plus Jakarta Sans" pitchFamily="34" charset="-122"/>
                <a:cs typeface="Plus Jakarta Sans" pitchFamily="34" charset="-120"/>
              </a:rPr>
              <a:t>Trust is our </a:t>
            </a:r>
            <a:pPr algn="l" indent="0" marL="0">
              <a:lnSpc>
                <a:spcPct val="112000"/>
              </a:lnSpc>
              <a:buNone/>
            </a:pPr>
            <a:r>
              <a:rPr lang="en-US" sz="2000" b="1" dirty="0">
                <a:solidFill>
                  <a:srgbClr val="194EFF"/>
                </a:solidFill>
                <a:latin typeface="Plus Jakarta Sans" pitchFamily="34" charset="0"/>
                <a:ea typeface="Plus Jakarta Sans" pitchFamily="34" charset="-122"/>
                <a:cs typeface="Plus Jakarta Sans" pitchFamily="34" charset="-120"/>
              </a:rPr>
              <a:t>shared</a:t>
            </a:r>
            <a:pPr algn="l" indent="0" marL="0">
              <a:lnSpc>
                <a:spcPct val="112000"/>
              </a:lnSpc>
              <a:buNone/>
            </a:pPr>
            <a:r>
              <a:rPr lang="en-US" sz="2000" b="1" dirty="0">
                <a:solidFill>
                  <a:srgbClr val="13151C"/>
                </a:solidFill>
                <a:latin typeface="Plus Jakarta Sans" pitchFamily="34" charset="0"/>
                <a:ea typeface="Plus Jakarta Sans" pitchFamily="34" charset="-122"/>
                <a:cs typeface="Plus Jakarta Sans" pitchFamily="34" charset="-120"/>
              </a:rPr>
              <a:t> licence to operate</a:t>
            </a:r>
            <a:endParaRPr lang="en-US" sz="2000" dirty="0"/>
          </a:p>
        </p:txBody>
      </p:sp>
      <p:sp>
        <p:nvSpPr>
          <p:cNvPr id="5" name="anim-1-4"/>
          <p:cNvSpPr/>
          <p:nvPr/>
        </p:nvSpPr>
        <p:spPr>
          <a:xfrm>
            <a:off x="0" y="1244600"/>
            <a:ext cx="12192000" cy="6350"/>
          </a:xfrm>
          <a:prstGeom prst="rect">
            <a:avLst/>
          </a:prstGeom>
          <a:solidFill>
            <a:srgbClr val="CDD0D9"/>
          </a:solidFill>
          <a:ln/>
        </p:spPr>
      </p:sp>
      <p:sp>
        <p:nvSpPr>
          <p:cNvPr id="6" name="anim-2-5"/>
          <p:cNvSpPr/>
          <p:nvPr/>
        </p:nvSpPr>
        <p:spPr>
          <a:xfrm>
            <a:off x="6096000" y="1244600"/>
            <a:ext cx="6350" cy="4597400"/>
          </a:xfrm>
          <a:prstGeom prst="rect">
            <a:avLst/>
          </a:prstGeom>
          <a:solidFill>
            <a:srgbClr val="CDD0D9"/>
          </a:solidFill>
          <a:ln/>
        </p:spPr>
      </p:sp>
      <p:sp>
        <p:nvSpPr>
          <p:cNvPr id="7" name="anim-2-6"/>
          <p:cNvSpPr/>
          <p:nvPr/>
        </p:nvSpPr>
        <p:spPr>
          <a:xfrm>
            <a:off x="0" y="1250950"/>
            <a:ext cx="6089650" cy="755650"/>
          </a:xfrm>
          <a:prstGeom prst="rect">
            <a:avLst/>
          </a:prstGeom>
          <a:solidFill>
            <a:srgbClr val="F7FBFD"/>
          </a:solidFill>
          <a:ln/>
        </p:spPr>
      </p:sp>
      <p:sp>
        <p:nvSpPr>
          <p:cNvPr id="8" name="anim-2-7"/>
          <p:cNvSpPr txBox="1"/>
          <p:nvPr/>
        </p:nvSpPr>
        <p:spPr>
          <a:xfrm>
            <a:off x="304800" y="1479550"/>
            <a:ext cx="762000" cy="292100"/>
          </a:xfrm>
          <a:prstGeom prst="rect">
            <a:avLst/>
          </a:prstGeom>
          <a:noFill/>
          <a:ln/>
        </p:spPr>
        <p:txBody>
          <a:bodyPr wrap="square" lIns="0" tIns="0" rIns="0" bIns="0" rtlCol="0" anchor="t"/>
          <a:lstStyle/>
          <a:p>
            <a:pPr algn="l" indent="0" marL="0">
              <a:lnSpc>
                <a:spcPct val="112000"/>
              </a:lnSpc>
              <a:buNone/>
            </a:pPr>
            <a:r>
              <a:rPr lang="en-US" sz="1400" b="1" dirty="0">
                <a:solidFill>
                  <a:srgbClr val="194EFF"/>
                </a:solidFill>
                <a:latin typeface="Plus Jakarta Sans" pitchFamily="34" charset="0"/>
                <a:ea typeface="Plus Jakarta Sans" pitchFamily="34" charset="-122"/>
                <a:cs typeface="Plus Jakarta Sans" pitchFamily="34" charset="-120"/>
              </a:rPr>
              <a:t>01</a:t>
            </a:r>
            <a:endParaRPr lang="en-US" sz="1400" dirty="0"/>
          </a:p>
        </p:txBody>
      </p:sp>
      <p:sp>
        <p:nvSpPr>
          <p:cNvPr id="9" name="anim-2-8"/>
          <p:cNvSpPr txBox="1"/>
          <p:nvPr/>
        </p:nvSpPr>
        <p:spPr>
          <a:xfrm>
            <a:off x="812800" y="1365250"/>
            <a:ext cx="5016500" cy="571500"/>
          </a:xfrm>
          <a:prstGeom prst="rect">
            <a:avLst/>
          </a:prstGeom>
          <a:noFill/>
          <a:ln/>
        </p:spPr>
        <p:txBody>
          <a:bodyPr wrap="square" lIns="0" tIns="0" rIns="0" bIns="0" rtlCol="0" anchor="ctr"/>
          <a:lstStyle/>
          <a:p>
            <a:pPr algn="l" indent="0" marL="0">
              <a:lnSpc>
                <a:spcPct val="120000"/>
              </a:lnSpc>
              <a:buNone/>
            </a:pPr>
            <a:r>
              <a:rPr lang="en-US" sz="900" dirty="0">
                <a:solidFill>
                  <a:srgbClr val="13151C"/>
                </a:solidFill>
                <a:latin typeface="Plus Jakarta Sans" pitchFamily="34" charset="0"/>
                <a:ea typeface="Plus Jakarta Sans" pitchFamily="34" charset="-122"/>
                <a:cs typeface="Plus Jakarta Sans" pitchFamily="34" charset="-120"/>
              </a:rPr>
              <a:t>Comply with anti-bribery, anti-corruption, sanctions, export-control, data-protection, privacy, procurement, insurance-regulatory, cybersecurity and responsible-AI requirements.</a:t>
            </a:r>
            <a:endParaRPr lang="en-US" sz="900" dirty="0"/>
          </a:p>
        </p:txBody>
      </p:sp>
      <p:sp>
        <p:nvSpPr>
          <p:cNvPr id="10" name="anim-2-9"/>
          <p:cNvSpPr/>
          <p:nvPr/>
        </p:nvSpPr>
        <p:spPr>
          <a:xfrm>
            <a:off x="0" y="2012950"/>
            <a:ext cx="6096000" cy="6350"/>
          </a:xfrm>
          <a:prstGeom prst="rect">
            <a:avLst/>
          </a:prstGeom>
          <a:solidFill>
            <a:srgbClr val="CDD0D9"/>
          </a:solidFill>
          <a:ln/>
        </p:spPr>
      </p:sp>
      <p:sp>
        <p:nvSpPr>
          <p:cNvPr id="11" name="anim-2-10"/>
          <p:cNvSpPr txBox="1"/>
          <p:nvPr/>
        </p:nvSpPr>
        <p:spPr>
          <a:xfrm>
            <a:off x="304800" y="2241550"/>
            <a:ext cx="762000" cy="292100"/>
          </a:xfrm>
          <a:prstGeom prst="rect">
            <a:avLst/>
          </a:prstGeom>
          <a:noFill/>
          <a:ln/>
        </p:spPr>
        <p:txBody>
          <a:bodyPr wrap="square" lIns="0" tIns="0" rIns="0" bIns="0" rtlCol="0" anchor="t"/>
          <a:lstStyle/>
          <a:p>
            <a:pPr algn="l" indent="0" marL="0">
              <a:lnSpc>
                <a:spcPct val="112000"/>
              </a:lnSpc>
              <a:buNone/>
            </a:pPr>
            <a:r>
              <a:rPr lang="en-US" sz="1400" b="1" dirty="0">
                <a:solidFill>
                  <a:srgbClr val="194EFF"/>
                </a:solidFill>
                <a:latin typeface="Plus Jakarta Sans" pitchFamily="34" charset="0"/>
                <a:ea typeface="Plus Jakarta Sans" pitchFamily="34" charset="-122"/>
                <a:cs typeface="Plus Jakarta Sans" pitchFamily="34" charset="-120"/>
              </a:rPr>
              <a:t>02</a:t>
            </a:r>
            <a:endParaRPr lang="en-US" sz="1400" dirty="0"/>
          </a:p>
        </p:txBody>
      </p:sp>
      <p:sp>
        <p:nvSpPr>
          <p:cNvPr id="12" name="anim-2-11"/>
          <p:cNvSpPr txBox="1"/>
          <p:nvPr/>
        </p:nvSpPr>
        <p:spPr>
          <a:xfrm>
            <a:off x="812800" y="2127250"/>
            <a:ext cx="5016500" cy="571500"/>
          </a:xfrm>
          <a:prstGeom prst="rect">
            <a:avLst/>
          </a:prstGeom>
          <a:noFill/>
          <a:ln/>
        </p:spPr>
        <p:txBody>
          <a:bodyPr wrap="square" lIns="0" tIns="0" rIns="0" bIns="0" rtlCol="0" anchor="ctr"/>
          <a:lstStyle/>
          <a:p>
            <a:pPr algn="l" indent="0" marL="0">
              <a:lnSpc>
                <a:spcPct val="120000"/>
              </a:lnSpc>
              <a:buNone/>
            </a:pPr>
            <a:r>
              <a:rPr lang="en-US" sz="900" dirty="0">
                <a:solidFill>
                  <a:srgbClr val="13151C"/>
                </a:solidFill>
                <a:latin typeface="Plus Jakarta Sans" pitchFamily="34" charset="0"/>
                <a:ea typeface="Plus Jakarta Sans" pitchFamily="34" charset="-122"/>
                <a:cs typeface="Plus Jakarta Sans" pitchFamily="34" charset="-120"/>
              </a:rPr>
              <a:t>No claims on regulatory approval, endorsements, capability, roadmap, deployment, data residency, SLA or compliance status unless DignifyX-approved.</a:t>
            </a:r>
            <a:endParaRPr lang="en-US" sz="900" dirty="0"/>
          </a:p>
        </p:txBody>
      </p:sp>
      <p:sp>
        <p:nvSpPr>
          <p:cNvPr id="13" name="anim-3-12"/>
          <p:cNvSpPr/>
          <p:nvPr/>
        </p:nvSpPr>
        <p:spPr>
          <a:xfrm>
            <a:off x="0" y="2774950"/>
            <a:ext cx="6096000" cy="6350"/>
          </a:xfrm>
          <a:prstGeom prst="rect">
            <a:avLst/>
          </a:prstGeom>
          <a:solidFill>
            <a:srgbClr val="CDD0D9"/>
          </a:solidFill>
          <a:ln/>
        </p:spPr>
      </p:sp>
      <p:sp>
        <p:nvSpPr>
          <p:cNvPr id="14" name="anim-3-13"/>
          <p:cNvSpPr/>
          <p:nvPr/>
        </p:nvSpPr>
        <p:spPr>
          <a:xfrm>
            <a:off x="0" y="2774950"/>
            <a:ext cx="6089650" cy="755650"/>
          </a:xfrm>
          <a:prstGeom prst="rect">
            <a:avLst/>
          </a:prstGeom>
          <a:solidFill>
            <a:srgbClr val="F7FBFD"/>
          </a:solidFill>
          <a:ln/>
        </p:spPr>
      </p:sp>
      <p:sp>
        <p:nvSpPr>
          <p:cNvPr id="15" name="anim-3-14"/>
          <p:cNvSpPr txBox="1"/>
          <p:nvPr/>
        </p:nvSpPr>
        <p:spPr>
          <a:xfrm>
            <a:off x="304800" y="3003550"/>
            <a:ext cx="762000" cy="292100"/>
          </a:xfrm>
          <a:prstGeom prst="rect">
            <a:avLst/>
          </a:prstGeom>
          <a:noFill/>
          <a:ln/>
        </p:spPr>
        <p:txBody>
          <a:bodyPr wrap="square" lIns="0" tIns="0" rIns="0" bIns="0" rtlCol="0" anchor="t"/>
          <a:lstStyle/>
          <a:p>
            <a:pPr algn="l" indent="0" marL="0">
              <a:lnSpc>
                <a:spcPct val="112000"/>
              </a:lnSpc>
              <a:buNone/>
            </a:pPr>
            <a:r>
              <a:rPr lang="en-US" sz="1400" b="1" dirty="0">
                <a:solidFill>
                  <a:srgbClr val="194EFF"/>
                </a:solidFill>
                <a:latin typeface="Plus Jakarta Sans" pitchFamily="34" charset="0"/>
                <a:ea typeface="Plus Jakarta Sans" pitchFamily="34" charset="-122"/>
                <a:cs typeface="Plus Jakarta Sans" pitchFamily="34" charset="-120"/>
              </a:rPr>
              <a:t>03</a:t>
            </a:r>
            <a:endParaRPr lang="en-US" sz="1400" dirty="0"/>
          </a:p>
        </p:txBody>
      </p:sp>
      <p:sp>
        <p:nvSpPr>
          <p:cNvPr id="16" name="anim-3-15"/>
          <p:cNvSpPr txBox="1"/>
          <p:nvPr/>
        </p:nvSpPr>
        <p:spPr>
          <a:xfrm>
            <a:off x="812800" y="2889250"/>
            <a:ext cx="5016500" cy="571500"/>
          </a:xfrm>
          <a:prstGeom prst="rect">
            <a:avLst/>
          </a:prstGeom>
          <a:noFill/>
          <a:ln/>
        </p:spPr>
        <p:txBody>
          <a:bodyPr wrap="square" lIns="0" tIns="0" rIns="0" bIns="0" rtlCol="0" anchor="ctr"/>
          <a:lstStyle/>
          <a:p>
            <a:pPr algn="l" indent="0" marL="0">
              <a:lnSpc>
                <a:spcPct val="120000"/>
              </a:lnSpc>
              <a:buNone/>
            </a:pPr>
            <a:r>
              <a:rPr lang="en-US" sz="900" dirty="0">
                <a:solidFill>
                  <a:srgbClr val="13151C"/>
                </a:solidFill>
                <a:latin typeface="Plus Jakarta Sans" pitchFamily="34" charset="0"/>
                <a:ea typeface="Plus Jakarta Sans" pitchFamily="34" charset="-122"/>
                <a:cs typeface="Plus Jakarta Sans" pitchFamily="34" charset="-120"/>
              </a:rPr>
              <a:t>No agent, leader or client data in demos, pilots, training, model tuning or marketing without written approval.</a:t>
            </a:r>
            <a:endParaRPr lang="en-US" sz="900" dirty="0"/>
          </a:p>
        </p:txBody>
      </p:sp>
      <p:sp>
        <p:nvSpPr>
          <p:cNvPr id="17" name="anim-3-16"/>
          <p:cNvSpPr/>
          <p:nvPr/>
        </p:nvSpPr>
        <p:spPr>
          <a:xfrm>
            <a:off x="0" y="3536950"/>
            <a:ext cx="6096000" cy="6350"/>
          </a:xfrm>
          <a:prstGeom prst="rect">
            <a:avLst/>
          </a:prstGeom>
          <a:solidFill>
            <a:srgbClr val="CDD0D9"/>
          </a:solidFill>
          <a:ln/>
        </p:spPr>
      </p:sp>
      <p:sp>
        <p:nvSpPr>
          <p:cNvPr id="18" name="anim-3-17"/>
          <p:cNvSpPr txBox="1"/>
          <p:nvPr/>
        </p:nvSpPr>
        <p:spPr>
          <a:xfrm>
            <a:off x="304800" y="3765550"/>
            <a:ext cx="762000" cy="292100"/>
          </a:xfrm>
          <a:prstGeom prst="rect">
            <a:avLst/>
          </a:prstGeom>
          <a:noFill/>
          <a:ln/>
        </p:spPr>
        <p:txBody>
          <a:bodyPr wrap="square" lIns="0" tIns="0" rIns="0" bIns="0" rtlCol="0" anchor="t"/>
          <a:lstStyle/>
          <a:p>
            <a:pPr algn="l" indent="0" marL="0">
              <a:lnSpc>
                <a:spcPct val="112000"/>
              </a:lnSpc>
              <a:buNone/>
            </a:pPr>
            <a:r>
              <a:rPr lang="en-US" sz="1400" b="1" dirty="0">
                <a:solidFill>
                  <a:srgbClr val="194EFF"/>
                </a:solidFill>
                <a:latin typeface="Plus Jakarta Sans" pitchFamily="34" charset="0"/>
                <a:ea typeface="Plus Jakarta Sans" pitchFamily="34" charset="-122"/>
                <a:cs typeface="Plus Jakarta Sans" pitchFamily="34" charset="-120"/>
              </a:rPr>
              <a:t>04</a:t>
            </a:r>
            <a:endParaRPr lang="en-US" sz="1400" dirty="0"/>
          </a:p>
        </p:txBody>
      </p:sp>
      <p:sp>
        <p:nvSpPr>
          <p:cNvPr id="19" name="anim-3-18"/>
          <p:cNvSpPr txBox="1"/>
          <p:nvPr/>
        </p:nvSpPr>
        <p:spPr>
          <a:xfrm>
            <a:off x="812800" y="3651250"/>
            <a:ext cx="5016500" cy="571500"/>
          </a:xfrm>
          <a:prstGeom prst="rect">
            <a:avLst/>
          </a:prstGeom>
          <a:noFill/>
          <a:ln/>
        </p:spPr>
        <p:txBody>
          <a:bodyPr wrap="square" lIns="0" tIns="0" rIns="0" bIns="0" rtlCol="0" anchor="ctr"/>
          <a:lstStyle/>
          <a:p>
            <a:pPr algn="l" indent="0" marL="0">
              <a:lnSpc>
                <a:spcPct val="120000"/>
              </a:lnSpc>
              <a:buNone/>
            </a:pPr>
            <a:r>
              <a:rPr lang="en-US" sz="900" dirty="0">
                <a:solidFill>
                  <a:srgbClr val="13151C"/>
                </a:solidFill>
                <a:latin typeface="Plus Jakarta Sans" pitchFamily="34" charset="0"/>
                <a:ea typeface="Plus Jakarta Sans" pitchFamily="34" charset="-122"/>
                <a:cs typeface="Plus Jakarta Sans" pitchFamily="34" charset="-120"/>
              </a:rPr>
              <a:t>No gifts, incentives or entertainment that breach procurement rules or create conflict-of-interest risk.</a:t>
            </a:r>
            <a:endParaRPr lang="en-US" sz="900" dirty="0"/>
          </a:p>
        </p:txBody>
      </p:sp>
      <p:sp>
        <p:nvSpPr>
          <p:cNvPr id="20" name="anim-4-19"/>
          <p:cNvSpPr/>
          <p:nvPr/>
        </p:nvSpPr>
        <p:spPr>
          <a:xfrm>
            <a:off x="0" y="4298950"/>
            <a:ext cx="6096000" cy="6350"/>
          </a:xfrm>
          <a:prstGeom prst="rect">
            <a:avLst/>
          </a:prstGeom>
          <a:solidFill>
            <a:srgbClr val="CDD0D9"/>
          </a:solidFill>
          <a:ln/>
        </p:spPr>
      </p:sp>
      <p:sp>
        <p:nvSpPr>
          <p:cNvPr id="21" name="anim-4-20"/>
          <p:cNvSpPr/>
          <p:nvPr/>
        </p:nvSpPr>
        <p:spPr>
          <a:xfrm>
            <a:off x="0" y="4298950"/>
            <a:ext cx="6089650" cy="755650"/>
          </a:xfrm>
          <a:prstGeom prst="rect">
            <a:avLst/>
          </a:prstGeom>
          <a:solidFill>
            <a:srgbClr val="F7FBFD"/>
          </a:solidFill>
          <a:ln/>
        </p:spPr>
      </p:sp>
      <p:sp>
        <p:nvSpPr>
          <p:cNvPr id="22" name="anim-4-21"/>
          <p:cNvSpPr txBox="1"/>
          <p:nvPr/>
        </p:nvSpPr>
        <p:spPr>
          <a:xfrm>
            <a:off x="304800" y="4527550"/>
            <a:ext cx="762000" cy="292100"/>
          </a:xfrm>
          <a:prstGeom prst="rect">
            <a:avLst/>
          </a:prstGeom>
          <a:noFill/>
          <a:ln/>
        </p:spPr>
        <p:txBody>
          <a:bodyPr wrap="square" lIns="0" tIns="0" rIns="0" bIns="0" rtlCol="0" anchor="t"/>
          <a:lstStyle/>
          <a:p>
            <a:pPr algn="l" indent="0" marL="0">
              <a:lnSpc>
                <a:spcPct val="112000"/>
              </a:lnSpc>
              <a:buNone/>
            </a:pPr>
            <a:r>
              <a:rPr lang="en-US" sz="1400" b="1" dirty="0">
                <a:solidFill>
                  <a:srgbClr val="194EFF"/>
                </a:solidFill>
                <a:latin typeface="Plus Jakarta Sans" pitchFamily="34" charset="0"/>
                <a:ea typeface="Plus Jakarta Sans" pitchFamily="34" charset="-122"/>
                <a:cs typeface="Plus Jakarta Sans" pitchFamily="34" charset="-120"/>
              </a:rPr>
              <a:t>05</a:t>
            </a:r>
            <a:endParaRPr lang="en-US" sz="1400" dirty="0"/>
          </a:p>
        </p:txBody>
      </p:sp>
      <p:sp>
        <p:nvSpPr>
          <p:cNvPr id="23" name="anim-4-22"/>
          <p:cNvSpPr txBox="1"/>
          <p:nvPr/>
        </p:nvSpPr>
        <p:spPr>
          <a:xfrm>
            <a:off x="812800" y="4413250"/>
            <a:ext cx="5016500" cy="571500"/>
          </a:xfrm>
          <a:prstGeom prst="rect">
            <a:avLst/>
          </a:prstGeom>
          <a:noFill/>
          <a:ln/>
        </p:spPr>
        <p:txBody>
          <a:bodyPr wrap="square" lIns="0" tIns="0" rIns="0" bIns="0" rtlCol="0" anchor="ctr"/>
          <a:lstStyle/>
          <a:p>
            <a:pPr algn="l" indent="0" marL="0">
              <a:lnSpc>
                <a:spcPct val="120000"/>
              </a:lnSpc>
              <a:buNone/>
            </a:pPr>
            <a:r>
              <a:rPr lang="en-US" sz="900" dirty="0">
                <a:solidFill>
                  <a:srgbClr val="13151C"/>
                </a:solidFill>
                <a:latin typeface="Plus Jakarta Sans" pitchFamily="34" charset="0"/>
                <a:ea typeface="Plus Jakarta Sans" pitchFamily="34" charset="-122"/>
                <a:cs typeface="Plus Jakarta Sans" pitchFamily="34" charset="-120"/>
              </a:rPr>
              <a:t>No resale to restricted territories, sanctioned entities, prohibited industries or customers failing due diligence.</a:t>
            </a:r>
            <a:endParaRPr lang="en-US" sz="900" dirty="0"/>
          </a:p>
        </p:txBody>
      </p:sp>
      <p:sp>
        <p:nvSpPr>
          <p:cNvPr id="24" name="anim-4-23"/>
          <p:cNvSpPr/>
          <p:nvPr/>
        </p:nvSpPr>
        <p:spPr>
          <a:xfrm>
            <a:off x="0" y="5060950"/>
            <a:ext cx="6096000" cy="6350"/>
          </a:xfrm>
          <a:prstGeom prst="rect">
            <a:avLst/>
          </a:prstGeom>
          <a:solidFill>
            <a:srgbClr val="CDD0D9"/>
          </a:solidFill>
          <a:ln/>
        </p:spPr>
      </p:sp>
      <p:sp>
        <p:nvSpPr>
          <p:cNvPr id="25" name="anim-4-24"/>
          <p:cNvSpPr txBox="1"/>
          <p:nvPr/>
        </p:nvSpPr>
        <p:spPr>
          <a:xfrm>
            <a:off x="304800" y="5289550"/>
            <a:ext cx="762000" cy="292100"/>
          </a:xfrm>
          <a:prstGeom prst="rect">
            <a:avLst/>
          </a:prstGeom>
          <a:noFill/>
          <a:ln/>
        </p:spPr>
        <p:txBody>
          <a:bodyPr wrap="square" lIns="0" tIns="0" rIns="0" bIns="0" rtlCol="0" anchor="t"/>
          <a:lstStyle/>
          <a:p>
            <a:pPr algn="l" indent="0" marL="0">
              <a:lnSpc>
                <a:spcPct val="112000"/>
              </a:lnSpc>
              <a:buNone/>
            </a:pPr>
            <a:r>
              <a:rPr lang="en-US" sz="1400" b="1" dirty="0">
                <a:solidFill>
                  <a:srgbClr val="194EFF"/>
                </a:solidFill>
                <a:latin typeface="Plus Jakarta Sans" pitchFamily="34" charset="0"/>
                <a:ea typeface="Plus Jakarta Sans" pitchFamily="34" charset="-122"/>
                <a:cs typeface="Plus Jakarta Sans" pitchFamily="34" charset="-120"/>
              </a:rPr>
              <a:t>06</a:t>
            </a:r>
            <a:endParaRPr lang="en-US" sz="1400" dirty="0"/>
          </a:p>
        </p:txBody>
      </p:sp>
      <p:sp>
        <p:nvSpPr>
          <p:cNvPr id="26" name="anim-4-25"/>
          <p:cNvSpPr txBox="1"/>
          <p:nvPr/>
        </p:nvSpPr>
        <p:spPr>
          <a:xfrm>
            <a:off x="812800" y="5175250"/>
            <a:ext cx="5016500" cy="571500"/>
          </a:xfrm>
          <a:prstGeom prst="rect">
            <a:avLst/>
          </a:prstGeom>
          <a:noFill/>
          <a:ln/>
        </p:spPr>
        <p:txBody>
          <a:bodyPr wrap="square" lIns="0" tIns="0" rIns="0" bIns="0" rtlCol="0" anchor="ctr"/>
          <a:lstStyle/>
          <a:p>
            <a:pPr algn="l" indent="0" marL="0">
              <a:lnSpc>
                <a:spcPct val="120000"/>
              </a:lnSpc>
              <a:buNone/>
            </a:pPr>
            <a:r>
              <a:rPr lang="en-US" sz="900" dirty="0">
                <a:solidFill>
                  <a:srgbClr val="13151C"/>
                </a:solidFill>
                <a:latin typeface="Plus Jakarta Sans" pitchFamily="34" charset="0"/>
                <a:ea typeface="Plus Jakarta Sans" pitchFamily="34" charset="-122"/>
                <a:cs typeface="Plus Jakarta Sans" pitchFamily="34" charset="-120"/>
              </a:rPr>
              <a:t>No DignifyX branding, customer logos, case studies, press releases or announcements without written approval.</a:t>
            </a:r>
            <a:endParaRPr lang="en-US" sz="900" dirty="0"/>
          </a:p>
        </p:txBody>
      </p:sp>
      <p:sp>
        <p:nvSpPr>
          <p:cNvPr id="27" name="anim-5-26"/>
          <p:cNvSpPr txBox="1"/>
          <p:nvPr/>
        </p:nvSpPr>
        <p:spPr>
          <a:xfrm>
            <a:off x="6400800" y="1409700"/>
            <a:ext cx="5461000" cy="165100"/>
          </a:xfrm>
          <a:prstGeom prst="rect">
            <a:avLst/>
          </a:prstGeom>
          <a:noFill/>
          <a:ln/>
        </p:spPr>
        <p:txBody>
          <a:bodyPr wrap="square" lIns="0" tIns="0" rIns="0" bIns="0" rtlCol="0" anchor="t"/>
          <a:lstStyle/>
          <a:p>
            <a:pPr algn="l" indent="0" marL="0">
              <a:lnSpc>
                <a:spcPct val="112000"/>
              </a:lnSpc>
              <a:buNone/>
            </a:pPr>
            <a:r>
              <a:rPr lang="en-US" sz="850" b="1" spc="150" kern="0" dirty="0">
                <a:solidFill>
                  <a:srgbClr val="194EFF"/>
                </a:solidFill>
                <a:latin typeface="Plus Jakarta Sans" pitchFamily="34" charset="0"/>
                <a:ea typeface="Plus Jakarta Sans" pitchFamily="34" charset="-122"/>
                <a:cs typeface="Plus Jakarta Sans" pitchFamily="34" charset="-120"/>
              </a:rPr>
              <a:t>BRAND AND ANNOUNCEMENTS</a:t>
            </a:r>
            <a:endParaRPr lang="en-US" sz="850" dirty="0"/>
          </a:p>
        </p:txBody>
      </p:sp>
      <p:graphicFrame>
        <p:nvGraphicFramePr>
          <p:cNvPr id="24" name="anim-5-27"/>
          <p:cNvGraphicFramePr>
            <a:graphicFrameLocks noGrp="1"/>
          </p:cNvGraphicFramePr>
          <p:nvPr>
            <p:extLst>
              <p:ext uri="{D42A27DB-BD31-4B8C-83A1-F6EECF244321}">
                <p14:modId xmlns:p14="http://schemas.microsoft.com/office/powerpoint/2010/main" val="1579011935"/>
              </p:ext>
            </p:extLst>
          </p:nvPr>
        </p:nvGraphicFramePr>
        <p:xfrm>
          <a:off x="6400800" y="1663700"/>
          <a:ext cx="5486400" cy="914400"/>
        </p:xfrm>
        <a:graphic>
          <a:graphicData uri="http://schemas.openxmlformats.org/drawingml/2006/table">
            <a:tbl>
              <a:tblPr/>
              <a:tblGrid>
                <a:gridCol w="1905000"/>
                <a:gridCol w="3581400"/>
              </a:tblGrid>
              <a:tr h="584200">
                <a:tc>
                  <a:txBody>
                    <a:bodyPr/>
                    <a:lstStyle/>
                    <a:p>
                      <a:pPr algn="l" indent="0" marL="0">
                        <a:buNone/>
                      </a:pPr>
                      <a:r>
                        <a:rPr lang="en-US" sz="850" dirty="0">
                          <a:solidFill>
                            <a:srgbClr val="194EFF"/>
                          </a:solidFill>
                          <a:latin typeface="Plus Jakarta Sans SemiBold" pitchFamily="34" charset="0"/>
                          <a:ea typeface="Plus Jakarta Sans SemiBold" pitchFamily="34" charset="-122"/>
                          <a:cs typeface="Plus Jakarta Sans SemiBold" pitchFamily="34" charset="-120"/>
                        </a:rPr>
                        <a:t>Activity</a:t>
                      </a:r>
                      <a:endParaRPr lang="en-US" sz="850" dirty="0">
                        <a:latin typeface="Plus Jakarta Sans SemiBold" charset="0"/>
                        <a:ea typeface="Plus Jakarta Sans SemiBold" charset="0"/>
                        <a:cs typeface="Plus Jakarta Sans SemiBold" charset="0"/>
                      </a:endParaRPr>
                    </a:p>
                  </a:txBody>
                  <a:tcPr marL="101600" marR="101600" marT="38100" marB="38100" anchor="ctr">
                    <a:lnL w="0" cap="flat" cmpd="sng" algn="ctr">
                      <a:noFill/>
                    </a:lnL>
                    <a:lnR w="0" cap="flat" cmpd="sng" algn="ctr">
                      <a:noFill/>
                    </a:lnR>
                    <a:lnT w="9525" cap="flat" cmpd="sng" algn="ctr">
                      <a:solidFill>
                        <a:srgbClr val="CDD0D9"/>
                      </a:solidFill>
                      <a:prstDash val="solid"/>
                      <a:round/>
                      <a:headEnd type="none" w="med" len="med"/>
                      <a:tailEnd type="none" w="med" len="med"/>
                    </a:lnT>
                    <a:lnB w="9525" cap="flat" cmpd="sng" algn="ctr">
                      <a:solidFill>
                        <a:srgbClr val="CDD0D9"/>
                      </a:solidFill>
                      <a:prstDash val="solid"/>
                      <a:round/>
                      <a:headEnd type="none" w="med" len="med"/>
                      <a:tailEnd type="none" w="med" len="med"/>
                    </a:lnB>
                    <a:solidFill>
                      <a:srgbClr val="EDF1FF"/>
                    </a:solidFill>
                  </a:tcPr>
                </a:tc>
                <a:tc>
                  <a:txBody>
                    <a:bodyPr/>
                    <a:lstStyle/>
                    <a:p>
                      <a:pPr algn="l" indent="0" marL="0">
                        <a:buNone/>
                      </a:pPr>
                      <a:r>
                        <a:rPr lang="en-US" sz="850" dirty="0">
                          <a:solidFill>
                            <a:srgbClr val="194EFF"/>
                          </a:solidFill>
                          <a:latin typeface="Plus Jakarta Sans SemiBold" pitchFamily="34" charset="0"/>
                          <a:ea typeface="Plus Jakarta Sans SemiBold" pitchFamily="34" charset="-122"/>
                          <a:cs typeface="Plus Jakarta Sans SemiBold" pitchFamily="34" charset="-120"/>
                        </a:rPr>
                        <a:t>Rule</a:t>
                      </a:r>
                      <a:endParaRPr lang="en-US" sz="850" dirty="0">
                        <a:latin typeface="Plus Jakarta Sans SemiBold" charset="0"/>
                        <a:ea typeface="Plus Jakarta Sans SemiBold" charset="0"/>
                        <a:cs typeface="Plus Jakarta Sans SemiBold" charset="0"/>
                      </a:endParaRPr>
                    </a:p>
                  </a:txBody>
                  <a:tcPr marL="101600" marR="101600" marT="38100" marB="38100" anchor="ctr">
                    <a:lnL w="0" cap="flat" cmpd="sng" algn="ctr">
                      <a:noFill/>
                    </a:lnL>
                    <a:lnR w="0" cap="flat" cmpd="sng" algn="ctr">
                      <a:noFill/>
                    </a:lnR>
                    <a:lnT w="9525" cap="flat" cmpd="sng" algn="ctr">
                      <a:solidFill>
                        <a:srgbClr val="CDD0D9"/>
                      </a:solidFill>
                      <a:prstDash val="solid"/>
                      <a:round/>
                      <a:headEnd type="none" w="med" len="med"/>
                      <a:tailEnd type="none" w="med" len="med"/>
                    </a:lnT>
                    <a:lnB w="9525" cap="flat" cmpd="sng" algn="ctr">
                      <a:solidFill>
                        <a:srgbClr val="CDD0D9"/>
                      </a:solidFill>
                      <a:prstDash val="solid"/>
                      <a:round/>
                      <a:headEnd type="none" w="med" len="med"/>
                      <a:tailEnd type="none" w="med" len="med"/>
                    </a:lnB>
                    <a:solidFill>
                      <a:srgbClr val="EDF1FF"/>
                    </a:solidFill>
                  </a:tcPr>
                </a:tc>
              </a:tr>
              <a:tr h="584200">
                <a:tc>
                  <a:txBody>
                    <a:bodyPr/>
                    <a:lstStyle/>
                    <a:p>
                      <a:pPr algn="l" indent="0" marL="0">
                        <a:buNone/>
                      </a:pPr>
                      <a:r>
                        <a:rPr lang="en-US" sz="900" dirty="0">
                          <a:solidFill>
                            <a:srgbClr val="13151C"/>
                          </a:solidFill>
                          <a:latin typeface="Plus Jakarta Sans SemiBold" pitchFamily="34" charset="0"/>
                          <a:ea typeface="Plus Jakarta Sans SemiBold" pitchFamily="34" charset="-122"/>
                          <a:cs typeface="Plus Jakarta Sans SemiBold" pitchFamily="34" charset="-120"/>
                        </a:rPr>
                        <a:t>DignifyX logo use</a:t>
                      </a:r>
                      <a:endParaRPr lang="en-US" sz="900" dirty="0">
                        <a:latin typeface="Plus Jakarta Sans SemiBold" charset="0"/>
                        <a:ea typeface="Plus Jakarta Sans SemiBold" charset="0"/>
                        <a:cs typeface="Plus Jakarta Sans SemiBold" charset="0"/>
                      </a:endParaRPr>
                    </a:p>
                  </a:txBody>
                  <a:tcPr marL="101600" marR="101600" marT="38100" marB="38100" anchor="ctr">
                    <a:lnL w="0" cap="flat" cmpd="sng" algn="ctr">
                      <a:noFill/>
                    </a:lnL>
                    <a:lnR w="0" cap="flat" cmpd="sng" algn="ctr">
                      <a:noFill/>
                    </a:lnR>
                    <a:lnT w="9525" cap="flat" cmpd="sng" algn="ctr">
                      <a:solidFill>
                        <a:srgbClr val="CDD0D9"/>
                      </a:solidFill>
                      <a:prstDash val="solid"/>
                      <a:round/>
                      <a:headEnd type="none" w="med" len="med"/>
                      <a:tailEnd type="none" w="med" len="med"/>
                    </a:lnT>
                    <a:lnB w="9525" cap="flat" cmpd="sng" algn="ctr">
                      <a:solidFill>
                        <a:srgbClr val="CDD0D9"/>
                      </a:solidFill>
                      <a:prstDash val="solid"/>
                      <a:round/>
                      <a:headEnd type="none" w="med" len="med"/>
                      <a:tailEnd type="none" w="med" len="med"/>
                    </a:lnB>
                    <a:solidFill>
                      <a:srgbClr val="FFFFFF"/>
                    </a:solidFill>
                  </a:tcPr>
                </a:tc>
                <a:tc>
                  <a:txBody>
                    <a:bodyPr/>
                    <a:lstStyle/>
                    <a:p>
                      <a:pPr algn="l" indent="0" marL="0">
                        <a:buNone/>
                      </a:pPr>
                      <a:r>
                        <a:rPr lang="en-US" sz="900" dirty="0">
                          <a:solidFill>
                            <a:srgbClr val="13151C"/>
                          </a:solidFill>
                          <a:latin typeface="Plus Jakarta Sans" pitchFamily="34" charset="0"/>
                          <a:ea typeface="Plus Jakarta Sans" pitchFamily="34" charset="-122"/>
                          <a:cs typeface="Plus Jakarta Sans" pitchFamily="34" charset="-120"/>
                        </a:rPr>
                        <a:t>Only under approved brand guidelines, for approved purposes</a:t>
                      </a:r>
                      <a:endParaRPr lang="en-US" sz="90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CDD0D9"/>
                      </a:solidFill>
                      <a:prstDash val="solid"/>
                      <a:round/>
                      <a:headEnd type="none" w="med" len="med"/>
                      <a:tailEnd type="none" w="med" len="med"/>
                    </a:lnT>
                    <a:lnB w="9525" cap="flat" cmpd="sng" algn="ctr">
                      <a:solidFill>
                        <a:srgbClr val="CDD0D9"/>
                      </a:solidFill>
                      <a:prstDash val="solid"/>
                      <a:round/>
                      <a:headEnd type="none" w="med" len="med"/>
                      <a:tailEnd type="none" w="med" len="med"/>
                    </a:lnB>
                    <a:solidFill>
                      <a:srgbClr val="FFFFFF"/>
                    </a:solidFill>
                  </a:tcPr>
                </a:tc>
              </a:tr>
              <a:tr h="584200">
                <a:tc>
                  <a:txBody>
                    <a:bodyPr/>
                    <a:lstStyle/>
                    <a:p>
                      <a:pPr algn="l" indent="0" marL="0">
                        <a:buNone/>
                      </a:pPr>
                      <a:r>
                        <a:rPr lang="en-US" sz="900" dirty="0">
                          <a:solidFill>
                            <a:srgbClr val="13151C"/>
                          </a:solidFill>
                          <a:latin typeface="Plus Jakarta Sans SemiBold" pitchFamily="34" charset="0"/>
                          <a:ea typeface="Plus Jakarta Sans SemiBold" pitchFamily="34" charset="-122"/>
                          <a:cs typeface="Plus Jakarta Sans SemiBold" pitchFamily="34" charset="-120"/>
                        </a:rPr>
                        <a:t>Joint announcement</a:t>
                      </a:r>
                      <a:endParaRPr lang="en-US" sz="900" dirty="0">
                        <a:latin typeface="Plus Jakarta Sans SemiBold" charset="0"/>
                        <a:ea typeface="Plus Jakarta Sans SemiBold" charset="0"/>
                        <a:cs typeface="Plus Jakarta Sans SemiBold" charset="0"/>
                      </a:endParaRPr>
                    </a:p>
                  </a:txBody>
                  <a:tcPr marL="101600" marR="101600" marT="38100" marB="38100" anchor="ctr">
                    <a:lnL w="0" cap="flat" cmpd="sng" algn="ctr">
                      <a:noFill/>
                    </a:lnL>
                    <a:lnR w="0" cap="flat" cmpd="sng" algn="ctr">
                      <a:noFill/>
                    </a:lnR>
                    <a:lnT w="9525" cap="flat" cmpd="sng" algn="ctr">
                      <a:solidFill>
                        <a:srgbClr val="CDD0D9"/>
                      </a:solidFill>
                      <a:prstDash val="solid"/>
                      <a:round/>
                      <a:headEnd type="none" w="med" len="med"/>
                      <a:tailEnd type="none" w="med" len="med"/>
                    </a:lnT>
                    <a:lnB w="9525" cap="flat" cmpd="sng" algn="ctr">
                      <a:solidFill>
                        <a:srgbClr val="CDD0D9"/>
                      </a:solidFill>
                      <a:prstDash val="solid"/>
                      <a:round/>
                      <a:headEnd type="none" w="med" len="med"/>
                      <a:tailEnd type="none" w="med" len="med"/>
                    </a:lnB>
                    <a:solidFill>
                      <a:srgbClr val="F7FBFD"/>
                    </a:solidFill>
                  </a:tcPr>
                </a:tc>
                <a:tc>
                  <a:txBody>
                    <a:bodyPr/>
                    <a:lstStyle/>
                    <a:p>
                      <a:pPr algn="l" indent="0" marL="0">
                        <a:buNone/>
                      </a:pPr>
                      <a:r>
                        <a:rPr lang="en-US" sz="900" dirty="0">
                          <a:solidFill>
                            <a:srgbClr val="13151C"/>
                          </a:solidFill>
                          <a:latin typeface="Plus Jakarta Sans" pitchFamily="34" charset="0"/>
                          <a:ea typeface="Plus Jakarta Sans" pitchFamily="34" charset="-122"/>
                          <a:cs typeface="Plus Jakarta Sans" pitchFamily="34" charset="-120"/>
                        </a:rPr>
                        <a:t>DignifyX review and written approval first</a:t>
                      </a:r>
                      <a:endParaRPr lang="en-US" sz="90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CDD0D9"/>
                      </a:solidFill>
                      <a:prstDash val="solid"/>
                      <a:round/>
                      <a:headEnd type="none" w="med" len="med"/>
                      <a:tailEnd type="none" w="med" len="med"/>
                    </a:lnT>
                    <a:lnB w="9525" cap="flat" cmpd="sng" algn="ctr">
                      <a:solidFill>
                        <a:srgbClr val="CDD0D9"/>
                      </a:solidFill>
                      <a:prstDash val="solid"/>
                      <a:round/>
                      <a:headEnd type="none" w="med" len="med"/>
                      <a:tailEnd type="none" w="med" len="med"/>
                    </a:lnB>
                    <a:solidFill>
                      <a:srgbClr val="F7FBFD"/>
                    </a:solidFill>
                  </a:tcPr>
                </a:tc>
              </a:tr>
              <a:tr h="584200">
                <a:tc>
                  <a:txBody>
                    <a:bodyPr/>
                    <a:lstStyle/>
                    <a:p>
                      <a:pPr algn="l" indent="0" marL="0">
                        <a:buNone/>
                      </a:pPr>
                      <a:r>
                        <a:rPr lang="en-US" sz="900" dirty="0">
                          <a:solidFill>
                            <a:srgbClr val="13151C"/>
                          </a:solidFill>
                          <a:latin typeface="Plus Jakarta Sans SemiBold" pitchFamily="34" charset="0"/>
                          <a:ea typeface="Plus Jakarta Sans SemiBold" pitchFamily="34" charset="-122"/>
                          <a:cs typeface="Plus Jakarta Sans SemiBold" pitchFamily="34" charset="-120"/>
                        </a:rPr>
                        <a:t>Customer logo / case study</a:t>
                      </a:r>
                      <a:endParaRPr lang="en-US" sz="900" dirty="0">
                        <a:latin typeface="Plus Jakarta Sans SemiBold" charset="0"/>
                        <a:ea typeface="Plus Jakarta Sans SemiBold" charset="0"/>
                        <a:cs typeface="Plus Jakarta Sans SemiBold" charset="0"/>
                      </a:endParaRPr>
                    </a:p>
                  </a:txBody>
                  <a:tcPr marL="101600" marR="101600" marT="38100" marB="38100" anchor="ctr">
                    <a:lnL w="0" cap="flat" cmpd="sng" algn="ctr">
                      <a:noFill/>
                    </a:lnL>
                    <a:lnR w="0" cap="flat" cmpd="sng" algn="ctr">
                      <a:noFill/>
                    </a:lnR>
                    <a:lnT w="9525" cap="flat" cmpd="sng" algn="ctr">
                      <a:solidFill>
                        <a:srgbClr val="CDD0D9"/>
                      </a:solidFill>
                      <a:prstDash val="solid"/>
                      <a:round/>
                      <a:headEnd type="none" w="med" len="med"/>
                      <a:tailEnd type="none" w="med" len="med"/>
                    </a:lnT>
                    <a:lnB w="9525" cap="flat" cmpd="sng" algn="ctr">
                      <a:solidFill>
                        <a:srgbClr val="CDD0D9"/>
                      </a:solidFill>
                      <a:prstDash val="solid"/>
                      <a:round/>
                      <a:headEnd type="none" w="med" len="med"/>
                      <a:tailEnd type="none" w="med" len="med"/>
                    </a:lnB>
                    <a:solidFill>
                      <a:srgbClr val="FFFFFF"/>
                    </a:solidFill>
                  </a:tcPr>
                </a:tc>
                <a:tc>
                  <a:txBody>
                    <a:bodyPr/>
                    <a:lstStyle/>
                    <a:p>
                      <a:pPr algn="l" indent="0" marL="0">
                        <a:buNone/>
                      </a:pPr>
                      <a:r>
                        <a:rPr lang="en-US" sz="900" dirty="0">
                          <a:solidFill>
                            <a:srgbClr val="13151C"/>
                          </a:solidFill>
                          <a:latin typeface="Plus Jakarta Sans" pitchFamily="34" charset="0"/>
                          <a:ea typeface="Plus Jakarta Sans" pitchFamily="34" charset="-122"/>
                          <a:cs typeface="Plus Jakarta Sans" pitchFamily="34" charset="-120"/>
                        </a:rPr>
                        <a:t>Customer approval and DignifyX approval</a:t>
                      </a:r>
                      <a:endParaRPr lang="en-US" sz="90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CDD0D9"/>
                      </a:solidFill>
                      <a:prstDash val="solid"/>
                      <a:round/>
                      <a:headEnd type="none" w="med" len="med"/>
                      <a:tailEnd type="none" w="med" len="med"/>
                    </a:lnT>
                    <a:lnB w="9525" cap="flat" cmpd="sng" algn="ctr">
                      <a:solidFill>
                        <a:srgbClr val="CDD0D9"/>
                      </a:solidFill>
                      <a:prstDash val="solid"/>
                      <a:round/>
                      <a:headEnd type="none" w="med" len="med"/>
                      <a:tailEnd type="none" w="med" len="med"/>
                    </a:lnB>
                    <a:solidFill>
                      <a:srgbClr val="FFFFFF"/>
                    </a:solidFill>
                  </a:tcPr>
                </a:tc>
              </a:tr>
              <a:tr h="584200">
                <a:tc>
                  <a:txBody>
                    <a:bodyPr/>
                    <a:lstStyle/>
                    <a:p>
                      <a:pPr algn="l" indent="0" marL="0">
                        <a:buNone/>
                      </a:pPr>
                      <a:r>
                        <a:rPr lang="en-US" sz="900" dirty="0">
                          <a:solidFill>
                            <a:srgbClr val="13151C"/>
                          </a:solidFill>
                          <a:latin typeface="Plus Jakarta Sans SemiBold" pitchFamily="34" charset="0"/>
                          <a:ea typeface="Plus Jakarta Sans SemiBold" pitchFamily="34" charset="-122"/>
                          <a:cs typeface="Plus Jakarta Sans SemiBold" pitchFamily="34" charset="-120"/>
                        </a:rPr>
                        <a:t>Press release</a:t>
                      </a:r>
                      <a:endParaRPr lang="en-US" sz="900" dirty="0">
                        <a:latin typeface="Plus Jakarta Sans SemiBold" charset="0"/>
                        <a:ea typeface="Plus Jakarta Sans SemiBold" charset="0"/>
                        <a:cs typeface="Plus Jakarta Sans SemiBold" charset="0"/>
                      </a:endParaRPr>
                    </a:p>
                  </a:txBody>
                  <a:tcPr marL="101600" marR="101600" marT="38100" marB="38100" anchor="ctr">
                    <a:lnL w="0" cap="flat" cmpd="sng" algn="ctr">
                      <a:noFill/>
                    </a:lnL>
                    <a:lnR w="0" cap="flat" cmpd="sng" algn="ctr">
                      <a:noFill/>
                    </a:lnR>
                    <a:lnT w="9525" cap="flat" cmpd="sng" algn="ctr">
                      <a:solidFill>
                        <a:srgbClr val="CDD0D9"/>
                      </a:solidFill>
                      <a:prstDash val="solid"/>
                      <a:round/>
                      <a:headEnd type="none" w="med" len="med"/>
                      <a:tailEnd type="none" w="med" len="med"/>
                    </a:lnT>
                    <a:lnB w="9525" cap="flat" cmpd="sng" algn="ctr">
                      <a:solidFill>
                        <a:srgbClr val="CDD0D9"/>
                      </a:solidFill>
                      <a:prstDash val="solid"/>
                      <a:round/>
                      <a:headEnd type="none" w="med" len="med"/>
                      <a:tailEnd type="none" w="med" len="med"/>
                    </a:lnB>
                    <a:solidFill>
                      <a:srgbClr val="F7FBFD"/>
                    </a:solidFill>
                  </a:tcPr>
                </a:tc>
                <a:tc>
                  <a:txBody>
                    <a:bodyPr/>
                    <a:lstStyle/>
                    <a:p>
                      <a:pPr algn="l" indent="0" marL="0">
                        <a:buNone/>
                      </a:pPr>
                      <a:r>
                        <a:rPr lang="en-US" sz="900" dirty="0">
                          <a:solidFill>
                            <a:srgbClr val="13151C"/>
                          </a:solidFill>
                          <a:latin typeface="Plus Jakarta Sans" pitchFamily="34" charset="0"/>
                          <a:ea typeface="Plus Jakarta Sans" pitchFamily="34" charset="-122"/>
                          <a:cs typeface="Plus Jakarta Sans" pitchFamily="34" charset="-120"/>
                        </a:rPr>
                        <a:t>Approved messaging, quote, timing, legal and brand review</a:t>
                      </a:r>
                      <a:endParaRPr lang="en-US" sz="90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CDD0D9"/>
                      </a:solidFill>
                      <a:prstDash val="solid"/>
                      <a:round/>
                      <a:headEnd type="none" w="med" len="med"/>
                      <a:tailEnd type="none" w="med" len="med"/>
                    </a:lnT>
                    <a:lnB w="9525" cap="flat" cmpd="sng" algn="ctr">
                      <a:solidFill>
                        <a:srgbClr val="CDD0D9"/>
                      </a:solidFill>
                      <a:prstDash val="solid"/>
                      <a:round/>
                      <a:headEnd type="none" w="med" len="med"/>
                      <a:tailEnd type="none" w="med" len="med"/>
                    </a:lnB>
                    <a:solidFill>
                      <a:srgbClr val="F7FBFD"/>
                    </a:solidFill>
                  </a:tcPr>
                </a:tc>
              </a:tr>
              <a:tr h="584200">
                <a:tc>
                  <a:txBody>
                    <a:bodyPr/>
                    <a:lstStyle/>
                    <a:p>
                      <a:pPr algn="l" indent="0" marL="0">
                        <a:buNone/>
                      </a:pPr>
                      <a:r>
                        <a:rPr lang="en-US" sz="900" dirty="0">
                          <a:solidFill>
                            <a:srgbClr val="13151C"/>
                          </a:solidFill>
                          <a:latin typeface="Plus Jakarta Sans SemiBold" pitchFamily="34" charset="0"/>
                          <a:ea typeface="Plus Jakarta Sans SemiBold" pitchFamily="34" charset="-122"/>
                          <a:cs typeface="Plus Jakarta Sans SemiBold" pitchFamily="34" charset="-120"/>
                        </a:rPr>
                        <a:t>Public demo / webinar</a:t>
                      </a:r>
                      <a:endParaRPr lang="en-US" sz="900" dirty="0">
                        <a:latin typeface="Plus Jakarta Sans SemiBold" charset="0"/>
                        <a:ea typeface="Plus Jakarta Sans SemiBold" charset="0"/>
                        <a:cs typeface="Plus Jakarta Sans SemiBold" charset="0"/>
                      </a:endParaRPr>
                    </a:p>
                  </a:txBody>
                  <a:tcPr marL="101600" marR="101600" marT="38100" marB="38100" anchor="ctr">
                    <a:lnL w="0" cap="flat" cmpd="sng" algn="ctr">
                      <a:noFill/>
                    </a:lnL>
                    <a:lnR w="0" cap="flat" cmpd="sng" algn="ctr">
                      <a:noFill/>
                    </a:lnR>
                    <a:lnT w="9525" cap="flat" cmpd="sng" algn="ctr">
                      <a:solidFill>
                        <a:srgbClr val="CDD0D9"/>
                      </a:solidFill>
                      <a:prstDash val="solid"/>
                      <a:round/>
                      <a:headEnd type="none" w="med" len="med"/>
                      <a:tailEnd type="none" w="med" len="med"/>
                    </a:lnT>
                    <a:lnB w="9525" cap="flat" cmpd="sng" algn="ctr">
                      <a:solidFill>
                        <a:srgbClr val="CDD0D9"/>
                      </a:solidFill>
                      <a:prstDash val="solid"/>
                      <a:round/>
                      <a:headEnd type="none" w="med" len="med"/>
                      <a:tailEnd type="none" w="med" len="med"/>
                    </a:lnB>
                    <a:solidFill>
                      <a:srgbClr val="FFFFFF"/>
                    </a:solidFill>
                  </a:tcPr>
                </a:tc>
                <a:tc>
                  <a:txBody>
                    <a:bodyPr/>
                    <a:lstStyle/>
                    <a:p>
                      <a:pPr algn="l" indent="0" marL="0">
                        <a:buNone/>
                      </a:pPr>
                      <a:r>
                        <a:rPr lang="en-US" sz="900" dirty="0">
                          <a:solidFill>
                            <a:srgbClr val="13151C"/>
                          </a:solidFill>
                          <a:latin typeface="Plus Jakarta Sans" pitchFamily="34" charset="0"/>
                          <a:ea typeface="Plus Jakarta Sans" pitchFamily="34" charset="-122"/>
                          <a:cs typeface="Plus Jakarta Sans" pitchFamily="34" charset="-120"/>
                        </a:rPr>
                        <a:t>Approved messaging and environment; no unapproved customer data</a:t>
                      </a:r>
                      <a:endParaRPr lang="en-US" sz="90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CDD0D9"/>
                      </a:solidFill>
                      <a:prstDash val="solid"/>
                      <a:round/>
                      <a:headEnd type="none" w="med" len="med"/>
                      <a:tailEnd type="none" w="med" len="med"/>
                    </a:lnT>
                    <a:lnB w="9525" cap="flat" cmpd="sng" algn="ctr">
                      <a:solidFill>
                        <a:srgbClr val="CDD0D9"/>
                      </a:solidFill>
                      <a:prstDash val="solid"/>
                      <a:round/>
                      <a:headEnd type="none" w="med" len="med"/>
                      <a:tailEnd type="none" w="med" len="med"/>
                    </a:lnB>
                    <a:solidFill>
                      <a:srgbClr val="FFFFFF"/>
                    </a:solidFill>
                  </a:tcPr>
                </a:tc>
              </a:tr>
              <a:tr h="584200">
                <a:tc>
                  <a:txBody>
                    <a:bodyPr/>
                    <a:lstStyle/>
                    <a:p>
                      <a:pPr algn="l" indent="0" marL="0">
                        <a:buNone/>
                      </a:pPr>
                      <a:r>
                        <a:rPr lang="en-US" sz="900" dirty="0">
                          <a:solidFill>
                            <a:srgbClr val="13151C"/>
                          </a:solidFill>
                          <a:latin typeface="Plus Jakarta Sans SemiBold" pitchFamily="34" charset="0"/>
                          <a:ea typeface="Plus Jakarta Sans SemiBold" pitchFamily="34" charset="-122"/>
                          <a:cs typeface="Plus Jakarta Sans SemiBold" pitchFamily="34" charset="-120"/>
                        </a:rPr>
                        <a:t>Social media post</a:t>
                      </a:r>
                      <a:endParaRPr lang="en-US" sz="900" dirty="0">
                        <a:latin typeface="Plus Jakarta Sans SemiBold" charset="0"/>
                        <a:ea typeface="Plus Jakarta Sans SemiBold" charset="0"/>
                        <a:cs typeface="Plus Jakarta Sans SemiBold" charset="0"/>
                      </a:endParaRPr>
                    </a:p>
                  </a:txBody>
                  <a:tcPr marL="101600" marR="101600" marT="38100" marB="38100" anchor="ctr">
                    <a:lnL w="0" cap="flat" cmpd="sng" algn="ctr">
                      <a:noFill/>
                    </a:lnL>
                    <a:lnR w="0" cap="flat" cmpd="sng" algn="ctr">
                      <a:noFill/>
                    </a:lnR>
                    <a:lnT w="9525" cap="flat" cmpd="sng" algn="ctr">
                      <a:solidFill>
                        <a:srgbClr val="CDD0D9"/>
                      </a:solidFill>
                      <a:prstDash val="solid"/>
                      <a:round/>
                      <a:headEnd type="none" w="med" len="med"/>
                      <a:tailEnd type="none" w="med" len="med"/>
                    </a:lnT>
                    <a:lnB w="9525" cap="flat" cmpd="sng" algn="ctr">
                      <a:solidFill>
                        <a:srgbClr val="CDD0D9"/>
                      </a:solidFill>
                      <a:prstDash val="solid"/>
                      <a:round/>
                      <a:headEnd type="none" w="med" len="med"/>
                      <a:tailEnd type="none" w="med" len="med"/>
                    </a:lnB>
                    <a:solidFill>
                      <a:srgbClr val="F7FBFD"/>
                    </a:solidFill>
                  </a:tcPr>
                </a:tc>
                <a:tc>
                  <a:txBody>
                    <a:bodyPr/>
                    <a:lstStyle/>
                    <a:p>
                      <a:pPr algn="l" indent="0" marL="0">
                        <a:buNone/>
                      </a:pPr>
                      <a:r>
                        <a:rPr lang="en-US" sz="900" dirty="0">
                          <a:solidFill>
                            <a:srgbClr val="13151C"/>
                          </a:solidFill>
                          <a:latin typeface="Plus Jakarta Sans" pitchFamily="34" charset="0"/>
                          <a:ea typeface="Plus Jakarta Sans" pitchFamily="34" charset="-122"/>
                          <a:cs typeface="Plus Jakarta Sans" pitchFamily="34" charset="-120"/>
                        </a:rPr>
                        <a:t>No unapproved claims, names, pricing or commitments</a:t>
                      </a:r>
                      <a:endParaRPr lang="en-US" sz="90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CDD0D9"/>
                      </a:solidFill>
                      <a:prstDash val="solid"/>
                      <a:round/>
                      <a:headEnd type="none" w="med" len="med"/>
                      <a:tailEnd type="none" w="med" len="med"/>
                    </a:lnT>
                    <a:lnB w="9525" cap="flat" cmpd="sng" algn="ctr">
                      <a:solidFill>
                        <a:srgbClr val="CDD0D9"/>
                      </a:solidFill>
                      <a:prstDash val="solid"/>
                      <a:round/>
                      <a:headEnd type="none" w="med" len="med"/>
                      <a:tailEnd type="none" w="med" len="med"/>
                    </a:lnB>
                    <a:solidFill>
                      <a:srgbClr val="F7FBFD"/>
                    </a:solidFill>
                  </a:tcPr>
                </a:tc>
              </a:tr>
            </a:tbl>
          </a:graphicData>
        </a:graphic>
      </p:graphicFrame>
      <p:sp>
        <p:nvSpPr>
          <p:cNvPr id="29" name="anim-9-28"/>
          <p:cNvSpPr/>
          <p:nvPr/>
        </p:nvSpPr>
        <p:spPr>
          <a:xfrm>
            <a:off x="0" y="5842000"/>
            <a:ext cx="12192000" cy="1016000"/>
          </a:xfrm>
          <a:prstGeom prst="rect">
            <a:avLst/>
          </a:prstGeom>
          <a:solidFill>
            <a:srgbClr val="F5F9FB"/>
          </a:solidFill>
          <a:ln/>
        </p:spPr>
      </p:sp>
      <p:pic>
        <p:nvPicPr>
          <p:cNvPr id="30" name="anim-9-29" descr="/tmp/claude-0/-home-user-hosting/7c832a48-0979-56aa-9fdf-7d53efb9dc7a/scratchpad/build/img/motif-left.png">    </p:cNvPr>
          <p:cNvPicPr>
            <a:picLocks noChangeAspect="1"/>
          </p:cNvPicPr>
          <p:nvPr/>
        </p:nvPicPr>
        <p:blipFill>
          <a:blip r:embed="rId2"/>
          <a:stretch>
            <a:fillRect/>
          </a:stretch>
        </p:blipFill>
        <p:spPr>
          <a:xfrm>
            <a:off x="0" y="5842000"/>
            <a:ext cx="844550" cy="1016000"/>
          </a:xfrm>
          <a:prstGeom prst="rect">
            <a:avLst/>
          </a:prstGeom>
        </p:spPr>
      </p:pic>
      <p:pic>
        <p:nvPicPr>
          <p:cNvPr id="31" name="anim-9-30" descr="/tmp/claude-0/-home-user-hosting/7c832a48-0979-56aa-9fdf-7d53efb9dc7a/scratchpad/build/img/motif-right.png">    </p:cNvPr>
          <p:cNvPicPr>
            <a:picLocks noChangeAspect="1"/>
          </p:cNvPicPr>
          <p:nvPr/>
        </p:nvPicPr>
        <p:blipFill>
          <a:blip r:embed="rId3"/>
          <a:stretch>
            <a:fillRect/>
          </a:stretch>
        </p:blipFill>
        <p:spPr>
          <a:xfrm>
            <a:off x="11347450" y="5842000"/>
            <a:ext cx="844550" cy="1016000"/>
          </a:xfrm>
          <a:prstGeom prst="rect">
            <a:avLst/>
          </a:prstGeom>
        </p:spPr>
      </p:pic>
      <p:sp>
        <p:nvSpPr>
          <p:cNvPr id="32" name="anim-9-31"/>
          <p:cNvSpPr txBox="1"/>
          <p:nvPr/>
        </p:nvSpPr>
        <p:spPr>
          <a:xfrm>
            <a:off x="1079500" y="5969000"/>
            <a:ext cx="2095500" cy="558800"/>
          </a:xfrm>
          <a:prstGeom prst="rect">
            <a:avLst/>
          </a:prstGeom>
          <a:noFill/>
          <a:ln/>
        </p:spPr>
        <p:txBody>
          <a:bodyPr wrap="square" lIns="0" tIns="0" rIns="0" bIns="0" rtlCol="0" anchor="ctr"/>
          <a:lstStyle/>
          <a:p>
            <a:pPr algn="l" indent="0" marL="0">
              <a:lnSpc>
                <a:spcPct val="112000"/>
              </a:lnSpc>
              <a:buNone/>
            </a:pPr>
            <a:r>
              <a:rPr lang="en-US" sz="1200" b="1" dirty="0">
                <a:solidFill>
                  <a:srgbClr val="194EFF"/>
                </a:solidFill>
                <a:latin typeface="Plus Jakarta Sans" pitchFamily="34" charset="0"/>
                <a:ea typeface="Plus Jakarta Sans" pitchFamily="34" charset="-122"/>
                <a:cs typeface="Plus Jakarta Sans" pitchFamily="34" charset="-120"/>
              </a:rPr>
              <a:t>Public Sector</a:t>
            </a:r>
            <a:endParaRPr lang="en-US" sz="1200" dirty="0"/>
          </a:p>
        </p:txBody>
      </p:sp>
      <p:sp>
        <p:nvSpPr>
          <p:cNvPr id="33" name="anim-9-32"/>
          <p:cNvSpPr txBox="1"/>
          <p:nvPr/>
        </p:nvSpPr>
        <p:spPr>
          <a:xfrm>
            <a:off x="3302000" y="5969000"/>
            <a:ext cx="7810500" cy="558800"/>
          </a:xfrm>
          <a:prstGeom prst="rect">
            <a:avLst/>
          </a:prstGeom>
          <a:noFill/>
          <a:ln/>
        </p:spPr>
        <p:txBody>
          <a:bodyPr wrap="square" lIns="0" tIns="0" rIns="0" bIns="0" rtlCol="0" anchor="ctr"/>
          <a:lstStyle/>
          <a:p>
            <a:pPr algn="l" indent="0" marL="0">
              <a:lnSpc>
                <a:spcPct val="112000"/>
              </a:lnSpc>
              <a:buNone/>
            </a:pPr>
            <a:r>
              <a:rPr lang="en-US" sz="1000" dirty="0">
                <a:solidFill>
                  <a:srgbClr val="13151C"/>
                </a:solidFill>
                <a:latin typeface="Plus Jakarta Sans Medium" pitchFamily="34" charset="0"/>
                <a:ea typeface="Plus Jakarta Sans Medium" pitchFamily="34" charset="-122"/>
                <a:cs typeface="Plus Jakarta Sans Medium" pitchFamily="34" charset="-120"/>
              </a:rPr>
              <a:t>Government and state-owned accounts: no success-based referral or influence fee; engagement is through approved fixed-fee, deliverable-based services only.</a:t>
            </a:r>
            <a:endParaRPr lang="en-US" sz="1000" dirty="0"/>
          </a:p>
        </p:txBody>
      </p:sp>
      <p:sp>
        <p:nvSpPr>
          <p:cNvPr id="34" name="Text 28"/>
          <p:cNvSpPr txBox="1"/>
          <p:nvPr/>
        </p:nvSpPr>
        <p:spPr>
          <a:xfrm>
            <a:off x="1079500" y="6578600"/>
            <a:ext cx="10033000" cy="165100"/>
          </a:xfrm>
          <a:prstGeom prst="rect">
            <a:avLst/>
          </a:prstGeom>
          <a:noFill/>
          <a:ln/>
        </p:spPr>
        <p:txBody>
          <a:bodyPr wrap="square" lIns="0" tIns="0" rIns="0" bIns="0" rtlCol="0" anchor="t"/>
          <a:lstStyle/>
          <a:p>
            <a:pPr algn="ctr" indent="0" marL="0">
              <a:lnSpc>
                <a:spcPct val="112000"/>
              </a:lnSpc>
              <a:buNone/>
            </a:pPr>
            <a:r>
              <a:rPr lang="en-US" sz="750" dirty="0">
                <a:solidFill>
                  <a:srgbClr val="8A8C93"/>
                </a:solidFill>
                <a:latin typeface="Plus Jakarta Sans" pitchFamily="34" charset="0"/>
                <a:ea typeface="Plus Jakarta Sans" pitchFamily="34" charset="-122"/>
                <a:cs typeface="Plus Jakarta Sans" pitchFamily="34" charset="-120"/>
              </a:rPr>
              <a:t>Partner-Confidential · NDA · Contains commercial rate card · Programme description only; not a contract</a:t>
            </a:r>
            <a:endParaRPr lang="en-US" sz="75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500"/>
                                        <p:tgtEl>
                                          <p:spTgt spid="3"/>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4"/>
                                        </p:tgtEl>
                                        <p:attrNameLst>
                                          <p:attrName>style.visibility</p:attrName>
                                        </p:attrNameLst>
                                      </p:cBhvr>
                                      <p:to>
                                        <p:strVal val="visible"/>
                                      </p:to>
                                    </p:set>
                                    <p:animEffect transition="in" filter="fade">
                                      <p:cBhvr>
                                        <p:cTn id="13" dur="500"/>
                                        <p:tgtEl>
                                          <p:spTgt spid="4"/>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5"/>
                                        </p:tgtEl>
                                        <p:attrNameLst>
                                          <p:attrName>style.visibility</p:attrName>
                                        </p:attrNameLst>
                                      </p:cBhvr>
                                      <p:to>
                                        <p:strVal val="visible"/>
                                      </p:to>
                                    </p:set>
                                    <p:animEffect transition="in" filter="fade">
                                      <p:cBhvr>
                                        <p:cTn id="16" dur="500"/>
                                        <p:tgtEl>
                                          <p:spTgt spid="5"/>
                                        </p:tgtEl>
                                      </p:cBhvr>
                                    </p:animEffect>
                                  </p:childTnLst>
                                </p:cTn>
                              </p:par>
                              <p:par>
                                <p:cTn id="17" presetID="10" presetClass="entr" presetSubtype="0" fill="hold" grpId="0" nodeType="withEffect">
                                  <p:stCondLst>
                                    <p:cond delay="180"/>
                                  </p:stCondLst>
                                  <p:childTnLst>
                                    <p:set>
                                      <p:cBhvr>
                                        <p:cTn id="18" dur="1" fill="hold">
                                          <p:stCondLst>
                                            <p:cond delay="0"/>
                                          </p:stCondLst>
                                        </p:cTn>
                                        <p:tgtEl>
                                          <p:spTgt spid="6"/>
                                        </p:tgtEl>
                                        <p:attrNameLst>
                                          <p:attrName>style.visibility</p:attrName>
                                        </p:attrNameLst>
                                      </p:cBhvr>
                                      <p:to>
                                        <p:strVal val="visible"/>
                                      </p:to>
                                    </p:set>
                                    <p:animEffect transition="in" filter="fade">
                                      <p:cBhvr>
                                        <p:cTn id="19" dur="500"/>
                                        <p:tgtEl>
                                          <p:spTgt spid="6"/>
                                        </p:tgtEl>
                                      </p:cBhvr>
                                    </p:animEffect>
                                  </p:childTnLst>
                                </p:cTn>
                              </p:par>
                              <p:par>
                                <p:cTn id="20" presetID="10" presetClass="entr" presetSubtype="0" fill="hold" grpId="0" nodeType="withEffect">
                                  <p:stCondLst>
                                    <p:cond delay="180"/>
                                  </p:stCondLst>
                                  <p:childTnLst>
                                    <p:set>
                                      <p:cBhvr>
                                        <p:cTn id="21" dur="1" fill="hold">
                                          <p:stCondLst>
                                            <p:cond delay="0"/>
                                          </p:stCondLst>
                                        </p:cTn>
                                        <p:tgtEl>
                                          <p:spTgt spid="7"/>
                                        </p:tgtEl>
                                        <p:attrNameLst>
                                          <p:attrName>style.visibility</p:attrName>
                                        </p:attrNameLst>
                                      </p:cBhvr>
                                      <p:to>
                                        <p:strVal val="visible"/>
                                      </p:to>
                                    </p:set>
                                    <p:animEffect transition="in" filter="fade">
                                      <p:cBhvr>
                                        <p:cTn id="22" dur="500"/>
                                        <p:tgtEl>
                                          <p:spTgt spid="7"/>
                                        </p:tgtEl>
                                      </p:cBhvr>
                                    </p:animEffect>
                                  </p:childTnLst>
                                </p:cTn>
                              </p:par>
                              <p:par>
                                <p:cTn id="23" presetID="10" presetClass="entr" presetSubtype="0" fill="hold" grpId="0" nodeType="withEffect">
                                  <p:stCondLst>
                                    <p:cond delay="180"/>
                                  </p:stCondLst>
                                  <p:childTnLst>
                                    <p:set>
                                      <p:cBhvr>
                                        <p:cTn id="24" dur="1" fill="hold">
                                          <p:stCondLst>
                                            <p:cond delay="0"/>
                                          </p:stCondLst>
                                        </p:cTn>
                                        <p:tgtEl>
                                          <p:spTgt spid="8"/>
                                        </p:tgtEl>
                                        <p:attrNameLst>
                                          <p:attrName>style.visibility</p:attrName>
                                        </p:attrNameLst>
                                      </p:cBhvr>
                                      <p:to>
                                        <p:strVal val="visible"/>
                                      </p:to>
                                    </p:set>
                                    <p:animEffect transition="in" filter="fade">
                                      <p:cBhvr>
                                        <p:cTn id="25" dur="500"/>
                                        <p:tgtEl>
                                          <p:spTgt spid="8"/>
                                        </p:tgtEl>
                                      </p:cBhvr>
                                    </p:animEffect>
                                  </p:childTnLst>
                                </p:cTn>
                              </p:par>
                              <p:par>
                                <p:cTn id="26" presetID="10" presetClass="entr" presetSubtype="0" fill="hold" grpId="0" nodeType="withEffect">
                                  <p:stCondLst>
                                    <p:cond delay="180"/>
                                  </p:stCondLst>
                                  <p:childTnLst>
                                    <p:set>
                                      <p:cBhvr>
                                        <p:cTn id="27" dur="1" fill="hold">
                                          <p:stCondLst>
                                            <p:cond delay="0"/>
                                          </p:stCondLst>
                                        </p:cTn>
                                        <p:tgtEl>
                                          <p:spTgt spid="9"/>
                                        </p:tgtEl>
                                        <p:attrNameLst>
                                          <p:attrName>style.visibility</p:attrName>
                                        </p:attrNameLst>
                                      </p:cBhvr>
                                      <p:to>
                                        <p:strVal val="visible"/>
                                      </p:to>
                                    </p:set>
                                    <p:animEffect transition="in" filter="fade">
                                      <p:cBhvr>
                                        <p:cTn id="28" dur="500"/>
                                        <p:tgtEl>
                                          <p:spTgt spid="9"/>
                                        </p:tgtEl>
                                      </p:cBhvr>
                                    </p:animEffect>
                                  </p:childTnLst>
                                </p:cTn>
                              </p:par>
                              <p:par>
                                <p:cTn id="29" presetID="10" presetClass="entr" presetSubtype="0" fill="hold" grpId="0" nodeType="withEffect">
                                  <p:stCondLst>
                                    <p:cond delay="180"/>
                                  </p:stCondLst>
                                  <p:childTnLst>
                                    <p:set>
                                      <p:cBhvr>
                                        <p:cTn id="30" dur="1" fill="hold">
                                          <p:stCondLst>
                                            <p:cond delay="0"/>
                                          </p:stCondLst>
                                        </p:cTn>
                                        <p:tgtEl>
                                          <p:spTgt spid="10"/>
                                        </p:tgtEl>
                                        <p:attrNameLst>
                                          <p:attrName>style.visibility</p:attrName>
                                        </p:attrNameLst>
                                      </p:cBhvr>
                                      <p:to>
                                        <p:strVal val="visible"/>
                                      </p:to>
                                    </p:set>
                                    <p:animEffect transition="in" filter="fade">
                                      <p:cBhvr>
                                        <p:cTn id="31" dur="500"/>
                                        <p:tgtEl>
                                          <p:spTgt spid="10"/>
                                        </p:tgtEl>
                                      </p:cBhvr>
                                    </p:animEffect>
                                  </p:childTnLst>
                                </p:cTn>
                              </p:par>
                              <p:par>
                                <p:cTn id="32" presetID="10" presetClass="entr" presetSubtype="0" fill="hold" grpId="0" nodeType="withEffect">
                                  <p:stCondLst>
                                    <p:cond delay="180"/>
                                  </p:stCondLst>
                                  <p:childTnLst>
                                    <p:set>
                                      <p:cBhvr>
                                        <p:cTn id="33" dur="1" fill="hold">
                                          <p:stCondLst>
                                            <p:cond delay="0"/>
                                          </p:stCondLst>
                                        </p:cTn>
                                        <p:tgtEl>
                                          <p:spTgt spid="11"/>
                                        </p:tgtEl>
                                        <p:attrNameLst>
                                          <p:attrName>style.visibility</p:attrName>
                                        </p:attrNameLst>
                                      </p:cBhvr>
                                      <p:to>
                                        <p:strVal val="visible"/>
                                      </p:to>
                                    </p:set>
                                    <p:animEffect transition="in" filter="fade">
                                      <p:cBhvr>
                                        <p:cTn id="34" dur="500"/>
                                        <p:tgtEl>
                                          <p:spTgt spid="11"/>
                                        </p:tgtEl>
                                      </p:cBhvr>
                                    </p:animEffect>
                                  </p:childTnLst>
                                </p:cTn>
                              </p:par>
                              <p:par>
                                <p:cTn id="35" presetID="10" presetClass="entr" presetSubtype="0" fill="hold" grpId="0" nodeType="withEffect">
                                  <p:stCondLst>
                                    <p:cond delay="180"/>
                                  </p:stCondLst>
                                  <p:childTnLst>
                                    <p:set>
                                      <p:cBhvr>
                                        <p:cTn id="36" dur="1" fill="hold">
                                          <p:stCondLst>
                                            <p:cond delay="0"/>
                                          </p:stCondLst>
                                        </p:cTn>
                                        <p:tgtEl>
                                          <p:spTgt spid="12"/>
                                        </p:tgtEl>
                                        <p:attrNameLst>
                                          <p:attrName>style.visibility</p:attrName>
                                        </p:attrNameLst>
                                      </p:cBhvr>
                                      <p:to>
                                        <p:strVal val="visible"/>
                                      </p:to>
                                    </p:set>
                                    <p:animEffect transition="in" filter="fade">
                                      <p:cBhvr>
                                        <p:cTn id="37" dur="500"/>
                                        <p:tgtEl>
                                          <p:spTgt spid="12"/>
                                        </p:tgtEl>
                                      </p:cBhvr>
                                    </p:animEffect>
                                  </p:childTnLst>
                                </p:cTn>
                              </p:par>
                              <p:par>
                                <p:cTn id="38" presetID="10" presetClass="entr" presetSubtype="0" fill="hold" grpId="0" nodeType="withEffect">
                                  <p:stCondLst>
                                    <p:cond delay="360"/>
                                  </p:stCondLst>
                                  <p:childTnLst>
                                    <p:set>
                                      <p:cBhvr>
                                        <p:cTn id="39" dur="1" fill="hold">
                                          <p:stCondLst>
                                            <p:cond delay="0"/>
                                          </p:stCondLst>
                                        </p:cTn>
                                        <p:tgtEl>
                                          <p:spTgt spid="13"/>
                                        </p:tgtEl>
                                        <p:attrNameLst>
                                          <p:attrName>style.visibility</p:attrName>
                                        </p:attrNameLst>
                                      </p:cBhvr>
                                      <p:to>
                                        <p:strVal val="visible"/>
                                      </p:to>
                                    </p:set>
                                    <p:animEffect transition="in" filter="fade">
                                      <p:cBhvr>
                                        <p:cTn id="40" dur="500"/>
                                        <p:tgtEl>
                                          <p:spTgt spid="13"/>
                                        </p:tgtEl>
                                      </p:cBhvr>
                                    </p:animEffect>
                                  </p:childTnLst>
                                </p:cTn>
                              </p:par>
                              <p:par>
                                <p:cTn id="41" presetID="10" presetClass="entr" presetSubtype="0" fill="hold" grpId="0" nodeType="withEffect">
                                  <p:stCondLst>
                                    <p:cond delay="360"/>
                                  </p:stCondLst>
                                  <p:childTnLst>
                                    <p:set>
                                      <p:cBhvr>
                                        <p:cTn id="42" dur="1" fill="hold">
                                          <p:stCondLst>
                                            <p:cond delay="0"/>
                                          </p:stCondLst>
                                        </p:cTn>
                                        <p:tgtEl>
                                          <p:spTgt spid="14"/>
                                        </p:tgtEl>
                                        <p:attrNameLst>
                                          <p:attrName>style.visibility</p:attrName>
                                        </p:attrNameLst>
                                      </p:cBhvr>
                                      <p:to>
                                        <p:strVal val="visible"/>
                                      </p:to>
                                    </p:set>
                                    <p:animEffect transition="in" filter="fade">
                                      <p:cBhvr>
                                        <p:cTn id="43" dur="500"/>
                                        <p:tgtEl>
                                          <p:spTgt spid="14"/>
                                        </p:tgtEl>
                                      </p:cBhvr>
                                    </p:animEffect>
                                  </p:childTnLst>
                                </p:cTn>
                              </p:par>
                              <p:par>
                                <p:cTn id="44" presetID="10" presetClass="entr" presetSubtype="0" fill="hold" grpId="0" nodeType="withEffect">
                                  <p:stCondLst>
                                    <p:cond delay="360"/>
                                  </p:stCondLst>
                                  <p:childTnLst>
                                    <p:set>
                                      <p:cBhvr>
                                        <p:cTn id="45" dur="1" fill="hold">
                                          <p:stCondLst>
                                            <p:cond delay="0"/>
                                          </p:stCondLst>
                                        </p:cTn>
                                        <p:tgtEl>
                                          <p:spTgt spid="15"/>
                                        </p:tgtEl>
                                        <p:attrNameLst>
                                          <p:attrName>style.visibility</p:attrName>
                                        </p:attrNameLst>
                                      </p:cBhvr>
                                      <p:to>
                                        <p:strVal val="visible"/>
                                      </p:to>
                                    </p:set>
                                    <p:animEffect transition="in" filter="fade">
                                      <p:cBhvr>
                                        <p:cTn id="46" dur="500"/>
                                        <p:tgtEl>
                                          <p:spTgt spid="15"/>
                                        </p:tgtEl>
                                      </p:cBhvr>
                                    </p:animEffect>
                                  </p:childTnLst>
                                </p:cTn>
                              </p:par>
                              <p:par>
                                <p:cTn id="47" presetID="10" presetClass="entr" presetSubtype="0" fill="hold" grpId="0" nodeType="withEffect">
                                  <p:stCondLst>
                                    <p:cond delay="360"/>
                                  </p:stCondLst>
                                  <p:childTnLst>
                                    <p:set>
                                      <p:cBhvr>
                                        <p:cTn id="48" dur="1" fill="hold">
                                          <p:stCondLst>
                                            <p:cond delay="0"/>
                                          </p:stCondLst>
                                        </p:cTn>
                                        <p:tgtEl>
                                          <p:spTgt spid="16"/>
                                        </p:tgtEl>
                                        <p:attrNameLst>
                                          <p:attrName>style.visibility</p:attrName>
                                        </p:attrNameLst>
                                      </p:cBhvr>
                                      <p:to>
                                        <p:strVal val="visible"/>
                                      </p:to>
                                    </p:set>
                                    <p:animEffect transition="in" filter="fade">
                                      <p:cBhvr>
                                        <p:cTn id="49" dur="500"/>
                                        <p:tgtEl>
                                          <p:spTgt spid="16"/>
                                        </p:tgtEl>
                                      </p:cBhvr>
                                    </p:animEffect>
                                  </p:childTnLst>
                                </p:cTn>
                              </p:par>
                              <p:par>
                                <p:cTn id="50" presetID="10" presetClass="entr" presetSubtype="0" fill="hold" grpId="0" nodeType="withEffect">
                                  <p:stCondLst>
                                    <p:cond delay="360"/>
                                  </p:stCondLst>
                                  <p:childTnLst>
                                    <p:set>
                                      <p:cBhvr>
                                        <p:cTn id="51" dur="1" fill="hold">
                                          <p:stCondLst>
                                            <p:cond delay="0"/>
                                          </p:stCondLst>
                                        </p:cTn>
                                        <p:tgtEl>
                                          <p:spTgt spid="17"/>
                                        </p:tgtEl>
                                        <p:attrNameLst>
                                          <p:attrName>style.visibility</p:attrName>
                                        </p:attrNameLst>
                                      </p:cBhvr>
                                      <p:to>
                                        <p:strVal val="visible"/>
                                      </p:to>
                                    </p:set>
                                    <p:animEffect transition="in" filter="fade">
                                      <p:cBhvr>
                                        <p:cTn id="52" dur="500"/>
                                        <p:tgtEl>
                                          <p:spTgt spid="17"/>
                                        </p:tgtEl>
                                      </p:cBhvr>
                                    </p:animEffect>
                                  </p:childTnLst>
                                </p:cTn>
                              </p:par>
                              <p:par>
                                <p:cTn id="53" presetID="10" presetClass="entr" presetSubtype="0" fill="hold" grpId="0" nodeType="withEffect">
                                  <p:stCondLst>
                                    <p:cond delay="360"/>
                                  </p:stCondLst>
                                  <p:childTnLst>
                                    <p:set>
                                      <p:cBhvr>
                                        <p:cTn id="54" dur="1" fill="hold">
                                          <p:stCondLst>
                                            <p:cond delay="0"/>
                                          </p:stCondLst>
                                        </p:cTn>
                                        <p:tgtEl>
                                          <p:spTgt spid="18"/>
                                        </p:tgtEl>
                                        <p:attrNameLst>
                                          <p:attrName>style.visibility</p:attrName>
                                        </p:attrNameLst>
                                      </p:cBhvr>
                                      <p:to>
                                        <p:strVal val="visible"/>
                                      </p:to>
                                    </p:set>
                                    <p:animEffect transition="in" filter="fade">
                                      <p:cBhvr>
                                        <p:cTn id="55" dur="500"/>
                                        <p:tgtEl>
                                          <p:spTgt spid="18"/>
                                        </p:tgtEl>
                                      </p:cBhvr>
                                    </p:animEffect>
                                  </p:childTnLst>
                                </p:cTn>
                              </p:par>
                              <p:par>
                                <p:cTn id="56" presetID="10" presetClass="entr" presetSubtype="0" fill="hold" grpId="0" nodeType="withEffect">
                                  <p:stCondLst>
                                    <p:cond delay="360"/>
                                  </p:stCondLst>
                                  <p:childTnLst>
                                    <p:set>
                                      <p:cBhvr>
                                        <p:cTn id="57" dur="1" fill="hold">
                                          <p:stCondLst>
                                            <p:cond delay="0"/>
                                          </p:stCondLst>
                                        </p:cTn>
                                        <p:tgtEl>
                                          <p:spTgt spid="19"/>
                                        </p:tgtEl>
                                        <p:attrNameLst>
                                          <p:attrName>style.visibility</p:attrName>
                                        </p:attrNameLst>
                                      </p:cBhvr>
                                      <p:to>
                                        <p:strVal val="visible"/>
                                      </p:to>
                                    </p:set>
                                    <p:animEffect transition="in" filter="fade">
                                      <p:cBhvr>
                                        <p:cTn id="58" dur="500"/>
                                        <p:tgtEl>
                                          <p:spTgt spid="19"/>
                                        </p:tgtEl>
                                      </p:cBhvr>
                                    </p:animEffect>
                                  </p:childTnLst>
                                </p:cTn>
                              </p:par>
                              <p:par>
                                <p:cTn id="59" presetID="10" presetClass="entr" presetSubtype="0" fill="hold" grpId="0" nodeType="withEffect">
                                  <p:stCondLst>
                                    <p:cond delay="540"/>
                                  </p:stCondLst>
                                  <p:childTnLst>
                                    <p:set>
                                      <p:cBhvr>
                                        <p:cTn id="60" dur="1" fill="hold">
                                          <p:stCondLst>
                                            <p:cond delay="0"/>
                                          </p:stCondLst>
                                        </p:cTn>
                                        <p:tgtEl>
                                          <p:spTgt spid="20"/>
                                        </p:tgtEl>
                                        <p:attrNameLst>
                                          <p:attrName>style.visibility</p:attrName>
                                        </p:attrNameLst>
                                      </p:cBhvr>
                                      <p:to>
                                        <p:strVal val="visible"/>
                                      </p:to>
                                    </p:set>
                                    <p:animEffect transition="in" filter="fade">
                                      <p:cBhvr>
                                        <p:cTn id="61" dur="500"/>
                                        <p:tgtEl>
                                          <p:spTgt spid="20"/>
                                        </p:tgtEl>
                                      </p:cBhvr>
                                    </p:animEffect>
                                  </p:childTnLst>
                                </p:cTn>
                              </p:par>
                              <p:par>
                                <p:cTn id="62" presetID="10" presetClass="entr" presetSubtype="0" fill="hold" grpId="0" nodeType="withEffect">
                                  <p:stCondLst>
                                    <p:cond delay="540"/>
                                  </p:stCondLst>
                                  <p:childTnLst>
                                    <p:set>
                                      <p:cBhvr>
                                        <p:cTn id="63" dur="1" fill="hold">
                                          <p:stCondLst>
                                            <p:cond delay="0"/>
                                          </p:stCondLst>
                                        </p:cTn>
                                        <p:tgtEl>
                                          <p:spTgt spid="21"/>
                                        </p:tgtEl>
                                        <p:attrNameLst>
                                          <p:attrName>style.visibility</p:attrName>
                                        </p:attrNameLst>
                                      </p:cBhvr>
                                      <p:to>
                                        <p:strVal val="visible"/>
                                      </p:to>
                                    </p:set>
                                    <p:animEffect transition="in" filter="fade">
                                      <p:cBhvr>
                                        <p:cTn id="64" dur="500"/>
                                        <p:tgtEl>
                                          <p:spTgt spid="21"/>
                                        </p:tgtEl>
                                      </p:cBhvr>
                                    </p:animEffect>
                                  </p:childTnLst>
                                </p:cTn>
                              </p:par>
                              <p:par>
                                <p:cTn id="65" presetID="10" presetClass="entr" presetSubtype="0" fill="hold" grpId="0" nodeType="withEffect">
                                  <p:stCondLst>
                                    <p:cond delay="540"/>
                                  </p:stCondLst>
                                  <p:childTnLst>
                                    <p:set>
                                      <p:cBhvr>
                                        <p:cTn id="66" dur="1" fill="hold">
                                          <p:stCondLst>
                                            <p:cond delay="0"/>
                                          </p:stCondLst>
                                        </p:cTn>
                                        <p:tgtEl>
                                          <p:spTgt spid="22"/>
                                        </p:tgtEl>
                                        <p:attrNameLst>
                                          <p:attrName>style.visibility</p:attrName>
                                        </p:attrNameLst>
                                      </p:cBhvr>
                                      <p:to>
                                        <p:strVal val="visible"/>
                                      </p:to>
                                    </p:set>
                                    <p:animEffect transition="in" filter="fade">
                                      <p:cBhvr>
                                        <p:cTn id="67" dur="500"/>
                                        <p:tgtEl>
                                          <p:spTgt spid="22"/>
                                        </p:tgtEl>
                                      </p:cBhvr>
                                    </p:animEffect>
                                  </p:childTnLst>
                                </p:cTn>
                              </p:par>
                              <p:par>
                                <p:cTn id="68" presetID="10" presetClass="entr" presetSubtype="0" fill="hold" grpId="0" nodeType="withEffect">
                                  <p:stCondLst>
                                    <p:cond delay="540"/>
                                  </p:stCondLst>
                                  <p:childTnLst>
                                    <p:set>
                                      <p:cBhvr>
                                        <p:cTn id="69" dur="1" fill="hold">
                                          <p:stCondLst>
                                            <p:cond delay="0"/>
                                          </p:stCondLst>
                                        </p:cTn>
                                        <p:tgtEl>
                                          <p:spTgt spid="23"/>
                                        </p:tgtEl>
                                        <p:attrNameLst>
                                          <p:attrName>style.visibility</p:attrName>
                                        </p:attrNameLst>
                                      </p:cBhvr>
                                      <p:to>
                                        <p:strVal val="visible"/>
                                      </p:to>
                                    </p:set>
                                    <p:animEffect transition="in" filter="fade">
                                      <p:cBhvr>
                                        <p:cTn id="70" dur="500"/>
                                        <p:tgtEl>
                                          <p:spTgt spid="23"/>
                                        </p:tgtEl>
                                      </p:cBhvr>
                                    </p:animEffect>
                                  </p:childTnLst>
                                </p:cTn>
                              </p:par>
                              <p:par>
                                <p:cTn id="71" presetID="10" presetClass="entr" presetSubtype="0" fill="hold" grpId="0" nodeType="withEffect">
                                  <p:stCondLst>
                                    <p:cond delay="540"/>
                                  </p:stCondLst>
                                  <p:childTnLst>
                                    <p:set>
                                      <p:cBhvr>
                                        <p:cTn id="72" dur="1" fill="hold">
                                          <p:stCondLst>
                                            <p:cond delay="0"/>
                                          </p:stCondLst>
                                        </p:cTn>
                                        <p:tgtEl>
                                          <p:spTgt spid="24"/>
                                        </p:tgtEl>
                                        <p:attrNameLst>
                                          <p:attrName>style.visibility</p:attrName>
                                        </p:attrNameLst>
                                      </p:cBhvr>
                                      <p:to>
                                        <p:strVal val="visible"/>
                                      </p:to>
                                    </p:set>
                                    <p:animEffect transition="in" filter="fade">
                                      <p:cBhvr>
                                        <p:cTn id="73" dur="500"/>
                                        <p:tgtEl>
                                          <p:spTgt spid="24"/>
                                        </p:tgtEl>
                                      </p:cBhvr>
                                    </p:animEffect>
                                  </p:childTnLst>
                                </p:cTn>
                              </p:par>
                              <p:par>
                                <p:cTn id="74" presetID="10" presetClass="entr" presetSubtype="0" fill="hold" grpId="0" nodeType="withEffect">
                                  <p:stCondLst>
                                    <p:cond delay="540"/>
                                  </p:stCondLst>
                                  <p:childTnLst>
                                    <p:set>
                                      <p:cBhvr>
                                        <p:cTn id="75" dur="1" fill="hold">
                                          <p:stCondLst>
                                            <p:cond delay="0"/>
                                          </p:stCondLst>
                                        </p:cTn>
                                        <p:tgtEl>
                                          <p:spTgt spid="25"/>
                                        </p:tgtEl>
                                        <p:attrNameLst>
                                          <p:attrName>style.visibility</p:attrName>
                                        </p:attrNameLst>
                                      </p:cBhvr>
                                      <p:to>
                                        <p:strVal val="visible"/>
                                      </p:to>
                                    </p:set>
                                    <p:animEffect transition="in" filter="fade">
                                      <p:cBhvr>
                                        <p:cTn id="76" dur="500"/>
                                        <p:tgtEl>
                                          <p:spTgt spid="25"/>
                                        </p:tgtEl>
                                      </p:cBhvr>
                                    </p:animEffect>
                                  </p:childTnLst>
                                </p:cTn>
                              </p:par>
                              <p:par>
                                <p:cTn id="77" presetID="10" presetClass="entr" presetSubtype="0" fill="hold" grpId="0" nodeType="withEffect">
                                  <p:stCondLst>
                                    <p:cond delay="540"/>
                                  </p:stCondLst>
                                  <p:childTnLst>
                                    <p:set>
                                      <p:cBhvr>
                                        <p:cTn id="78" dur="1" fill="hold">
                                          <p:stCondLst>
                                            <p:cond delay="0"/>
                                          </p:stCondLst>
                                        </p:cTn>
                                        <p:tgtEl>
                                          <p:spTgt spid="26"/>
                                        </p:tgtEl>
                                        <p:attrNameLst>
                                          <p:attrName>style.visibility</p:attrName>
                                        </p:attrNameLst>
                                      </p:cBhvr>
                                      <p:to>
                                        <p:strVal val="visible"/>
                                      </p:to>
                                    </p:set>
                                    <p:animEffect transition="in" filter="fade">
                                      <p:cBhvr>
                                        <p:cTn id="79" dur="500"/>
                                        <p:tgtEl>
                                          <p:spTgt spid="26"/>
                                        </p:tgtEl>
                                      </p:cBhvr>
                                    </p:animEffect>
                                  </p:childTnLst>
                                </p:cTn>
                              </p:par>
                              <p:par>
                                <p:cTn id="80" presetID="10" presetClass="entr" presetSubtype="0" fill="hold" grpId="0" nodeType="withEffect">
                                  <p:stCondLst>
                                    <p:cond delay="720"/>
                                  </p:stCondLst>
                                  <p:childTnLst>
                                    <p:set>
                                      <p:cBhvr>
                                        <p:cTn id="81" dur="1" fill="hold">
                                          <p:stCondLst>
                                            <p:cond delay="0"/>
                                          </p:stCondLst>
                                        </p:cTn>
                                        <p:tgtEl>
                                          <p:spTgt spid="27"/>
                                        </p:tgtEl>
                                        <p:attrNameLst>
                                          <p:attrName>style.visibility</p:attrName>
                                        </p:attrNameLst>
                                      </p:cBhvr>
                                      <p:to>
                                        <p:strVal val="visible"/>
                                      </p:to>
                                    </p:set>
                                    <p:animEffect transition="in" filter="fade">
                                      <p:cBhvr>
                                        <p:cTn id="82" dur="500"/>
                                        <p:tgtEl>
                                          <p:spTgt spid="27"/>
                                        </p:tgtEl>
                                      </p:cBhvr>
                                    </p:animEffect>
                                  </p:childTnLst>
                                </p:cTn>
                              </p:par>
                              <p:par>
                                <p:cTn id="83" presetID="10" presetClass="entr" presetSubtype="0" fill="hold" grpId="0" nodeType="withEffect">
                                  <p:stCondLst>
                                    <p:cond delay="720"/>
                                  </p:stCondLst>
                                  <p:childTnLst>
                                    <p:set>
                                      <p:cBhvr>
                                        <p:cTn id="84" dur="1" fill="hold">
                                          <p:stCondLst>
                                            <p:cond delay="0"/>
                                          </p:stCondLst>
                                        </p:cTn>
                                        <p:tgtEl>
                                          <p:spTgt spid="24"/>
                                        </p:tgtEl>
                                        <p:attrNameLst>
                                          <p:attrName>style.visibility</p:attrName>
                                        </p:attrNameLst>
                                      </p:cBhvr>
                                      <p:to>
                                        <p:strVal val="visible"/>
                                      </p:to>
                                    </p:set>
                                    <p:animEffect transition="in" filter="fade">
                                      <p:cBhvr>
                                        <p:cTn id="85" dur="500"/>
                                        <p:tgtEl>
                                          <p:spTgt spid="24"/>
                                        </p:tgtEl>
                                      </p:cBhvr>
                                    </p:animEffect>
                                  </p:childTnLst>
                                </p:cTn>
                              </p:par>
                              <p:par>
                                <p:cTn id="86" presetID="10" presetClass="entr" presetSubtype="0" fill="hold" grpId="0" nodeType="withEffect">
                                  <p:stCondLst>
                                    <p:cond delay="900"/>
                                  </p:stCondLst>
                                  <p:childTnLst>
                                    <p:set>
                                      <p:cBhvr>
                                        <p:cTn id="87" dur="1" fill="hold">
                                          <p:stCondLst>
                                            <p:cond delay="0"/>
                                          </p:stCondLst>
                                        </p:cTn>
                                        <p:tgtEl>
                                          <p:spTgt spid="29"/>
                                        </p:tgtEl>
                                        <p:attrNameLst>
                                          <p:attrName>style.visibility</p:attrName>
                                        </p:attrNameLst>
                                      </p:cBhvr>
                                      <p:to>
                                        <p:strVal val="visible"/>
                                      </p:to>
                                    </p:set>
                                    <p:animEffect transition="in" filter="fade">
                                      <p:cBhvr>
                                        <p:cTn id="88" dur="500"/>
                                        <p:tgtEl>
                                          <p:spTgt spid="29"/>
                                        </p:tgtEl>
                                      </p:cBhvr>
                                    </p:animEffect>
                                  </p:childTnLst>
                                </p:cTn>
                              </p:par>
                              <p:par>
                                <p:cTn id="89" presetID="10" presetClass="entr" presetSubtype="0" fill="hold" grpId="0" nodeType="withEffect">
                                  <p:stCondLst>
                                    <p:cond delay="900"/>
                                  </p:stCondLst>
                                  <p:childTnLst>
                                    <p:set>
                                      <p:cBhvr>
                                        <p:cTn id="90" dur="1" fill="hold">
                                          <p:stCondLst>
                                            <p:cond delay="0"/>
                                          </p:stCondLst>
                                        </p:cTn>
                                        <p:tgtEl>
                                          <p:spTgt spid="30"/>
                                        </p:tgtEl>
                                        <p:attrNameLst>
                                          <p:attrName>style.visibility</p:attrName>
                                        </p:attrNameLst>
                                      </p:cBhvr>
                                      <p:to>
                                        <p:strVal val="visible"/>
                                      </p:to>
                                    </p:set>
                                    <p:animEffect transition="in" filter="fade">
                                      <p:cBhvr>
                                        <p:cTn id="91" dur="500"/>
                                        <p:tgtEl>
                                          <p:spTgt spid="30"/>
                                        </p:tgtEl>
                                      </p:cBhvr>
                                    </p:animEffect>
                                  </p:childTnLst>
                                </p:cTn>
                              </p:par>
                              <p:par>
                                <p:cTn id="92" presetID="10" presetClass="entr" presetSubtype="0" fill="hold" grpId="0" nodeType="withEffect">
                                  <p:stCondLst>
                                    <p:cond delay="900"/>
                                  </p:stCondLst>
                                  <p:childTnLst>
                                    <p:set>
                                      <p:cBhvr>
                                        <p:cTn id="93" dur="1" fill="hold">
                                          <p:stCondLst>
                                            <p:cond delay="0"/>
                                          </p:stCondLst>
                                        </p:cTn>
                                        <p:tgtEl>
                                          <p:spTgt spid="31"/>
                                        </p:tgtEl>
                                        <p:attrNameLst>
                                          <p:attrName>style.visibility</p:attrName>
                                        </p:attrNameLst>
                                      </p:cBhvr>
                                      <p:to>
                                        <p:strVal val="visible"/>
                                      </p:to>
                                    </p:set>
                                    <p:animEffect transition="in" filter="fade">
                                      <p:cBhvr>
                                        <p:cTn id="94" dur="500"/>
                                        <p:tgtEl>
                                          <p:spTgt spid="31"/>
                                        </p:tgtEl>
                                      </p:cBhvr>
                                    </p:animEffect>
                                  </p:childTnLst>
                                </p:cTn>
                              </p:par>
                              <p:par>
                                <p:cTn id="95" presetID="10" presetClass="entr" presetSubtype="0" fill="hold" grpId="0" nodeType="withEffect">
                                  <p:stCondLst>
                                    <p:cond delay="900"/>
                                  </p:stCondLst>
                                  <p:childTnLst>
                                    <p:set>
                                      <p:cBhvr>
                                        <p:cTn id="96" dur="1" fill="hold">
                                          <p:stCondLst>
                                            <p:cond delay="0"/>
                                          </p:stCondLst>
                                        </p:cTn>
                                        <p:tgtEl>
                                          <p:spTgt spid="32"/>
                                        </p:tgtEl>
                                        <p:attrNameLst>
                                          <p:attrName>style.visibility</p:attrName>
                                        </p:attrNameLst>
                                      </p:cBhvr>
                                      <p:to>
                                        <p:strVal val="visible"/>
                                      </p:to>
                                    </p:set>
                                    <p:animEffect transition="in" filter="fade">
                                      <p:cBhvr>
                                        <p:cTn id="97" dur="500"/>
                                        <p:tgtEl>
                                          <p:spTgt spid="32"/>
                                        </p:tgtEl>
                                      </p:cBhvr>
                                    </p:animEffect>
                                  </p:childTnLst>
                                </p:cTn>
                              </p:par>
                              <p:par>
                                <p:cTn id="98" presetID="10" presetClass="entr" presetSubtype="0" fill="hold" grpId="0" nodeType="withEffect">
                                  <p:stCondLst>
                                    <p:cond delay="900"/>
                                  </p:stCondLst>
                                  <p:childTnLst>
                                    <p:set>
                                      <p:cBhvr>
                                        <p:cTn id="99" dur="1" fill="hold">
                                          <p:stCondLst>
                                            <p:cond delay="0"/>
                                          </p:stCondLst>
                                        </p:cTn>
                                        <p:tgtEl>
                                          <p:spTgt spid="33"/>
                                        </p:tgtEl>
                                        <p:attrNameLst>
                                          <p:attrName>style.visibility</p:attrName>
                                        </p:attrNameLst>
                                      </p:cBhvr>
                                      <p:to>
                                        <p:strVal val="visible"/>
                                      </p:to>
                                    </p:set>
                                    <p:animEffect transition="in" filter="fade">
                                      <p:cBhvr>
                                        <p:cTn id="100" dur="50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9" grpId="0" animBg="1"/>
      <p:bldP spid="32" grpId="0" animBg="1"/>
      <p:bldP spid="33"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pic>
        <p:nvPicPr>
          <p:cNvPr id="2" name="anim-1-1" descr="/tmp/claude-0/-home-user-hosting/7c832a48-0979-56aa-9fdf-7d53efb9dc7a/scratchpad/build/img/pointer.png">    </p:cNvPr>
          <p:cNvPicPr>
            <a:picLocks noChangeAspect="1"/>
          </p:cNvPicPr>
          <p:nvPr/>
        </p:nvPicPr>
        <p:blipFill>
          <a:blip r:embed="rId1"/>
          <a:stretch>
            <a:fillRect/>
          </a:stretch>
        </p:blipFill>
        <p:spPr>
          <a:xfrm>
            <a:off x="304800" y="241300"/>
            <a:ext cx="107274" cy="215900"/>
          </a:xfrm>
          <a:prstGeom prst="rect">
            <a:avLst/>
          </a:prstGeom>
        </p:spPr>
      </p:pic>
      <p:sp>
        <p:nvSpPr>
          <p:cNvPr id="3" name="anim-1-2"/>
          <p:cNvSpPr txBox="1"/>
          <p:nvPr/>
        </p:nvSpPr>
        <p:spPr>
          <a:xfrm>
            <a:off x="482600" y="254000"/>
            <a:ext cx="10160000" cy="215900"/>
          </a:xfrm>
          <a:prstGeom prst="rect">
            <a:avLst/>
          </a:prstGeom>
          <a:noFill/>
          <a:ln/>
        </p:spPr>
        <p:txBody>
          <a:bodyPr wrap="square" lIns="0" tIns="0" rIns="0" bIns="0" rtlCol="0" anchor="t"/>
          <a:lstStyle/>
          <a:p>
            <a:pPr algn="l" indent="0" marL="0">
              <a:lnSpc>
                <a:spcPct val="112000"/>
              </a:lnSpc>
              <a:buNone/>
            </a:pPr>
            <a:r>
              <a:rPr lang="en-US" sz="1200" b="1" spc="100" kern="0" dirty="0">
                <a:solidFill>
                  <a:srgbClr val="194EFF"/>
                </a:solidFill>
                <a:latin typeface="Plus Jakarta Sans" pitchFamily="34" charset="0"/>
                <a:ea typeface="Plus Jakarta Sans" pitchFamily="34" charset="-122"/>
                <a:cs typeface="Plus Jakarta Sans" pitchFamily="34" charset="-120"/>
              </a:rPr>
              <a:t>PERFORMANCE, QBRS &amp; GOVERNANCE</a:t>
            </a:r>
            <a:endParaRPr lang="en-US" sz="1200" dirty="0"/>
          </a:p>
        </p:txBody>
      </p:sp>
      <p:sp>
        <p:nvSpPr>
          <p:cNvPr id="4" name="anim-1-3"/>
          <p:cNvSpPr txBox="1"/>
          <p:nvPr/>
        </p:nvSpPr>
        <p:spPr>
          <a:xfrm>
            <a:off x="304800" y="546100"/>
            <a:ext cx="11582400" cy="406400"/>
          </a:xfrm>
          <a:prstGeom prst="rect">
            <a:avLst/>
          </a:prstGeom>
          <a:noFill/>
          <a:ln/>
        </p:spPr>
        <p:txBody>
          <a:bodyPr wrap="square" lIns="0" tIns="0" rIns="0" bIns="0" rtlCol="0" anchor="ctr"/>
          <a:lstStyle/>
          <a:p>
            <a:pPr algn="l" indent="0" marL="0">
              <a:lnSpc>
                <a:spcPct val="112000"/>
              </a:lnSpc>
              <a:buNone/>
            </a:pPr>
            <a:r>
              <a:rPr lang="en-US" sz="2000" b="1" dirty="0">
                <a:solidFill>
                  <a:srgbClr val="13151C"/>
                </a:solidFill>
                <a:latin typeface="Plus Jakarta Sans" pitchFamily="34" charset="0"/>
                <a:ea typeface="Plus Jakarta Sans" pitchFamily="34" charset="-122"/>
                <a:cs typeface="Plus Jakarta Sans" pitchFamily="34" charset="-120"/>
              </a:rPr>
              <a:t>Grow with a </a:t>
            </a:r>
            <a:pPr algn="l" indent="0" marL="0">
              <a:lnSpc>
                <a:spcPct val="112000"/>
              </a:lnSpc>
              <a:buNone/>
            </a:pPr>
            <a:r>
              <a:rPr lang="en-US" sz="2000" b="1" dirty="0">
                <a:solidFill>
                  <a:srgbClr val="194EFF"/>
                </a:solidFill>
                <a:latin typeface="Plus Jakarta Sans" pitchFamily="34" charset="0"/>
                <a:ea typeface="Plus Jakarta Sans" pitchFamily="34" charset="-122"/>
                <a:cs typeface="Plus Jakarta Sans" pitchFamily="34" charset="-120"/>
              </a:rPr>
              <a:t>balanced</a:t>
            </a:r>
            <a:pPr algn="l" indent="0" marL="0">
              <a:lnSpc>
                <a:spcPct val="112000"/>
              </a:lnSpc>
              <a:buNone/>
            </a:pPr>
            <a:r>
              <a:rPr lang="en-US" sz="2000" b="1" dirty="0">
                <a:solidFill>
                  <a:srgbClr val="13151C"/>
                </a:solidFill>
                <a:latin typeface="Plus Jakarta Sans" pitchFamily="34" charset="0"/>
                <a:ea typeface="Plus Jakarta Sans" pitchFamily="34" charset="-122"/>
                <a:cs typeface="Plus Jakarta Sans" pitchFamily="34" charset="-120"/>
              </a:rPr>
              <a:t> scorecard</a:t>
            </a:r>
            <a:endParaRPr lang="en-US" sz="2000" dirty="0"/>
          </a:p>
        </p:txBody>
      </p:sp>
      <p:sp>
        <p:nvSpPr>
          <p:cNvPr id="5" name="anim-1-4"/>
          <p:cNvSpPr/>
          <p:nvPr/>
        </p:nvSpPr>
        <p:spPr>
          <a:xfrm>
            <a:off x="0" y="1244600"/>
            <a:ext cx="12192000" cy="6350"/>
          </a:xfrm>
          <a:prstGeom prst="rect">
            <a:avLst/>
          </a:prstGeom>
          <a:solidFill>
            <a:srgbClr val="CDD0D9"/>
          </a:solidFill>
          <a:ln/>
        </p:spPr>
      </p:sp>
      <p:sp>
        <p:nvSpPr>
          <p:cNvPr id="6" name="anim-2-5"/>
          <p:cNvSpPr/>
          <p:nvPr/>
        </p:nvSpPr>
        <p:spPr>
          <a:xfrm>
            <a:off x="0" y="1250950"/>
            <a:ext cx="1739900" cy="946150"/>
          </a:xfrm>
          <a:prstGeom prst="rect">
            <a:avLst/>
          </a:prstGeom>
          <a:solidFill>
            <a:srgbClr val="F7FBFD"/>
          </a:solidFill>
          <a:ln/>
        </p:spPr>
      </p:sp>
      <p:sp>
        <p:nvSpPr>
          <p:cNvPr id="7" name="anim-2-6"/>
          <p:cNvSpPr txBox="1"/>
          <p:nvPr/>
        </p:nvSpPr>
        <p:spPr>
          <a:xfrm>
            <a:off x="177800" y="1371600"/>
            <a:ext cx="762000" cy="292100"/>
          </a:xfrm>
          <a:prstGeom prst="rect">
            <a:avLst/>
          </a:prstGeom>
          <a:noFill/>
          <a:ln/>
        </p:spPr>
        <p:txBody>
          <a:bodyPr wrap="square" lIns="0" tIns="0" rIns="0" bIns="0" rtlCol="0" anchor="t"/>
          <a:lstStyle/>
          <a:p>
            <a:pPr algn="l" indent="0" marL="0">
              <a:lnSpc>
                <a:spcPct val="112000"/>
              </a:lnSpc>
              <a:buNone/>
            </a:pPr>
            <a:r>
              <a:rPr lang="en-US" sz="1300" b="1" dirty="0">
                <a:solidFill>
                  <a:srgbClr val="194EFF"/>
                </a:solidFill>
                <a:latin typeface="Plus Jakarta Sans" pitchFamily="34" charset="0"/>
                <a:ea typeface="Plus Jakarta Sans" pitchFamily="34" charset="-122"/>
                <a:cs typeface="Plus Jakarta Sans" pitchFamily="34" charset="-120"/>
              </a:rPr>
              <a:t>01</a:t>
            </a:r>
            <a:endParaRPr lang="en-US" sz="1300" dirty="0"/>
          </a:p>
        </p:txBody>
      </p:sp>
      <p:sp>
        <p:nvSpPr>
          <p:cNvPr id="8" name="anim-2-7"/>
          <p:cNvSpPr txBox="1"/>
          <p:nvPr/>
        </p:nvSpPr>
        <p:spPr>
          <a:xfrm>
            <a:off x="177800" y="1651000"/>
            <a:ext cx="1460500" cy="444500"/>
          </a:xfrm>
          <a:prstGeom prst="rect">
            <a:avLst/>
          </a:prstGeom>
          <a:noFill/>
          <a:ln/>
        </p:spPr>
        <p:txBody>
          <a:bodyPr wrap="square" lIns="0" tIns="0" rIns="0" bIns="0" rtlCol="0" anchor="t"/>
          <a:lstStyle/>
          <a:p>
            <a:pPr algn="l" indent="0" marL="0">
              <a:lnSpc>
                <a:spcPct val="112000"/>
              </a:lnSpc>
              <a:buNone/>
            </a:pPr>
            <a:r>
              <a:rPr lang="en-US" sz="1050" b="1" dirty="0">
                <a:solidFill>
                  <a:srgbClr val="13151C"/>
                </a:solidFill>
                <a:latin typeface="Plus Jakarta Sans" pitchFamily="34" charset="0"/>
                <a:ea typeface="Plus Jakarta Sans" pitchFamily="34" charset="-122"/>
                <a:cs typeface="Plus Jakarta Sans" pitchFamily="34" charset="-120"/>
              </a:rPr>
              <a:t>ARR Bookings</a:t>
            </a:r>
            <a:endParaRPr lang="en-US" sz="1050" dirty="0"/>
          </a:p>
        </p:txBody>
      </p:sp>
      <p:sp>
        <p:nvSpPr>
          <p:cNvPr id="9" name="anim-2-8"/>
          <p:cNvSpPr/>
          <p:nvPr/>
        </p:nvSpPr>
        <p:spPr>
          <a:xfrm>
            <a:off x="1741805" y="1244600"/>
            <a:ext cx="6350" cy="952500"/>
          </a:xfrm>
          <a:prstGeom prst="rect">
            <a:avLst/>
          </a:prstGeom>
          <a:solidFill>
            <a:srgbClr val="CDD0D9"/>
          </a:solidFill>
          <a:ln/>
        </p:spPr>
      </p:sp>
      <p:sp>
        <p:nvSpPr>
          <p:cNvPr id="10" name="anim-2-9"/>
          <p:cNvSpPr txBox="1"/>
          <p:nvPr/>
        </p:nvSpPr>
        <p:spPr>
          <a:xfrm>
            <a:off x="1919605" y="1371600"/>
            <a:ext cx="762000" cy="292100"/>
          </a:xfrm>
          <a:prstGeom prst="rect">
            <a:avLst/>
          </a:prstGeom>
          <a:noFill/>
          <a:ln/>
        </p:spPr>
        <p:txBody>
          <a:bodyPr wrap="square" lIns="0" tIns="0" rIns="0" bIns="0" rtlCol="0" anchor="t"/>
          <a:lstStyle/>
          <a:p>
            <a:pPr algn="l" indent="0" marL="0">
              <a:lnSpc>
                <a:spcPct val="112000"/>
              </a:lnSpc>
              <a:buNone/>
            </a:pPr>
            <a:r>
              <a:rPr lang="en-US" sz="1300" b="1" dirty="0">
                <a:solidFill>
                  <a:srgbClr val="194EFF"/>
                </a:solidFill>
                <a:latin typeface="Plus Jakarta Sans" pitchFamily="34" charset="0"/>
                <a:ea typeface="Plus Jakarta Sans" pitchFamily="34" charset="-122"/>
                <a:cs typeface="Plus Jakarta Sans" pitchFamily="34" charset="-120"/>
              </a:rPr>
              <a:t>02</a:t>
            </a:r>
            <a:endParaRPr lang="en-US" sz="1300" dirty="0"/>
          </a:p>
        </p:txBody>
      </p:sp>
      <p:sp>
        <p:nvSpPr>
          <p:cNvPr id="11" name="anim-2-10"/>
          <p:cNvSpPr txBox="1"/>
          <p:nvPr/>
        </p:nvSpPr>
        <p:spPr>
          <a:xfrm>
            <a:off x="1919605" y="1651000"/>
            <a:ext cx="1460500" cy="444500"/>
          </a:xfrm>
          <a:prstGeom prst="rect">
            <a:avLst/>
          </a:prstGeom>
          <a:noFill/>
          <a:ln/>
        </p:spPr>
        <p:txBody>
          <a:bodyPr wrap="square" lIns="0" tIns="0" rIns="0" bIns="0" rtlCol="0" anchor="t"/>
          <a:lstStyle/>
          <a:p>
            <a:pPr algn="l" indent="0" marL="0">
              <a:lnSpc>
                <a:spcPct val="112000"/>
              </a:lnSpc>
              <a:buNone/>
            </a:pPr>
            <a:r>
              <a:rPr lang="en-US" sz="1050" b="1" dirty="0">
                <a:solidFill>
                  <a:srgbClr val="13151C"/>
                </a:solidFill>
                <a:latin typeface="Plus Jakarta Sans" pitchFamily="34" charset="0"/>
                <a:ea typeface="Plus Jakarta Sans" pitchFamily="34" charset="-122"/>
                <a:cs typeface="Plus Jakarta Sans" pitchFamily="34" charset="-120"/>
              </a:rPr>
              <a:t>Qualified pipeline</a:t>
            </a:r>
            <a:endParaRPr lang="en-US" sz="1050" dirty="0"/>
          </a:p>
        </p:txBody>
      </p:sp>
      <p:sp>
        <p:nvSpPr>
          <p:cNvPr id="12" name="anim-2-11"/>
          <p:cNvSpPr/>
          <p:nvPr/>
        </p:nvSpPr>
        <p:spPr>
          <a:xfrm>
            <a:off x="3483610" y="1244600"/>
            <a:ext cx="6350" cy="952500"/>
          </a:xfrm>
          <a:prstGeom prst="rect">
            <a:avLst/>
          </a:prstGeom>
          <a:solidFill>
            <a:srgbClr val="CDD0D9"/>
          </a:solidFill>
          <a:ln/>
        </p:spPr>
      </p:sp>
      <p:sp>
        <p:nvSpPr>
          <p:cNvPr id="13" name="anim-2-12"/>
          <p:cNvSpPr/>
          <p:nvPr/>
        </p:nvSpPr>
        <p:spPr>
          <a:xfrm>
            <a:off x="3483610" y="1250950"/>
            <a:ext cx="1739900" cy="946150"/>
          </a:xfrm>
          <a:prstGeom prst="rect">
            <a:avLst/>
          </a:prstGeom>
          <a:solidFill>
            <a:srgbClr val="F7FBFD"/>
          </a:solidFill>
          <a:ln/>
        </p:spPr>
      </p:sp>
      <p:sp>
        <p:nvSpPr>
          <p:cNvPr id="14" name="anim-2-13"/>
          <p:cNvSpPr txBox="1"/>
          <p:nvPr/>
        </p:nvSpPr>
        <p:spPr>
          <a:xfrm>
            <a:off x="3661410" y="1371600"/>
            <a:ext cx="762000" cy="292100"/>
          </a:xfrm>
          <a:prstGeom prst="rect">
            <a:avLst/>
          </a:prstGeom>
          <a:noFill/>
          <a:ln/>
        </p:spPr>
        <p:txBody>
          <a:bodyPr wrap="square" lIns="0" tIns="0" rIns="0" bIns="0" rtlCol="0" anchor="t"/>
          <a:lstStyle/>
          <a:p>
            <a:pPr algn="l" indent="0" marL="0">
              <a:lnSpc>
                <a:spcPct val="112000"/>
              </a:lnSpc>
              <a:buNone/>
            </a:pPr>
            <a:r>
              <a:rPr lang="en-US" sz="1300" b="1" dirty="0">
                <a:solidFill>
                  <a:srgbClr val="194EFF"/>
                </a:solidFill>
                <a:latin typeface="Plus Jakarta Sans" pitchFamily="34" charset="0"/>
                <a:ea typeface="Plus Jakarta Sans" pitchFamily="34" charset="-122"/>
                <a:cs typeface="Plus Jakarta Sans" pitchFamily="34" charset="-120"/>
              </a:rPr>
              <a:t>03</a:t>
            </a:r>
            <a:endParaRPr lang="en-US" sz="1300" dirty="0"/>
          </a:p>
        </p:txBody>
      </p:sp>
      <p:sp>
        <p:nvSpPr>
          <p:cNvPr id="15" name="anim-2-14"/>
          <p:cNvSpPr txBox="1"/>
          <p:nvPr/>
        </p:nvSpPr>
        <p:spPr>
          <a:xfrm>
            <a:off x="3661410" y="1651000"/>
            <a:ext cx="1460500" cy="444500"/>
          </a:xfrm>
          <a:prstGeom prst="rect">
            <a:avLst/>
          </a:prstGeom>
          <a:noFill/>
          <a:ln/>
        </p:spPr>
        <p:txBody>
          <a:bodyPr wrap="square" lIns="0" tIns="0" rIns="0" bIns="0" rtlCol="0" anchor="t"/>
          <a:lstStyle/>
          <a:p>
            <a:pPr algn="l" indent="0" marL="0">
              <a:lnSpc>
                <a:spcPct val="112000"/>
              </a:lnSpc>
              <a:buNone/>
            </a:pPr>
            <a:r>
              <a:rPr lang="en-US" sz="1050" b="1" dirty="0">
                <a:solidFill>
                  <a:srgbClr val="13151C"/>
                </a:solidFill>
                <a:latin typeface="Plus Jakarta Sans" pitchFamily="34" charset="0"/>
                <a:ea typeface="Plus Jakarta Sans" pitchFamily="34" charset="-122"/>
                <a:cs typeface="Plus Jakarta Sans" pitchFamily="34" charset="-120"/>
              </a:rPr>
              <a:t>Renewal / customer success</a:t>
            </a:r>
            <a:endParaRPr lang="en-US" sz="1050" dirty="0"/>
          </a:p>
        </p:txBody>
      </p:sp>
      <p:sp>
        <p:nvSpPr>
          <p:cNvPr id="16" name="anim-2-15"/>
          <p:cNvSpPr/>
          <p:nvPr/>
        </p:nvSpPr>
        <p:spPr>
          <a:xfrm>
            <a:off x="5225415" y="1244600"/>
            <a:ext cx="6350" cy="952500"/>
          </a:xfrm>
          <a:prstGeom prst="rect">
            <a:avLst/>
          </a:prstGeom>
          <a:solidFill>
            <a:srgbClr val="CDD0D9"/>
          </a:solidFill>
          <a:ln/>
        </p:spPr>
      </p:sp>
      <p:sp>
        <p:nvSpPr>
          <p:cNvPr id="17" name="anim-2-16"/>
          <p:cNvSpPr txBox="1"/>
          <p:nvPr/>
        </p:nvSpPr>
        <p:spPr>
          <a:xfrm>
            <a:off x="5403215" y="1371600"/>
            <a:ext cx="762000" cy="292100"/>
          </a:xfrm>
          <a:prstGeom prst="rect">
            <a:avLst/>
          </a:prstGeom>
          <a:noFill/>
          <a:ln/>
        </p:spPr>
        <p:txBody>
          <a:bodyPr wrap="square" lIns="0" tIns="0" rIns="0" bIns="0" rtlCol="0" anchor="t"/>
          <a:lstStyle/>
          <a:p>
            <a:pPr algn="l" indent="0" marL="0">
              <a:lnSpc>
                <a:spcPct val="112000"/>
              </a:lnSpc>
              <a:buNone/>
            </a:pPr>
            <a:r>
              <a:rPr lang="en-US" sz="1300" b="1" dirty="0">
                <a:solidFill>
                  <a:srgbClr val="194EFF"/>
                </a:solidFill>
                <a:latin typeface="Plus Jakarta Sans" pitchFamily="34" charset="0"/>
                <a:ea typeface="Plus Jakarta Sans" pitchFamily="34" charset="-122"/>
                <a:cs typeface="Plus Jakarta Sans" pitchFamily="34" charset="-120"/>
              </a:rPr>
              <a:t>04</a:t>
            </a:r>
            <a:endParaRPr lang="en-US" sz="1300" dirty="0"/>
          </a:p>
        </p:txBody>
      </p:sp>
      <p:sp>
        <p:nvSpPr>
          <p:cNvPr id="18" name="anim-2-17"/>
          <p:cNvSpPr txBox="1"/>
          <p:nvPr/>
        </p:nvSpPr>
        <p:spPr>
          <a:xfrm>
            <a:off x="5403215" y="1651000"/>
            <a:ext cx="1460500" cy="444500"/>
          </a:xfrm>
          <a:prstGeom prst="rect">
            <a:avLst/>
          </a:prstGeom>
          <a:noFill/>
          <a:ln/>
        </p:spPr>
        <p:txBody>
          <a:bodyPr wrap="square" lIns="0" tIns="0" rIns="0" bIns="0" rtlCol="0" anchor="t"/>
          <a:lstStyle/>
          <a:p>
            <a:pPr algn="l" indent="0" marL="0">
              <a:lnSpc>
                <a:spcPct val="112000"/>
              </a:lnSpc>
              <a:buNone/>
            </a:pPr>
            <a:r>
              <a:rPr lang="en-US" sz="1050" b="1" dirty="0">
                <a:solidFill>
                  <a:srgbClr val="13151C"/>
                </a:solidFill>
                <a:latin typeface="Plus Jakarta Sans" pitchFamily="34" charset="0"/>
                <a:ea typeface="Plus Jakarta Sans" pitchFamily="34" charset="-122"/>
                <a:cs typeface="Plus Jakarta Sans" pitchFamily="34" charset="-120"/>
              </a:rPr>
              <a:t>Certification &amp; capability</a:t>
            </a:r>
            <a:endParaRPr lang="en-US" sz="1050" dirty="0"/>
          </a:p>
        </p:txBody>
      </p:sp>
      <p:sp>
        <p:nvSpPr>
          <p:cNvPr id="19" name="anim-2-18"/>
          <p:cNvSpPr/>
          <p:nvPr/>
        </p:nvSpPr>
        <p:spPr>
          <a:xfrm>
            <a:off x="6967220" y="1244600"/>
            <a:ext cx="6350" cy="952500"/>
          </a:xfrm>
          <a:prstGeom prst="rect">
            <a:avLst/>
          </a:prstGeom>
          <a:solidFill>
            <a:srgbClr val="CDD0D9"/>
          </a:solidFill>
          <a:ln/>
        </p:spPr>
      </p:sp>
      <p:sp>
        <p:nvSpPr>
          <p:cNvPr id="20" name="anim-2-19"/>
          <p:cNvSpPr/>
          <p:nvPr/>
        </p:nvSpPr>
        <p:spPr>
          <a:xfrm>
            <a:off x="6967220" y="1250950"/>
            <a:ext cx="1739900" cy="946150"/>
          </a:xfrm>
          <a:prstGeom prst="rect">
            <a:avLst/>
          </a:prstGeom>
          <a:solidFill>
            <a:srgbClr val="F7FBFD"/>
          </a:solidFill>
          <a:ln/>
        </p:spPr>
      </p:sp>
      <p:sp>
        <p:nvSpPr>
          <p:cNvPr id="21" name="anim-2-20"/>
          <p:cNvSpPr txBox="1"/>
          <p:nvPr/>
        </p:nvSpPr>
        <p:spPr>
          <a:xfrm>
            <a:off x="7145020" y="1371600"/>
            <a:ext cx="762000" cy="292100"/>
          </a:xfrm>
          <a:prstGeom prst="rect">
            <a:avLst/>
          </a:prstGeom>
          <a:noFill/>
          <a:ln/>
        </p:spPr>
        <p:txBody>
          <a:bodyPr wrap="square" lIns="0" tIns="0" rIns="0" bIns="0" rtlCol="0" anchor="t"/>
          <a:lstStyle/>
          <a:p>
            <a:pPr algn="l" indent="0" marL="0">
              <a:lnSpc>
                <a:spcPct val="112000"/>
              </a:lnSpc>
              <a:buNone/>
            </a:pPr>
            <a:r>
              <a:rPr lang="en-US" sz="1300" b="1" dirty="0">
                <a:solidFill>
                  <a:srgbClr val="194EFF"/>
                </a:solidFill>
                <a:latin typeface="Plus Jakarta Sans" pitchFamily="34" charset="0"/>
                <a:ea typeface="Plus Jakarta Sans" pitchFamily="34" charset="-122"/>
                <a:cs typeface="Plus Jakarta Sans" pitchFamily="34" charset="-120"/>
              </a:rPr>
              <a:t>05</a:t>
            </a:r>
            <a:endParaRPr lang="en-US" sz="1300" dirty="0"/>
          </a:p>
        </p:txBody>
      </p:sp>
      <p:sp>
        <p:nvSpPr>
          <p:cNvPr id="22" name="anim-2-21"/>
          <p:cNvSpPr txBox="1"/>
          <p:nvPr/>
        </p:nvSpPr>
        <p:spPr>
          <a:xfrm>
            <a:off x="7145020" y="1651000"/>
            <a:ext cx="1460500" cy="444500"/>
          </a:xfrm>
          <a:prstGeom prst="rect">
            <a:avLst/>
          </a:prstGeom>
          <a:noFill/>
          <a:ln/>
        </p:spPr>
        <p:txBody>
          <a:bodyPr wrap="square" lIns="0" tIns="0" rIns="0" bIns="0" rtlCol="0" anchor="t"/>
          <a:lstStyle/>
          <a:p>
            <a:pPr algn="l" indent="0" marL="0">
              <a:lnSpc>
                <a:spcPct val="112000"/>
              </a:lnSpc>
              <a:buNone/>
            </a:pPr>
            <a:r>
              <a:rPr lang="en-US" sz="1050" b="1" dirty="0">
                <a:solidFill>
                  <a:srgbClr val="13151C"/>
                </a:solidFill>
                <a:latin typeface="Plus Jakarta Sans" pitchFamily="34" charset="0"/>
                <a:ea typeface="Plus Jakarta Sans" pitchFamily="34" charset="-122"/>
                <a:cs typeface="Plus Jakarta Sans" pitchFamily="34" charset="-120"/>
              </a:rPr>
              <a:t>Strategic account access</a:t>
            </a:r>
            <a:endParaRPr lang="en-US" sz="1050" dirty="0"/>
          </a:p>
        </p:txBody>
      </p:sp>
      <p:sp>
        <p:nvSpPr>
          <p:cNvPr id="23" name="anim-2-22"/>
          <p:cNvSpPr/>
          <p:nvPr/>
        </p:nvSpPr>
        <p:spPr>
          <a:xfrm>
            <a:off x="8709025" y="1244600"/>
            <a:ext cx="6350" cy="952500"/>
          </a:xfrm>
          <a:prstGeom prst="rect">
            <a:avLst/>
          </a:prstGeom>
          <a:solidFill>
            <a:srgbClr val="CDD0D9"/>
          </a:solidFill>
          <a:ln/>
        </p:spPr>
      </p:sp>
      <p:sp>
        <p:nvSpPr>
          <p:cNvPr id="24" name="anim-2-23"/>
          <p:cNvSpPr txBox="1"/>
          <p:nvPr/>
        </p:nvSpPr>
        <p:spPr>
          <a:xfrm>
            <a:off x="8886825" y="1371600"/>
            <a:ext cx="762000" cy="292100"/>
          </a:xfrm>
          <a:prstGeom prst="rect">
            <a:avLst/>
          </a:prstGeom>
          <a:noFill/>
          <a:ln/>
        </p:spPr>
        <p:txBody>
          <a:bodyPr wrap="square" lIns="0" tIns="0" rIns="0" bIns="0" rtlCol="0" anchor="t"/>
          <a:lstStyle/>
          <a:p>
            <a:pPr algn="l" indent="0" marL="0">
              <a:lnSpc>
                <a:spcPct val="112000"/>
              </a:lnSpc>
              <a:buNone/>
            </a:pPr>
            <a:r>
              <a:rPr lang="en-US" sz="1300" b="1" dirty="0">
                <a:solidFill>
                  <a:srgbClr val="194EFF"/>
                </a:solidFill>
                <a:latin typeface="Plus Jakarta Sans" pitchFamily="34" charset="0"/>
                <a:ea typeface="Plus Jakarta Sans" pitchFamily="34" charset="-122"/>
                <a:cs typeface="Plus Jakarta Sans" pitchFamily="34" charset="-120"/>
              </a:rPr>
              <a:t>06</a:t>
            </a:r>
            <a:endParaRPr lang="en-US" sz="1300" dirty="0"/>
          </a:p>
        </p:txBody>
      </p:sp>
      <p:sp>
        <p:nvSpPr>
          <p:cNvPr id="25" name="anim-2-24"/>
          <p:cNvSpPr txBox="1"/>
          <p:nvPr/>
        </p:nvSpPr>
        <p:spPr>
          <a:xfrm>
            <a:off x="8886825" y="1651000"/>
            <a:ext cx="1460500" cy="444500"/>
          </a:xfrm>
          <a:prstGeom prst="rect">
            <a:avLst/>
          </a:prstGeom>
          <a:noFill/>
          <a:ln/>
        </p:spPr>
        <p:txBody>
          <a:bodyPr wrap="square" lIns="0" tIns="0" rIns="0" bIns="0" rtlCol="0" anchor="t"/>
          <a:lstStyle/>
          <a:p>
            <a:pPr algn="l" indent="0" marL="0">
              <a:lnSpc>
                <a:spcPct val="112000"/>
              </a:lnSpc>
              <a:buNone/>
            </a:pPr>
            <a:r>
              <a:rPr lang="en-US" sz="1050" b="1" dirty="0">
                <a:solidFill>
                  <a:srgbClr val="13151C"/>
                </a:solidFill>
                <a:latin typeface="Plus Jakarta Sans" pitchFamily="34" charset="0"/>
                <a:ea typeface="Plus Jakarta Sans" pitchFamily="34" charset="-122"/>
                <a:cs typeface="Plus Jakarta Sans" pitchFamily="34" charset="-120"/>
              </a:rPr>
              <a:t>Delivery quality</a:t>
            </a:r>
            <a:endParaRPr lang="en-US" sz="1050" dirty="0"/>
          </a:p>
        </p:txBody>
      </p:sp>
      <p:sp>
        <p:nvSpPr>
          <p:cNvPr id="26" name="anim-2-25"/>
          <p:cNvSpPr/>
          <p:nvPr/>
        </p:nvSpPr>
        <p:spPr>
          <a:xfrm>
            <a:off x="10450830" y="1244600"/>
            <a:ext cx="6350" cy="952500"/>
          </a:xfrm>
          <a:prstGeom prst="rect">
            <a:avLst/>
          </a:prstGeom>
          <a:solidFill>
            <a:srgbClr val="CDD0D9"/>
          </a:solidFill>
          <a:ln/>
        </p:spPr>
      </p:sp>
      <p:sp>
        <p:nvSpPr>
          <p:cNvPr id="27" name="anim-2-26"/>
          <p:cNvSpPr/>
          <p:nvPr/>
        </p:nvSpPr>
        <p:spPr>
          <a:xfrm>
            <a:off x="10450830" y="1250950"/>
            <a:ext cx="1739900" cy="946150"/>
          </a:xfrm>
          <a:prstGeom prst="rect">
            <a:avLst/>
          </a:prstGeom>
          <a:solidFill>
            <a:srgbClr val="F7FBFD"/>
          </a:solidFill>
          <a:ln/>
        </p:spPr>
      </p:sp>
      <p:sp>
        <p:nvSpPr>
          <p:cNvPr id="28" name="anim-2-27"/>
          <p:cNvSpPr txBox="1"/>
          <p:nvPr/>
        </p:nvSpPr>
        <p:spPr>
          <a:xfrm>
            <a:off x="10628630" y="1371600"/>
            <a:ext cx="762000" cy="292100"/>
          </a:xfrm>
          <a:prstGeom prst="rect">
            <a:avLst/>
          </a:prstGeom>
          <a:noFill/>
          <a:ln/>
        </p:spPr>
        <p:txBody>
          <a:bodyPr wrap="square" lIns="0" tIns="0" rIns="0" bIns="0" rtlCol="0" anchor="t"/>
          <a:lstStyle/>
          <a:p>
            <a:pPr algn="l" indent="0" marL="0">
              <a:lnSpc>
                <a:spcPct val="112000"/>
              </a:lnSpc>
              <a:buNone/>
            </a:pPr>
            <a:r>
              <a:rPr lang="en-US" sz="1300" b="1" dirty="0">
                <a:solidFill>
                  <a:srgbClr val="194EFF"/>
                </a:solidFill>
                <a:latin typeface="Plus Jakarta Sans" pitchFamily="34" charset="0"/>
                <a:ea typeface="Plus Jakarta Sans" pitchFamily="34" charset="-122"/>
                <a:cs typeface="Plus Jakarta Sans" pitchFamily="34" charset="-120"/>
              </a:rPr>
              <a:t>07</a:t>
            </a:r>
            <a:endParaRPr lang="en-US" sz="1300" dirty="0"/>
          </a:p>
        </p:txBody>
      </p:sp>
      <p:sp>
        <p:nvSpPr>
          <p:cNvPr id="29" name="anim-2-28"/>
          <p:cNvSpPr txBox="1"/>
          <p:nvPr/>
        </p:nvSpPr>
        <p:spPr>
          <a:xfrm>
            <a:off x="10628630" y="1651000"/>
            <a:ext cx="1460500" cy="444500"/>
          </a:xfrm>
          <a:prstGeom prst="rect">
            <a:avLst/>
          </a:prstGeom>
          <a:noFill/>
          <a:ln/>
        </p:spPr>
        <p:txBody>
          <a:bodyPr wrap="square" lIns="0" tIns="0" rIns="0" bIns="0" rtlCol="0" anchor="t"/>
          <a:lstStyle/>
          <a:p>
            <a:pPr algn="l" indent="0" marL="0">
              <a:lnSpc>
                <a:spcPct val="112000"/>
              </a:lnSpc>
              <a:buNone/>
            </a:pPr>
            <a:r>
              <a:rPr lang="en-US" sz="1050" b="1" dirty="0">
                <a:solidFill>
                  <a:srgbClr val="13151C"/>
                </a:solidFill>
                <a:latin typeface="Plus Jakarta Sans" pitchFamily="34" charset="0"/>
                <a:ea typeface="Plus Jakarta Sans" pitchFamily="34" charset="-122"/>
                <a:cs typeface="Plus Jakarta Sans" pitchFamily="34" charset="-120"/>
              </a:rPr>
              <a:t>Compliance &amp; governance</a:t>
            </a:r>
            <a:endParaRPr lang="en-US" sz="1050" dirty="0"/>
          </a:p>
        </p:txBody>
      </p:sp>
      <p:sp>
        <p:nvSpPr>
          <p:cNvPr id="30" name="anim-3-29"/>
          <p:cNvSpPr/>
          <p:nvPr/>
        </p:nvSpPr>
        <p:spPr>
          <a:xfrm>
            <a:off x="0" y="2197100"/>
            <a:ext cx="12192000" cy="6350"/>
          </a:xfrm>
          <a:prstGeom prst="rect">
            <a:avLst/>
          </a:prstGeom>
          <a:solidFill>
            <a:srgbClr val="CDD0D9"/>
          </a:solidFill>
          <a:ln/>
        </p:spPr>
      </p:sp>
      <p:sp>
        <p:nvSpPr>
          <p:cNvPr id="31" name="anim-3-30"/>
          <p:cNvSpPr/>
          <p:nvPr/>
        </p:nvSpPr>
        <p:spPr>
          <a:xfrm>
            <a:off x="8001000" y="2197100"/>
            <a:ext cx="6350" cy="3644900"/>
          </a:xfrm>
          <a:prstGeom prst="rect">
            <a:avLst/>
          </a:prstGeom>
          <a:solidFill>
            <a:srgbClr val="CDD0D9"/>
          </a:solidFill>
          <a:ln/>
        </p:spPr>
      </p:sp>
      <p:graphicFrame>
        <p:nvGraphicFramePr>
          <p:cNvPr id="25" name="anim-3-31"/>
          <p:cNvGraphicFramePr>
            <a:graphicFrameLocks noGrp="1"/>
          </p:cNvGraphicFramePr>
          <p:nvPr>
            <p:extLst>
              <p:ext uri="{D42A27DB-BD31-4B8C-83A1-F6EECF244321}">
                <p14:modId xmlns:p14="http://schemas.microsoft.com/office/powerpoint/2010/main" val="1579011935"/>
              </p:ext>
            </p:extLst>
          </p:nvPr>
        </p:nvGraphicFramePr>
        <p:xfrm>
          <a:off x="304800" y="2349500"/>
          <a:ext cx="7391400" cy="914400"/>
        </p:xfrm>
        <a:graphic>
          <a:graphicData uri="http://schemas.openxmlformats.org/drawingml/2006/table">
            <a:tbl>
              <a:tblPr/>
              <a:tblGrid>
                <a:gridCol w="3810000"/>
                <a:gridCol w="3581400"/>
              </a:tblGrid>
              <a:tr h="419100">
                <a:tc>
                  <a:txBody>
                    <a:bodyPr/>
                    <a:lstStyle/>
                    <a:p>
                      <a:pPr algn="l" indent="0" marL="0">
                        <a:buNone/>
                      </a:pPr>
                      <a:r>
                        <a:rPr lang="en-US" sz="850" dirty="0">
                          <a:solidFill>
                            <a:srgbClr val="194EFF"/>
                          </a:solidFill>
                          <a:latin typeface="Plus Jakarta Sans SemiBold" pitchFamily="34" charset="0"/>
                          <a:ea typeface="Plus Jakarta Sans SemiBold" pitchFamily="34" charset="-122"/>
                          <a:cs typeface="Plus Jakarta Sans SemiBold" pitchFamily="34" charset="-120"/>
                        </a:rPr>
                        <a:t>Trigger</a:t>
                      </a:r>
                      <a:endParaRPr lang="en-US" sz="850" dirty="0">
                        <a:latin typeface="Plus Jakarta Sans SemiBold" charset="0"/>
                        <a:ea typeface="Plus Jakarta Sans SemiBold" charset="0"/>
                        <a:cs typeface="Plus Jakarta Sans SemiBold" charset="0"/>
                      </a:endParaRPr>
                    </a:p>
                  </a:txBody>
                  <a:tcPr marL="101600" marR="101600" marT="38100" marB="38100" anchor="ctr">
                    <a:lnL w="0" cap="flat" cmpd="sng" algn="ctr">
                      <a:noFill/>
                    </a:lnL>
                    <a:lnR w="0" cap="flat" cmpd="sng" algn="ctr">
                      <a:noFill/>
                    </a:lnR>
                    <a:lnT w="9525" cap="flat" cmpd="sng" algn="ctr">
                      <a:solidFill>
                        <a:srgbClr val="CDD0D9"/>
                      </a:solidFill>
                      <a:prstDash val="solid"/>
                      <a:round/>
                      <a:headEnd type="none" w="med" len="med"/>
                      <a:tailEnd type="none" w="med" len="med"/>
                    </a:lnT>
                    <a:lnB w="9525" cap="flat" cmpd="sng" algn="ctr">
                      <a:solidFill>
                        <a:srgbClr val="CDD0D9"/>
                      </a:solidFill>
                      <a:prstDash val="solid"/>
                      <a:round/>
                      <a:headEnd type="none" w="med" len="med"/>
                      <a:tailEnd type="none" w="med" len="med"/>
                    </a:lnB>
                    <a:solidFill>
                      <a:srgbClr val="EDF1FF"/>
                    </a:solidFill>
                  </a:tcPr>
                </a:tc>
                <a:tc>
                  <a:txBody>
                    <a:bodyPr/>
                    <a:lstStyle/>
                    <a:p>
                      <a:pPr algn="l" indent="0" marL="0">
                        <a:buNone/>
                      </a:pPr>
                      <a:r>
                        <a:rPr lang="en-US" sz="850" dirty="0">
                          <a:solidFill>
                            <a:srgbClr val="194EFF"/>
                          </a:solidFill>
                          <a:latin typeface="Plus Jakarta Sans SemiBold" pitchFamily="34" charset="0"/>
                          <a:ea typeface="Plus Jakarta Sans SemiBold" pitchFamily="34" charset="-122"/>
                          <a:cs typeface="Plus Jakarta Sans SemiBold" pitchFamily="34" charset="-120"/>
                        </a:rPr>
                        <a:t>Possible action</a:t>
                      </a:r>
                      <a:endParaRPr lang="en-US" sz="850" dirty="0">
                        <a:latin typeface="Plus Jakarta Sans SemiBold" charset="0"/>
                        <a:ea typeface="Plus Jakarta Sans SemiBold" charset="0"/>
                        <a:cs typeface="Plus Jakarta Sans SemiBold" charset="0"/>
                      </a:endParaRPr>
                    </a:p>
                  </a:txBody>
                  <a:tcPr marL="101600" marR="101600" marT="38100" marB="38100" anchor="ctr">
                    <a:lnL w="0" cap="flat" cmpd="sng" algn="ctr">
                      <a:noFill/>
                    </a:lnL>
                    <a:lnR w="0" cap="flat" cmpd="sng" algn="ctr">
                      <a:noFill/>
                    </a:lnR>
                    <a:lnT w="9525" cap="flat" cmpd="sng" algn="ctr">
                      <a:solidFill>
                        <a:srgbClr val="CDD0D9"/>
                      </a:solidFill>
                      <a:prstDash val="solid"/>
                      <a:round/>
                      <a:headEnd type="none" w="med" len="med"/>
                      <a:tailEnd type="none" w="med" len="med"/>
                    </a:lnT>
                    <a:lnB w="9525" cap="flat" cmpd="sng" algn="ctr">
                      <a:solidFill>
                        <a:srgbClr val="CDD0D9"/>
                      </a:solidFill>
                      <a:prstDash val="solid"/>
                      <a:round/>
                      <a:headEnd type="none" w="med" len="med"/>
                      <a:tailEnd type="none" w="med" len="med"/>
                    </a:lnB>
                    <a:solidFill>
                      <a:srgbClr val="EDF1FF"/>
                    </a:solidFill>
                  </a:tcPr>
                </a:tc>
              </a:tr>
              <a:tr h="419100">
                <a:tc>
                  <a:txBody>
                    <a:bodyPr/>
                    <a:lstStyle/>
                    <a:p>
                      <a:pPr algn="l" indent="0" marL="0">
                        <a:buNone/>
                      </a:pPr>
                      <a:r>
                        <a:rPr lang="en-US" sz="900" dirty="0">
                          <a:solidFill>
                            <a:srgbClr val="13151C"/>
                          </a:solidFill>
                          <a:latin typeface="Plus Jakarta Sans SemiBold" pitchFamily="34" charset="0"/>
                          <a:ea typeface="Plus Jakarta Sans SemiBold" pitchFamily="34" charset="-122"/>
                          <a:cs typeface="Plus Jakarta Sans SemiBold" pitchFamily="34" charset="-120"/>
                        </a:rPr>
                        <a:t>No qualified pipeline 02 consecutive quarters</a:t>
                      </a:r>
                      <a:endParaRPr lang="en-US" sz="900" dirty="0">
                        <a:latin typeface="Plus Jakarta Sans SemiBold" charset="0"/>
                        <a:ea typeface="Plus Jakarta Sans SemiBold" charset="0"/>
                        <a:cs typeface="Plus Jakarta Sans SemiBold" charset="0"/>
                      </a:endParaRPr>
                    </a:p>
                  </a:txBody>
                  <a:tcPr marL="101600" marR="101600" marT="38100" marB="38100" anchor="ctr">
                    <a:lnL w="0" cap="flat" cmpd="sng" algn="ctr">
                      <a:noFill/>
                    </a:lnL>
                    <a:lnR w="0" cap="flat" cmpd="sng" algn="ctr">
                      <a:noFill/>
                    </a:lnR>
                    <a:lnT w="9525" cap="flat" cmpd="sng" algn="ctr">
                      <a:solidFill>
                        <a:srgbClr val="CDD0D9"/>
                      </a:solidFill>
                      <a:prstDash val="solid"/>
                      <a:round/>
                      <a:headEnd type="none" w="med" len="med"/>
                      <a:tailEnd type="none" w="med" len="med"/>
                    </a:lnT>
                    <a:lnB w="9525" cap="flat" cmpd="sng" algn="ctr">
                      <a:solidFill>
                        <a:srgbClr val="CDD0D9"/>
                      </a:solidFill>
                      <a:prstDash val="solid"/>
                      <a:round/>
                      <a:headEnd type="none" w="med" len="med"/>
                      <a:tailEnd type="none" w="med" len="med"/>
                    </a:lnB>
                    <a:solidFill>
                      <a:srgbClr val="FFFFFF"/>
                    </a:solidFill>
                  </a:tcPr>
                </a:tc>
                <a:tc>
                  <a:txBody>
                    <a:bodyPr/>
                    <a:lstStyle/>
                    <a:p>
                      <a:pPr algn="l" indent="0" marL="0">
                        <a:buNone/>
                      </a:pPr>
                      <a:r>
                        <a:rPr lang="en-US" sz="900" dirty="0">
                          <a:solidFill>
                            <a:srgbClr val="13151C"/>
                          </a:solidFill>
                          <a:latin typeface="Plus Jakarta Sans" pitchFamily="34" charset="0"/>
                          <a:ea typeface="Plus Jakarta Sans" pitchFamily="34" charset="-122"/>
                          <a:cs typeface="Plus Jakarta Sans" pitchFamily="34" charset="-120"/>
                        </a:rPr>
                        <a:t>Downgrade, activation plan or benefit suspension</a:t>
                      </a:r>
                      <a:endParaRPr lang="en-US" sz="90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CDD0D9"/>
                      </a:solidFill>
                      <a:prstDash val="solid"/>
                      <a:round/>
                      <a:headEnd type="none" w="med" len="med"/>
                      <a:tailEnd type="none" w="med" len="med"/>
                    </a:lnT>
                    <a:lnB w="9525" cap="flat" cmpd="sng" algn="ctr">
                      <a:solidFill>
                        <a:srgbClr val="CDD0D9"/>
                      </a:solidFill>
                      <a:prstDash val="solid"/>
                      <a:round/>
                      <a:headEnd type="none" w="med" len="med"/>
                      <a:tailEnd type="none" w="med" len="med"/>
                    </a:lnB>
                    <a:solidFill>
                      <a:srgbClr val="FFFFFF"/>
                    </a:solidFill>
                  </a:tcPr>
                </a:tc>
              </a:tr>
              <a:tr h="419100">
                <a:tc>
                  <a:txBody>
                    <a:bodyPr/>
                    <a:lstStyle/>
                    <a:p>
                      <a:pPr algn="l" indent="0" marL="0">
                        <a:buNone/>
                      </a:pPr>
                      <a:r>
                        <a:rPr lang="en-US" sz="900" dirty="0">
                          <a:solidFill>
                            <a:srgbClr val="13151C"/>
                          </a:solidFill>
                          <a:latin typeface="Plus Jakarta Sans SemiBold" pitchFamily="34" charset="0"/>
                          <a:ea typeface="Plus Jakarta Sans SemiBold" pitchFamily="34" charset="-122"/>
                          <a:cs typeface="Plus Jakarta Sans SemiBold" pitchFamily="34" charset="-120"/>
                        </a:rPr>
                        <a:t>No certified resources</a:t>
                      </a:r>
                      <a:endParaRPr lang="en-US" sz="900" dirty="0">
                        <a:latin typeface="Plus Jakarta Sans SemiBold" charset="0"/>
                        <a:ea typeface="Plus Jakarta Sans SemiBold" charset="0"/>
                        <a:cs typeface="Plus Jakarta Sans SemiBold" charset="0"/>
                      </a:endParaRPr>
                    </a:p>
                  </a:txBody>
                  <a:tcPr marL="101600" marR="101600" marT="38100" marB="38100" anchor="ctr">
                    <a:lnL w="0" cap="flat" cmpd="sng" algn="ctr">
                      <a:noFill/>
                    </a:lnL>
                    <a:lnR w="0" cap="flat" cmpd="sng" algn="ctr">
                      <a:noFill/>
                    </a:lnR>
                    <a:lnT w="9525" cap="flat" cmpd="sng" algn="ctr">
                      <a:solidFill>
                        <a:srgbClr val="CDD0D9"/>
                      </a:solidFill>
                      <a:prstDash val="solid"/>
                      <a:round/>
                      <a:headEnd type="none" w="med" len="med"/>
                      <a:tailEnd type="none" w="med" len="med"/>
                    </a:lnT>
                    <a:lnB w="9525" cap="flat" cmpd="sng" algn="ctr">
                      <a:solidFill>
                        <a:srgbClr val="CDD0D9"/>
                      </a:solidFill>
                      <a:prstDash val="solid"/>
                      <a:round/>
                      <a:headEnd type="none" w="med" len="med"/>
                      <a:tailEnd type="none" w="med" len="med"/>
                    </a:lnB>
                    <a:solidFill>
                      <a:srgbClr val="F7FBFD"/>
                    </a:solidFill>
                  </a:tcPr>
                </a:tc>
                <a:tc>
                  <a:txBody>
                    <a:bodyPr/>
                    <a:lstStyle/>
                    <a:p>
                      <a:pPr algn="l" indent="0" marL="0">
                        <a:buNone/>
                      </a:pPr>
                      <a:r>
                        <a:rPr lang="en-US" sz="900" dirty="0">
                          <a:solidFill>
                            <a:srgbClr val="13151C"/>
                          </a:solidFill>
                          <a:latin typeface="Plus Jakarta Sans" pitchFamily="34" charset="0"/>
                          <a:ea typeface="Plus Jakarta Sans" pitchFamily="34" charset="-122"/>
                          <a:cs typeface="Plus Jakarta Sans" pitchFamily="34" charset="-120"/>
                        </a:rPr>
                        <a:t>Loss of sales / delivery authorisation until certified</a:t>
                      </a:r>
                      <a:endParaRPr lang="en-US" sz="90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CDD0D9"/>
                      </a:solidFill>
                      <a:prstDash val="solid"/>
                      <a:round/>
                      <a:headEnd type="none" w="med" len="med"/>
                      <a:tailEnd type="none" w="med" len="med"/>
                    </a:lnT>
                    <a:lnB w="9525" cap="flat" cmpd="sng" algn="ctr">
                      <a:solidFill>
                        <a:srgbClr val="CDD0D9"/>
                      </a:solidFill>
                      <a:prstDash val="solid"/>
                      <a:round/>
                      <a:headEnd type="none" w="med" len="med"/>
                      <a:tailEnd type="none" w="med" len="med"/>
                    </a:lnB>
                    <a:solidFill>
                      <a:srgbClr val="F7FBFD"/>
                    </a:solidFill>
                  </a:tcPr>
                </a:tc>
              </a:tr>
              <a:tr h="419100">
                <a:tc>
                  <a:txBody>
                    <a:bodyPr/>
                    <a:lstStyle/>
                    <a:p>
                      <a:pPr algn="l" indent="0" marL="0">
                        <a:buNone/>
                      </a:pPr>
                      <a:r>
                        <a:rPr lang="en-US" sz="900" dirty="0">
                          <a:solidFill>
                            <a:srgbClr val="13151C"/>
                          </a:solidFill>
                          <a:latin typeface="Plus Jakarta Sans SemiBold" pitchFamily="34" charset="0"/>
                          <a:ea typeface="Plus Jakarta Sans SemiBold" pitchFamily="34" charset="-122"/>
                          <a:cs typeface="Plus Jakarta Sans SemiBold" pitchFamily="34" charset="-120"/>
                        </a:rPr>
                        <a:t>Poor feedback / delivery escalation</a:t>
                      </a:r>
                      <a:endParaRPr lang="en-US" sz="900" dirty="0">
                        <a:latin typeface="Plus Jakarta Sans SemiBold" charset="0"/>
                        <a:ea typeface="Plus Jakarta Sans SemiBold" charset="0"/>
                        <a:cs typeface="Plus Jakarta Sans SemiBold" charset="0"/>
                      </a:endParaRPr>
                    </a:p>
                  </a:txBody>
                  <a:tcPr marL="101600" marR="101600" marT="38100" marB="38100" anchor="ctr">
                    <a:lnL w="0" cap="flat" cmpd="sng" algn="ctr">
                      <a:noFill/>
                    </a:lnL>
                    <a:lnR w="0" cap="flat" cmpd="sng" algn="ctr">
                      <a:noFill/>
                    </a:lnR>
                    <a:lnT w="9525" cap="flat" cmpd="sng" algn="ctr">
                      <a:solidFill>
                        <a:srgbClr val="CDD0D9"/>
                      </a:solidFill>
                      <a:prstDash val="solid"/>
                      <a:round/>
                      <a:headEnd type="none" w="med" len="med"/>
                      <a:tailEnd type="none" w="med" len="med"/>
                    </a:lnT>
                    <a:lnB w="9525" cap="flat" cmpd="sng" algn="ctr">
                      <a:solidFill>
                        <a:srgbClr val="CDD0D9"/>
                      </a:solidFill>
                      <a:prstDash val="solid"/>
                      <a:round/>
                      <a:headEnd type="none" w="med" len="med"/>
                      <a:tailEnd type="none" w="med" len="med"/>
                    </a:lnB>
                    <a:solidFill>
                      <a:srgbClr val="FFFFFF"/>
                    </a:solidFill>
                  </a:tcPr>
                </a:tc>
                <a:tc>
                  <a:txBody>
                    <a:bodyPr/>
                    <a:lstStyle/>
                    <a:p>
                      <a:pPr algn="l" indent="0" marL="0">
                        <a:buNone/>
                      </a:pPr>
                      <a:r>
                        <a:rPr lang="en-US" sz="900" dirty="0">
                          <a:solidFill>
                            <a:srgbClr val="13151C"/>
                          </a:solidFill>
                          <a:latin typeface="Plus Jakarta Sans" pitchFamily="34" charset="0"/>
                          <a:ea typeface="Plus Jakarta Sans" pitchFamily="34" charset="-122"/>
                          <a:cs typeface="Plus Jakarta Sans" pitchFamily="34" charset="-120"/>
                        </a:rPr>
                        <a:t>Reassignment, suspension or termination</a:t>
                      </a:r>
                      <a:endParaRPr lang="en-US" sz="90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CDD0D9"/>
                      </a:solidFill>
                      <a:prstDash val="solid"/>
                      <a:round/>
                      <a:headEnd type="none" w="med" len="med"/>
                      <a:tailEnd type="none" w="med" len="med"/>
                    </a:lnT>
                    <a:lnB w="9525" cap="flat" cmpd="sng" algn="ctr">
                      <a:solidFill>
                        <a:srgbClr val="CDD0D9"/>
                      </a:solidFill>
                      <a:prstDash val="solid"/>
                      <a:round/>
                      <a:headEnd type="none" w="med" len="med"/>
                      <a:tailEnd type="none" w="med" len="med"/>
                    </a:lnB>
                    <a:solidFill>
                      <a:srgbClr val="FFFFFF"/>
                    </a:solidFill>
                  </a:tcPr>
                </a:tc>
              </a:tr>
              <a:tr h="419100">
                <a:tc>
                  <a:txBody>
                    <a:bodyPr/>
                    <a:lstStyle/>
                    <a:p>
                      <a:pPr algn="l" indent="0" marL="0">
                        <a:buNone/>
                      </a:pPr>
                      <a:r>
                        <a:rPr lang="en-US" sz="900" dirty="0">
                          <a:solidFill>
                            <a:srgbClr val="13151C"/>
                          </a:solidFill>
                          <a:latin typeface="Plus Jakarta Sans SemiBold" pitchFamily="34" charset="0"/>
                          <a:ea typeface="Plus Jakarta Sans SemiBold" pitchFamily="34" charset="-122"/>
                          <a:cs typeface="Plus Jakarta Sans SemiBold" pitchFamily="34" charset="-120"/>
                        </a:rPr>
                        <a:t>Forecast inaccuracy or account parking</a:t>
                      </a:r>
                      <a:endParaRPr lang="en-US" sz="900" dirty="0">
                        <a:latin typeface="Plus Jakarta Sans SemiBold" charset="0"/>
                        <a:ea typeface="Plus Jakarta Sans SemiBold" charset="0"/>
                        <a:cs typeface="Plus Jakarta Sans SemiBold" charset="0"/>
                      </a:endParaRPr>
                    </a:p>
                  </a:txBody>
                  <a:tcPr marL="101600" marR="101600" marT="38100" marB="38100" anchor="ctr">
                    <a:lnL w="0" cap="flat" cmpd="sng" algn="ctr">
                      <a:noFill/>
                    </a:lnL>
                    <a:lnR w="0" cap="flat" cmpd="sng" algn="ctr">
                      <a:noFill/>
                    </a:lnR>
                    <a:lnT w="9525" cap="flat" cmpd="sng" algn="ctr">
                      <a:solidFill>
                        <a:srgbClr val="CDD0D9"/>
                      </a:solidFill>
                      <a:prstDash val="solid"/>
                      <a:round/>
                      <a:headEnd type="none" w="med" len="med"/>
                      <a:tailEnd type="none" w="med" len="med"/>
                    </a:lnT>
                    <a:lnB w="9525" cap="flat" cmpd="sng" algn="ctr">
                      <a:solidFill>
                        <a:srgbClr val="CDD0D9"/>
                      </a:solidFill>
                      <a:prstDash val="solid"/>
                      <a:round/>
                      <a:headEnd type="none" w="med" len="med"/>
                      <a:tailEnd type="none" w="med" len="med"/>
                    </a:lnB>
                    <a:solidFill>
                      <a:srgbClr val="F7FBFD"/>
                    </a:solidFill>
                  </a:tcPr>
                </a:tc>
                <a:tc>
                  <a:txBody>
                    <a:bodyPr/>
                    <a:lstStyle/>
                    <a:p>
                      <a:pPr algn="l" indent="0" marL="0">
                        <a:buNone/>
                      </a:pPr>
                      <a:r>
                        <a:rPr lang="en-US" sz="900" dirty="0">
                          <a:solidFill>
                            <a:srgbClr val="13151C"/>
                          </a:solidFill>
                          <a:latin typeface="Plus Jakarta Sans" pitchFamily="34" charset="0"/>
                          <a:ea typeface="Plus Jakarta Sans" pitchFamily="34" charset="-122"/>
                          <a:cs typeface="Plus Jakarta Sans" pitchFamily="34" charset="-120"/>
                        </a:rPr>
                        <a:t>Lead-registration limits or downgrade</a:t>
                      </a:r>
                      <a:endParaRPr lang="en-US" sz="90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CDD0D9"/>
                      </a:solidFill>
                      <a:prstDash val="solid"/>
                      <a:round/>
                      <a:headEnd type="none" w="med" len="med"/>
                      <a:tailEnd type="none" w="med" len="med"/>
                    </a:lnT>
                    <a:lnB w="9525" cap="flat" cmpd="sng" algn="ctr">
                      <a:solidFill>
                        <a:srgbClr val="CDD0D9"/>
                      </a:solidFill>
                      <a:prstDash val="solid"/>
                      <a:round/>
                      <a:headEnd type="none" w="med" len="med"/>
                      <a:tailEnd type="none" w="med" len="med"/>
                    </a:lnB>
                    <a:solidFill>
                      <a:srgbClr val="F7FBFD"/>
                    </a:solidFill>
                  </a:tcPr>
                </a:tc>
              </a:tr>
              <a:tr h="419100">
                <a:tc>
                  <a:txBody>
                    <a:bodyPr/>
                    <a:lstStyle/>
                    <a:p>
                      <a:pPr algn="l" indent="0" marL="0">
                        <a:buNone/>
                      </a:pPr>
                      <a:r>
                        <a:rPr lang="en-US" sz="900" dirty="0">
                          <a:solidFill>
                            <a:srgbClr val="13151C"/>
                          </a:solidFill>
                          <a:latin typeface="Plus Jakarta Sans SemiBold" pitchFamily="34" charset="0"/>
                          <a:ea typeface="Plus Jakarta Sans SemiBold" pitchFamily="34" charset="-122"/>
                          <a:cs typeface="Plus Jakarta Sans SemiBold" pitchFamily="34" charset="-120"/>
                        </a:rPr>
                        <a:t>Unauthorised discounting / misrepresentation</a:t>
                      </a:r>
                      <a:endParaRPr lang="en-US" sz="900" dirty="0">
                        <a:latin typeface="Plus Jakarta Sans SemiBold" charset="0"/>
                        <a:ea typeface="Plus Jakarta Sans SemiBold" charset="0"/>
                        <a:cs typeface="Plus Jakarta Sans SemiBold" charset="0"/>
                      </a:endParaRPr>
                    </a:p>
                  </a:txBody>
                  <a:tcPr marL="101600" marR="101600" marT="38100" marB="38100" anchor="ctr">
                    <a:lnL w="0" cap="flat" cmpd="sng" algn="ctr">
                      <a:noFill/>
                    </a:lnL>
                    <a:lnR w="0" cap="flat" cmpd="sng" algn="ctr">
                      <a:noFill/>
                    </a:lnR>
                    <a:lnT w="9525" cap="flat" cmpd="sng" algn="ctr">
                      <a:solidFill>
                        <a:srgbClr val="CDD0D9"/>
                      </a:solidFill>
                      <a:prstDash val="solid"/>
                      <a:round/>
                      <a:headEnd type="none" w="med" len="med"/>
                      <a:tailEnd type="none" w="med" len="med"/>
                    </a:lnT>
                    <a:lnB w="9525" cap="flat" cmpd="sng" algn="ctr">
                      <a:solidFill>
                        <a:srgbClr val="CDD0D9"/>
                      </a:solidFill>
                      <a:prstDash val="solid"/>
                      <a:round/>
                      <a:headEnd type="none" w="med" len="med"/>
                      <a:tailEnd type="none" w="med" len="med"/>
                    </a:lnB>
                    <a:solidFill>
                      <a:srgbClr val="FFFFFF"/>
                    </a:solidFill>
                  </a:tcPr>
                </a:tc>
                <a:tc>
                  <a:txBody>
                    <a:bodyPr/>
                    <a:lstStyle/>
                    <a:p>
                      <a:pPr algn="l" indent="0" marL="0">
                        <a:buNone/>
                      </a:pPr>
                      <a:r>
                        <a:rPr lang="en-US" sz="900" dirty="0">
                          <a:solidFill>
                            <a:srgbClr val="13151C"/>
                          </a:solidFill>
                          <a:latin typeface="Plus Jakarta Sans" pitchFamily="34" charset="0"/>
                          <a:ea typeface="Plus Jakarta Sans" pitchFamily="34" charset="-122"/>
                          <a:cs typeface="Plus Jakarta Sans" pitchFamily="34" charset="-120"/>
                        </a:rPr>
                        <a:t>Commission denial, suspension or termination</a:t>
                      </a:r>
                      <a:endParaRPr lang="en-US" sz="90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CDD0D9"/>
                      </a:solidFill>
                      <a:prstDash val="solid"/>
                      <a:round/>
                      <a:headEnd type="none" w="med" len="med"/>
                      <a:tailEnd type="none" w="med" len="med"/>
                    </a:lnT>
                    <a:lnB w="9525" cap="flat" cmpd="sng" algn="ctr">
                      <a:solidFill>
                        <a:srgbClr val="CDD0D9"/>
                      </a:solidFill>
                      <a:prstDash val="solid"/>
                      <a:round/>
                      <a:headEnd type="none" w="med" len="med"/>
                      <a:tailEnd type="none" w="med" len="med"/>
                    </a:lnB>
                    <a:solidFill>
                      <a:srgbClr val="FFFFFF"/>
                    </a:solidFill>
                  </a:tcPr>
                </a:tc>
              </a:tr>
              <a:tr h="419100">
                <a:tc>
                  <a:txBody>
                    <a:bodyPr/>
                    <a:lstStyle/>
                    <a:p>
                      <a:pPr algn="l" indent="0" marL="0">
                        <a:buNone/>
                      </a:pPr>
                      <a:r>
                        <a:rPr lang="en-US" sz="900" dirty="0">
                          <a:solidFill>
                            <a:srgbClr val="13151C"/>
                          </a:solidFill>
                          <a:latin typeface="Plus Jakarta Sans SemiBold" pitchFamily="34" charset="0"/>
                          <a:ea typeface="Plus Jakarta Sans SemiBold" pitchFamily="34" charset="-122"/>
                          <a:cs typeface="Plus Jakarta Sans SemiBold" pitchFamily="34" charset="-120"/>
                        </a:rPr>
                        <a:t>Compliance, security, procurement or data breach</a:t>
                      </a:r>
                      <a:endParaRPr lang="en-US" sz="900" dirty="0">
                        <a:latin typeface="Plus Jakarta Sans SemiBold" charset="0"/>
                        <a:ea typeface="Plus Jakarta Sans SemiBold" charset="0"/>
                        <a:cs typeface="Plus Jakarta Sans SemiBold" charset="0"/>
                      </a:endParaRPr>
                    </a:p>
                  </a:txBody>
                  <a:tcPr marL="101600" marR="101600" marT="38100" marB="38100" anchor="ctr">
                    <a:lnL w="0" cap="flat" cmpd="sng" algn="ctr">
                      <a:noFill/>
                    </a:lnL>
                    <a:lnR w="0" cap="flat" cmpd="sng" algn="ctr">
                      <a:noFill/>
                    </a:lnR>
                    <a:lnT w="9525" cap="flat" cmpd="sng" algn="ctr">
                      <a:solidFill>
                        <a:srgbClr val="CDD0D9"/>
                      </a:solidFill>
                      <a:prstDash val="solid"/>
                      <a:round/>
                      <a:headEnd type="none" w="med" len="med"/>
                      <a:tailEnd type="none" w="med" len="med"/>
                    </a:lnT>
                    <a:lnB w="9525" cap="flat" cmpd="sng" algn="ctr">
                      <a:solidFill>
                        <a:srgbClr val="CDD0D9"/>
                      </a:solidFill>
                      <a:prstDash val="solid"/>
                      <a:round/>
                      <a:headEnd type="none" w="med" len="med"/>
                      <a:tailEnd type="none" w="med" len="med"/>
                    </a:lnB>
                    <a:solidFill>
                      <a:srgbClr val="F7FBFD"/>
                    </a:solidFill>
                  </a:tcPr>
                </a:tc>
                <a:tc>
                  <a:txBody>
                    <a:bodyPr/>
                    <a:lstStyle/>
                    <a:p>
                      <a:pPr algn="l" indent="0" marL="0">
                        <a:buNone/>
                      </a:pPr>
                      <a:r>
                        <a:rPr lang="en-US" sz="900" dirty="0">
                          <a:solidFill>
                            <a:srgbClr val="13151C"/>
                          </a:solidFill>
                          <a:latin typeface="Plus Jakarta Sans" pitchFamily="34" charset="0"/>
                          <a:ea typeface="Plus Jakarta Sans" pitchFamily="34" charset="-122"/>
                          <a:cs typeface="Plus Jakarta Sans" pitchFamily="34" charset="-120"/>
                        </a:rPr>
                        <a:t>Immediate suspension or termination</a:t>
                      </a:r>
                      <a:endParaRPr lang="en-US" sz="90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CDD0D9"/>
                      </a:solidFill>
                      <a:prstDash val="solid"/>
                      <a:round/>
                      <a:headEnd type="none" w="med" len="med"/>
                      <a:tailEnd type="none" w="med" len="med"/>
                    </a:lnT>
                    <a:lnB w="9525" cap="flat" cmpd="sng" algn="ctr">
                      <a:solidFill>
                        <a:srgbClr val="CDD0D9"/>
                      </a:solidFill>
                      <a:prstDash val="solid"/>
                      <a:round/>
                      <a:headEnd type="none" w="med" len="med"/>
                      <a:tailEnd type="none" w="med" len="med"/>
                    </a:lnB>
                    <a:solidFill>
                      <a:srgbClr val="F7FBFD"/>
                    </a:solidFill>
                  </a:tcPr>
                </a:tc>
              </a:tr>
              <a:tr h="419100">
                <a:tc>
                  <a:txBody>
                    <a:bodyPr/>
                    <a:lstStyle/>
                    <a:p>
                      <a:pPr algn="l" indent="0" marL="0">
                        <a:buNone/>
                      </a:pPr>
                      <a:r>
                        <a:rPr lang="en-US" sz="900" dirty="0">
                          <a:solidFill>
                            <a:srgbClr val="13151C"/>
                          </a:solidFill>
                          <a:latin typeface="Plus Jakarta Sans SemiBold" pitchFamily="34" charset="0"/>
                          <a:ea typeface="Plus Jakarta Sans SemiBold" pitchFamily="34" charset="-122"/>
                          <a:cs typeface="Plus Jakarta Sans SemiBold" pitchFamily="34" charset="-120"/>
                        </a:rPr>
                        <a:t>Brand misuse / unauthorised announcement</a:t>
                      </a:r>
                      <a:endParaRPr lang="en-US" sz="900" dirty="0">
                        <a:latin typeface="Plus Jakarta Sans SemiBold" charset="0"/>
                        <a:ea typeface="Plus Jakarta Sans SemiBold" charset="0"/>
                        <a:cs typeface="Plus Jakarta Sans SemiBold" charset="0"/>
                      </a:endParaRPr>
                    </a:p>
                  </a:txBody>
                  <a:tcPr marL="101600" marR="101600" marT="38100" marB="38100" anchor="ctr">
                    <a:lnL w="0" cap="flat" cmpd="sng" algn="ctr">
                      <a:noFill/>
                    </a:lnL>
                    <a:lnR w="0" cap="flat" cmpd="sng" algn="ctr">
                      <a:noFill/>
                    </a:lnR>
                    <a:lnT w="9525" cap="flat" cmpd="sng" algn="ctr">
                      <a:solidFill>
                        <a:srgbClr val="CDD0D9"/>
                      </a:solidFill>
                      <a:prstDash val="solid"/>
                      <a:round/>
                      <a:headEnd type="none" w="med" len="med"/>
                      <a:tailEnd type="none" w="med" len="med"/>
                    </a:lnT>
                    <a:lnB w="9525" cap="flat" cmpd="sng" algn="ctr">
                      <a:solidFill>
                        <a:srgbClr val="CDD0D9"/>
                      </a:solidFill>
                      <a:prstDash val="solid"/>
                      <a:round/>
                      <a:headEnd type="none" w="med" len="med"/>
                      <a:tailEnd type="none" w="med" len="med"/>
                    </a:lnB>
                    <a:solidFill>
                      <a:srgbClr val="FFFFFF"/>
                    </a:solidFill>
                  </a:tcPr>
                </a:tc>
                <a:tc>
                  <a:txBody>
                    <a:bodyPr/>
                    <a:lstStyle/>
                    <a:p>
                      <a:pPr algn="l" indent="0" marL="0">
                        <a:buNone/>
                      </a:pPr>
                      <a:r>
                        <a:rPr lang="en-US" sz="900" dirty="0">
                          <a:solidFill>
                            <a:srgbClr val="13151C"/>
                          </a:solidFill>
                          <a:latin typeface="Plus Jakarta Sans" pitchFamily="34" charset="0"/>
                          <a:ea typeface="Plus Jakarta Sans" pitchFamily="34" charset="-122"/>
                          <a:cs typeface="Plus Jakarta Sans" pitchFamily="34" charset="-120"/>
                        </a:rPr>
                        <a:t>Correction, suspension or termination</a:t>
                      </a:r>
                      <a:endParaRPr lang="en-US" sz="90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CDD0D9"/>
                      </a:solidFill>
                      <a:prstDash val="solid"/>
                      <a:round/>
                      <a:headEnd type="none" w="med" len="med"/>
                      <a:tailEnd type="none" w="med" len="med"/>
                    </a:lnT>
                    <a:lnB w="9525" cap="flat" cmpd="sng" algn="ctr">
                      <a:solidFill>
                        <a:srgbClr val="CDD0D9"/>
                      </a:solidFill>
                      <a:prstDash val="solid"/>
                      <a:round/>
                      <a:headEnd type="none" w="med" len="med"/>
                      <a:tailEnd type="none" w="med" len="med"/>
                    </a:lnB>
                    <a:solidFill>
                      <a:srgbClr val="FFFFFF"/>
                    </a:solidFill>
                  </a:tcPr>
                </a:tc>
              </a:tr>
            </a:tbl>
          </a:graphicData>
        </a:graphic>
      </p:graphicFrame>
      <p:sp>
        <p:nvSpPr>
          <p:cNvPr id="33" name="anim-4-32"/>
          <p:cNvSpPr/>
          <p:nvPr/>
        </p:nvSpPr>
        <p:spPr>
          <a:xfrm>
            <a:off x="8007350" y="2203450"/>
            <a:ext cx="4184650" cy="3638550"/>
          </a:xfrm>
          <a:prstGeom prst="rect">
            <a:avLst/>
          </a:prstGeom>
          <a:solidFill>
            <a:srgbClr val="EDF1FF"/>
          </a:solidFill>
          <a:ln/>
        </p:spPr>
      </p:sp>
      <p:sp>
        <p:nvSpPr>
          <p:cNvPr id="34" name="anim-4-33"/>
          <p:cNvSpPr txBox="1"/>
          <p:nvPr/>
        </p:nvSpPr>
        <p:spPr>
          <a:xfrm>
            <a:off x="8261350" y="2387600"/>
            <a:ext cx="3683000" cy="254000"/>
          </a:xfrm>
          <a:prstGeom prst="rect">
            <a:avLst/>
          </a:prstGeom>
          <a:noFill/>
          <a:ln/>
        </p:spPr>
        <p:txBody>
          <a:bodyPr wrap="square" lIns="0" tIns="0" rIns="0" bIns="0" rtlCol="0" anchor="t"/>
          <a:lstStyle/>
          <a:p>
            <a:pPr algn="l" indent="0" marL="0">
              <a:lnSpc>
                <a:spcPct val="112000"/>
              </a:lnSpc>
              <a:buNone/>
            </a:pPr>
            <a:r>
              <a:rPr lang="en-US" sz="1300" b="1" dirty="0">
                <a:solidFill>
                  <a:srgbClr val="194EFF"/>
                </a:solidFill>
                <a:latin typeface="Plus Jakarta Sans" pitchFamily="34" charset="0"/>
                <a:ea typeface="Plus Jakarta Sans" pitchFamily="34" charset="-122"/>
                <a:cs typeface="Plus Jakarta Sans" pitchFamily="34" charset="-120"/>
              </a:rPr>
              <a:t>Joint business plans &amp; QBRs</a:t>
            </a:r>
            <a:endParaRPr lang="en-US" sz="1300" dirty="0"/>
          </a:p>
        </p:txBody>
      </p:sp>
      <p:pic>
        <p:nvPicPr>
          <p:cNvPr id="35" name="anim-4-34" descr="/tmp/claude-0/-home-user-hosting/7c832a48-0979-56aa-9fdf-7d53efb9dc7a/scratchpad/build/img/chev-grad.png">    </p:cNvPr>
          <p:cNvPicPr>
            <a:picLocks noChangeAspect="1"/>
          </p:cNvPicPr>
          <p:nvPr/>
        </p:nvPicPr>
        <p:blipFill>
          <a:blip r:embed="rId2"/>
          <a:stretch>
            <a:fillRect/>
          </a:stretch>
        </p:blipFill>
        <p:spPr>
          <a:xfrm>
            <a:off x="8261350" y="2768600"/>
            <a:ext cx="59779" cy="95250"/>
          </a:xfrm>
          <a:prstGeom prst="rect">
            <a:avLst/>
          </a:prstGeom>
        </p:spPr>
      </p:pic>
      <p:sp>
        <p:nvSpPr>
          <p:cNvPr id="36" name="anim-4-35"/>
          <p:cNvSpPr txBox="1"/>
          <p:nvPr/>
        </p:nvSpPr>
        <p:spPr>
          <a:xfrm>
            <a:off x="8426450" y="2743200"/>
            <a:ext cx="3517900" cy="1397000"/>
          </a:xfrm>
          <a:prstGeom prst="rect">
            <a:avLst/>
          </a:prstGeom>
          <a:noFill/>
          <a:ln/>
        </p:spPr>
        <p:txBody>
          <a:bodyPr wrap="square" lIns="0" tIns="0" rIns="0" bIns="0" rtlCol="0" anchor="t"/>
          <a:lstStyle/>
          <a:p>
            <a:pPr algn="l" indent="0" marL="0">
              <a:lnSpc>
                <a:spcPct val="120000"/>
              </a:lnSpc>
              <a:buNone/>
            </a:pPr>
            <a:r>
              <a:rPr lang="en-US" sz="950" dirty="0">
                <a:solidFill>
                  <a:srgbClr val="13151C"/>
                </a:solidFill>
                <a:latin typeface="Plus Jakarta Sans" pitchFamily="34" charset="0"/>
                <a:ea typeface="Plus Jakarta Sans" pitchFamily="34" charset="-122"/>
                <a:cs typeface="Plus Jakarta Sans" pitchFamily="34" charset="-120"/>
              </a:rPr>
              <a:t>Level 02–05 partners keep an annual joint business plan: target accounts, sectors, countries, enablement, pipeline goals, marketing, executive alignment, support model and quarterly milestones.</a:t>
            </a:r>
            <a:endParaRPr lang="en-US" sz="950" dirty="0"/>
          </a:p>
        </p:txBody>
      </p:sp>
      <p:pic>
        <p:nvPicPr>
          <p:cNvPr id="37" name="anim-4-36" descr="/tmp/claude-0/-home-user-hosting/7c832a48-0979-56aa-9fdf-7d53efb9dc7a/scratchpad/build/img/chev-grad.png">    </p:cNvPr>
          <p:cNvPicPr>
            <a:picLocks noChangeAspect="1"/>
          </p:cNvPicPr>
          <p:nvPr/>
        </p:nvPicPr>
        <p:blipFill>
          <a:blip r:embed="rId3"/>
          <a:stretch>
            <a:fillRect/>
          </a:stretch>
        </p:blipFill>
        <p:spPr>
          <a:xfrm>
            <a:off x="8261350" y="4165600"/>
            <a:ext cx="59779" cy="95250"/>
          </a:xfrm>
          <a:prstGeom prst="rect">
            <a:avLst/>
          </a:prstGeom>
        </p:spPr>
      </p:pic>
      <p:sp>
        <p:nvSpPr>
          <p:cNvPr id="38" name="anim-4-37"/>
          <p:cNvSpPr txBox="1"/>
          <p:nvPr/>
        </p:nvSpPr>
        <p:spPr>
          <a:xfrm>
            <a:off x="8426450" y="4140200"/>
            <a:ext cx="3517900" cy="1397000"/>
          </a:xfrm>
          <a:prstGeom prst="rect">
            <a:avLst/>
          </a:prstGeom>
          <a:noFill/>
          <a:ln/>
        </p:spPr>
        <p:txBody>
          <a:bodyPr wrap="square" lIns="0" tIns="0" rIns="0" bIns="0" rtlCol="0" anchor="t"/>
          <a:lstStyle/>
          <a:p>
            <a:pPr algn="l" indent="0" marL="0">
              <a:lnSpc>
                <a:spcPct val="120000"/>
              </a:lnSpc>
              <a:buNone/>
            </a:pPr>
            <a:r>
              <a:rPr lang="en-US" sz="950" dirty="0">
                <a:solidFill>
                  <a:srgbClr val="13151C"/>
                </a:solidFill>
                <a:latin typeface="Plus Jakarta Sans" pitchFamily="34" charset="0"/>
                <a:ea typeface="Plus Jakarta Sans" pitchFamily="34" charset="-122"/>
                <a:cs typeface="Plus Jakarta Sans" pitchFamily="34" charset="-120"/>
              </a:rPr>
              <a:t>QBRs review pipeline, wins, losses, blockers, enablement, marketing outcomes, delivery quality, renewal risks and next-quarter priorities.</a:t>
            </a:r>
            <a:endParaRPr lang="en-US" sz="950" dirty="0"/>
          </a:p>
        </p:txBody>
      </p:sp>
      <p:sp>
        <p:nvSpPr>
          <p:cNvPr id="39" name="anim-9-38"/>
          <p:cNvSpPr/>
          <p:nvPr/>
        </p:nvSpPr>
        <p:spPr>
          <a:xfrm>
            <a:off x="0" y="5842000"/>
            <a:ext cx="12192000" cy="1016000"/>
          </a:xfrm>
          <a:prstGeom prst="rect">
            <a:avLst/>
          </a:prstGeom>
          <a:solidFill>
            <a:srgbClr val="F5F9FB"/>
          </a:solidFill>
          <a:ln/>
        </p:spPr>
      </p:sp>
      <p:pic>
        <p:nvPicPr>
          <p:cNvPr id="40" name="anim-9-39" descr="/tmp/claude-0/-home-user-hosting/7c832a48-0979-56aa-9fdf-7d53efb9dc7a/scratchpad/build/img/motif-left.png">    </p:cNvPr>
          <p:cNvPicPr>
            <a:picLocks noChangeAspect="1"/>
          </p:cNvPicPr>
          <p:nvPr/>
        </p:nvPicPr>
        <p:blipFill>
          <a:blip r:embed="rId4"/>
          <a:stretch>
            <a:fillRect/>
          </a:stretch>
        </p:blipFill>
        <p:spPr>
          <a:xfrm>
            <a:off x="0" y="5842000"/>
            <a:ext cx="844550" cy="1016000"/>
          </a:xfrm>
          <a:prstGeom prst="rect">
            <a:avLst/>
          </a:prstGeom>
        </p:spPr>
      </p:pic>
      <p:pic>
        <p:nvPicPr>
          <p:cNvPr id="41" name="anim-9-40" descr="/tmp/claude-0/-home-user-hosting/7c832a48-0979-56aa-9fdf-7d53efb9dc7a/scratchpad/build/img/motif-right.png">    </p:cNvPr>
          <p:cNvPicPr>
            <a:picLocks noChangeAspect="1"/>
          </p:cNvPicPr>
          <p:nvPr/>
        </p:nvPicPr>
        <p:blipFill>
          <a:blip r:embed="rId5"/>
          <a:stretch>
            <a:fillRect/>
          </a:stretch>
        </p:blipFill>
        <p:spPr>
          <a:xfrm>
            <a:off x="11347450" y="5842000"/>
            <a:ext cx="844550" cy="1016000"/>
          </a:xfrm>
          <a:prstGeom prst="rect">
            <a:avLst/>
          </a:prstGeom>
        </p:spPr>
      </p:pic>
      <p:sp>
        <p:nvSpPr>
          <p:cNvPr id="42" name="anim-9-41"/>
          <p:cNvSpPr txBox="1"/>
          <p:nvPr/>
        </p:nvSpPr>
        <p:spPr>
          <a:xfrm>
            <a:off x="1079500" y="5969000"/>
            <a:ext cx="2095500" cy="558800"/>
          </a:xfrm>
          <a:prstGeom prst="rect">
            <a:avLst/>
          </a:prstGeom>
          <a:noFill/>
          <a:ln/>
        </p:spPr>
        <p:txBody>
          <a:bodyPr wrap="square" lIns="0" tIns="0" rIns="0" bIns="0" rtlCol="0" anchor="ctr"/>
          <a:lstStyle/>
          <a:p>
            <a:pPr algn="l" indent="0" marL="0">
              <a:lnSpc>
                <a:spcPct val="112000"/>
              </a:lnSpc>
              <a:buNone/>
            </a:pPr>
            <a:r>
              <a:rPr lang="en-US" sz="1200" b="1" dirty="0">
                <a:solidFill>
                  <a:srgbClr val="194EFF"/>
                </a:solidFill>
                <a:latin typeface="Plus Jakarta Sans" pitchFamily="34" charset="0"/>
                <a:ea typeface="Plus Jakarta Sans" pitchFamily="34" charset="-122"/>
                <a:cs typeface="Plus Jakarta Sans" pitchFamily="34" charset="-120"/>
              </a:rPr>
              <a:t>Not Revenue Alone</a:t>
            </a:r>
            <a:endParaRPr lang="en-US" sz="1200" dirty="0"/>
          </a:p>
        </p:txBody>
      </p:sp>
      <p:sp>
        <p:nvSpPr>
          <p:cNvPr id="43" name="anim-9-42"/>
          <p:cNvSpPr txBox="1"/>
          <p:nvPr/>
        </p:nvSpPr>
        <p:spPr>
          <a:xfrm>
            <a:off x="3302000" y="5969000"/>
            <a:ext cx="7810500" cy="558800"/>
          </a:xfrm>
          <a:prstGeom prst="rect">
            <a:avLst/>
          </a:prstGeom>
          <a:noFill/>
          <a:ln/>
        </p:spPr>
        <p:txBody>
          <a:bodyPr wrap="square" lIns="0" tIns="0" rIns="0" bIns="0" rtlCol="0" anchor="ctr"/>
          <a:lstStyle/>
          <a:p>
            <a:pPr algn="l" indent="0" marL="0">
              <a:lnSpc>
                <a:spcPct val="112000"/>
              </a:lnSpc>
              <a:buNone/>
            </a:pPr>
            <a:r>
              <a:rPr lang="en-US" sz="1000" dirty="0">
                <a:solidFill>
                  <a:srgbClr val="13151C"/>
                </a:solidFill>
                <a:latin typeface="Plus Jakarta Sans Medium" pitchFamily="34" charset="0"/>
                <a:ea typeface="Plus Jakarta Sans Medium" pitchFamily="34" charset="-122"/>
                <a:cs typeface="Plus Jakarta Sans Medium" pitchFamily="34" charset="-120"/>
              </a:rPr>
              <a:t>Formal exit and dispute processes cover unpaid commissions, active opportunities, assignments, data return and deletion, demo access and confidential information.</a:t>
            </a:r>
            <a:endParaRPr lang="en-US" sz="1000" dirty="0"/>
          </a:p>
        </p:txBody>
      </p:sp>
      <p:sp>
        <p:nvSpPr>
          <p:cNvPr id="44" name="Text 36"/>
          <p:cNvSpPr txBox="1"/>
          <p:nvPr/>
        </p:nvSpPr>
        <p:spPr>
          <a:xfrm>
            <a:off x="1079500" y="6578600"/>
            <a:ext cx="10033000" cy="165100"/>
          </a:xfrm>
          <a:prstGeom prst="rect">
            <a:avLst/>
          </a:prstGeom>
          <a:noFill/>
          <a:ln/>
        </p:spPr>
        <p:txBody>
          <a:bodyPr wrap="square" lIns="0" tIns="0" rIns="0" bIns="0" rtlCol="0" anchor="t"/>
          <a:lstStyle/>
          <a:p>
            <a:pPr algn="ctr" indent="0" marL="0">
              <a:lnSpc>
                <a:spcPct val="112000"/>
              </a:lnSpc>
              <a:buNone/>
            </a:pPr>
            <a:r>
              <a:rPr lang="en-US" sz="750" dirty="0">
                <a:solidFill>
                  <a:srgbClr val="8A8C93"/>
                </a:solidFill>
                <a:latin typeface="Plus Jakarta Sans" pitchFamily="34" charset="0"/>
                <a:ea typeface="Plus Jakarta Sans" pitchFamily="34" charset="-122"/>
                <a:cs typeface="Plus Jakarta Sans" pitchFamily="34" charset="-120"/>
              </a:rPr>
              <a:t>Partner-Confidential · NDA · Contains commercial rate card · Programme description only; not a contract</a:t>
            </a:r>
            <a:endParaRPr lang="en-US" sz="75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500"/>
                                        <p:tgtEl>
                                          <p:spTgt spid="3"/>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4"/>
                                        </p:tgtEl>
                                        <p:attrNameLst>
                                          <p:attrName>style.visibility</p:attrName>
                                        </p:attrNameLst>
                                      </p:cBhvr>
                                      <p:to>
                                        <p:strVal val="visible"/>
                                      </p:to>
                                    </p:set>
                                    <p:animEffect transition="in" filter="fade">
                                      <p:cBhvr>
                                        <p:cTn id="13" dur="500"/>
                                        <p:tgtEl>
                                          <p:spTgt spid="4"/>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5"/>
                                        </p:tgtEl>
                                        <p:attrNameLst>
                                          <p:attrName>style.visibility</p:attrName>
                                        </p:attrNameLst>
                                      </p:cBhvr>
                                      <p:to>
                                        <p:strVal val="visible"/>
                                      </p:to>
                                    </p:set>
                                    <p:animEffect transition="in" filter="fade">
                                      <p:cBhvr>
                                        <p:cTn id="16" dur="500"/>
                                        <p:tgtEl>
                                          <p:spTgt spid="5"/>
                                        </p:tgtEl>
                                      </p:cBhvr>
                                    </p:animEffect>
                                  </p:childTnLst>
                                </p:cTn>
                              </p:par>
                              <p:par>
                                <p:cTn id="17" presetID="10" presetClass="entr" presetSubtype="0" fill="hold" grpId="0" nodeType="withEffect">
                                  <p:stCondLst>
                                    <p:cond delay="180"/>
                                  </p:stCondLst>
                                  <p:childTnLst>
                                    <p:set>
                                      <p:cBhvr>
                                        <p:cTn id="18" dur="1" fill="hold">
                                          <p:stCondLst>
                                            <p:cond delay="0"/>
                                          </p:stCondLst>
                                        </p:cTn>
                                        <p:tgtEl>
                                          <p:spTgt spid="6"/>
                                        </p:tgtEl>
                                        <p:attrNameLst>
                                          <p:attrName>style.visibility</p:attrName>
                                        </p:attrNameLst>
                                      </p:cBhvr>
                                      <p:to>
                                        <p:strVal val="visible"/>
                                      </p:to>
                                    </p:set>
                                    <p:animEffect transition="in" filter="fade">
                                      <p:cBhvr>
                                        <p:cTn id="19" dur="500"/>
                                        <p:tgtEl>
                                          <p:spTgt spid="6"/>
                                        </p:tgtEl>
                                      </p:cBhvr>
                                    </p:animEffect>
                                  </p:childTnLst>
                                </p:cTn>
                              </p:par>
                              <p:par>
                                <p:cTn id="20" presetID="10" presetClass="entr" presetSubtype="0" fill="hold" grpId="0" nodeType="withEffect">
                                  <p:stCondLst>
                                    <p:cond delay="180"/>
                                  </p:stCondLst>
                                  <p:childTnLst>
                                    <p:set>
                                      <p:cBhvr>
                                        <p:cTn id="21" dur="1" fill="hold">
                                          <p:stCondLst>
                                            <p:cond delay="0"/>
                                          </p:stCondLst>
                                        </p:cTn>
                                        <p:tgtEl>
                                          <p:spTgt spid="7"/>
                                        </p:tgtEl>
                                        <p:attrNameLst>
                                          <p:attrName>style.visibility</p:attrName>
                                        </p:attrNameLst>
                                      </p:cBhvr>
                                      <p:to>
                                        <p:strVal val="visible"/>
                                      </p:to>
                                    </p:set>
                                    <p:animEffect transition="in" filter="fade">
                                      <p:cBhvr>
                                        <p:cTn id="22" dur="500"/>
                                        <p:tgtEl>
                                          <p:spTgt spid="7"/>
                                        </p:tgtEl>
                                      </p:cBhvr>
                                    </p:animEffect>
                                  </p:childTnLst>
                                </p:cTn>
                              </p:par>
                              <p:par>
                                <p:cTn id="23" presetID="10" presetClass="entr" presetSubtype="0" fill="hold" grpId="0" nodeType="withEffect">
                                  <p:stCondLst>
                                    <p:cond delay="180"/>
                                  </p:stCondLst>
                                  <p:childTnLst>
                                    <p:set>
                                      <p:cBhvr>
                                        <p:cTn id="24" dur="1" fill="hold">
                                          <p:stCondLst>
                                            <p:cond delay="0"/>
                                          </p:stCondLst>
                                        </p:cTn>
                                        <p:tgtEl>
                                          <p:spTgt spid="8"/>
                                        </p:tgtEl>
                                        <p:attrNameLst>
                                          <p:attrName>style.visibility</p:attrName>
                                        </p:attrNameLst>
                                      </p:cBhvr>
                                      <p:to>
                                        <p:strVal val="visible"/>
                                      </p:to>
                                    </p:set>
                                    <p:animEffect transition="in" filter="fade">
                                      <p:cBhvr>
                                        <p:cTn id="25" dur="500"/>
                                        <p:tgtEl>
                                          <p:spTgt spid="8"/>
                                        </p:tgtEl>
                                      </p:cBhvr>
                                    </p:animEffect>
                                  </p:childTnLst>
                                </p:cTn>
                              </p:par>
                              <p:par>
                                <p:cTn id="26" presetID="10" presetClass="entr" presetSubtype="0" fill="hold" grpId="0" nodeType="withEffect">
                                  <p:stCondLst>
                                    <p:cond delay="180"/>
                                  </p:stCondLst>
                                  <p:childTnLst>
                                    <p:set>
                                      <p:cBhvr>
                                        <p:cTn id="27" dur="1" fill="hold">
                                          <p:stCondLst>
                                            <p:cond delay="0"/>
                                          </p:stCondLst>
                                        </p:cTn>
                                        <p:tgtEl>
                                          <p:spTgt spid="9"/>
                                        </p:tgtEl>
                                        <p:attrNameLst>
                                          <p:attrName>style.visibility</p:attrName>
                                        </p:attrNameLst>
                                      </p:cBhvr>
                                      <p:to>
                                        <p:strVal val="visible"/>
                                      </p:to>
                                    </p:set>
                                    <p:animEffect transition="in" filter="fade">
                                      <p:cBhvr>
                                        <p:cTn id="28" dur="500"/>
                                        <p:tgtEl>
                                          <p:spTgt spid="9"/>
                                        </p:tgtEl>
                                      </p:cBhvr>
                                    </p:animEffect>
                                  </p:childTnLst>
                                </p:cTn>
                              </p:par>
                              <p:par>
                                <p:cTn id="29" presetID="10" presetClass="entr" presetSubtype="0" fill="hold" grpId="0" nodeType="withEffect">
                                  <p:stCondLst>
                                    <p:cond delay="180"/>
                                  </p:stCondLst>
                                  <p:childTnLst>
                                    <p:set>
                                      <p:cBhvr>
                                        <p:cTn id="30" dur="1" fill="hold">
                                          <p:stCondLst>
                                            <p:cond delay="0"/>
                                          </p:stCondLst>
                                        </p:cTn>
                                        <p:tgtEl>
                                          <p:spTgt spid="10"/>
                                        </p:tgtEl>
                                        <p:attrNameLst>
                                          <p:attrName>style.visibility</p:attrName>
                                        </p:attrNameLst>
                                      </p:cBhvr>
                                      <p:to>
                                        <p:strVal val="visible"/>
                                      </p:to>
                                    </p:set>
                                    <p:animEffect transition="in" filter="fade">
                                      <p:cBhvr>
                                        <p:cTn id="31" dur="500"/>
                                        <p:tgtEl>
                                          <p:spTgt spid="10"/>
                                        </p:tgtEl>
                                      </p:cBhvr>
                                    </p:animEffect>
                                  </p:childTnLst>
                                </p:cTn>
                              </p:par>
                              <p:par>
                                <p:cTn id="32" presetID="10" presetClass="entr" presetSubtype="0" fill="hold" grpId="0" nodeType="withEffect">
                                  <p:stCondLst>
                                    <p:cond delay="180"/>
                                  </p:stCondLst>
                                  <p:childTnLst>
                                    <p:set>
                                      <p:cBhvr>
                                        <p:cTn id="33" dur="1" fill="hold">
                                          <p:stCondLst>
                                            <p:cond delay="0"/>
                                          </p:stCondLst>
                                        </p:cTn>
                                        <p:tgtEl>
                                          <p:spTgt spid="11"/>
                                        </p:tgtEl>
                                        <p:attrNameLst>
                                          <p:attrName>style.visibility</p:attrName>
                                        </p:attrNameLst>
                                      </p:cBhvr>
                                      <p:to>
                                        <p:strVal val="visible"/>
                                      </p:to>
                                    </p:set>
                                    <p:animEffect transition="in" filter="fade">
                                      <p:cBhvr>
                                        <p:cTn id="34" dur="500"/>
                                        <p:tgtEl>
                                          <p:spTgt spid="11"/>
                                        </p:tgtEl>
                                      </p:cBhvr>
                                    </p:animEffect>
                                  </p:childTnLst>
                                </p:cTn>
                              </p:par>
                              <p:par>
                                <p:cTn id="35" presetID="10" presetClass="entr" presetSubtype="0" fill="hold" grpId="0" nodeType="withEffect">
                                  <p:stCondLst>
                                    <p:cond delay="180"/>
                                  </p:stCondLst>
                                  <p:childTnLst>
                                    <p:set>
                                      <p:cBhvr>
                                        <p:cTn id="36" dur="1" fill="hold">
                                          <p:stCondLst>
                                            <p:cond delay="0"/>
                                          </p:stCondLst>
                                        </p:cTn>
                                        <p:tgtEl>
                                          <p:spTgt spid="12"/>
                                        </p:tgtEl>
                                        <p:attrNameLst>
                                          <p:attrName>style.visibility</p:attrName>
                                        </p:attrNameLst>
                                      </p:cBhvr>
                                      <p:to>
                                        <p:strVal val="visible"/>
                                      </p:to>
                                    </p:set>
                                    <p:animEffect transition="in" filter="fade">
                                      <p:cBhvr>
                                        <p:cTn id="37" dur="500"/>
                                        <p:tgtEl>
                                          <p:spTgt spid="12"/>
                                        </p:tgtEl>
                                      </p:cBhvr>
                                    </p:animEffect>
                                  </p:childTnLst>
                                </p:cTn>
                              </p:par>
                              <p:par>
                                <p:cTn id="38" presetID="10" presetClass="entr" presetSubtype="0" fill="hold" grpId="0" nodeType="withEffect">
                                  <p:stCondLst>
                                    <p:cond delay="180"/>
                                  </p:stCondLst>
                                  <p:childTnLst>
                                    <p:set>
                                      <p:cBhvr>
                                        <p:cTn id="39" dur="1" fill="hold">
                                          <p:stCondLst>
                                            <p:cond delay="0"/>
                                          </p:stCondLst>
                                        </p:cTn>
                                        <p:tgtEl>
                                          <p:spTgt spid="13"/>
                                        </p:tgtEl>
                                        <p:attrNameLst>
                                          <p:attrName>style.visibility</p:attrName>
                                        </p:attrNameLst>
                                      </p:cBhvr>
                                      <p:to>
                                        <p:strVal val="visible"/>
                                      </p:to>
                                    </p:set>
                                    <p:animEffect transition="in" filter="fade">
                                      <p:cBhvr>
                                        <p:cTn id="40" dur="500"/>
                                        <p:tgtEl>
                                          <p:spTgt spid="13"/>
                                        </p:tgtEl>
                                      </p:cBhvr>
                                    </p:animEffect>
                                  </p:childTnLst>
                                </p:cTn>
                              </p:par>
                              <p:par>
                                <p:cTn id="41" presetID="10" presetClass="entr" presetSubtype="0" fill="hold" grpId="0" nodeType="withEffect">
                                  <p:stCondLst>
                                    <p:cond delay="180"/>
                                  </p:stCondLst>
                                  <p:childTnLst>
                                    <p:set>
                                      <p:cBhvr>
                                        <p:cTn id="42" dur="1" fill="hold">
                                          <p:stCondLst>
                                            <p:cond delay="0"/>
                                          </p:stCondLst>
                                        </p:cTn>
                                        <p:tgtEl>
                                          <p:spTgt spid="14"/>
                                        </p:tgtEl>
                                        <p:attrNameLst>
                                          <p:attrName>style.visibility</p:attrName>
                                        </p:attrNameLst>
                                      </p:cBhvr>
                                      <p:to>
                                        <p:strVal val="visible"/>
                                      </p:to>
                                    </p:set>
                                    <p:animEffect transition="in" filter="fade">
                                      <p:cBhvr>
                                        <p:cTn id="43" dur="500"/>
                                        <p:tgtEl>
                                          <p:spTgt spid="14"/>
                                        </p:tgtEl>
                                      </p:cBhvr>
                                    </p:animEffect>
                                  </p:childTnLst>
                                </p:cTn>
                              </p:par>
                              <p:par>
                                <p:cTn id="44" presetID="10" presetClass="entr" presetSubtype="0" fill="hold" grpId="0" nodeType="withEffect">
                                  <p:stCondLst>
                                    <p:cond delay="180"/>
                                  </p:stCondLst>
                                  <p:childTnLst>
                                    <p:set>
                                      <p:cBhvr>
                                        <p:cTn id="45" dur="1" fill="hold">
                                          <p:stCondLst>
                                            <p:cond delay="0"/>
                                          </p:stCondLst>
                                        </p:cTn>
                                        <p:tgtEl>
                                          <p:spTgt spid="15"/>
                                        </p:tgtEl>
                                        <p:attrNameLst>
                                          <p:attrName>style.visibility</p:attrName>
                                        </p:attrNameLst>
                                      </p:cBhvr>
                                      <p:to>
                                        <p:strVal val="visible"/>
                                      </p:to>
                                    </p:set>
                                    <p:animEffect transition="in" filter="fade">
                                      <p:cBhvr>
                                        <p:cTn id="46" dur="500"/>
                                        <p:tgtEl>
                                          <p:spTgt spid="15"/>
                                        </p:tgtEl>
                                      </p:cBhvr>
                                    </p:animEffect>
                                  </p:childTnLst>
                                </p:cTn>
                              </p:par>
                              <p:par>
                                <p:cTn id="47" presetID="10" presetClass="entr" presetSubtype="0" fill="hold" grpId="0" nodeType="withEffect">
                                  <p:stCondLst>
                                    <p:cond delay="180"/>
                                  </p:stCondLst>
                                  <p:childTnLst>
                                    <p:set>
                                      <p:cBhvr>
                                        <p:cTn id="48" dur="1" fill="hold">
                                          <p:stCondLst>
                                            <p:cond delay="0"/>
                                          </p:stCondLst>
                                        </p:cTn>
                                        <p:tgtEl>
                                          <p:spTgt spid="16"/>
                                        </p:tgtEl>
                                        <p:attrNameLst>
                                          <p:attrName>style.visibility</p:attrName>
                                        </p:attrNameLst>
                                      </p:cBhvr>
                                      <p:to>
                                        <p:strVal val="visible"/>
                                      </p:to>
                                    </p:set>
                                    <p:animEffect transition="in" filter="fade">
                                      <p:cBhvr>
                                        <p:cTn id="49" dur="500"/>
                                        <p:tgtEl>
                                          <p:spTgt spid="16"/>
                                        </p:tgtEl>
                                      </p:cBhvr>
                                    </p:animEffect>
                                  </p:childTnLst>
                                </p:cTn>
                              </p:par>
                              <p:par>
                                <p:cTn id="50" presetID="10" presetClass="entr" presetSubtype="0" fill="hold" grpId="0" nodeType="withEffect">
                                  <p:stCondLst>
                                    <p:cond delay="180"/>
                                  </p:stCondLst>
                                  <p:childTnLst>
                                    <p:set>
                                      <p:cBhvr>
                                        <p:cTn id="51" dur="1" fill="hold">
                                          <p:stCondLst>
                                            <p:cond delay="0"/>
                                          </p:stCondLst>
                                        </p:cTn>
                                        <p:tgtEl>
                                          <p:spTgt spid="17"/>
                                        </p:tgtEl>
                                        <p:attrNameLst>
                                          <p:attrName>style.visibility</p:attrName>
                                        </p:attrNameLst>
                                      </p:cBhvr>
                                      <p:to>
                                        <p:strVal val="visible"/>
                                      </p:to>
                                    </p:set>
                                    <p:animEffect transition="in" filter="fade">
                                      <p:cBhvr>
                                        <p:cTn id="52" dur="500"/>
                                        <p:tgtEl>
                                          <p:spTgt spid="17"/>
                                        </p:tgtEl>
                                      </p:cBhvr>
                                    </p:animEffect>
                                  </p:childTnLst>
                                </p:cTn>
                              </p:par>
                              <p:par>
                                <p:cTn id="53" presetID="10" presetClass="entr" presetSubtype="0" fill="hold" grpId="0" nodeType="withEffect">
                                  <p:stCondLst>
                                    <p:cond delay="180"/>
                                  </p:stCondLst>
                                  <p:childTnLst>
                                    <p:set>
                                      <p:cBhvr>
                                        <p:cTn id="54" dur="1" fill="hold">
                                          <p:stCondLst>
                                            <p:cond delay="0"/>
                                          </p:stCondLst>
                                        </p:cTn>
                                        <p:tgtEl>
                                          <p:spTgt spid="18"/>
                                        </p:tgtEl>
                                        <p:attrNameLst>
                                          <p:attrName>style.visibility</p:attrName>
                                        </p:attrNameLst>
                                      </p:cBhvr>
                                      <p:to>
                                        <p:strVal val="visible"/>
                                      </p:to>
                                    </p:set>
                                    <p:animEffect transition="in" filter="fade">
                                      <p:cBhvr>
                                        <p:cTn id="55" dur="500"/>
                                        <p:tgtEl>
                                          <p:spTgt spid="18"/>
                                        </p:tgtEl>
                                      </p:cBhvr>
                                    </p:animEffect>
                                  </p:childTnLst>
                                </p:cTn>
                              </p:par>
                              <p:par>
                                <p:cTn id="56" presetID="10" presetClass="entr" presetSubtype="0" fill="hold" grpId="0" nodeType="withEffect">
                                  <p:stCondLst>
                                    <p:cond delay="180"/>
                                  </p:stCondLst>
                                  <p:childTnLst>
                                    <p:set>
                                      <p:cBhvr>
                                        <p:cTn id="57" dur="1" fill="hold">
                                          <p:stCondLst>
                                            <p:cond delay="0"/>
                                          </p:stCondLst>
                                        </p:cTn>
                                        <p:tgtEl>
                                          <p:spTgt spid="19"/>
                                        </p:tgtEl>
                                        <p:attrNameLst>
                                          <p:attrName>style.visibility</p:attrName>
                                        </p:attrNameLst>
                                      </p:cBhvr>
                                      <p:to>
                                        <p:strVal val="visible"/>
                                      </p:to>
                                    </p:set>
                                    <p:animEffect transition="in" filter="fade">
                                      <p:cBhvr>
                                        <p:cTn id="58" dur="500"/>
                                        <p:tgtEl>
                                          <p:spTgt spid="19"/>
                                        </p:tgtEl>
                                      </p:cBhvr>
                                    </p:animEffect>
                                  </p:childTnLst>
                                </p:cTn>
                              </p:par>
                              <p:par>
                                <p:cTn id="59" presetID="10" presetClass="entr" presetSubtype="0" fill="hold" grpId="0" nodeType="withEffect">
                                  <p:stCondLst>
                                    <p:cond delay="180"/>
                                  </p:stCondLst>
                                  <p:childTnLst>
                                    <p:set>
                                      <p:cBhvr>
                                        <p:cTn id="60" dur="1" fill="hold">
                                          <p:stCondLst>
                                            <p:cond delay="0"/>
                                          </p:stCondLst>
                                        </p:cTn>
                                        <p:tgtEl>
                                          <p:spTgt spid="20"/>
                                        </p:tgtEl>
                                        <p:attrNameLst>
                                          <p:attrName>style.visibility</p:attrName>
                                        </p:attrNameLst>
                                      </p:cBhvr>
                                      <p:to>
                                        <p:strVal val="visible"/>
                                      </p:to>
                                    </p:set>
                                    <p:animEffect transition="in" filter="fade">
                                      <p:cBhvr>
                                        <p:cTn id="61" dur="500"/>
                                        <p:tgtEl>
                                          <p:spTgt spid="20"/>
                                        </p:tgtEl>
                                      </p:cBhvr>
                                    </p:animEffect>
                                  </p:childTnLst>
                                </p:cTn>
                              </p:par>
                              <p:par>
                                <p:cTn id="62" presetID="10" presetClass="entr" presetSubtype="0" fill="hold" grpId="0" nodeType="withEffect">
                                  <p:stCondLst>
                                    <p:cond delay="180"/>
                                  </p:stCondLst>
                                  <p:childTnLst>
                                    <p:set>
                                      <p:cBhvr>
                                        <p:cTn id="63" dur="1" fill="hold">
                                          <p:stCondLst>
                                            <p:cond delay="0"/>
                                          </p:stCondLst>
                                        </p:cTn>
                                        <p:tgtEl>
                                          <p:spTgt spid="21"/>
                                        </p:tgtEl>
                                        <p:attrNameLst>
                                          <p:attrName>style.visibility</p:attrName>
                                        </p:attrNameLst>
                                      </p:cBhvr>
                                      <p:to>
                                        <p:strVal val="visible"/>
                                      </p:to>
                                    </p:set>
                                    <p:animEffect transition="in" filter="fade">
                                      <p:cBhvr>
                                        <p:cTn id="64" dur="500"/>
                                        <p:tgtEl>
                                          <p:spTgt spid="21"/>
                                        </p:tgtEl>
                                      </p:cBhvr>
                                    </p:animEffect>
                                  </p:childTnLst>
                                </p:cTn>
                              </p:par>
                              <p:par>
                                <p:cTn id="65" presetID="10" presetClass="entr" presetSubtype="0" fill="hold" grpId="0" nodeType="withEffect">
                                  <p:stCondLst>
                                    <p:cond delay="180"/>
                                  </p:stCondLst>
                                  <p:childTnLst>
                                    <p:set>
                                      <p:cBhvr>
                                        <p:cTn id="66" dur="1" fill="hold">
                                          <p:stCondLst>
                                            <p:cond delay="0"/>
                                          </p:stCondLst>
                                        </p:cTn>
                                        <p:tgtEl>
                                          <p:spTgt spid="22"/>
                                        </p:tgtEl>
                                        <p:attrNameLst>
                                          <p:attrName>style.visibility</p:attrName>
                                        </p:attrNameLst>
                                      </p:cBhvr>
                                      <p:to>
                                        <p:strVal val="visible"/>
                                      </p:to>
                                    </p:set>
                                    <p:animEffect transition="in" filter="fade">
                                      <p:cBhvr>
                                        <p:cTn id="67" dur="500"/>
                                        <p:tgtEl>
                                          <p:spTgt spid="22"/>
                                        </p:tgtEl>
                                      </p:cBhvr>
                                    </p:animEffect>
                                  </p:childTnLst>
                                </p:cTn>
                              </p:par>
                              <p:par>
                                <p:cTn id="68" presetID="10" presetClass="entr" presetSubtype="0" fill="hold" grpId="0" nodeType="withEffect">
                                  <p:stCondLst>
                                    <p:cond delay="180"/>
                                  </p:stCondLst>
                                  <p:childTnLst>
                                    <p:set>
                                      <p:cBhvr>
                                        <p:cTn id="69" dur="1" fill="hold">
                                          <p:stCondLst>
                                            <p:cond delay="0"/>
                                          </p:stCondLst>
                                        </p:cTn>
                                        <p:tgtEl>
                                          <p:spTgt spid="23"/>
                                        </p:tgtEl>
                                        <p:attrNameLst>
                                          <p:attrName>style.visibility</p:attrName>
                                        </p:attrNameLst>
                                      </p:cBhvr>
                                      <p:to>
                                        <p:strVal val="visible"/>
                                      </p:to>
                                    </p:set>
                                    <p:animEffect transition="in" filter="fade">
                                      <p:cBhvr>
                                        <p:cTn id="70" dur="500"/>
                                        <p:tgtEl>
                                          <p:spTgt spid="23"/>
                                        </p:tgtEl>
                                      </p:cBhvr>
                                    </p:animEffect>
                                  </p:childTnLst>
                                </p:cTn>
                              </p:par>
                              <p:par>
                                <p:cTn id="71" presetID="10" presetClass="entr" presetSubtype="0" fill="hold" grpId="0" nodeType="withEffect">
                                  <p:stCondLst>
                                    <p:cond delay="180"/>
                                  </p:stCondLst>
                                  <p:childTnLst>
                                    <p:set>
                                      <p:cBhvr>
                                        <p:cTn id="72" dur="1" fill="hold">
                                          <p:stCondLst>
                                            <p:cond delay="0"/>
                                          </p:stCondLst>
                                        </p:cTn>
                                        <p:tgtEl>
                                          <p:spTgt spid="24"/>
                                        </p:tgtEl>
                                        <p:attrNameLst>
                                          <p:attrName>style.visibility</p:attrName>
                                        </p:attrNameLst>
                                      </p:cBhvr>
                                      <p:to>
                                        <p:strVal val="visible"/>
                                      </p:to>
                                    </p:set>
                                    <p:animEffect transition="in" filter="fade">
                                      <p:cBhvr>
                                        <p:cTn id="73" dur="500"/>
                                        <p:tgtEl>
                                          <p:spTgt spid="24"/>
                                        </p:tgtEl>
                                      </p:cBhvr>
                                    </p:animEffect>
                                  </p:childTnLst>
                                </p:cTn>
                              </p:par>
                              <p:par>
                                <p:cTn id="74" presetID="10" presetClass="entr" presetSubtype="0" fill="hold" grpId="0" nodeType="withEffect">
                                  <p:stCondLst>
                                    <p:cond delay="180"/>
                                  </p:stCondLst>
                                  <p:childTnLst>
                                    <p:set>
                                      <p:cBhvr>
                                        <p:cTn id="75" dur="1" fill="hold">
                                          <p:stCondLst>
                                            <p:cond delay="0"/>
                                          </p:stCondLst>
                                        </p:cTn>
                                        <p:tgtEl>
                                          <p:spTgt spid="25"/>
                                        </p:tgtEl>
                                        <p:attrNameLst>
                                          <p:attrName>style.visibility</p:attrName>
                                        </p:attrNameLst>
                                      </p:cBhvr>
                                      <p:to>
                                        <p:strVal val="visible"/>
                                      </p:to>
                                    </p:set>
                                    <p:animEffect transition="in" filter="fade">
                                      <p:cBhvr>
                                        <p:cTn id="76" dur="500"/>
                                        <p:tgtEl>
                                          <p:spTgt spid="25"/>
                                        </p:tgtEl>
                                      </p:cBhvr>
                                    </p:animEffect>
                                  </p:childTnLst>
                                </p:cTn>
                              </p:par>
                              <p:par>
                                <p:cTn id="77" presetID="10" presetClass="entr" presetSubtype="0" fill="hold" grpId="0" nodeType="withEffect">
                                  <p:stCondLst>
                                    <p:cond delay="180"/>
                                  </p:stCondLst>
                                  <p:childTnLst>
                                    <p:set>
                                      <p:cBhvr>
                                        <p:cTn id="78" dur="1" fill="hold">
                                          <p:stCondLst>
                                            <p:cond delay="0"/>
                                          </p:stCondLst>
                                        </p:cTn>
                                        <p:tgtEl>
                                          <p:spTgt spid="26"/>
                                        </p:tgtEl>
                                        <p:attrNameLst>
                                          <p:attrName>style.visibility</p:attrName>
                                        </p:attrNameLst>
                                      </p:cBhvr>
                                      <p:to>
                                        <p:strVal val="visible"/>
                                      </p:to>
                                    </p:set>
                                    <p:animEffect transition="in" filter="fade">
                                      <p:cBhvr>
                                        <p:cTn id="79" dur="500"/>
                                        <p:tgtEl>
                                          <p:spTgt spid="26"/>
                                        </p:tgtEl>
                                      </p:cBhvr>
                                    </p:animEffect>
                                  </p:childTnLst>
                                </p:cTn>
                              </p:par>
                              <p:par>
                                <p:cTn id="80" presetID="10" presetClass="entr" presetSubtype="0" fill="hold" grpId="0" nodeType="withEffect">
                                  <p:stCondLst>
                                    <p:cond delay="180"/>
                                  </p:stCondLst>
                                  <p:childTnLst>
                                    <p:set>
                                      <p:cBhvr>
                                        <p:cTn id="81" dur="1" fill="hold">
                                          <p:stCondLst>
                                            <p:cond delay="0"/>
                                          </p:stCondLst>
                                        </p:cTn>
                                        <p:tgtEl>
                                          <p:spTgt spid="27"/>
                                        </p:tgtEl>
                                        <p:attrNameLst>
                                          <p:attrName>style.visibility</p:attrName>
                                        </p:attrNameLst>
                                      </p:cBhvr>
                                      <p:to>
                                        <p:strVal val="visible"/>
                                      </p:to>
                                    </p:set>
                                    <p:animEffect transition="in" filter="fade">
                                      <p:cBhvr>
                                        <p:cTn id="82" dur="500"/>
                                        <p:tgtEl>
                                          <p:spTgt spid="27"/>
                                        </p:tgtEl>
                                      </p:cBhvr>
                                    </p:animEffect>
                                  </p:childTnLst>
                                </p:cTn>
                              </p:par>
                              <p:par>
                                <p:cTn id="83" presetID="10" presetClass="entr" presetSubtype="0" fill="hold" grpId="0" nodeType="withEffect">
                                  <p:stCondLst>
                                    <p:cond delay="180"/>
                                  </p:stCondLst>
                                  <p:childTnLst>
                                    <p:set>
                                      <p:cBhvr>
                                        <p:cTn id="84" dur="1" fill="hold">
                                          <p:stCondLst>
                                            <p:cond delay="0"/>
                                          </p:stCondLst>
                                        </p:cTn>
                                        <p:tgtEl>
                                          <p:spTgt spid="28"/>
                                        </p:tgtEl>
                                        <p:attrNameLst>
                                          <p:attrName>style.visibility</p:attrName>
                                        </p:attrNameLst>
                                      </p:cBhvr>
                                      <p:to>
                                        <p:strVal val="visible"/>
                                      </p:to>
                                    </p:set>
                                    <p:animEffect transition="in" filter="fade">
                                      <p:cBhvr>
                                        <p:cTn id="85" dur="500"/>
                                        <p:tgtEl>
                                          <p:spTgt spid="28"/>
                                        </p:tgtEl>
                                      </p:cBhvr>
                                    </p:animEffect>
                                  </p:childTnLst>
                                </p:cTn>
                              </p:par>
                              <p:par>
                                <p:cTn id="86" presetID="10" presetClass="entr" presetSubtype="0" fill="hold" grpId="0" nodeType="withEffect">
                                  <p:stCondLst>
                                    <p:cond delay="180"/>
                                  </p:stCondLst>
                                  <p:childTnLst>
                                    <p:set>
                                      <p:cBhvr>
                                        <p:cTn id="87" dur="1" fill="hold">
                                          <p:stCondLst>
                                            <p:cond delay="0"/>
                                          </p:stCondLst>
                                        </p:cTn>
                                        <p:tgtEl>
                                          <p:spTgt spid="29"/>
                                        </p:tgtEl>
                                        <p:attrNameLst>
                                          <p:attrName>style.visibility</p:attrName>
                                        </p:attrNameLst>
                                      </p:cBhvr>
                                      <p:to>
                                        <p:strVal val="visible"/>
                                      </p:to>
                                    </p:set>
                                    <p:animEffect transition="in" filter="fade">
                                      <p:cBhvr>
                                        <p:cTn id="88" dur="500"/>
                                        <p:tgtEl>
                                          <p:spTgt spid="29"/>
                                        </p:tgtEl>
                                      </p:cBhvr>
                                    </p:animEffect>
                                  </p:childTnLst>
                                </p:cTn>
                              </p:par>
                              <p:par>
                                <p:cTn id="89" presetID="10" presetClass="entr" presetSubtype="0" fill="hold" grpId="0" nodeType="withEffect">
                                  <p:stCondLst>
                                    <p:cond delay="360"/>
                                  </p:stCondLst>
                                  <p:childTnLst>
                                    <p:set>
                                      <p:cBhvr>
                                        <p:cTn id="90" dur="1" fill="hold">
                                          <p:stCondLst>
                                            <p:cond delay="0"/>
                                          </p:stCondLst>
                                        </p:cTn>
                                        <p:tgtEl>
                                          <p:spTgt spid="30"/>
                                        </p:tgtEl>
                                        <p:attrNameLst>
                                          <p:attrName>style.visibility</p:attrName>
                                        </p:attrNameLst>
                                      </p:cBhvr>
                                      <p:to>
                                        <p:strVal val="visible"/>
                                      </p:to>
                                    </p:set>
                                    <p:animEffect transition="in" filter="fade">
                                      <p:cBhvr>
                                        <p:cTn id="91" dur="500"/>
                                        <p:tgtEl>
                                          <p:spTgt spid="30"/>
                                        </p:tgtEl>
                                      </p:cBhvr>
                                    </p:animEffect>
                                  </p:childTnLst>
                                </p:cTn>
                              </p:par>
                              <p:par>
                                <p:cTn id="92" presetID="10" presetClass="entr" presetSubtype="0" fill="hold" grpId="0" nodeType="withEffect">
                                  <p:stCondLst>
                                    <p:cond delay="360"/>
                                  </p:stCondLst>
                                  <p:childTnLst>
                                    <p:set>
                                      <p:cBhvr>
                                        <p:cTn id="93" dur="1" fill="hold">
                                          <p:stCondLst>
                                            <p:cond delay="0"/>
                                          </p:stCondLst>
                                        </p:cTn>
                                        <p:tgtEl>
                                          <p:spTgt spid="31"/>
                                        </p:tgtEl>
                                        <p:attrNameLst>
                                          <p:attrName>style.visibility</p:attrName>
                                        </p:attrNameLst>
                                      </p:cBhvr>
                                      <p:to>
                                        <p:strVal val="visible"/>
                                      </p:to>
                                    </p:set>
                                    <p:animEffect transition="in" filter="fade">
                                      <p:cBhvr>
                                        <p:cTn id="94" dur="500"/>
                                        <p:tgtEl>
                                          <p:spTgt spid="31"/>
                                        </p:tgtEl>
                                      </p:cBhvr>
                                    </p:animEffect>
                                  </p:childTnLst>
                                </p:cTn>
                              </p:par>
                              <p:par>
                                <p:cTn id="95" presetID="10" presetClass="entr" presetSubtype="0" fill="hold" grpId="0" nodeType="withEffect">
                                  <p:stCondLst>
                                    <p:cond delay="360"/>
                                  </p:stCondLst>
                                  <p:childTnLst>
                                    <p:set>
                                      <p:cBhvr>
                                        <p:cTn id="96" dur="1" fill="hold">
                                          <p:stCondLst>
                                            <p:cond delay="0"/>
                                          </p:stCondLst>
                                        </p:cTn>
                                        <p:tgtEl>
                                          <p:spTgt spid="25"/>
                                        </p:tgtEl>
                                        <p:attrNameLst>
                                          <p:attrName>style.visibility</p:attrName>
                                        </p:attrNameLst>
                                      </p:cBhvr>
                                      <p:to>
                                        <p:strVal val="visible"/>
                                      </p:to>
                                    </p:set>
                                    <p:animEffect transition="in" filter="fade">
                                      <p:cBhvr>
                                        <p:cTn id="97" dur="500"/>
                                        <p:tgtEl>
                                          <p:spTgt spid="25"/>
                                        </p:tgtEl>
                                      </p:cBhvr>
                                    </p:animEffect>
                                  </p:childTnLst>
                                </p:cTn>
                              </p:par>
                              <p:par>
                                <p:cTn id="98" presetID="10" presetClass="entr" presetSubtype="0" fill="hold" grpId="0" nodeType="withEffect">
                                  <p:stCondLst>
                                    <p:cond delay="540"/>
                                  </p:stCondLst>
                                  <p:childTnLst>
                                    <p:set>
                                      <p:cBhvr>
                                        <p:cTn id="99" dur="1" fill="hold">
                                          <p:stCondLst>
                                            <p:cond delay="0"/>
                                          </p:stCondLst>
                                        </p:cTn>
                                        <p:tgtEl>
                                          <p:spTgt spid="33"/>
                                        </p:tgtEl>
                                        <p:attrNameLst>
                                          <p:attrName>style.visibility</p:attrName>
                                        </p:attrNameLst>
                                      </p:cBhvr>
                                      <p:to>
                                        <p:strVal val="visible"/>
                                      </p:to>
                                    </p:set>
                                    <p:animEffect transition="in" filter="fade">
                                      <p:cBhvr>
                                        <p:cTn id="100" dur="500"/>
                                        <p:tgtEl>
                                          <p:spTgt spid="33"/>
                                        </p:tgtEl>
                                      </p:cBhvr>
                                    </p:animEffect>
                                  </p:childTnLst>
                                </p:cTn>
                              </p:par>
                              <p:par>
                                <p:cTn id="101" presetID="10" presetClass="entr" presetSubtype="0" fill="hold" grpId="0" nodeType="withEffect">
                                  <p:stCondLst>
                                    <p:cond delay="540"/>
                                  </p:stCondLst>
                                  <p:childTnLst>
                                    <p:set>
                                      <p:cBhvr>
                                        <p:cTn id="102" dur="1" fill="hold">
                                          <p:stCondLst>
                                            <p:cond delay="0"/>
                                          </p:stCondLst>
                                        </p:cTn>
                                        <p:tgtEl>
                                          <p:spTgt spid="34"/>
                                        </p:tgtEl>
                                        <p:attrNameLst>
                                          <p:attrName>style.visibility</p:attrName>
                                        </p:attrNameLst>
                                      </p:cBhvr>
                                      <p:to>
                                        <p:strVal val="visible"/>
                                      </p:to>
                                    </p:set>
                                    <p:animEffect transition="in" filter="fade">
                                      <p:cBhvr>
                                        <p:cTn id="103" dur="500"/>
                                        <p:tgtEl>
                                          <p:spTgt spid="34"/>
                                        </p:tgtEl>
                                      </p:cBhvr>
                                    </p:animEffect>
                                  </p:childTnLst>
                                </p:cTn>
                              </p:par>
                              <p:par>
                                <p:cTn id="104" presetID="10" presetClass="entr" presetSubtype="0" fill="hold" grpId="0" nodeType="withEffect">
                                  <p:stCondLst>
                                    <p:cond delay="540"/>
                                  </p:stCondLst>
                                  <p:childTnLst>
                                    <p:set>
                                      <p:cBhvr>
                                        <p:cTn id="105" dur="1" fill="hold">
                                          <p:stCondLst>
                                            <p:cond delay="0"/>
                                          </p:stCondLst>
                                        </p:cTn>
                                        <p:tgtEl>
                                          <p:spTgt spid="35"/>
                                        </p:tgtEl>
                                        <p:attrNameLst>
                                          <p:attrName>style.visibility</p:attrName>
                                        </p:attrNameLst>
                                      </p:cBhvr>
                                      <p:to>
                                        <p:strVal val="visible"/>
                                      </p:to>
                                    </p:set>
                                    <p:animEffect transition="in" filter="fade">
                                      <p:cBhvr>
                                        <p:cTn id="106" dur="500"/>
                                        <p:tgtEl>
                                          <p:spTgt spid="35"/>
                                        </p:tgtEl>
                                      </p:cBhvr>
                                    </p:animEffect>
                                  </p:childTnLst>
                                </p:cTn>
                              </p:par>
                              <p:par>
                                <p:cTn id="107" presetID="10" presetClass="entr" presetSubtype="0" fill="hold" grpId="0" nodeType="withEffect">
                                  <p:stCondLst>
                                    <p:cond delay="540"/>
                                  </p:stCondLst>
                                  <p:childTnLst>
                                    <p:set>
                                      <p:cBhvr>
                                        <p:cTn id="108" dur="1" fill="hold">
                                          <p:stCondLst>
                                            <p:cond delay="0"/>
                                          </p:stCondLst>
                                        </p:cTn>
                                        <p:tgtEl>
                                          <p:spTgt spid="36"/>
                                        </p:tgtEl>
                                        <p:attrNameLst>
                                          <p:attrName>style.visibility</p:attrName>
                                        </p:attrNameLst>
                                      </p:cBhvr>
                                      <p:to>
                                        <p:strVal val="visible"/>
                                      </p:to>
                                    </p:set>
                                    <p:animEffect transition="in" filter="fade">
                                      <p:cBhvr>
                                        <p:cTn id="109" dur="500"/>
                                        <p:tgtEl>
                                          <p:spTgt spid="36"/>
                                        </p:tgtEl>
                                      </p:cBhvr>
                                    </p:animEffect>
                                  </p:childTnLst>
                                </p:cTn>
                              </p:par>
                              <p:par>
                                <p:cTn id="110" presetID="10" presetClass="entr" presetSubtype="0" fill="hold" grpId="0" nodeType="withEffect">
                                  <p:stCondLst>
                                    <p:cond delay="540"/>
                                  </p:stCondLst>
                                  <p:childTnLst>
                                    <p:set>
                                      <p:cBhvr>
                                        <p:cTn id="111" dur="1" fill="hold">
                                          <p:stCondLst>
                                            <p:cond delay="0"/>
                                          </p:stCondLst>
                                        </p:cTn>
                                        <p:tgtEl>
                                          <p:spTgt spid="37"/>
                                        </p:tgtEl>
                                        <p:attrNameLst>
                                          <p:attrName>style.visibility</p:attrName>
                                        </p:attrNameLst>
                                      </p:cBhvr>
                                      <p:to>
                                        <p:strVal val="visible"/>
                                      </p:to>
                                    </p:set>
                                    <p:animEffect transition="in" filter="fade">
                                      <p:cBhvr>
                                        <p:cTn id="112" dur="500"/>
                                        <p:tgtEl>
                                          <p:spTgt spid="37"/>
                                        </p:tgtEl>
                                      </p:cBhvr>
                                    </p:animEffect>
                                  </p:childTnLst>
                                </p:cTn>
                              </p:par>
                              <p:par>
                                <p:cTn id="113" presetID="10" presetClass="entr" presetSubtype="0" fill="hold" grpId="0" nodeType="withEffect">
                                  <p:stCondLst>
                                    <p:cond delay="540"/>
                                  </p:stCondLst>
                                  <p:childTnLst>
                                    <p:set>
                                      <p:cBhvr>
                                        <p:cTn id="114" dur="1" fill="hold">
                                          <p:stCondLst>
                                            <p:cond delay="0"/>
                                          </p:stCondLst>
                                        </p:cTn>
                                        <p:tgtEl>
                                          <p:spTgt spid="38"/>
                                        </p:tgtEl>
                                        <p:attrNameLst>
                                          <p:attrName>style.visibility</p:attrName>
                                        </p:attrNameLst>
                                      </p:cBhvr>
                                      <p:to>
                                        <p:strVal val="visible"/>
                                      </p:to>
                                    </p:set>
                                    <p:animEffect transition="in" filter="fade">
                                      <p:cBhvr>
                                        <p:cTn id="115" dur="500"/>
                                        <p:tgtEl>
                                          <p:spTgt spid="38"/>
                                        </p:tgtEl>
                                      </p:cBhvr>
                                    </p:animEffect>
                                  </p:childTnLst>
                                </p:cTn>
                              </p:par>
                              <p:par>
                                <p:cTn id="116" presetID="10" presetClass="entr" presetSubtype="0" fill="hold" grpId="0" nodeType="withEffect">
                                  <p:stCondLst>
                                    <p:cond delay="720"/>
                                  </p:stCondLst>
                                  <p:childTnLst>
                                    <p:set>
                                      <p:cBhvr>
                                        <p:cTn id="117" dur="1" fill="hold">
                                          <p:stCondLst>
                                            <p:cond delay="0"/>
                                          </p:stCondLst>
                                        </p:cTn>
                                        <p:tgtEl>
                                          <p:spTgt spid="39"/>
                                        </p:tgtEl>
                                        <p:attrNameLst>
                                          <p:attrName>style.visibility</p:attrName>
                                        </p:attrNameLst>
                                      </p:cBhvr>
                                      <p:to>
                                        <p:strVal val="visible"/>
                                      </p:to>
                                    </p:set>
                                    <p:animEffect transition="in" filter="fade">
                                      <p:cBhvr>
                                        <p:cTn id="118" dur="500"/>
                                        <p:tgtEl>
                                          <p:spTgt spid="39"/>
                                        </p:tgtEl>
                                      </p:cBhvr>
                                    </p:animEffect>
                                  </p:childTnLst>
                                </p:cTn>
                              </p:par>
                              <p:par>
                                <p:cTn id="119" presetID="10" presetClass="entr" presetSubtype="0" fill="hold" grpId="0" nodeType="withEffect">
                                  <p:stCondLst>
                                    <p:cond delay="720"/>
                                  </p:stCondLst>
                                  <p:childTnLst>
                                    <p:set>
                                      <p:cBhvr>
                                        <p:cTn id="120" dur="1" fill="hold">
                                          <p:stCondLst>
                                            <p:cond delay="0"/>
                                          </p:stCondLst>
                                        </p:cTn>
                                        <p:tgtEl>
                                          <p:spTgt spid="40"/>
                                        </p:tgtEl>
                                        <p:attrNameLst>
                                          <p:attrName>style.visibility</p:attrName>
                                        </p:attrNameLst>
                                      </p:cBhvr>
                                      <p:to>
                                        <p:strVal val="visible"/>
                                      </p:to>
                                    </p:set>
                                    <p:animEffect transition="in" filter="fade">
                                      <p:cBhvr>
                                        <p:cTn id="121" dur="500"/>
                                        <p:tgtEl>
                                          <p:spTgt spid="40"/>
                                        </p:tgtEl>
                                      </p:cBhvr>
                                    </p:animEffect>
                                  </p:childTnLst>
                                </p:cTn>
                              </p:par>
                              <p:par>
                                <p:cTn id="122" presetID="10" presetClass="entr" presetSubtype="0" fill="hold" grpId="0" nodeType="withEffect">
                                  <p:stCondLst>
                                    <p:cond delay="720"/>
                                  </p:stCondLst>
                                  <p:childTnLst>
                                    <p:set>
                                      <p:cBhvr>
                                        <p:cTn id="123" dur="1" fill="hold">
                                          <p:stCondLst>
                                            <p:cond delay="0"/>
                                          </p:stCondLst>
                                        </p:cTn>
                                        <p:tgtEl>
                                          <p:spTgt spid="41"/>
                                        </p:tgtEl>
                                        <p:attrNameLst>
                                          <p:attrName>style.visibility</p:attrName>
                                        </p:attrNameLst>
                                      </p:cBhvr>
                                      <p:to>
                                        <p:strVal val="visible"/>
                                      </p:to>
                                    </p:set>
                                    <p:animEffect transition="in" filter="fade">
                                      <p:cBhvr>
                                        <p:cTn id="124" dur="500"/>
                                        <p:tgtEl>
                                          <p:spTgt spid="41"/>
                                        </p:tgtEl>
                                      </p:cBhvr>
                                    </p:animEffect>
                                  </p:childTnLst>
                                </p:cTn>
                              </p:par>
                              <p:par>
                                <p:cTn id="125" presetID="10" presetClass="entr" presetSubtype="0" fill="hold" grpId="0" nodeType="withEffect">
                                  <p:stCondLst>
                                    <p:cond delay="720"/>
                                  </p:stCondLst>
                                  <p:childTnLst>
                                    <p:set>
                                      <p:cBhvr>
                                        <p:cTn id="126" dur="1" fill="hold">
                                          <p:stCondLst>
                                            <p:cond delay="0"/>
                                          </p:stCondLst>
                                        </p:cTn>
                                        <p:tgtEl>
                                          <p:spTgt spid="42"/>
                                        </p:tgtEl>
                                        <p:attrNameLst>
                                          <p:attrName>style.visibility</p:attrName>
                                        </p:attrNameLst>
                                      </p:cBhvr>
                                      <p:to>
                                        <p:strVal val="visible"/>
                                      </p:to>
                                    </p:set>
                                    <p:animEffect transition="in" filter="fade">
                                      <p:cBhvr>
                                        <p:cTn id="127" dur="500"/>
                                        <p:tgtEl>
                                          <p:spTgt spid="42"/>
                                        </p:tgtEl>
                                      </p:cBhvr>
                                    </p:animEffect>
                                  </p:childTnLst>
                                </p:cTn>
                              </p:par>
                              <p:par>
                                <p:cTn id="128" presetID="10" presetClass="entr" presetSubtype="0" fill="hold" grpId="0" nodeType="withEffect">
                                  <p:stCondLst>
                                    <p:cond delay="720"/>
                                  </p:stCondLst>
                                  <p:childTnLst>
                                    <p:set>
                                      <p:cBhvr>
                                        <p:cTn id="129" dur="1" fill="hold">
                                          <p:stCondLst>
                                            <p:cond delay="0"/>
                                          </p:stCondLst>
                                        </p:cTn>
                                        <p:tgtEl>
                                          <p:spTgt spid="43"/>
                                        </p:tgtEl>
                                        <p:attrNameLst>
                                          <p:attrName>style.visibility</p:attrName>
                                        </p:attrNameLst>
                                      </p:cBhvr>
                                      <p:to>
                                        <p:strVal val="visible"/>
                                      </p:to>
                                    </p:set>
                                    <p:animEffect transition="in" filter="fade">
                                      <p:cBhvr>
                                        <p:cTn id="130" dur="500"/>
                                        <p:tgtEl>
                                          <p:spTgt spid="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3" grpId="0" animBg="1"/>
      <p:bldP spid="34" grpId="0" animBg="1"/>
      <p:bldP spid="36" grpId="0" animBg="1"/>
      <p:bldP spid="38" grpId="0" animBg="1"/>
      <p:bldP spid="39" grpId="0" animBg="1"/>
      <p:bldP spid="42" grpId="0" animBg="1"/>
      <p:bldP spid="43"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pic>
        <p:nvPicPr>
          <p:cNvPr id="2" name="anim-1-1" descr="/tmp/claude-0/-home-user-hosting/7c832a48-0979-56aa-9fdf-7d53efb9dc7a/scratchpad/build/img/pointer.png">    </p:cNvPr>
          <p:cNvPicPr>
            <a:picLocks noChangeAspect="1"/>
          </p:cNvPicPr>
          <p:nvPr/>
        </p:nvPicPr>
        <p:blipFill>
          <a:blip r:embed="rId1"/>
          <a:stretch>
            <a:fillRect/>
          </a:stretch>
        </p:blipFill>
        <p:spPr>
          <a:xfrm>
            <a:off x="304800" y="241300"/>
            <a:ext cx="107274" cy="215900"/>
          </a:xfrm>
          <a:prstGeom prst="rect">
            <a:avLst/>
          </a:prstGeom>
        </p:spPr>
      </p:pic>
      <p:sp>
        <p:nvSpPr>
          <p:cNvPr id="3" name="anim-1-2"/>
          <p:cNvSpPr txBox="1"/>
          <p:nvPr/>
        </p:nvSpPr>
        <p:spPr>
          <a:xfrm>
            <a:off x="482600" y="254000"/>
            <a:ext cx="10160000" cy="215900"/>
          </a:xfrm>
          <a:prstGeom prst="rect">
            <a:avLst/>
          </a:prstGeom>
          <a:noFill/>
          <a:ln/>
        </p:spPr>
        <p:txBody>
          <a:bodyPr wrap="square" lIns="0" tIns="0" rIns="0" bIns="0" rtlCol="0" anchor="t"/>
          <a:lstStyle/>
          <a:p>
            <a:pPr algn="l" indent="0" marL="0">
              <a:lnSpc>
                <a:spcPct val="112000"/>
              </a:lnSpc>
              <a:buNone/>
            </a:pPr>
            <a:r>
              <a:rPr lang="en-US" sz="1200" b="1" spc="100" kern="0" dirty="0">
                <a:solidFill>
                  <a:srgbClr val="194EFF"/>
                </a:solidFill>
                <a:latin typeface="Plus Jakarta Sans" pitchFamily="34" charset="0"/>
                <a:ea typeface="Plus Jakarta Sans" pitchFamily="34" charset="-122"/>
                <a:cs typeface="Plus Jakarta Sans" pitchFamily="34" charset="-120"/>
              </a:rPr>
              <a:t>HOW TO JOIN AND LAUNCH WITH DIGNIFYX</a:t>
            </a:r>
            <a:endParaRPr lang="en-US" sz="1200" dirty="0"/>
          </a:p>
        </p:txBody>
      </p:sp>
      <p:sp>
        <p:nvSpPr>
          <p:cNvPr id="4" name="anim-1-3"/>
          <p:cNvSpPr txBox="1"/>
          <p:nvPr/>
        </p:nvSpPr>
        <p:spPr>
          <a:xfrm>
            <a:off x="304800" y="546100"/>
            <a:ext cx="11582400" cy="406400"/>
          </a:xfrm>
          <a:prstGeom prst="rect">
            <a:avLst/>
          </a:prstGeom>
          <a:noFill/>
          <a:ln/>
        </p:spPr>
        <p:txBody>
          <a:bodyPr wrap="square" lIns="0" tIns="0" rIns="0" bIns="0" rtlCol="0" anchor="ctr"/>
          <a:lstStyle/>
          <a:p>
            <a:pPr algn="l" indent="0" marL="0">
              <a:lnSpc>
                <a:spcPct val="112000"/>
              </a:lnSpc>
              <a:buNone/>
            </a:pPr>
            <a:r>
              <a:rPr lang="en-US" sz="2000" b="1" dirty="0">
                <a:solidFill>
                  <a:srgbClr val="13151C"/>
                </a:solidFill>
                <a:latin typeface="Plus Jakarta Sans" pitchFamily="34" charset="0"/>
                <a:ea typeface="Plus Jakarta Sans" pitchFamily="34" charset="-122"/>
                <a:cs typeface="Plus Jakarta Sans" pitchFamily="34" charset="-120"/>
              </a:rPr>
              <a:t>Your launch journey </a:t>
            </a:r>
            <a:pPr algn="l" indent="0" marL="0">
              <a:lnSpc>
                <a:spcPct val="112000"/>
              </a:lnSpc>
              <a:buNone/>
            </a:pPr>
            <a:r>
              <a:rPr lang="en-US" sz="2000" b="1" dirty="0">
                <a:solidFill>
                  <a:srgbClr val="194EFF"/>
                </a:solidFill>
                <a:latin typeface="Plus Jakarta Sans" pitchFamily="34" charset="0"/>
                <a:ea typeface="Plus Jakarta Sans" pitchFamily="34" charset="-122"/>
                <a:cs typeface="Plus Jakarta Sans" pitchFamily="34" charset="-120"/>
              </a:rPr>
              <a:t>starts here</a:t>
            </a:r>
            <a:endParaRPr lang="en-US" sz="2000" dirty="0"/>
          </a:p>
        </p:txBody>
      </p:sp>
      <p:sp>
        <p:nvSpPr>
          <p:cNvPr id="5" name="anim-1-4"/>
          <p:cNvSpPr/>
          <p:nvPr/>
        </p:nvSpPr>
        <p:spPr>
          <a:xfrm>
            <a:off x="0" y="1244600"/>
            <a:ext cx="12192000" cy="6350"/>
          </a:xfrm>
          <a:prstGeom prst="rect">
            <a:avLst/>
          </a:prstGeom>
          <a:solidFill>
            <a:srgbClr val="CDD0D9"/>
          </a:solidFill>
          <a:ln/>
        </p:spPr>
      </p:sp>
      <p:sp>
        <p:nvSpPr>
          <p:cNvPr id="6" name="anim-2-5"/>
          <p:cNvSpPr/>
          <p:nvPr/>
        </p:nvSpPr>
        <p:spPr>
          <a:xfrm>
            <a:off x="0" y="1250950"/>
            <a:ext cx="1739900" cy="2305050"/>
          </a:xfrm>
          <a:prstGeom prst="rect">
            <a:avLst/>
          </a:prstGeom>
          <a:solidFill>
            <a:srgbClr val="F7FBFD"/>
          </a:solidFill>
          <a:ln/>
        </p:spPr>
      </p:sp>
      <p:sp>
        <p:nvSpPr>
          <p:cNvPr id="7" name="anim-2-6"/>
          <p:cNvSpPr txBox="1"/>
          <p:nvPr/>
        </p:nvSpPr>
        <p:spPr>
          <a:xfrm>
            <a:off x="177800" y="1447800"/>
            <a:ext cx="762000" cy="292100"/>
          </a:xfrm>
          <a:prstGeom prst="rect">
            <a:avLst/>
          </a:prstGeom>
          <a:noFill/>
          <a:ln/>
        </p:spPr>
        <p:txBody>
          <a:bodyPr wrap="square" lIns="0" tIns="0" rIns="0" bIns="0" rtlCol="0" anchor="t"/>
          <a:lstStyle/>
          <a:p>
            <a:pPr algn="l" indent="0" marL="0">
              <a:lnSpc>
                <a:spcPct val="112000"/>
              </a:lnSpc>
              <a:buNone/>
            </a:pPr>
            <a:r>
              <a:rPr lang="en-US" sz="1800" b="1" dirty="0">
                <a:solidFill>
                  <a:srgbClr val="194EFF"/>
                </a:solidFill>
                <a:latin typeface="Plus Jakarta Sans" pitchFamily="34" charset="0"/>
                <a:ea typeface="Plus Jakarta Sans" pitchFamily="34" charset="-122"/>
                <a:cs typeface="Plus Jakarta Sans" pitchFamily="34" charset="-120"/>
              </a:rPr>
              <a:t>01</a:t>
            </a:r>
            <a:endParaRPr lang="en-US" sz="1800" dirty="0"/>
          </a:p>
        </p:txBody>
      </p:sp>
      <p:sp>
        <p:nvSpPr>
          <p:cNvPr id="8" name="anim-2-7"/>
          <p:cNvSpPr txBox="1"/>
          <p:nvPr/>
        </p:nvSpPr>
        <p:spPr>
          <a:xfrm>
            <a:off x="177800" y="1879600"/>
            <a:ext cx="1435100" cy="571500"/>
          </a:xfrm>
          <a:prstGeom prst="rect">
            <a:avLst/>
          </a:prstGeom>
          <a:noFill/>
          <a:ln/>
        </p:spPr>
        <p:txBody>
          <a:bodyPr wrap="square" lIns="0" tIns="0" rIns="0" bIns="0" rtlCol="0" anchor="t"/>
          <a:lstStyle/>
          <a:p>
            <a:pPr algn="l" indent="0" marL="0">
              <a:lnSpc>
                <a:spcPct val="112000"/>
              </a:lnSpc>
              <a:buNone/>
            </a:pPr>
            <a:r>
              <a:rPr lang="en-US" sz="1200" b="1" dirty="0">
                <a:solidFill>
                  <a:srgbClr val="13151C"/>
                </a:solidFill>
                <a:latin typeface="Plus Jakarta Sans" pitchFamily="34" charset="0"/>
                <a:ea typeface="Plus Jakarta Sans" pitchFamily="34" charset="-122"/>
                <a:cs typeface="Plus Jakarta Sans" pitchFamily="34" charset="-120"/>
              </a:rPr>
              <a:t>Interest &amp; application</a:t>
            </a:r>
            <a:endParaRPr lang="en-US" sz="1200" dirty="0"/>
          </a:p>
        </p:txBody>
      </p:sp>
      <p:pic>
        <p:nvPicPr>
          <p:cNvPr id="9" name="anim-2-8" descr="/tmp/claude-0/-home-user-hosting/7c832a48-0979-56aa-9fdf-7d53efb9dc7a/scratchpad/build/img/chev-grad.png">    </p:cNvPr>
          <p:cNvPicPr>
            <a:picLocks noChangeAspect="1"/>
          </p:cNvPicPr>
          <p:nvPr/>
        </p:nvPicPr>
        <p:blipFill>
          <a:blip r:embed="rId2"/>
          <a:stretch>
            <a:fillRect/>
          </a:stretch>
        </p:blipFill>
        <p:spPr>
          <a:xfrm>
            <a:off x="177800" y="2692400"/>
            <a:ext cx="59779" cy="95250"/>
          </a:xfrm>
          <a:prstGeom prst="rect">
            <a:avLst/>
          </a:prstGeom>
        </p:spPr>
      </p:pic>
      <p:sp>
        <p:nvSpPr>
          <p:cNvPr id="10" name="anim-2-9"/>
          <p:cNvSpPr txBox="1"/>
          <p:nvPr/>
        </p:nvSpPr>
        <p:spPr>
          <a:xfrm>
            <a:off x="342900" y="2667000"/>
            <a:ext cx="1270000" cy="508000"/>
          </a:xfrm>
          <a:prstGeom prst="rect">
            <a:avLst/>
          </a:prstGeom>
          <a:noFill/>
          <a:ln/>
        </p:spPr>
        <p:txBody>
          <a:bodyPr wrap="square" lIns="0" tIns="0" rIns="0" bIns="0" rtlCol="0" anchor="t"/>
          <a:lstStyle/>
          <a:p>
            <a:pPr algn="l" indent="0" marL="0">
              <a:lnSpc>
                <a:spcPct val="120000"/>
              </a:lnSpc>
              <a:buNone/>
            </a:pPr>
            <a:r>
              <a:rPr lang="en-US" sz="950" dirty="0">
                <a:solidFill>
                  <a:srgbClr val="5A5C63"/>
                </a:solidFill>
                <a:latin typeface="Plus Jakarta Sans" pitchFamily="34" charset="0"/>
                <a:ea typeface="Plus Jakarta Sans" pitchFamily="34" charset="-122"/>
                <a:cs typeface="Plus Jakarta Sans" pitchFamily="34" charset="-120"/>
              </a:rPr>
              <a:t>Initial qualification</a:t>
            </a:r>
            <a:endParaRPr lang="en-US" sz="950" dirty="0"/>
          </a:p>
        </p:txBody>
      </p:sp>
      <p:sp>
        <p:nvSpPr>
          <p:cNvPr id="11" name="anim-3-10"/>
          <p:cNvSpPr/>
          <p:nvPr/>
        </p:nvSpPr>
        <p:spPr>
          <a:xfrm>
            <a:off x="1741805" y="1244600"/>
            <a:ext cx="6350" cy="2311400"/>
          </a:xfrm>
          <a:prstGeom prst="rect">
            <a:avLst/>
          </a:prstGeom>
          <a:solidFill>
            <a:srgbClr val="CDD0D9"/>
          </a:solidFill>
          <a:ln/>
        </p:spPr>
      </p:sp>
      <p:sp>
        <p:nvSpPr>
          <p:cNvPr id="12" name="anim-3-11"/>
          <p:cNvSpPr txBox="1"/>
          <p:nvPr/>
        </p:nvSpPr>
        <p:spPr>
          <a:xfrm>
            <a:off x="1919605" y="1447800"/>
            <a:ext cx="762000" cy="292100"/>
          </a:xfrm>
          <a:prstGeom prst="rect">
            <a:avLst/>
          </a:prstGeom>
          <a:noFill/>
          <a:ln/>
        </p:spPr>
        <p:txBody>
          <a:bodyPr wrap="square" lIns="0" tIns="0" rIns="0" bIns="0" rtlCol="0" anchor="t"/>
          <a:lstStyle/>
          <a:p>
            <a:pPr algn="l" indent="0" marL="0">
              <a:lnSpc>
                <a:spcPct val="112000"/>
              </a:lnSpc>
              <a:buNone/>
            </a:pPr>
            <a:r>
              <a:rPr lang="en-US" sz="1800" b="1" dirty="0">
                <a:solidFill>
                  <a:srgbClr val="194EFF"/>
                </a:solidFill>
                <a:latin typeface="Plus Jakarta Sans" pitchFamily="34" charset="0"/>
                <a:ea typeface="Plus Jakarta Sans" pitchFamily="34" charset="-122"/>
                <a:cs typeface="Plus Jakarta Sans" pitchFamily="34" charset="-120"/>
              </a:rPr>
              <a:t>02</a:t>
            </a:r>
            <a:endParaRPr lang="en-US" sz="1800" dirty="0"/>
          </a:p>
        </p:txBody>
      </p:sp>
      <p:sp>
        <p:nvSpPr>
          <p:cNvPr id="13" name="anim-3-12"/>
          <p:cNvSpPr txBox="1"/>
          <p:nvPr/>
        </p:nvSpPr>
        <p:spPr>
          <a:xfrm>
            <a:off x="1919605" y="1879600"/>
            <a:ext cx="1435100" cy="571500"/>
          </a:xfrm>
          <a:prstGeom prst="rect">
            <a:avLst/>
          </a:prstGeom>
          <a:noFill/>
          <a:ln/>
        </p:spPr>
        <p:txBody>
          <a:bodyPr wrap="square" lIns="0" tIns="0" rIns="0" bIns="0" rtlCol="0" anchor="t"/>
          <a:lstStyle/>
          <a:p>
            <a:pPr algn="l" indent="0" marL="0">
              <a:lnSpc>
                <a:spcPct val="112000"/>
              </a:lnSpc>
              <a:buNone/>
            </a:pPr>
            <a:r>
              <a:rPr lang="en-US" sz="1200" b="1" dirty="0">
                <a:solidFill>
                  <a:srgbClr val="13151C"/>
                </a:solidFill>
                <a:latin typeface="Plus Jakarta Sans" pitchFamily="34" charset="0"/>
                <a:ea typeface="Plus Jakarta Sans" pitchFamily="34" charset="-122"/>
                <a:cs typeface="Plus Jakarta Sans" pitchFamily="34" charset="-120"/>
              </a:rPr>
              <a:t>Due diligence</a:t>
            </a:r>
            <a:endParaRPr lang="en-US" sz="1200" dirty="0"/>
          </a:p>
        </p:txBody>
      </p:sp>
      <p:pic>
        <p:nvPicPr>
          <p:cNvPr id="14" name="anim-3-13" descr="/tmp/claude-0/-home-user-hosting/7c832a48-0979-56aa-9fdf-7d53efb9dc7a/scratchpad/build/img/chev-grad.png">    </p:cNvPr>
          <p:cNvPicPr>
            <a:picLocks noChangeAspect="1"/>
          </p:cNvPicPr>
          <p:nvPr/>
        </p:nvPicPr>
        <p:blipFill>
          <a:blip r:embed="rId3"/>
          <a:stretch>
            <a:fillRect/>
          </a:stretch>
        </p:blipFill>
        <p:spPr>
          <a:xfrm>
            <a:off x="1919605" y="2692400"/>
            <a:ext cx="59779" cy="95250"/>
          </a:xfrm>
          <a:prstGeom prst="rect">
            <a:avLst/>
          </a:prstGeom>
        </p:spPr>
      </p:pic>
      <p:sp>
        <p:nvSpPr>
          <p:cNvPr id="15" name="anim-3-14"/>
          <p:cNvSpPr txBox="1"/>
          <p:nvPr/>
        </p:nvSpPr>
        <p:spPr>
          <a:xfrm>
            <a:off x="2084705" y="2667000"/>
            <a:ext cx="1270000" cy="508000"/>
          </a:xfrm>
          <a:prstGeom prst="rect">
            <a:avLst/>
          </a:prstGeom>
          <a:noFill/>
          <a:ln/>
        </p:spPr>
        <p:txBody>
          <a:bodyPr wrap="square" lIns="0" tIns="0" rIns="0" bIns="0" rtlCol="0" anchor="t"/>
          <a:lstStyle/>
          <a:p>
            <a:pPr algn="l" indent="0" marL="0">
              <a:lnSpc>
                <a:spcPct val="120000"/>
              </a:lnSpc>
              <a:buNone/>
            </a:pPr>
            <a:r>
              <a:rPr lang="en-US" sz="950" dirty="0">
                <a:solidFill>
                  <a:srgbClr val="5A5C63"/>
                </a:solidFill>
                <a:latin typeface="Plus Jakarta Sans" pitchFamily="34" charset="0"/>
                <a:ea typeface="Plus Jakarta Sans" pitchFamily="34" charset="-122"/>
                <a:cs typeface="Plus Jakarta Sans" pitchFamily="34" charset="-120"/>
              </a:rPr>
              <a:t>Approved / conditional</a:t>
            </a:r>
            <a:endParaRPr lang="en-US" sz="950" dirty="0"/>
          </a:p>
        </p:txBody>
      </p:sp>
      <p:sp>
        <p:nvSpPr>
          <p:cNvPr id="16" name="anim-4-15"/>
          <p:cNvSpPr/>
          <p:nvPr/>
        </p:nvSpPr>
        <p:spPr>
          <a:xfrm>
            <a:off x="3483610" y="1244600"/>
            <a:ext cx="6350" cy="2311400"/>
          </a:xfrm>
          <a:prstGeom prst="rect">
            <a:avLst/>
          </a:prstGeom>
          <a:solidFill>
            <a:srgbClr val="CDD0D9"/>
          </a:solidFill>
          <a:ln/>
        </p:spPr>
      </p:sp>
      <p:sp>
        <p:nvSpPr>
          <p:cNvPr id="17" name="anim-4-16"/>
          <p:cNvSpPr/>
          <p:nvPr/>
        </p:nvSpPr>
        <p:spPr>
          <a:xfrm>
            <a:off x="3483610" y="1250950"/>
            <a:ext cx="1739900" cy="2305050"/>
          </a:xfrm>
          <a:prstGeom prst="rect">
            <a:avLst/>
          </a:prstGeom>
          <a:solidFill>
            <a:srgbClr val="F7FBFD"/>
          </a:solidFill>
          <a:ln/>
        </p:spPr>
      </p:sp>
      <p:sp>
        <p:nvSpPr>
          <p:cNvPr id="18" name="anim-4-17"/>
          <p:cNvSpPr txBox="1"/>
          <p:nvPr/>
        </p:nvSpPr>
        <p:spPr>
          <a:xfrm>
            <a:off x="3661410" y="1447800"/>
            <a:ext cx="762000" cy="292100"/>
          </a:xfrm>
          <a:prstGeom prst="rect">
            <a:avLst/>
          </a:prstGeom>
          <a:noFill/>
          <a:ln/>
        </p:spPr>
        <p:txBody>
          <a:bodyPr wrap="square" lIns="0" tIns="0" rIns="0" bIns="0" rtlCol="0" anchor="t"/>
          <a:lstStyle/>
          <a:p>
            <a:pPr algn="l" indent="0" marL="0">
              <a:lnSpc>
                <a:spcPct val="112000"/>
              </a:lnSpc>
              <a:buNone/>
            </a:pPr>
            <a:r>
              <a:rPr lang="en-US" sz="1800" b="1" dirty="0">
                <a:solidFill>
                  <a:srgbClr val="194EFF"/>
                </a:solidFill>
                <a:latin typeface="Plus Jakarta Sans" pitchFamily="34" charset="0"/>
                <a:ea typeface="Plus Jakarta Sans" pitchFamily="34" charset="-122"/>
                <a:cs typeface="Plus Jakarta Sans" pitchFamily="34" charset="-120"/>
              </a:rPr>
              <a:t>03</a:t>
            </a:r>
            <a:endParaRPr lang="en-US" sz="1800" dirty="0"/>
          </a:p>
        </p:txBody>
      </p:sp>
      <p:sp>
        <p:nvSpPr>
          <p:cNvPr id="19" name="anim-4-18"/>
          <p:cNvSpPr txBox="1"/>
          <p:nvPr/>
        </p:nvSpPr>
        <p:spPr>
          <a:xfrm>
            <a:off x="3661410" y="1879600"/>
            <a:ext cx="1435100" cy="571500"/>
          </a:xfrm>
          <a:prstGeom prst="rect">
            <a:avLst/>
          </a:prstGeom>
          <a:noFill/>
          <a:ln/>
        </p:spPr>
        <p:txBody>
          <a:bodyPr wrap="square" lIns="0" tIns="0" rIns="0" bIns="0" rtlCol="0" anchor="t"/>
          <a:lstStyle/>
          <a:p>
            <a:pPr algn="l" indent="0" marL="0">
              <a:lnSpc>
                <a:spcPct val="112000"/>
              </a:lnSpc>
              <a:buNone/>
            </a:pPr>
            <a:r>
              <a:rPr lang="en-US" sz="1200" b="1" dirty="0">
                <a:solidFill>
                  <a:srgbClr val="13151C"/>
                </a:solidFill>
                <a:latin typeface="Plus Jakarta Sans" pitchFamily="34" charset="0"/>
                <a:ea typeface="Plus Jakarta Sans" pitchFamily="34" charset="-122"/>
                <a:cs typeface="Plus Jakarta Sans" pitchFamily="34" charset="-120"/>
              </a:rPr>
              <a:t>Agreement</a:t>
            </a:r>
            <a:endParaRPr lang="en-US" sz="1200" dirty="0"/>
          </a:p>
        </p:txBody>
      </p:sp>
      <p:pic>
        <p:nvPicPr>
          <p:cNvPr id="20" name="anim-4-19" descr="/tmp/claude-0/-home-user-hosting/7c832a48-0979-56aa-9fdf-7d53efb9dc7a/scratchpad/build/img/chev-grad.png">    </p:cNvPr>
          <p:cNvPicPr>
            <a:picLocks noChangeAspect="1"/>
          </p:cNvPicPr>
          <p:nvPr/>
        </p:nvPicPr>
        <p:blipFill>
          <a:blip r:embed="rId4"/>
          <a:stretch>
            <a:fillRect/>
          </a:stretch>
        </p:blipFill>
        <p:spPr>
          <a:xfrm>
            <a:off x="3661410" y="2692400"/>
            <a:ext cx="59779" cy="95250"/>
          </a:xfrm>
          <a:prstGeom prst="rect">
            <a:avLst/>
          </a:prstGeom>
        </p:spPr>
      </p:pic>
      <p:sp>
        <p:nvSpPr>
          <p:cNvPr id="21" name="anim-4-20"/>
          <p:cNvSpPr txBox="1"/>
          <p:nvPr/>
        </p:nvSpPr>
        <p:spPr>
          <a:xfrm>
            <a:off x="3826510" y="2667000"/>
            <a:ext cx="1270000" cy="508000"/>
          </a:xfrm>
          <a:prstGeom prst="rect">
            <a:avLst/>
          </a:prstGeom>
          <a:noFill/>
          <a:ln/>
        </p:spPr>
        <p:txBody>
          <a:bodyPr wrap="square" lIns="0" tIns="0" rIns="0" bIns="0" rtlCol="0" anchor="t"/>
          <a:lstStyle/>
          <a:p>
            <a:pPr algn="l" indent="0" marL="0">
              <a:lnSpc>
                <a:spcPct val="120000"/>
              </a:lnSpc>
              <a:buNone/>
            </a:pPr>
            <a:r>
              <a:rPr lang="en-US" sz="950" dirty="0">
                <a:solidFill>
                  <a:srgbClr val="5A5C63"/>
                </a:solidFill>
                <a:latin typeface="Plus Jakarta Sans" pitchFamily="34" charset="0"/>
                <a:ea typeface="Plus Jakarta Sans" pitchFamily="34" charset="-122"/>
                <a:cs typeface="Plus Jakarta Sans" pitchFamily="34" charset="-120"/>
              </a:rPr>
              <a:t>Active partner status</a:t>
            </a:r>
            <a:endParaRPr lang="en-US" sz="950" dirty="0"/>
          </a:p>
        </p:txBody>
      </p:sp>
      <p:sp>
        <p:nvSpPr>
          <p:cNvPr id="22" name="anim-5-21"/>
          <p:cNvSpPr/>
          <p:nvPr/>
        </p:nvSpPr>
        <p:spPr>
          <a:xfrm>
            <a:off x="5225415" y="1244600"/>
            <a:ext cx="6350" cy="2311400"/>
          </a:xfrm>
          <a:prstGeom prst="rect">
            <a:avLst/>
          </a:prstGeom>
          <a:solidFill>
            <a:srgbClr val="CDD0D9"/>
          </a:solidFill>
          <a:ln/>
        </p:spPr>
      </p:sp>
      <p:sp>
        <p:nvSpPr>
          <p:cNvPr id="23" name="anim-5-22"/>
          <p:cNvSpPr txBox="1"/>
          <p:nvPr/>
        </p:nvSpPr>
        <p:spPr>
          <a:xfrm>
            <a:off x="5403215" y="1447800"/>
            <a:ext cx="762000" cy="292100"/>
          </a:xfrm>
          <a:prstGeom prst="rect">
            <a:avLst/>
          </a:prstGeom>
          <a:noFill/>
          <a:ln/>
        </p:spPr>
        <p:txBody>
          <a:bodyPr wrap="square" lIns="0" tIns="0" rIns="0" bIns="0" rtlCol="0" anchor="t"/>
          <a:lstStyle/>
          <a:p>
            <a:pPr algn="l" indent="0" marL="0">
              <a:lnSpc>
                <a:spcPct val="112000"/>
              </a:lnSpc>
              <a:buNone/>
            </a:pPr>
            <a:r>
              <a:rPr lang="en-US" sz="1800" b="1" dirty="0">
                <a:solidFill>
                  <a:srgbClr val="194EFF"/>
                </a:solidFill>
                <a:latin typeface="Plus Jakarta Sans" pitchFamily="34" charset="0"/>
                <a:ea typeface="Plus Jakarta Sans" pitchFamily="34" charset="-122"/>
                <a:cs typeface="Plus Jakarta Sans" pitchFamily="34" charset="-120"/>
              </a:rPr>
              <a:t>04</a:t>
            </a:r>
            <a:endParaRPr lang="en-US" sz="1800" dirty="0"/>
          </a:p>
        </p:txBody>
      </p:sp>
      <p:sp>
        <p:nvSpPr>
          <p:cNvPr id="24" name="anim-5-23"/>
          <p:cNvSpPr txBox="1"/>
          <p:nvPr/>
        </p:nvSpPr>
        <p:spPr>
          <a:xfrm>
            <a:off x="5403215" y="1879600"/>
            <a:ext cx="1435100" cy="571500"/>
          </a:xfrm>
          <a:prstGeom prst="rect">
            <a:avLst/>
          </a:prstGeom>
          <a:noFill/>
          <a:ln/>
        </p:spPr>
        <p:txBody>
          <a:bodyPr wrap="square" lIns="0" tIns="0" rIns="0" bIns="0" rtlCol="0" anchor="t"/>
          <a:lstStyle/>
          <a:p>
            <a:pPr algn="l" indent="0" marL="0">
              <a:lnSpc>
                <a:spcPct val="112000"/>
              </a:lnSpc>
              <a:buNone/>
            </a:pPr>
            <a:r>
              <a:rPr lang="en-US" sz="1200" b="1" dirty="0">
                <a:solidFill>
                  <a:srgbClr val="13151C"/>
                </a:solidFill>
                <a:latin typeface="Plus Jakarta Sans" pitchFamily="34" charset="0"/>
                <a:ea typeface="Plus Jakarta Sans" pitchFamily="34" charset="-122"/>
                <a:cs typeface="Plus Jakarta Sans" pitchFamily="34" charset="-120"/>
              </a:rPr>
              <a:t>Enablement</a:t>
            </a:r>
            <a:endParaRPr lang="en-US" sz="1200" dirty="0"/>
          </a:p>
        </p:txBody>
      </p:sp>
      <p:pic>
        <p:nvPicPr>
          <p:cNvPr id="25" name="anim-5-24" descr="/tmp/claude-0/-home-user-hosting/7c832a48-0979-56aa-9fdf-7d53efb9dc7a/scratchpad/build/img/chev-grad.png">    </p:cNvPr>
          <p:cNvPicPr>
            <a:picLocks noChangeAspect="1"/>
          </p:cNvPicPr>
          <p:nvPr/>
        </p:nvPicPr>
        <p:blipFill>
          <a:blip r:embed="rId5"/>
          <a:stretch>
            <a:fillRect/>
          </a:stretch>
        </p:blipFill>
        <p:spPr>
          <a:xfrm>
            <a:off x="5403215" y="2692400"/>
            <a:ext cx="59779" cy="95250"/>
          </a:xfrm>
          <a:prstGeom prst="rect">
            <a:avLst/>
          </a:prstGeom>
        </p:spPr>
      </p:pic>
      <p:sp>
        <p:nvSpPr>
          <p:cNvPr id="26" name="anim-5-25"/>
          <p:cNvSpPr txBox="1"/>
          <p:nvPr/>
        </p:nvSpPr>
        <p:spPr>
          <a:xfrm>
            <a:off x="5568315" y="2667000"/>
            <a:ext cx="1270000" cy="508000"/>
          </a:xfrm>
          <a:prstGeom prst="rect">
            <a:avLst/>
          </a:prstGeom>
          <a:noFill/>
          <a:ln/>
        </p:spPr>
        <p:txBody>
          <a:bodyPr wrap="square" lIns="0" tIns="0" rIns="0" bIns="0" rtlCol="0" anchor="t"/>
          <a:lstStyle/>
          <a:p>
            <a:pPr algn="l" indent="0" marL="0">
              <a:lnSpc>
                <a:spcPct val="120000"/>
              </a:lnSpc>
              <a:buNone/>
            </a:pPr>
            <a:r>
              <a:rPr lang="en-US" sz="950" dirty="0">
                <a:solidFill>
                  <a:srgbClr val="5A5C63"/>
                </a:solidFill>
                <a:latin typeface="Plus Jakarta Sans" pitchFamily="34" charset="0"/>
                <a:ea typeface="Plus Jakarta Sans" pitchFamily="34" charset="-122"/>
                <a:cs typeface="Plus Jakarta Sans" pitchFamily="34" charset="-120"/>
              </a:rPr>
              <a:t>Certified contacts</a:t>
            </a:r>
            <a:endParaRPr lang="en-US" sz="950" dirty="0"/>
          </a:p>
        </p:txBody>
      </p:sp>
      <p:sp>
        <p:nvSpPr>
          <p:cNvPr id="27" name="anim-6-26"/>
          <p:cNvSpPr/>
          <p:nvPr/>
        </p:nvSpPr>
        <p:spPr>
          <a:xfrm>
            <a:off x="6967220" y="1244600"/>
            <a:ext cx="6350" cy="2311400"/>
          </a:xfrm>
          <a:prstGeom prst="rect">
            <a:avLst/>
          </a:prstGeom>
          <a:solidFill>
            <a:srgbClr val="CDD0D9"/>
          </a:solidFill>
          <a:ln/>
        </p:spPr>
      </p:sp>
      <p:sp>
        <p:nvSpPr>
          <p:cNvPr id="28" name="anim-6-27"/>
          <p:cNvSpPr/>
          <p:nvPr/>
        </p:nvSpPr>
        <p:spPr>
          <a:xfrm>
            <a:off x="6967220" y="1250950"/>
            <a:ext cx="1739900" cy="2305050"/>
          </a:xfrm>
          <a:prstGeom prst="rect">
            <a:avLst/>
          </a:prstGeom>
          <a:solidFill>
            <a:srgbClr val="F7FBFD"/>
          </a:solidFill>
          <a:ln/>
        </p:spPr>
      </p:sp>
      <p:sp>
        <p:nvSpPr>
          <p:cNvPr id="29" name="anim-6-28"/>
          <p:cNvSpPr txBox="1"/>
          <p:nvPr/>
        </p:nvSpPr>
        <p:spPr>
          <a:xfrm>
            <a:off x="7145020" y="1447800"/>
            <a:ext cx="762000" cy="292100"/>
          </a:xfrm>
          <a:prstGeom prst="rect">
            <a:avLst/>
          </a:prstGeom>
          <a:noFill/>
          <a:ln/>
        </p:spPr>
        <p:txBody>
          <a:bodyPr wrap="square" lIns="0" tIns="0" rIns="0" bIns="0" rtlCol="0" anchor="t"/>
          <a:lstStyle/>
          <a:p>
            <a:pPr algn="l" indent="0" marL="0">
              <a:lnSpc>
                <a:spcPct val="112000"/>
              </a:lnSpc>
              <a:buNone/>
            </a:pPr>
            <a:r>
              <a:rPr lang="en-US" sz="1800" b="1" dirty="0">
                <a:solidFill>
                  <a:srgbClr val="194EFF"/>
                </a:solidFill>
                <a:latin typeface="Plus Jakarta Sans" pitchFamily="34" charset="0"/>
                <a:ea typeface="Plus Jakarta Sans" pitchFamily="34" charset="-122"/>
                <a:cs typeface="Plus Jakarta Sans" pitchFamily="34" charset="-120"/>
              </a:rPr>
              <a:t>05</a:t>
            </a:r>
            <a:endParaRPr lang="en-US" sz="1800" dirty="0"/>
          </a:p>
        </p:txBody>
      </p:sp>
      <p:sp>
        <p:nvSpPr>
          <p:cNvPr id="30" name="anim-6-29"/>
          <p:cNvSpPr txBox="1"/>
          <p:nvPr/>
        </p:nvSpPr>
        <p:spPr>
          <a:xfrm>
            <a:off x="7145020" y="1879600"/>
            <a:ext cx="1435100" cy="571500"/>
          </a:xfrm>
          <a:prstGeom prst="rect">
            <a:avLst/>
          </a:prstGeom>
          <a:noFill/>
          <a:ln/>
        </p:spPr>
        <p:txBody>
          <a:bodyPr wrap="square" lIns="0" tIns="0" rIns="0" bIns="0" rtlCol="0" anchor="t"/>
          <a:lstStyle/>
          <a:p>
            <a:pPr algn="l" indent="0" marL="0">
              <a:lnSpc>
                <a:spcPct val="112000"/>
              </a:lnSpc>
              <a:buNone/>
            </a:pPr>
            <a:r>
              <a:rPr lang="en-US" sz="1200" b="1" dirty="0">
                <a:solidFill>
                  <a:srgbClr val="13151C"/>
                </a:solidFill>
                <a:latin typeface="Plus Jakarta Sans" pitchFamily="34" charset="0"/>
                <a:ea typeface="Plus Jakarta Sans" pitchFamily="34" charset="-122"/>
                <a:cs typeface="Plus Jakarta Sans" pitchFamily="34" charset="-120"/>
              </a:rPr>
              <a:t>GTM planning</a:t>
            </a:r>
            <a:endParaRPr lang="en-US" sz="1200" dirty="0"/>
          </a:p>
        </p:txBody>
      </p:sp>
      <p:pic>
        <p:nvPicPr>
          <p:cNvPr id="31" name="anim-6-30" descr="/tmp/claude-0/-home-user-hosting/7c832a48-0979-56aa-9fdf-7d53efb9dc7a/scratchpad/build/img/chev-grad.png">    </p:cNvPr>
          <p:cNvPicPr>
            <a:picLocks noChangeAspect="1"/>
          </p:cNvPicPr>
          <p:nvPr/>
        </p:nvPicPr>
        <p:blipFill>
          <a:blip r:embed="rId6"/>
          <a:stretch>
            <a:fillRect/>
          </a:stretch>
        </p:blipFill>
        <p:spPr>
          <a:xfrm>
            <a:off x="7145020" y="2692400"/>
            <a:ext cx="59779" cy="95250"/>
          </a:xfrm>
          <a:prstGeom prst="rect">
            <a:avLst/>
          </a:prstGeom>
        </p:spPr>
      </p:pic>
      <p:sp>
        <p:nvSpPr>
          <p:cNvPr id="32" name="anim-6-31"/>
          <p:cNvSpPr txBox="1"/>
          <p:nvPr/>
        </p:nvSpPr>
        <p:spPr>
          <a:xfrm>
            <a:off x="7310120" y="2667000"/>
            <a:ext cx="1270000" cy="508000"/>
          </a:xfrm>
          <a:prstGeom prst="rect">
            <a:avLst/>
          </a:prstGeom>
          <a:noFill/>
          <a:ln/>
        </p:spPr>
        <p:txBody>
          <a:bodyPr wrap="square" lIns="0" tIns="0" rIns="0" bIns="0" rtlCol="0" anchor="t"/>
          <a:lstStyle/>
          <a:p>
            <a:pPr algn="l" indent="0" marL="0">
              <a:lnSpc>
                <a:spcPct val="120000"/>
              </a:lnSpc>
              <a:buNone/>
            </a:pPr>
            <a:r>
              <a:rPr lang="en-US" sz="950" dirty="0">
                <a:solidFill>
                  <a:srgbClr val="5A5C63"/>
                </a:solidFill>
                <a:latin typeface="Plus Jakarta Sans" pitchFamily="34" charset="0"/>
                <a:ea typeface="Plus Jakarta Sans" pitchFamily="34" charset="-122"/>
                <a:cs typeface="Plus Jakarta Sans" pitchFamily="34" charset="-120"/>
              </a:rPr>
              <a:t>Joint action plan</a:t>
            </a:r>
            <a:endParaRPr lang="en-US" sz="950" dirty="0"/>
          </a:p>
        </p:txBody>
      </p:sp>
      <p:sp>
        <p:nvSpPr>
          <p:cNvPr id="33" name="anim-7-32"/>
          <p:cNvSpPr/>
          <p:nvPr/>
        </p:nvSpPr>
        <p:spPr>
          <a:xfrm>
            <a:off x="8709025" y="1244600"/>
            <a:ext cx="6350" cy="2311400"/>
          </a:xfrm>
          <a:prstGeom prst="rect">
            <a:avLst/>
          </a:prstGeom>
          <a:solidFill>
            <a:srgbClr val="CDD0D9"/>
          </a:solidFill>
          <a:ln/>
        </p:spPr>
      </p:sp>
      <p:sp>
        <p:nvSpPr>
          <p:cNvPr id="34" name="anim-7-33"/>
          <p:cNvSpPr txBox="1"/>
          <p:nvPr/>
        </p:nvSpPr>
        <p:spPr>
          <a:xfrm>
            <a:off x="8886825" y="1447800"/>
            <a:ext cx="762000" cy="292100"/>
          </a:xfrm>
          <a:prstGeom prst="rect">
            <a:avLst/>
          </a:prstGeom>
          <a:noFill/>
          <a:ln/>
        </p:spPr>
        <p:txBody>
          <a:bodyPr wrap="square" lIns="0" tIns="0" rIns="0" bIns="0" rtlCol="0" anchor="t"/>
          <a:lstStyle/>
          <a:p>
            <a:pPr algn="l" indent="0" marL="0">
              <a:lnSpc>
                <a:spcPct val="112000"/>
              </a:lnSpc>
              <a:buNone/>
            </a:pPr>
            <a:r>
              <a:rPr lang="en-US" sz="1800" b="1" dirty="0">
                <a:solidFill>
                  <a:srgbClr val="194EFF"/>
                </a:solidFill>
                <a:latin typeface="Plus Jakarta Sans" pitchFamily="34" charset="0"/>
                <a:ea typeface="Plus Jakarta Sans" pitchFamily="34" charset="-122"/>
                <a:cs typeface="Plus Jakarta Sans" pitchFamily="34" charset="-120"/>
              </a:rPr>
              <a:t>06</a:t>
            </a:r>
            <a:endParaRPr lang="en-US" sz="1800" dirty="0"/>
          </a:p>
        </p:txBody>
      </p:sp>
      <p:sp>
        <p:nvSpPr>
          <p:cNvPr id="35" name="anim-7-34"/>
          <p:cNvSpPr txBox="1"/>
          <p:nvPr/>
        </p:nvSpPr>
        <p:spPr>
          <a:xfrm>
            <a:off x="8886825" y="1879600"/>
            <a:ext cx="1435100" cy="571500"/>
          </a:xfrm>
          <a:prstGeom prst="rect">
            <a:avLst/>
          </a:prstGeom>
          <a:noFill/>
          <a:ln/>
        </p:spPr>
        <p:txBody>
          <a:bodyPr wrap="square" lIns="0" tIns="0" rIns="0" bIns="0" rtlCol="0" anchor="t"/>
          <a:lstStyle/>
          <a:p>
            <a:pPr algn="l" indent="0" marL="0">
              <a:lnSpc>
                <a:spcPct val="112000"/>
              </a:lnSpc>
              <a:buNone/>
            </a:pPr>
            <a:r>
              <a:rPr lang="en-US" sz="1200" b="1" dirty="0">
                <a:solidFill>
                  <a:srgbClr val="13151C"/>
                </a:solidFill>
                <a:latin typeface="Plus Jakarta Sans" pitchFamily="34" charset="0"/>
                <a:ea typeface="Plus Jakarta Sans" pitchFamily="34" charset="-122"/>
                <a:cs typeface="Plus Jakarta Sans" pitchFamily="34" charset="-120"/>
              </a:rPr>
              <a:t>First opportunities</a:t>
            </a:r>
            <a:endParaRPr lang="en-US" sz="1200" dirty="0"/>
          </a:p>
        </p:txBody>
      </p:sp>
      <p:pic>
        <p:nvPicPr>
          <p:cNvPr id="36" name="anim-7-35" descr="/tmp/claude-0/-home-user-hosting/7c832a48-0979-56aa-9fdf-7d53efb9dc7a/scratchpad/build/img/chev-grad.png">    </p:cNvPr>
          <p:cNvPicPr>
            <a:picLocks noChangeAspect="1"/>
          </p:cNvPicPr>
          <p:nvPr/>
        </p:nvPicPr>
        <p:blipFill>
          <a:blip r:embed="rId7"/>
          <a:stretch>
            <a:fillRect/>
          </a:stretch>
        </p:blipFill>
        <p:spPr>
          <a:xfrm>
            <a:off x="8886825" y="2692400"/>
            <a:ext cx="59779" cy="95250"/>
          </a:xfrm>
          <a:prstGeom prst="rect">
            <a:avLst/>
          </a:prstGeom>
        </p:spPr>
      </p:pic>
      <p:sp>
        <p:nvSpPr>
          <p:cNvPr id="37" name="anim-7-36"/>
          <p:cNvSpPr txBox="1"/>
          <p:nvPr/>
        </p:nvSpPr>
        <p:spPr>
          <a:xfrm>
            <a:off x="9051925" y="2667000"/>
            <a:ext cx="1270000" cy="508000"/>
          </a:xfrm>
          <a:prstGeom prst="rect">
            <a:avLst/>
          </a:prstGeom>
          <a:noFill/>
          <a:ln/>
        </p:spPr>
        <p:txBody>
          <a:bodyPr wrap="square" lIns="0" tIns="0" rIns="0" bIns="0" rtlCol="0" anchor="t"/>
          <a:lstStyle/>
          <a:p>
            <a:pPr algn="l" indent="0" marL="0">
              <a:lnSpc>
                <a:spcPct val="120000"/>
              </a:lnSpc>
              <a:buNone/>
            </a:pPr>
            <a:r>
              <a:rPr lang="en-US" sz="950" dirty="0">
                <a:solidFill>
                  <a:srgbClr val="5A5C63"/>
                </a:solidFill>
                <a:latin typeface="Plus Jakarta Sans" pitchFamily="34" charset="0"/>
                <a:ea typeface="Plus Jakarta Sans" pitchFamily="34" charset="-122"/>
                <a:cs typeface="Plus Jakarta Sans" pitchFamily="34" charset="-120"/>
              </a:rPr>
              <a:t>Qualified pipeline</a:t>
            </a:r>
            <a:endParaRPr lang="en-US" sz="950" dirty="0"/>
          </a:p>
        </p:txBody>
      </p:sp>
      <p:sp>
        <p:nvSpPr>
          <p:cNvPr id="38" name="anim-8-37"/>
          <p:cNvSpPr/>
          <p:nvPr/>
        </p:nvSpPr>
        <p:spPr>
          <a:xfrm>
            <a:off x="10450830" y="1244600"/>
            <a:ext cx="6350" cy="2311400"/>
          </a:xfrm>
          <a:prstGeom prst="rect">
            <a:avLst/>
          </a:prstGeom>
          <a:solidFill>
            <a:srgbClr val="CDD0D9"/>
          </a:solidFill>
          <a:ln/>
        </p:spPr>
      </p:sp>
      <p:sp>
        <p:nvSpPr>
          <p:cNvPr id="39" name="anim-8-38"/>
          <p:cNvSpPr/>
          <p:nvPr/>
        </p:nvSpPr>
        <p:spPr>
          <a:xfrm>
            <a:off x="10450830" y="1250950"/>
            <a:ext cx="1739900" cy="2305050"/>
          </a:xfrm>
          <a:prstGeom prst="rect">
            <a:avLst/>
          </a:prstGeom>
          <a:solidFill>
            <a:srgbClr val="EDF1FF"/>
          </a:solidFill>
          <a:ln/>
        </p:spPr>
      </p:sp>
      <p:sp>
        <p:nvSpPr>
          <p:cNvPr id="40" name="anim-8-39"/>
          <p:cNvSpPr txBox="1"/>
          <p:nvPr/>
        </p:nvSpPr>
        <p:spPr>
          <a:xfrm>
            <a:off x="10628630" y="1447800"/>
            <a:ext cx="762000" cy="292100"/>
          </a:xfrm>
          <a:prstGeom prst="rect">
            <a:avLst/>
          </a:prstGeom>
          <a:noFill/>
          <a:ln/>
        </p:spPr>
        <p:txBody>
          <a:bodyPr wrap="square" lIns="0" tIns="0" rIns="0" bIns="0" rtlCol="0" anchor="t"/>
          <a:lstStyle/>
          <a:p>
            <a:pPr algn="l" indent="0" marL="0">
              <a:lnSpc>
                <a:spcPct val="112000"/>
              </a:lnSpc>
              <a:buNone/>
            </a:pPr>
            <a:r>
              <a:rPr lang="en-US" sz="1800" b="1" dirty="0">
                <a:solidFill>
                  <a:srgbClr val="194EFF"/>
                </a:solidFill>
                <a:latin typeface="Plus Jakarta Sans" pitchFamily="34" charset="0"/>
                <a:ea typeface="Plus Jakarta Sans" pitchFamily="34" charset="-122"/>
                <a:cs typeface="Plus Jakarta Sans" pitchFamily="34" charset="-120"/>
              </a:rPr>
              <a:t>07</a:t>
            </a:r>
            <a:endParaRPr lang="en-US" sz="1800" dirty="0"/>
          </a:p>
        </p:txBody>
      </p:sp>
      <p:sp>
        <p:nvSpPr>
          <p:cNvPr id="41" name="anim-8-40"/>
          <p:cNvSpPr txBox="1"/>
          <p:nvPr/>
        </p:nvSpPr>
        <p:spPr>
          <a:xfrm>
            <a:off x="10628630" y="1879600"/>
            <a:ext cx="1435100" cy="571500"/>
          </a:xfrm>
          <a:prstGeom prst="rect">
            <a:avLst/>
          </a:prstGeom>
          <a:noFill/>
          <a:ln/>
        </p:spPr>
        <p:txBody>
          <a:bodyPr wrap="square" lIns="0" tIns="0" rIns="0" bIns="0" rtlCol="0" anchor="t"/>
          <a:lstStyle/>
          <a:p>
            <a:pPr algn="l" indent="0" marL="0">
              <a:lnSpc>
                <a:spcPct val="112000"/>
              </a:lnSpc>
              <a:buNone/>
            </a:pPr>
            <a:r>
              <a:rPr lang="en-US" sz="1200" b="1" dirty="0">
                <a:solidFill>
                  <a:srgbClr val="13151C"/>
                </a:solidFill>
                <a:latin typeface="Plus Jakarta Sans" pitchFamily="34" charset="0"/>
                <a:ea typeface="Plus Jakarta Sans" pitchFamily="34" charset="-122"/>
                <a:cs typeface="Plus Jakarta Sans" pitchFamily="34" charset="-120"/>
              </a:rPr>
              <a:t>Review &amp; scale</a:t>
            </a:r>
            <a:endParaRPr lang="en-US" sz="1200" dirty="0"/>
          </a:p>
        </p:txBody>
      </p:sp>
      <p:pic>
        <p:nvPicPr>
          <p:cNvPr id="42" name="anim-8-41" descr="/tmp/claude-0/-home-user-hosting/7c832a48-0979-56aa-9fdf-7d53efb9dc7a/scratchpad/build/img/chev-grad.png">    </p:cNvPr>
          <p:cNvPicPr>
            <a:picLocks noChangeAspect="1"/>
          </p:cNvPicPr>
          <p:nvPr/>
        </p:nvPicPr>
        <p:blipFill>
          <a:blip r:embed="rId8"/>
          <a:stretch>
            <a:fillRect/>
          </a:stretch>
        </p:blipFill>
        <p:spPr>
          <a:xfrm>
            <a:off x="10628630" y="2692400"/>
            <a:ext cx="59779" cy="95250"/>
          </a:xfrm>
          <a:prstGeom prst="rect">
            <a:avLst/>
          </a:prstGeom>
        </p:spPr>
      </p:pic>
      <p:sp>
        <p:nvSpPr>
          <p:cNvPr id="43" name="anim-8-42"/>
          <p:cNvSpPr txBox="1"/>
          <p:nvPr/>
        </p:nvSpPr>
        <p:spPr>
          <a:xfrm>
            <a:off x="10793730" y="2667000"/>
            <a:ext cx="1270000" cy="508000"/>
          </a:xfrm>
          <a:prstGeom prst="rect">
            <a:avLst/>
          </a:prstGeom>
          <a:noFill/>
          <a:ln/>
        </p:spPr>
        <p:txBody>
          <a:bodyPr wrap="square" lIns="0" tIns="0" rIns="0" bIns="0" rtlCol="0" anchor="t"/>
          <a:lstStyle/>
          <a:p>
            <a:pPr algn="l" indent="0" marL="0">
              <a:lnSpc>
                <a:spcPct val="120000"/>
              </a:lnSpc>
              <a:buNone/>
            </a:pPr>
            <a:r>
              <a:rPr lang="en-US" sz="950" dirty="0">
                <a:solidFill>
                  <a:srgbClr val="5A5C63"/>
                </a:solidFill>
                <a:latin typeface="Plus Jakarta Sans" pitchFamily="34" charset="0"/>
                <a:ea typeface="Plus Jakarta Sans" pitchFamily="34" charset="-122"/>
                <a:cs typeface="Plus Jakarta Sans" pitchFamily="34" charset="-120"/>
              </a:rPr>
              <a:t>Level progression</a:t>
            </a:r>
            <a:endParaRPr lang="en-US" sz="950" dirty="0"/>
          </a:p>
        </p:txBody>
      </p:sp>
      <p:sp>
        <p:nvSpPr>
          <p:cNvPr id="44" name="anim-9-43"/>
          <p:cNvSpPr/>
          <p:nvPr/>
        </p:nvSpPr>
        <p:spPr>
          <a:xfrm>
            <a:off x="0" y="3556000"/>
            <a:ext cx="12192000" cy="6350"/>
          </a:xfrm>
          <a:prstGeom prst="rect">
            <a:avLst/>
          </a:prstGeom>
          <a:solidFill>
            <a:srgbClr val="CDD0D9"/>
          </a:solidFill>
          <a:ln/>
        </p:spPr>
      </p:sp>
      <p:sp>
        <p:nvSpPr>
          <p:cNvPr id="45" name="anim-9-44"/>
          <p:cNvSpPr/>
          <p:nvPr/>
        </p:nvSpPr>
        <p:spPr>
          <a:xfrm>
            <a:off x="0" y="3562350"/>
            <a:ext cx="12192000" cy="2279650"/>
          </a:xfrm>
          <a:prstGeom prst="rect">
            <a:avLst/>
          </a:prstGeom>
          <a:solidFill>
            <a:srgbClr val="194EFF"/>
          </a:solidFill>
          <a:ln/>
        </p:spPr>
      </p:sp>
      <p:sp>
        <p:nvSpPr>
          <p:cNvPr id="46" name="anim-9-45"/>
          <p:cNvSpPr txBox="1"/>
          <p:nvPr/>
        </p:nvSpPr>
        <p:spPr>
          <a:xfrm>
            <a:off x="762000" y="3810000"/>
            <a:ext cx="8890000" cy="190500"/>
          </a:xfrm>
          <a:prstGeom prst="rect">
            <a:avLst/>
          </a:prstGeom>
          <a:noFill/>
          <a:ln/>
        </p:spPr>
        <p:txBody>
          <a:bodyPr wrap="square" lIns="0" tIns="0" rIns="0" bIns="0" rtlCol="0" anchor="t"/>
          <a:lstStyle/>
          <a:p>
            <a:pPr algn="l" indent="0" marL="0">
              <a:lnSpc>
                <a:spcPct val="112000"/>
              </a:lnSpc>
              <a:buNone/>
            </a:pPr>
            <a:r>
              <a:rPr lang="en-US" sz="900" b="1" spc="200" kern="0" dirty="0">
                <a:solidFill>
                  <a:srgbClr val="FFFFFF"/>
                </a:solidFill>
                <a:latin typeface="Plus Jakarta Sans" pitchFamily="34" charset="0"/>
                <a:ea typeface="Plus Jakarta Sans" pitchFamily="34" charset="-122"/>
                <a:cs typeface="Plus Jakarta Sans" pitchFamily="34" charset="-120"/>
              </a:rPr>
              <a:t>GET STARTED · DIGNIFYX CHANNEL &amp; ALLIANCES</a:t>
            </a:r>
            <a:endParaRPr lang="en-US" sz="900" dirty="0"/>
          </a:p>
        </p:txBody>
      </p:sp>
      <p:sp>
        <p:nvSpPr>
          <p:cNvPr id="47" name="anim-9-46"/>
          <p:cNvSpPr txBox="1"/>
          <p:nvPr/>
        </p:nvSpPr>
        <p:spPr>
          <a:xfrm>
            <a:off x="762000" y="4064000"/>
            <a:ext cx="9525000" cy="571500"/>
          </a:xfrm>
          <a:prstGeom prst="rect">
            <a:avLst/>
          </a:prstGeom>
          <a:noFill/>
          <a:ln/>
        </p:spPr>
        <p:txBody>
          <a:bodyPr wrap="square" lIns="0" tIns="0" rIns="0" bIns="0" rtlCol="0" anchor="t"/>
          <a:lstStyle/>
          <a:p>
            <a:pPr algn="l" indent="0" marL="0">
              <a:lnSpc>
                <a:spcPct val="112000"/>
              </a:lnSpc>
              <a:buNone/>
            </a:pPr>
            <a:r>
              <a:rPr lang="en-US" sz="3200" b="1" dirty="0">
                <a:solidFill>
                  <a:srgbClr val="FFFFFF"/>
                </a:solidFill>
                <a:latin typeface="Plus Jakarta Sans" pitchFamily="34" charset="0"/>
                <a:ea typeface="Plus Jakarta Sans" pitchFamily="34" charset="-122"/>
                <a:cs typeface="Plus Jakarta Sans" pitchFamily="34" charset="-120"/>
              </a:rPr>
              <a:t>Request a partner discovery session.</a:t>
            </a:r>
            <a:endParaRPr lang="en-US" sz="3200" dirty="0"/>
          </a:p>
        </p:txBody>
      </p:sp>
      <p:sp>
        <p:nvSpPr>
          <p:cNvPr id="48" name="anim-9-47"/>
          <p:cNvSpPr txBox="1"/>
          <p:nvPr/>
        </p:nvSpPr>
        <p:spPr>
          <a:xfrm>
            <a:off x="762000" y="4724400"/>
            <a:ext cx="8890000" cy="279400"/>
          </a:xfrm>
          <a:prstGeom prst="rect">
            <a:avLst/>
          </a:prstGeom>
          <a:noFill/>
          <a:ln/>
        </p:spPr>
        <p:txBody>
          <a:bodyPr wrap="square" lIns="0" tIns="0" rIns="0" bIns="0" rtlCol="0" anchor="t"/>
          <a:lstStyle/>
          <a:p>
            <a:pPr algn="l" indent="0" marL="0">
              <a:lnSpc>
                <a:spcPct val="112000"/>
              </a:lnSpc>
              <a:buNone/>
            </a:pPr>
            <a:r>
              <a:rPr lang="en-US" sz="1400" dirty="0">
                <a:solidFill>
                  <a:srgbClr val="FFFFFF"/>
                </a:solidFill>
                <a:latin typeface="Plus Jakarta Sans Medium" pitchFamily="34" charset="0"/>
                <a:ea typeface="Plus Jakarta Sans Medium" pitchFamily="34" charset="-122"/>
                <a:cs typeface="Plus Jakarta Sans Medium" pitchFamily="34" charset="-120"/>
              </a:rPr>
              <a:t>Confirm fit, target markets, solution focus and your first 90-day activation plan.</a:t>
            </a:r>
            <a:endParaRPr lang="en-US" sz="1400" dirty="0"/>
          </a:p>
        </p:txBody>
      </p:sp>
      <p:sp>
        <p:nvSpPr>
          <p:cNvPr id="49" name="anim-9-48"/>
          <p:cNvSpPr txBox="1"/>
          <p:nvPr/>
        </p:nvSpPr>
        <p:spPr>
          <a:xfrm>
            <a:off x="762000" y="5207000"/>
            <a:ext cx="8890000" cy="279400"/>
          </a:xfrm>
          <a:prstGeom prst="rect">
            <a:avLst/>
          </a:prstGeom>
          <a:noFill/>
          <a:ln/>
        </p:spPr>
        <p:txBody>
          <a:bodyPr wrap="square" lIns="0" tIns="0" rIns="0" bIns="0" rtlCol="0" anchor="t"/>
          <a:lstStyle/>
          <a:p>
            <a:pPr algn="l" indent="0" marL="0">
              <a:lnSpc>
                <a:spcPct val="112000"/>
              </a:lnSpc>
              <a:buNone/>
            </a:pPr>
            <a:r>
              <a:rPr lang="en-US" sz="1400" b="1" dirty="0">
                <a:solidFill>
                  <a:srgbClr val="FFFFFF"/>
                </a:solidFill>
                <a:latin typeface="Plus Jakarta Sans" pitchFamily="34" charset="0"/>
                <a:ea typeface="Plus Jakarta Sans" pitchFamily="34" charset="-122"/>
                <a:cs typeface="Plus Jakarta Sans" pitchFamily="34" charset="-120"/>
              </a:rPr>
              <a:t>info@dignifyx.com  ·  dignifyx.com</a:t>
            </a:r>
            <a:endParaRPr lang="en-US" sz="1400" dirty="0"/>
          </a:p>
        </p:txBody>
      </p:sp>
      <p:sp>
        <p:nvSpPr>
          <p:cNvPr id="50" name="anim-9-49"/>
          <p:cNvSpPr/>
          <p:nvPr/>
        </p:nvSpPr>
        <p:spPr>
          <a:xfrm>
            <a:off x="0" y="5842000"/>
            <a:ext cx="12192000" cy="1016000"/>
          </a:xfrm>
          <a:prstGeom prst="rect">
            <a:avLst/>
          </a:prstGeom>
          <a:solidFill>
            <a:srgbClr val="F5F9FB"/>
          </a:solidFill>
          <a:ln/>
        </p:spPr>
      </p:sp>
      <p:pic>
        <p:nvPicPr>
          <p:cNvPr id="51" name="anim-9-50" descr="/tmp/claude-0/-home-user-hosting/7c832a48-0979-56aa-9fdf-7d53efb9dc7a/scratchpad/build/img/motif-left.png">    </p:cNvPr>
          <p:cNvPicPr>
            <a:picLocks noChangeAspect="1"/>
          </p:cNvPicPr>
          <p:nvPr/>
        </p:nvPicPr>
        <p:blipFill>
          <a:blip r:embed="rId9"/>
          <a:stretch>
            <a:fillRect/>
          </a:stretch>
        </p:blipFill>
        <p:spPr>
          <a:xfrm>
            <a:off x="0" y="5842000"/>
            <a:ext cx="844550" cy="1016000"/>
          </a:xfrm>
          <a:prstGeom prst="rect">
            <a:avLst/>
          </a:prstGeom>
        </p:spPr>
      </p:pic>
      <p:pic>
        <p:nvPicPr>
          <p:cNvPr id="52" name="anim-9-51" descr="/tmp/claude-0/-home-user-hosting/7c832a48-0979-56aa-9fdf-7d53efb9dc7a/scratchpad/build/img/motif-right.png">    </p:cNvPr>
          <p:cNvPicPr>
            <a:picLocks noChangeAspect="1"/>
          </p:cNvPicPr>
          <p:nvPr/>
        </p:nvPicPr>
        <p:blipFill>
          <a:blip r:embed="rId10"/>
          <a:stretch>
            <a:fillRect/>
          </a:stretch>
        </p:blipFill>
        <p:spPr>
          <a:xfrm>
            <a:off x="11347450" y="5842000"/>
            <a:ext cx="844550" cy="1016000"/>
          </a:xfrm>
          <a:prstGeom prst="rect">
            <a:avLst/>
          </a:prstGeom>
        </p:spPr>
      </p:pic>
      <p:sp>
        <p:nvSpPr>
          <p:cNvPr id="53" name="anim-9-52"/>
          <p:cNvSpPr txBox="1"/>
          <p:nvPr/>
        </p:nvSpPr>
        <p:spPr>
          <a:xfrm>
            <a:off x="1079500" y="5969000"/>
            <a:ext cx="10033000" cy="558800"/>
          </a:xfrm>
          <a:prstGeom prst="rect">
            <a:avLst/>
          </a:prstGeom>
          <a:noFill/>
          <a:ln/>
        </p:spPr>
        <p:txBody>
          <a:bodyPr wrap="square" lIns="0" tIns="0" rIns="0" bIns="0" rtlCol="0" anchor="ctr"/>
          <a:lstStyle/>
          <a:p>
            <a:pPr algn="ctr" indent="0" marL="0">
              <a:lnSpc>
                <a:spcPct val="112000"/>
              </a:lnSpc>
              <a:buNone/>
            </a:pPr>
            <a:r>
              <a:rPr lang="en-US" sz="1300" dirty="0">
                <a:solidFill>
                  <a:srgbClr val="13151C"/>
                </a:solidFill>
                <a:latin typeface="Plus Jakarta Sans Medium" pitchFamily="34" charset="0"/>
                <a:ea typeface="Plus Jakarta Sans Medium" pitchFamily="34" charset="-122"/>
                <a:cs typeface="Plus Jakarta Sans Medium" pitchFamily="34" charset="-120"/>
              </a:rPr>
              <a:t>A structured onboarding journey to qualify, enable and create your first pipeline motion.</a:t>
            </a:r>
            <a:endParaRPr lang="en-US" sz="1300" dirty="0"/>
          </a:p>
        </p:txBody>
      </p:sp>
      <p:sp>
        <p:nvSpPr>
          <p:cNvPr id="54" name="Text 42"/>
          <p:cNvSpPr txBox="1"/>
          <p:nvPr/>
        </p:nvSpPr>
        <p:spPr>
          <a:xfrm>
            <a:off x="1079500" y="6578600"/>
            <a:ext cx="10033000" cy="165100"/>
          </a:xfrm>
          <a:prstGeom prst="rect">
            <a:avLst/>
          </a:prstGeom>
          <a:noFill/>
          <a:ln/>
        </p:spPr>
        <p:txBody>
          <a:bodyPr wrap="square" lIns="0" tIns="0" rIns="0" bIns="0" rtlCol="0" anchor="t"/>
          <a:lstStyle/>
          <a:p>
            <a:pPr algn="ctr" indent="0" marL="0">
              <a:lnSpc>
                <a:spcPct val="112000"/>
              </a:lnSpc>
              <a:buNone/>
            </a:pPr>
            <a:r>
              <a:rPr lang="en-US" sz="750" dirty="0">
                <a:solidFill>
                  <a:srgbClr val="8A8C93"/>
                </a:solidFill>
                <a:latin typeface="Plus Jakarta Sans" pitchFamily="34" charset="0"/>
                <a:ea typeface="Plus Jakarta Sans" pitchFamily="34" charset="-122"/>
                <a:cs typeface="Plus Jakarta Sans" pitchFamily="34" charset="-120"/>
              </a:rPr>
              <a:t>Partner-Confidential · NDA · Contains commercial rate card · Programme description only; not a contract</a:t>
            </a:r>
            <a:endParaRPr lang="en-US" sz="75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500"/>
                                        <p:tgtEl>
                                          <p:spTgt spid="3"/>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4"/>
                                        </p:tgtEl>
                                        <p:attrNameLst>
                                          <p:attrName>style.visibility</p:attrName>
                                        </p:attrNameLst>
                                      </p:cBhvr>
                                      <p:to>
                                        <p:strVal val="visible"/>
                                      </p:to>
                                    </p:set>
                                    <p:animEffect transition="in" filter="fade">
                                      <p:cBhvr>
                                        <p:cTn id="13" dur="500"/>
                                        <p:tgtEl>
                                          <p:spTgt spid="4"/>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5"/>
                                        </p:tgtEl>
                                        <p:attrNameLst>
                                          <p:attrName>style.visibility</p:attrName>
                                        </p:attrNameLst>
                                      </p:cBhvr>
                                      <p:to>
                                        <p:strVal val="visible"/>
                                      </p:to>
                                    </p:set>
                                    <p:animEffect transition="in" filter="fade">
                                      <p:cBhvr>
                                        <p:cTn id="16" dur="500"/>
                                        <p:tgtEl>
                                          <p:spTgt spid="5"/>
                                        </p:tgtEl>
                                      </p:cBhvr>
                                    </p:animEffect>
                                  </p:childTnLst>
                                </p:cTn>
                              </p:par>
                              <p:par>
                                <p:cTn id="17" presetID="10" presetClass="entr" presetSubtype="0" fill="hold" grpId="0" nodeType="withEffect">
                                  <p:stCondLst>
                                    <p:cond delay="180"/>
                                  </p:stCondLst>
                                  <p:childTnLst>
                                    <p:set>
                                      <p:cBhvr>
                                        <p:cTn id="18" dur="1" fill="hold">
                                          <p:stCondLst>
                                            <p:cond delay="0"/>
                                          </p:stCondLst>
                                        </p:cTn>
                                        <p:tgtEl>
                                          <p:spTgt spid="6"/>
                                        </p:tgtEl>
                                        <p:attrNameLst>
                                          <p:attrName>style.visibility</p:attrName>
                                        </p:attrNameLst>
                                      </p:cBhvr>
                                      <p:to>
                                        <p:strVal val="visible"/>
                                      </p:to>
                                    </p:set>
                                    <p:animEffect transition="in" filter="fade">
                                      <p:cBhvr>
                                        <p:cTn id="19" dur="500"/>
                                        <p:tgtEl>
                                          <p:spTgt spid="6"/>
                                        </p:tgtEl>
                                      </p:cBhvr>
                                    </p:animEffect>
                                  </p:childTnLst>
                                </p:cTn>
                              </p:par>
                              <p:par>
                                <p:cTn id="20" presetID="10" presetClass="entr" presetSubtype="0" fill="hold" grpId="0" nodeType="withEffect">
                                  <p:stCondLst>
                                    <p:cond delay="180"/>
                                  </p:stCondLst>
                                  <p:childTnLst>
                                    <p:set>
                                      <p:cBhvr>
                                        <p:cTn id="21" dur="1" fill="hold">
                                          <p:stCondLst>
                                            <p:cond delay="0"/>
                                          </p:stCondLst>
                                        </p:cTn>
                                        <p:tgtEl>
                                          <p:spTgt spid="7"/>
                                        </p:tgtEl>
                                        <p:attrNameLst>
                                          <p:attrName>style.visibility</p:attrName>
                                        </p:attrNameLst>
                                      </p:cBhvr>
                                      <p:to>
                                        <p:strVal val="visible"/>
                                      </p:to>
                                    </p:set>
                                    <p:animEffect transition="in" filter="fade">
                                      <p:cBhvr>
                                        <p:cTn id="22" dur="500"/>
                                        <p:tgtEl>
                                          <p:spTgt spid="7"/>
                                        </p:tgtEl>
                                      </p:cBhvr>
                                    </p:animEffect>
                                  </p:childTnLst>
                                </p:cTn>
                              </p:par>
                              <p:par>
                                <p:cTn id="23" presetID="10" presetClass="entr" presetSubtype="0" fill="hold" grpId="0" nodeType="withEffect">
                                  <p:stCondLst>
                                    <p:cond delay="180"/>
                                  </p:stCondLst>
                                  <p:childTnLst>
                                    <p:set>
                                      <p:cBhvr>
                                        <p:cTn id="24" dur="1" fill="hold">
                                          <p:stCondLst>
                                            <p:cond delay="0"/>
                                          </p:stCondLst>
                                        </p:cTn>
                                        <p:tgtEl>
                                          <p:spTgt spid="8"/>
                                        </p:tgtEl>
                                        <p:attrNameLst>
                                          <p:attrName>style.visibility</p:attrName>
                                        </p:attrNameLst>
                                      </p:cBhvr>
                                      <p:to>
                                        <p:strVal val="visible"/>
                                      </p:to>
                                    </p:set>
                                    <p:animEffect transition="in" filter="fade">
                                      <p:cBhvr>
                                        <p:cTn id="25" dur="500"/>
                                        <p:tgtEl>
                                          <p:spTgt spid="8"/>
                                        </p:tgtEl>
                                      </p:cBhvr>
                                    </p:animEffect>
                                  </p:childTnLst>
                                </p:cTn>
                              </p:par>
                              <p:par>
                                <p:cTn id="26" presetID="10" presetClass="entr" presetSubtype="0" fill="hold" grpId="0" nodeType="withEffect">
                                  <p:stCondLst>
                                    <p:cond delay="180"/>
                                  </p:stCondLst>
                                  <p:childTnLst>
                                    <p:set>
                                      <p:cBhvr>
                                        <p:cTn id="27" dur="1" fill="hold">
                                          <p:stCondLst>
                                            <p:cond delay="0"/>
                                          </p:stCondLst>
                                        </p:cTn>
                                        <p:tgtEl>
                                          <p:spTgt spid="9"/>
                                        </p:tgtEl>
                                        <p:attrNameLst>
                                          <p:attrName>style.visibility</p:attrName>
                                        </p:attrNameLst>
                                      </p:cBhvr>
                                      <p:to>
                                        <p:strVal val="visible"/>
                                      </p:to>
                                    </p:set>
                                    <p:animEffect transition="in" filter="fade">
                                      <p:cBhvr>
                                        <p:cTn id="28" dur="500"/>
                                        <p:tgtEl>
                                          <p:spTgt spid="9"/>
                                        </p:tgtEl>
                                      </p:cBhvr>
                                    </p:animEffect>
                                  </p:childTnLst>
                                </p:cTn>
                              </p:par>
                              <p:par>
                                <p:cTn id="29" presetID="10" presetClass="entr" presetSubtype="0" fill="hold" grpId="0" nodeType="withEffect">
                                  <p:stCondLst>
                                    <p:cond delay="180"/>
                                  </p:stCondLst>
                                  <p:childTnLst>
                                    <p:set>
                                      <p:cBhvr>
                                        <p:cTn id="30" dur="1" fill="hold">
                                          <p:stCondLst>
                                            <p:cond delay="0"/>
                                          </p:stCondLst>
                                        </p:cTn>
                                        <p:tgtEl>
                                          <p:spTgt spid="10"/>
                                        </p:tgtEl>
                                        <p:attrNameLst>
                                          <p:attrName>style.visibility</p:attrName>
                                        </p:attrNameLst>
                                      </p:cBhvr>
                                      <p:to>
                                        <p:strVal val="visible"/>
                                      </p:to>
                                    </p:set>
                                    <p:animEffect transition="in" filter="fade">
                                      <p:cBhvr>
                                        <p:cTn id="31" dur="500"/>
                                        <p:tgtEl>
                                          <p:spTgt spid="10"/>
                                        </p:tgtEl>
                                      </p:cBhvr>
                                    </p:animEffect>
                                  </p:childTnLst>
                                </p:cTn>
                              </p:par>
                              <p:par>
                                <p:cTn id="32" presetID="10" presetClass="entr" presetSubtype="0" fill="hold" grpId="0" nodeType="withEffect">
                                  <p:stCondLst>
                                    <p:cond delay="360"/>
                                  </p:stCondLst>
                                  <p:childTnLst>
                                    <p:set>
                                      <p:cBhvr>
                                        <p:cTn id="33" dur="1" fill="hold">
                                          <p:stCondLst>
                                            <p:cond delay="0"/>
                                          </p:stCondLst>
                                        </p:cTn>
                                        <p:tgtEl>
                                          <p:spTgt spid="11"/>
                                        </p:tgtEl>
                                        <p:attrNameLst>
                                          <p:attrName>style.visibility</p:attrName>
                                        </p:attrNameLst>
                                      </p:cBhvr>
                                      <p:to>
                                        <p:strVal val="visible"/>
                                      </p:to>
                                    </p:set>
                                    <p:animEffect transition="in" filter="fade">
                                      <p:cBhvr>
                                        <p:cTn id="34" dur="500"/>
                                        <p:tgtEl>
                                          <p:spTgt spid="11"/>
                                        </p:tgtEl>
                                      </p:cBhvr>
                                    </p:animEffect>
                                  </p:childTnLst>
                                </p:cTn>
                              </p:par>
                              <p:par>
                                <p:cTn id="35" presetID="10" presetClass="entr" presetSubtype="0" fill="hold" grpId="0" nodeType="withEffect">
                                  <p:stCondLst>
                                    <p:cond delay="360"/>
                                  </p:stCondLst>
                                  <p:childTnLst>
                                    <p:set>
                                      <p:cBhvr>
                                        <p:cTn id="36" dur="1" fill="hold">
                                          <p:stCondLst>
                                            <p:cond delay="0"/>
                                          </p:stCondLst>
                                        </p:cTn>
                                        <p:tgtEl>
                                          <p:spTgt spid="12"/>
                                        </p:tgtEl>
                                        <p:attrNameLst>
                                          <p:attrName>style.visibility</p:attrName>
                                        </p:attrNameLst>
                                      </p:cBhvr>
                                      <p:to>
                                        <p:strVal val="visible"/>
                                      </p:to>
                                    </p:set>
                                    <p:animEffect transition="in" filter="fade">
                                      <p:cBhvr>
                                        <p:cTn id="37" dur="500"/>
                                        <p:tgtEl>
                                          <p:spTgt spid="12"/>
                                        </p:tgtEl>
                                      </p:cBhvr>
                                    </p:animEffect>
                                  </p:childTnLst>
                                </p:cTn>
                              </p:par>
                              <p:par>
                                <p:cTn id="38" presetID="10" presetClass="entr" presetSubtype="0" fill="hold" grpId="0" nodeType="withEffect">
                                  <p:stCondLst>
                                    <p:cond delay="360"/>
                                  </p:stCondLst>
                                  <p:childTnLst>
                                    <p:set>
                                      <p:cBhvr>
                                        <p:cTn id="39" dur="1" fill="hold">
                                          <p:stCondLst>
                                            <p:cond delay="0"/>
                                          </p:stCondLst>
                                        </p:cTn>
                                        <p:tgtEl>
                                          <p:spTgt spid="13"/>
                                        </p:tgtEl>
                                        <p:attrNameLst>
                                          <p:attrName>style.visibility</p:attrName>
                                        </p:attrNameLst>
                                      </p:cBhvr>
                                      <p:to>
                                        <p:strVal val="visible"/>
                                      </p:to>
                                    </p:set>
                                    <p:animEffect transition="in" filter="fade">
                                      <p:cBhvr>
                                        <p:cTn id="40" dur="500"/>
                                        <p:tgtEl>
                                          <p:spTgt spid="13"/>
                                        </p:tgtEl>
                                      </p:cBhvr>
                                    </p:animEffect>
                                  </p:childTnLst>
                                </p:cTn>
                              </p:par>
                              <p:par>
                                <p:cTn id="41" presetID="10" presetClass="entr" presetSubtype="0" fill="hold" grpId="0" nodeType="withEffect">
                                  <p:stCondLst>
                                    <p:cond delay="360"/>
                                  </p:stCondLst>
                                  <p:childTnLst>
                                    <p:set>
                                      <p:cBhvr>
                                        <p:cTn id="42" dur="1" fill="hold">
                                          <p:stCondLst>
                                            <p:cond delay="0"/>
                                          </p:stCondLst>
                                        </p:cTn>
                                        <p:tgtEl>
                                          <p:spTgt spid="14"/>
                                        </p:tgtEl>
                                        <p:attrNameLst>
                                          <p:attrName>style.visibility</p:attrName>
                                        </p:attrNameLst>
                                      </p:cBhvr>
                                      <p:to>
                                        <p:strVal val="visible"/>
                                      </p:to>
                                    </p:set>
                                    <p:animEffect transition="in" filter="fade">
                                      <p:cBhvr>
                                        <p:cTn id="43" dur="500"/>
                                        <p:tgtEl>
                                          <p:spTgt spid="14"/>
                                        </p:tgtEl>
                                      </p:cBhvr>
                                    </p:animEffect>
                                  </p:childTnLst>
                                </p:cTn>
                              </p:par>
                              <p:par>
                                <p:cTn id="44" presetID="10" presetClass="entr" presetSubtype="0" fill="hold" grpId="0" nodeType="withEffect">
                                  <p:stCondLst>
                                    <p:cond delay="360"/>
                                  </p:stCondLst>
                                  <p:childTnLst>
                                    <p:set>
                                      <p:cBhvr>
                                        <p:cTn id="45" dur="1" fill="hold">
                                          <p:stCondLst>
                                            <p:cond delay="0"/>
                                          </p:stCondLst>
                                        </p:cTn>
                                        <p:tgtEl>
                                          <p:spTgt spid="15"/>
                                        </p:tgtEl>
                                        <p:attrNameLst>
                                          <p:attrName>style.visibility</p:attrName>
                                        </p:attrNameLst>
                                      </p:cBhvr>
                                      <p:to>
                                        <p:strVal val="visible"/>
                                      </p:to>
                                    </p:set>
                                    <p:animEffect transition="in" filter="fade">
                                      <p:cBhvr>
                                        <p:cTn id="46" dur="500"/>
                                        <p:tgtEl>
                                          <p:spTgt spid="15"/>
                                        </p:tgtEl>
                                      </p:cBhvr>
                                    </p:animEffect>
                                  </p:childTnLst>
                                </p:cTn>
                              </p:par>
                              <p:par>
                                <p:cTn id="47" presetID="10" presetClass="entr" presetSubtype="0" fill="hold" grpId="0" nodeType="withEffect">
                                  <p:stCondLst>
                                    <p:cond delay="540"/>
                                  </p:stCondLst>
                                  <p:childTnLst>
                                    <p:set>
                                      <p:cBhvr>
                                        <p:cTn id="48" dur="1" fill="hold">
                                          <p:stCondLst>
                                            <p:cond delay="0"/>
                                          </p:stCondLst>
                                        </p:cTn>
                                        <p:tgtEl>
                                          <p:spTgt spid="16"/>
                                        </p:tgtEl>
                                        <p:attrNameLst>
                                          <p:attrName>style.visibility</p:attrName>
                                        </p:attrNameLst>
                                      </p:cBhvr>
                                      <p:to>
                                        <p:strVal val="visible"/>
                                      </p:to>
                                    </p:set>
                                    <p:animEffect transition="in" filter="fade">
                                      <p:cBhvr>
                                        <p:cTn id="49" dur="500"/>
                                        <p:tgtEl>
                                          <p:spTgt spid="16"/>
                                        </p:tgtEl>
                                      </p:cBhvr>
                                    </p:animEffect>
                                  </p:childTnLst>
                                </p:cTn>
                              </p:par>
                              <p:par>
                                <p:cTn id="50" presetID="10" presetClass="entr" presetSubtype="0" fill="hold" grpId="0" nodeType="withEffect">
                                  <p:stCondLst>
                                    <p:cond delay="540"/>
                                  </p:stCondLst>
                                  <p:childTnLst>
                                    <p:set>
                                      <p:cBhvr>
                                        <p:cTn id="51" dur="1" fill="hold">
                                          <p:stCondLst>
                                            <p:cond delay="0"/>
                                          </p:stCondLst>
                                        </p:cTn>
                                        <p:tgtEl>
                                          <p:spTgt spid="17"/>
                                        </p:tgtEl>
                                        <p:attrNameLst>
                                          <p:attrName>style.visibility</p:attrName>
                                        </p:attrNameLst>
                                      </p:cBhvr>
                                      <p:to>
                                        <p:strVal val="visible"/>
                                      </p:to>
                                    </p:set>
                                    <p:animEffect transition="in" filter="fade">
                                      <p:cBhvr>
                                        <p:cTn id="52" dur="500"/>
                                        <p:tgtEl>
                                          <p:spTgt spid="17"/>
                                        </p:tgtEl>
                                      </p:cBhvr>
                                    </p:animEffect>
                                  </p:childTnLst>
                                </p:cTn>
                              </p:par>
                              <p:par>
                                <p:cTn id="53" presetID="10" presetClass="entr" presetSubtype="0" fill="hold" grpId="0" nodeType="withEffect">
                                  <p:stCondLst>
                                    <p:cond delay="540"/>
                                  </p:stCondLst>
                                  <p:childTnLst>
                                    <p:set>
                                      <p:cBhvr>
                                        <p:cTn id="54" dur="1" fill="hold">
                                          <p:stCondLst>
                                            <p:cond delay="0"/>
                                          </p:stCondLst>
                                        </p:cTn>
                                        <p:tgtEl>
                                          <p:spTgt spid="18"/>
                                        </p:tgtEl>
                                        <p:attrNameLst>
                                          <p:attrName>style.visibility</p:attrName>
                                        </p:attrNameLst>
                                      </p:cBhvr>
                                      <p:to>
                                        <p:strVal val="visible"/>
                                      </p:to>
                                    </p:set>
                                    <p:animEffect transition="in" filter="fade">
                                      <p:cBhvr>
                                        <p:cTn id="55" dur="500"/>
                                        <p:tgtEl>
                                          <p:spTgt spid="18"/>
                                        </p:tgtEl>
                                      </p:cBhvr>
                                    </p:animEffect>
                                  </p:childTnLst>
                                </p:cTn>
                              </p:par>
                              <p:par>
                                <p:cTn id="56" presetID="10" presetClass="entr" presetSubtype="0" fill="hold" grpId="0" nodeType="withEffect">
                                  <p:stCondLst>
                                    <p:cond delay="540"/>
                                  </p:stCondLst>
                                  <p:childTnLst>
                                    <p:set>
                                      <p:cBhvr>
                                        <p:cTn id="57" dur="1" fill="hold">
                                          <p:stCondLst>
                                            <p:cond delay="0"/>
                                          </p:stCondLst>
                                        </p:cTn>
                                        <p:tgtEl>
                                          <p:spTgt spid="19"/>
                                        </p:tgtEl>
                                        <p:attrNameLst>
                                          <p:attrName>style.visibility</p:attrName>
                                        </p:attrNameLst>
                                      </p:cBhvr>
                                      <p:to>
                                        <p:strVal val="visible"/>
                                      </p:to>
                                    </p:set>
                                    <p:animEffect transition="in" filter="fade">
                                      <p:cBhvr>
                                        <p:cTn id="58" dur="500"/>
                                        <p:tgtEl>
                                          <p:spTgt spid="19"/>
                                        </p:tgtEl>
                                      </p:cBhvr>
                                    </p:animEffect>
                                  </p:childTnLst>
                                </p:cTn>
                              </p:par>
                              <p:par>
                                <p:cTn id="59" presetID="10" presetClass="entr" presetSubtype="0" fill="hold" grpId="0" nodeType="withEffect">
                                  <p:stCondLst>
                                    <p:cond delay="540"/>
                                  </p:stCondLst>
                                  <p:childTnLst>
                                    <p:set>
                                      <p:cBhvr>
                                        <p:cTn id="60" dur="1" fill="hold">
                                          <p:stCondLst>
                                            <p:cond delay="0"/>
                                          </p:stCondLst>
                                        </p:cTn>
                                        <p:tgtEl>
                                          <p:spTgt spid="20"/>
                                        </p:tgtEl>
                                        <p:attrNameLst>
                                          <p:attrName>style.visibility</p:attrName>
                                        </p:attrNameLst>
                                      </p:cBhvr>
                                      <p:to>
                                        <p:strVal val="visible"/>
                                      </p:to>
                                    </p:set>
                                    <p:animEffect transition="in" filter="fade">
                                      <p:cBhvr>
                                        <p:cTn id="61" dur="500"/>
                                        <p:tgtEl>
                                          <p:spTgt spid="20"/>
                                        </p:tgtEl>
                                      </p:cBhvr>
                                    </p:animEffect>
                                  </p:childTnLst>
                                </p:cTn>
                              </p:par>
                              <p:par>
                                <p:cTn id="62" presetID="10" presetClass="entr" presetSubtype="0" fill="hold" grpId="0" nodeType="withEffect">
                                  <p:stCondLst>
                                    <p:cond delay="540"/>
                                  </p:stCondLst>
                                  <p:childTnLst>
                                    <p:set>
                                      <p:cBhvr>
                                        <p:cTn id="63" dur="1" fill="hold">
                                          <p:stCondLst>
                                            <p:cond delay="0"/>
                                          </p:stCondLst>
                                        </p:cTn>
                                        <p:tgtEl>
                                          <p:spTgt spid="21"/>
                                        </p:tgtEl>
                                        <p:attrNameLst>
                                          <p:attrName>style.visibility</p:attrName>
                                        </p:attrNameLst>
                                      </p:cBhvr>
                                      <p:to>
                                        <p:strVal val="visible"/>
                                      </p:to>
                                    </p:set>
                                    <p:animEffect transition="in" filter="fade">
                                      <p:cBhvr>
                                        <p:cTn id="64" dur="500"/>
                                        <p:tgtEl>
                                          <p:spTgt spid="21"/>
                                        </p:tgtEl>
                                      </p:cBhvr>
                                    </p:animEffect>
                                  </p:childTnLst>
                                </p:cTn>
                              </p:par>
                              <p:par>
                                <p:cTn id="65" presetID="10" presetClass="entr" presetSubtype="0" fill="hold" grpId="0" nodeType="withEffect">
                                  <p:stCondLst>
                                    <p:cond delay="720"/>
                                  </p:stCondLst>
                                  <p:childTnLst>
                                    <p:set>
                                      <p:cBhvr>
                                        <p:cTn id="66" dur="1" fill="hold">
                                          <p:stCondLst>
                                            <p:cond delay="0"/>
                                          </p:stCondLst>
                                        </p:cTn>
                                        <p:tgtEl>
                                          <p:spTgt spid="22"/>
                                        </p:tgtEl>
                                        <p:attrNameLst>
                                          <p:attrName>style.visibility</p:attrName>
                                        </p:attrNameLst>
                                      </p:cBhvr>
                                      <p:to>
                                        <p:strVal val="visible"/>
                                      </p:to>
                                    </p:set>
                                    <p:animEffect transition="in" filter="fade">
                                      <p:cBhvr>
                                        <p:cTn id="67" dur="500"/>
                                        <p:tgtEl>
                                          <p:spTgt spid="22"/>
                                        </p:tgtEl>
                                      </p:cBhvr>
                                    </p:animEffect>
                                  </p:childTnLst>
                                </p:cTn>
                              </p:par>
                              <p:par>
                                <p:cTn id="68" presetID="10" presetClass="entr" presetSubtype="0" fill="hold" grpId="0" nodeType="withEffect">
                                  <p:stCondLst>
                                    <p:cond delay="720"/>
                                  </p:stCondLst>
                                  <p:childTnLst>
                                    <p:set>
                                      <p:cBhvr>
                                        <p:cTn id="69" dur="1" fill="hold">
                                          <p:stCondLst>
                                            <p:cond delay="0"/>
                                          </p:stCondLst>
                                        </p:cTn>
                                        <p:tgtEl>
                                          <p:spTgt spid="23"/>
                                        </p:tgtEl>
                                        <p:attrNameLst>
                                          <p:attrName>style.visibility</p:attrName>
                                        </p:attrNameLst>
                                      </p:cBhvr>
                                      <p:to>
                                        <p:strVal val="visible"/>
                                      </p:to>
                                    </p:set>
                                    <p:animEffect transition="in" filter="fade">
                                      <p:cBhvr>
                                        <p:cTn id="70" dur="500"/>
                                        <p:tgtEl>
                                          <p:spTgt spid="23"/>
                                        </p:tgtEl>
                                      </p:cBhvr>
                                    </p:animEffect>
                                  </p:childTnLst>
                                </p:cTn>
                              </p:par>
                              <p:par>
                                <p:cTn id="71" presetID="10" presetClass="entr" presetSubtype="0" fill="hold" grpId="0" nodeType="withEffect">
                                  <p:stCondLst>
                                    <p:cond delay="720"/>
                                  </p:stCondLst>
                                  <p:childTnLst>
                                    <p:set>
                                      <p:cBhvr>
                                        <p:cTn id="72" dur="1" fill="hold">
                                          <p:stCondLst>
                                            <p:cond delay="0"/>
                                          </p:stCondLst>
                                        </p:cTn>
                                        <p:tgtEl>
                                          <p:spTgt spid="24"/>
                                        </p:tgtEl>
                                        <p:attrNameLst>
                                          <p:attrName>style.visibility</p:attrName>
                                        </p:attrNameLst>
                                      </p:cBhvr>
                                      <p:to>
                                        <p:strVal val="visible"/>
                                      </p:to>
                                    </p:set>
                                    <p:animEffect transition="in" filter="fade">
                                      <p:cBhvr>
                                        <p:cTn id="73" dur="500"/>
                                        <p:tgtEl>
                                          <p:spTgt spid="24"/>
                                        </p:tgtEl>
                                      </p:cBhvr>
                                    </p:animEffect>
                                  </p:childTnLst>
                                </p:cTn>
                              </p:par>
                              <p:par>
                                <p:cTn id="74" presetID="10" presetClass="entr" presetSubtype="0" fill="hold" grpId="0" nodeType="withEffect">
                                  <p:stCondLst>
                                    <p:cond delay="720"/>
                                  </p:stCondLst>
                                  <p:childTnLst>
                                    <p:set>
                                      <p:cBhvr>
                                        <p:cTn id="75" dur="1" fill="hold">
                                          <p:stCondLst>
                                            <p:cond delay="0"/>
                                          </p:stCondLst>
                                        </p:cTn>
                                        <p:tgtEl>
                                          <p:spTgt spid="25"/>
                                        </p:tgtEl>
                                        <p:attrNameLst>
                                          <p:attrName>style.visibility</p:attrName>
                                        </p:attrNameLst>
                                      </p:cBhvr>
                                      <p:to>
                                        <p:strVal val="visible"/>
                                      </p:to>
                                    </p:set>
                                    <p:animEffect transition="in" filter="fade">
                                      <p:cBhvr>
                                        <p:cTn id="76" dur="500"/>
                                        <p:tgtEl>
                                          <p:spTgt spid="25"/>
                                        </p:tgtEl>
                                      </p:cBhvr>
                                    </p:animEffect>
                                  </p:childTnLst>
                                </p:cTn>
                              </p:par>
                              <p:par>
                                <p:cTn id="77" presetID="10" presetClass="entr" presetSubtype="0" fill="hold" grpId="0" nodeType="withEffect">
                                  <p:stCondLst>
                                    <p:cond delay="720"/>
                                  </p:stCondLst>
                                  <p:childTnLst>
                                    <p:set>
                                      <p:cBhvr>
                                        <p:cTn id="78" dur="1" fill="hold">
                                          <p:stCondLst>
                                            <p:cond delay="0"/>
                                          </p:stCondLst>
                                        </p:cTn>
                                        <p:tgtEl>
                                          <p:spTgt spid="26"/>
                                        </p:tgtEl>
                                        <p:attrNameLst>
                                          <p:attrName>style.visibility</p:attrName>
                                        </p:attrNameLst>
                                      </p:cBhvr>
                                      <p:to>
                                        <p:strVal val="visible"/>
                                      </p:to>
                                    </p:set>
                                    <p:animEffect transition="in" filter="fade">
                                      <p:cBhvr>
                                        <p:cTn id="79" dur="500"/>
                                        <p:tgtEl>
                                          <p:spTgt spid="26"/>
                                        </p:tgtEl>
                                      </p:cBhvr>
                                    </p:animEffect>
                                  </p:childTnLst>
                                </p:cTn>
                              </p:par>
                              <p:par>
                                <p:cTn id="80" presetID="10" presetClass="entr" presetSubtype="0" fill="hold" grpId="0" nodeType="withEffect">
                                  <p:stCondLst>
                                    <p:cond delay="900"/>
                                  </p:stCondLst>
                                  <p:childTnLst>
                                    <p:set>
                                      <p:cBhvr>
                                        <p:cTn id="81" dur="1" fill="hold">
                                          <p:stCondLst>
                                            <p:cond delay="0"/>
                                          </p:stCondLst>
                                        </p:cTn>
                                        <p:tgtEl>
                                          <p:spTgt spid="27"/>
                                        </p:tgtEl>
                                        <p:attrNameLst>
                                          <p:attrName>style.visibility</p:attrName>
                                        </p:attrNameLst>
                                      </p:cBhvr>
                                      <p:to>
                                        <p:strVal val="visible"/>
                                      </p:to>
                                    </p:set>
                                    <p:animEffect transition="in" filter="fade">
                                      <p:cBhvr>
                                        <p:cTn id="82" dur="500"/>
                                        <p:tgtEl>
                                          <p:spTgt spid="27"/>
                                        </p:tgtEl>
                                      </p:cBhvr>
                                    </p:animEffect>
                                  </p:childTnLst>
                                </p:cTn>
                              </p:par>
                              <p:par>
                                <p:cTn id="83" presetID="10" presetClass="entr" presetSubtype="0" fill="hold" grpId="0" nodeType="withEffect">
                                  <p:stCondLst>
                                    <p:cond delay="900"/>
                                  </p:stCondLst>
                                  <p:childTnLst>
                                    <p:set>
                                      <p:cBhvr>
                                        <p:cTn id="84" dur="1" fill="hold">
                                          <p:stCondLst>
                                            <p:cond delay="0"/>
                                          </p:stCondLst>
                                        </p:cTn>
                                        <p:tgtEl>
                                          <p:spTgt spid="28"/>
                                        </p:tgtEl>
                                        <p:attrNameLst>
                                          <p:attrName>style.visibility</p:attrName>
                                        </p:attrNameLst>
                                      </p:cBhvr>
                                      <p:to>
                                        <p:strVal val="visible"/>
                                      </p:to>
                                    </p:set>
                                    <p:animEffect transition="in" filter="fade">
                                      <p:cBhvr>
                                        <p:cTn id="85" dur="500"/>
                                        <p:tgtEl>
                                          <p:spTgt spid="28"/>
                                        </p:tgtEl>
                                      </p:cBhvr>
                                    </p:animEffect>
                                  </p:childTnLst>
                                </p:cTn>
                              </p:par>
                              <p:par>
                                <p:cTn id="86" presetID="10" presetClass="entr" presetSubtype="0" fill="hold" grpId="0" nodeType="withEffect">
                                  <p:stCondLst>
                                    <p:cond delay="900"/>
                                  </p:stCondLst>
                                  <p:childTnLst>
                                    <p:set>
                                      <p:cBhvr>
                                        <p:cTn id="87" dur="1" fill="hold">
                                          <p:stCondLst>
                                            <p:cond delay="0"/>
                                          </p:stCondLst>
                                        </p:cTn>
                                        <p:tgtEl>
                                          <p:spTgt spid="29"/>
                                        </p:tgtEl>
                                        <p:attrNameLst>
                                          <p:attrName>style.visibility</p:attrName>
                                        </p:attrNameLst>
                                      </p:cBhvr>
                                      <p:to>
                                        <p:strVal val="visible"/>
                                      </p:to>
                                    </p:set>
                                    <p:animEffect transition="in" filter="fade">
                                      <p:cBhvr>
                                        <p:cTn id="88" dur="500"/>
                                        <p:tgtEl>
                                          <p:spTgt spid="29"/>
                                        </p:tgtEl>
                                      </p:cBhvr>
                                    </p:animEffect>
                                  </p:childTnLst>
                                </p:cTn>
                              </p:par>
                              <p:par>
                                <p:cTn id="89" presetID="10" presetClass="entr" presetSubtype="0" fill="hold" grpId="0" nodeType="withEffect">
                                  <p:stCondLst>
                                    <p:cond delay="900"/>
                                  </p:stCondLst>
                                  <p:childTnLst>
                                    <p:set>
                                      <p:cBhvr>
                                        <p:cTn id="90" dur="1" fill="hold">
                                          <p:stCondLst>
                                            <p:cond delay="0"/>
                                          </p:stCondLst>
                                        </p:cTn>
                                        <p:tgtEl>
                                          <p:spTgt spid="30"/>
                                        </p:tgtEl>
                                        <p:attrNameLst>
                                          <p:attrName>style.visibility</p:attrName>
                                        </p:attrNameLst>
                                      </p:cBhvr>
                                      <p:to>
                                        <p:strVal val="visible"/>
                                      </p:to>
                                    </p:set>
                                    <p:animEffect transition="in" filter="fade">
                                      <p:cBhvr>
                                        <p:cTn id="91" dur="500"/>
                                        <p:tgtEl>
                                          <p:spTgt spid="30"/>
                                        </p:tgtEl>
                                      </p:cBhvr>
                                    </p:animEffect>
                                  </p:childTnLst>
                                </p:cTn>
                              </p:par>
                              <p:par>
                                <p:cTn id="92" presetID="10" presetClass="entr" presetSubtype="0" fill="hold" grpId="0" nodeType="withEffect">
                                  <p:stCondLst>
                                    <p:cond delay="900"/>
                                  </p:stCondLst>
                                  <p:childTnLst>
                                    <p:set>
                                      <p:cBhvr>
                                        <p:cTn id="93" dur="1" fill="hold">
                                          <p:stCondLst>
                                            <p:cond delay="0"/>
                                          </p:stCondLst>
                                        </p:cTn>
                                        <p:tgtEl>
                                          <p:spTgt spid="31"/>
                                        </p:tgtEl>
                                        <p:attrNameLst>
                                          <p:attrName>style.visibility</p:attrName>
                                        </p:attrNameLst>
                                      </p:cBhvr>
                                      <p:to>
                                        <p:strVal val="visible"/>
                                      </p:to>
                                    </p:set>
                                    <p:animEffect transition="in" filter="fade">
                                      <p:cBhvr>
                                        <p:cTn id="94" dur="500"/>
                                        <p:tgtEl>
                                          <p:spTgt spid="31"/>
                                        </p:tgtEl>
                                      </p:cBhvr>
                                    </p:animEffect>
                                  </p:childTnLst>
                                </p:cTn>
                              </p:par>
                              <p:par>
                                <p:cTn id="95" presetID="10" presetClass="entr" presetSubtype="0" fill="hold" grpId="0" nodeType="withEffect">
                                  <p:stCondLst>
                                    <p:cond delay="900"/>
                                  </p:stCondLst>
                                  <p:childTnLst>
                                    <p:set>
                                      <p:cBhvr>
                                        <p:cTn id="96" dur="1" fill="hold">
                                          <p:stCondLst>
                                            <p:cond delay="0"/>
                                          </p:stCondLst>
                                        </p:cTn>
                                        <p:tgtEl>
                                          <p:spTgt spid="32"/>
                                        </p:tgtEl>
                                        <p:attrNameLst>
                                          <p:attrName>style.visibility</p:attrName>
                                        </p:attrNameLst>
                                      </p:cBhvr>
                                      <p:to>
                                        <p:strVal val="visible"/>
                                      </p:to>
                                    </p:set>
                                    <p:animEffect transition="in" filter="fade">
                                      <p:cBhvr>
                                        <p:cTn id="97" dur="500"/>
                                        <p:tgtEl>
                                          <p:spTgt spid="32"/>
                                        </p:tgtEl>
                                      </p:cBhvr>
                                    </p:animEffect>
                                  </p:childTnLst>
                                </p:cTn>
                              </p:par>
                              <p:par>
                                <p:cTn id="98" presetID="10" presetClass="entr" presetSubtype="0" fill="hold" grpId="0" nodeType="withEffect">
                                  <p:stCondLst>
                                    <p:cond delay="1080"/>
                                  </p:stCondLst>
                                  <p:childTnLst>
                                    <p:set>
                                      <p:cBhvr>
                                        <p:cTn id="99" dur="1" fill="hold">
                                          <p:stCondLst>
                                            <p:cond delay="0"/>
                                          </p:stCondLst>
                                        </p:cTn>
                                        <p:tgtEl>
                                          <p:spTgt spid="33"/>
                                        </p:tgtEl>
                                        <p:attrNameLst>
                                          <p:attrName>style.visibility</p:attrName>
                                        </p:attrNameLst>
                                      </p:cBhvr>
                                      <p:to>
                                        <p:strVal val="visible"/>
                                      </p:to>
                                    </p:set>
                                    <p:animEffect transition="in" filter="fade">
                                      <p:cBhvr>
                                        <p:cTn id="100" dur="500"/>
                                        <p:tgtEl>
                                          <p:spTgt spid="33"/>
                                        </p:tgtEl>
                                      </p:cBhvr>
                                    </p:animEffect>
                                  </p:childTnLst>
                                </p:cTn>
                              </p:par>
                              <p:par>
                                <p:cTn id="101" presetID="10" presetClass="entr" presetSubtype="0" fill="hold" grpId="0" nodeType="withEffect">
                                  <p:stCondLst>
                                    <p:cond delay="1080"/>
                                  </p:stCondLst>
                                  <p:childTnLst>
                                    <p:set>
                                      <p:cBhvr>
                                        <p:cTn id="102" dur="1" fill="hold">
                                          <p:stCondLst>
                                            <p:cond delay="0"/>
                                          </p:stCondLst>
                                        </p:cTn>
                                        <p:tgtEl>
                                          <p:spTgt spid="34"/>
                                        </p:tgtEl>
                                        <p:attrNameLst>
                                          <p:attrName>style.visibility</p:attrName>
                                        </p:attrNameLst>
                                      </p:cBhvr>
                                      <p:to>
                                        <p:strVal val="visible"/>
                                      </p:to>
                                    </p:set>
                                    <p:animEffect transition="in" filter="fade">
                                      <p:cBhvr>
                                        <p:cTn id="103" dur="500"/>
                                        <p:tgtEl>
                                          <p:spTgt spid="34"/>
                                        </p:tgtEl>
                                      </p:cBhvr>
                                    </p:animEffect>
                                  </p:childTnLst>
                                </p:cTn>
                              </p:par>
                              <p:par>
                                <p:cTn id="104" presetID="10" presetClass="entr" presetSubtype="0" fill="hold" grpId="0" nodeType="withEffect">
                                  <p:stCondLst>
                                    <p:cond delay="1080"/>
                                  </p:stCondLst>
                                  <p:childTnLst>
                                    <p:set>
                                      <p:cBhvr>
                                        <p:cTn id="105" dur="1" fill="hold">
                                          <p:stCondLst>
                                            <p:cond delay="0"/>
                                          </p:stCondLst>
                                        </p:cTn>
                                        <p:tgtEl>
                                          <p:spTgt spid="35"/>
                                        </p:tgtEl>
                                        <p:attrNameLst>
                                          <p:attrName>style.visibility</p:attrName>
                                        </p:attrNameLst>
                                      </p:cBhvr>
                                      <p:to>
                                        <p:strVal val="visible"/>
                                      </p:to>
                                    </p:set>
                                    <p:animEffect transition="in" filter="fade">
                                      <p:cBhvr>
                                        <p:cTn id="106" dur="500"/>
                                        <p:tgtEl>
                                          <p:spTgt spid="35"/>
                                        </p:tgtEl>
                                      </p:cBhvr>
                                    </p:animEffect>
                                  </p:childTnLst>
                                </p:cTn>
                              </p:par>
                              <p:par>
                                <p:cTn id="107" presetID="10" presetClass="entr" presetSubtype="0" fill="hold" grpId="0" nodeType="withEffect">
                                  <p:stCondLst>
                                    <p:cond delay="1080"/>
                                  </p:stCondLst>
                                  <p:childTnLst>
                                    <p:set>
                                      <p:cBhvr>
                                        <p:cTn id="108" dur="1" fill="hold">
                                          <p:stCondLst>
                                            <p:cond delay="0"/>
                                          </p:stCondLst>
                                        </p:cTn>
                                        <p:tgtEl>
                                          <p:spTgt spid="36"/>
                                        </p:tgtEl>
                                        <p:attrNameLst>
                                          <p:attrName>style.visibility</p:attrName>
                                        </p:attrNameLst>
                                      </p:cBhvr>
                                      <p:to>
                                        <p:strVal val="visible"/>
                                      </p:to>
                                    </p:set>
                                    <p:animEffect transition="in" filter="fade">
                                      <p:cBhvr>
                                        <p:cTn id="109" dur="500"/>
                                        <p:tgtEl>
                                          <p:spTgt spid="36"/>
                                        </p:tgtEl>
                                      </p:cBhvr>
                                    </p:animEffect>
                                  </p:childTnLst>
                                </p:cTn>
                              </p:par>
                              <p:par>
                                <p:cTn id="110" presetID="10" presetClass="entr" presetSubtype="0" fill="hold" grpId="0" nodeType="withEffect">
                                  <p:stCondLst>
                                    <p:cond delay="1080"/>
                                  </p:stCondLst>
                                  <p:childTnLst>
                                    <p:set>
                                      <p:cBhvr>
                                        <p:cTn id="111" dur="1" fill="hold">
                                          <p:stCondLst>
                                            <p:cond delay="0"/>
                                          </p:stCondLst>
                                        </p:cTn>
                                        <p:tgtEl>
                                          <p:spTgt spid="37"/>
                                        </p:tgtEl>
                                        <p:attrNameLst>
                                          <p:attrName>style.visibility</p:attrName>
                                        </p:attrNameLst>
                                      </p:cBhvr>
                                      <p:to>
                                        <p:strVal val="visible"/>
                                      </p:to>
                                    </p:set>
                                    <p:animEffect transition="in" filter="fade">
                                      <p:cBhvr>
                                        <p:cTn id="112" dur="500"/>
                                        <p:tgtEl>
                                          <p:spTgt spid="37"/>
                                        </p:tgtEl>
                                      </p:cBhvr>
                                    </p:animEffect>
                                  </p:childTnLst>
                                </p:cTn>
                              </p:par>
                              <p:par>
                                <p:cTn id="113" presetID="10" presetClass="entr" presetSubtype="0" fill="hold" grpId="0" nodeType="withEffect">
                                  <p:stCondLst>
                                    <p:cond delay="1260"/>
                                  </p:stCondLst>
                                  <p:childTnLst>
                                    <p:set>
                                      <p:cBhvr>
                                        <p:cTn id="114" dur="1" fill="hold">
                                          <p:stCondLst>
                                            <p:cond delay="0"/>
                                          </p:stCondLst>
                                        </p:cTn>
                                        <p:tgtEl>
                                          <p:spTgt spid="38"/>
                                        </p:tgtEl>
                                        <p:attrNameLst>
                                          <p:attrName>style.visibility</p:attrName>
                                        </p:attrNameLst>
                                      </p:cBhvr>
                                      <p:to>
                                        <p:strVal val="visible"/>
                                      </p:to>
                                    </p:set>
                                    <p:animEffect transition="in" filter="fade">
                                      <p:cBhvr>
                                        <p:cTn id="115" dur="500"/>
                                        <p:tgtEl>
                                          <p:spTgt spid="38"/>
                                        </p:tgtEl>
                                      </p:cBhvr>
                                    </p:animEffect>
                                  </p:childTnLst>
                                </p:cTn>
                              </p:par>
                              <p:par>
                                <p:cTn id="116" presetID="10" presetClass="entr" presetSubtype="0" fill="hold" grpId="0" nodeType="withEffect">
                                  <p:stCondLst>
                                    <p:cond delay="1260"/>
                                  </p:stCondLst>
                                  <p:childTnLst>
                                    <p:set>
                                      <p:cBhvr>
                                        <p:cTn id="117" dur="1" fill="hold">
                                          <p:stCondLst>
                                            <p:cond delay="0"/>
                                          </p:stCondLst>
                                        </p:cTn>
                                        <p:tgtEl>
                                          <p:spTgt spid="39"/>
                                        </p:tgtEl>
                                        <p:attrNameLst>
                                          <p:attrName>style.visibility</p:attrName>
                                        </p:attrNameLst>
                                      </p:cBhvr>
                                      <p:to>
                                        <p:strVal val="visible"/>
                                      </p:to>
                                    </p:set>
                                    <p:animEffect transition="in" filter="fade">
                                      <p:cBhvr>
                                        <p:cTn id="118" dur="500"/>
                                        <p:tgtEl>
                                          <p:spTgt spid="39"/>
                                        </p:tgtEl>
                                      </p:cBhvr>
                                    </p:animEffect>
                                  </p:childTnLst>
                                </p:cTn>
                              </p:par>
                              <p:par>
                                <p:cTn id="119" presetID="10" presetClass="entr" presetSubtype="0" fill="hold" grpId="0" nodeType="withEffect">
                                  <p:stCondLst>
                                    <p:cond delay="1260"/>
                                  </p:stCondLst>
                                  <p:childTnLst>
                                    <p:set>
                                      <p:cBhvr>
                                        <p:cTn id="120" dur="1" fill="hold">
                                          <p:stCondLst>
                                            <p:cond delay="0"/>
                                          </p:stCondLst>
                                        </p:cTn>
                                        <p:tgtEl>
                                          <p:spTgt spid="40"/>
                                        </p:tgtEl>
                                        <p:attrNameLst>
                                          <p:attrName>style.visibility</p:attrName>
                                        </p:attrNameLst>
                                      </p:cBhvr>
                                      <p:to>
                                        <p:strVal val="visible"/>
                                      </p:to>
                                    </p:set>
                                    <p:animEffect transition="in" filter="fade">
                                      <p:cBhvr>
                                        <p:cTn id="121" dur="500"/>
                                        <p:tgtEl>
                                          <p:spTgt spid="40"/>
                                        </p:tgtEl>
                                      </p:cBhvr>
                                    </p:animEffect>
                                  </p:childTnLst>
                                </p:cTn>
                              </p:par>
                              <p:par>
                                <p:cTn id="122" presetID="10" presetClass="entr" presetSubtype="0" fill="hold" grpId="0" nodeType="withEffect">
                                  <p:stCondLst>
                                    <p:cond delay="1260"/>
                                  </p:stCondLst>
                                  <p:childTnLst>
                                    <p:set>
                                      <p:cBhvr>
                                        <p:cTn id="123" dur="1" fill="hold">
                                          <p:stCondLst>
                                            <p:cond delay="0"/>
                                          </p:stCondLst>
                                        </p:cTn>
                                        <p:tgtEl>
                                          <p:spTgt spid="41"/>
                                        </p:tgtEl>
                                        <p:attrNameLst>
                                          <p:attrName>style.visibility</p:attrName>
                                        </p:attrNameLst>
                                      </p:cBhvr>
                                      <p:to>
                                        <p:strVal val="visible"/>
                                      </p:to>
                                    </p:set>
                                    <p:animEffect transition="in" filter="fade">
                                      <p:cBhvr>
                                        <p:cTn id="124" dur="500"/>
                                        <p:tgtEl>
                                          <p:spTgt spid="41"/>
                                        </p:tgtEl>
                                      </p:cBhvr>
                                    </p:animEffect>
                                  </p:childTnLst>
                                </p:cTn>
                              </p:par>
                              <p:par>
                                <p:cTn id="125" presetID="10" presetClass="entr" presetSubtype="0" fill="hold" grpId="0" nodeType="withEffect">
                                  <p:stCondLst>
                                    <p:cond delay="1260"/>
                                  </p:stCondLst>
                                  <p:childTnLst>
                                    <p:set>
                                      <p:cBhvr>
                                        <p:cTn id="126" dur="1" fill="hold">
                                          <p:stCondLst>
                                            <p:cond delay="0"/>
                                          </p:stCondLst>
                                        </p:cTn>
                                        <p:tgtEl>
                                          <p:spTgt spid="42"/>
                                        </p:tgtEl>
                                        <p:attrNameLst>
                                          <p:attrName>style.visibility</p:attrName>
                                        </p:attrNameLst>
                                      </p:cBhvr>
                                      <p:to>
                                        <p:strVal val="visible"/>
                                      </p:to>
                                    </p:set>
                                    <p:animEffect transition="in" filter="fade">
                                      <p:cBhvr>
                                        <p:cTn id="127" dur="500"/>
                                        <p:tgtEl>
                                          <p:spTgt spid="42"/>
                                        </p:tgtEl>
                                      </p:cBhvr>
                                    </p:animEffect>
                                  </p:childTnLst>
                                </p:cTn>
                              </p:par>
                              <p:par>
                                <p:cTn id="128" presetID="10" presetClass="entr" presetSubtype="0" fill="hold" grpId="0" nodeType="withEffect">
                                  <p:stCondLst>
                                    <p:cond delay="1260"/>
                                  </p:stCondLst>
                                  <p:childTnLst>
                                    <p:set>
                                      <p:cBhvr>
                                        <p:cTn id="129" dur="1" fill="hold">
                                          <p:stCondLst>
                                            <p:cond delay="0"/>
                                          </p:stCondLst>
                                        </p:cTn>
                                        <p:tgtEl>
                                          <p:spTgt spid="43"/>
                                        </p:tgtEl>
                                        <p:attrNameLst>
                                          <p:attrName>style.visibility</p:attrName>
                                        </p:attrNameLst>
                                      </p:cBhvr>
                                      <p:to>
                                        <p:strVal val="visible"/>
                                      </p:to>
                                    </p:set>
                                    <p:animEffect transition="in" filter="fade">
                                      <p:cBhvr>
                                        <p:cTn id="130" dur="500"/>
                                        <p:tgtEl>
                                          <p:spTgt spid="43"/>
                                        </p:tgtEl>
                                      </p:cBhvr>
                                    </p:animEffect>
                                  </p:childTnLst>
                                </p:cTn>
                              </p:par>
                              <p:par>
                                <p:cTn id="131" presetID="10" presetClass="entr" presetSubtype="0" fill="hold" grpId="0" nodeType="withEffect">
                                  <p:stCondLst>
                                    <p:cond delay="1440"/>
                                  </p:stCondLst>
                                  <p:childTnLst>
                                    <p:set>
                                      <p:cBhvr>
                                        <p:cTn id="132" dur="1" fill="hold">
                                          <p:stCondLst>
                                            <p:cond delay="0"/>
                                          </p:stCondLst>
                                        </p:cTn>
                                        <p:tgtEl>
                                          <p:spTgt spid="44"/>
                                        </p:tgtEl>
                                        <p:attrNameLst>
                                          <p:attrName>style.visibility</p:attrName>
                                        </p:attrNameLst>
                                      </p:cBhvr>
                                      <p:to>
                                        <p:strVal val="visible"/>
                                      </p:to>
                                    </p:set>
                                    <p:animEffect transition="in" filter="fade">
                                      <p:cBhvr>
                                        <p:cTn id="133" dur="500"/>
                                        <p:tgtEl>
                                          <p:spTgt spid="44"/>
                                        </p:tgtEl>
                                      </p:cBhvr>
                                    </p:animEffect>
                                  </p:childTnLst>
                                </p:cTn>
                              </p:par>
                              <p:par>
                                <p:cTn id="134" presetID="10" presetClass="entr" presetSubtype="0" fill="hold" grpId="0" nodeType="withEffect">
                                  <p:stCondLst>
                                    <p:cond delay="1440"/>
                                  </p:stCondLst>
                                  <p:childTnLst>
                                    <p:set>
                                      <p:cBhvr>
                                        <p:cTn id="135" dur="1" fill="hold">
                                          <p:stCondLst>
                                            <p:cond delay="0"/>
                                          </p:stCondLst>
                                        </p:cTn>
                                        <p:tgtEl>
                                          <p:spTgt spid="45"/>
                                        </p:tgtEl>
                                        <p:attrNameLst>
                                          <p:attrName>style.visibility</p:attrName>
                                        </p:attrNameLst>
                                      </p:cBhvr>
                                      <p:to>
                                        <p:strVal val="visible"/>
                                      </p:to>
                                    </p:set>
                                    <p:animEffect transition="in" filter="fade">
                                      <p:cBhvr>
                                        <p:cTn id="136" dur="500"/>
                                        <p:tgtEl>
                                          <p:spTgt spid="45"/>
                                        </p:tgtEl>
                                      </p:cBhvr>
                                    </p:animEffect>
                                  </p:childTnLst>
                                </p:cTn>
                              </p:par>
                              <p:par>
                                <p:cTn id="137" presetID="10" presetClass="entr" presetSubtype="0" fill="hold" grpId="0" nodeType="withEffect">
                                  <p:stCondLst>
                                    <p:cond delay="1440"/>
                                  </p:stCondLst>
                                  <p:childTnLst>
                                    <p:set>
                                      <p:cBhvr>
                                        <p:cTn id="138" dur="1" fill="hold">
                                          <p:stCondLst>
                                            <p:cond delay="0"/>
                                          </p:stCondLst>
                                        </p:cTn>
                                        <p:tgtEl>
                                          <p:spTgt spid="46"/>
                                        </p:tgtEl>
                                        <p:attrNameLst>
                                          <p:attrName>style.visibility</p:attrName>
                                        </p:attrNameLst>
                                      </p:cBhvr>
                                      <p:to>
                                        <p:strVal val="visible"/>
                                      </p:to>
                                    </p:set>
                                    <p:animEffect transition="in" filter="fade">
                                      <p:cBhvr>
                                        <p:cTn id="139" dur="500"/>
                                        <p:tgtEl>
                                          <p:spTgt spid="46"/>
                                        </p:tgtEl>
                                      </p:cBhvr>
                                    </p:animEffect>
                                  </p:childTnLst>
                                </p:cTn>
                              </p:par>
                              <p:par>
                                <p:cTn id="140" presetID="10" presetClass="entr" presetSubtype="0" fill="hold" grpId="0" nodeType="withEffect">
                                  <p:stCondLst>
                                    <p:cond delay="1440"/>
                                  </p:stCondLst>
                                  <p:childTnLst>
                                    <p:set>
                                      <p:cBhvr>
                                        <p:cTn id="141" dur="1" fill="hold">
                                          <p:stCondLst>
                                            <p:cond delay="0"/>
                                          </p:stCondLst>
                                        </p:cTn>
                                        <p:tgtEl>
                                          <p:spTgt spid="47"/>
                                        </p:tgtEl>
                                        <p:attrNameLst>
                                          <p:attrName>style.visibility</p:attrName>
                                        </p:attrNameLst>
                                      </p:cBhvr>
                                      <p:to>
                                        <p:strVal val="visible"/>
                                      </p:to>
                                    </p:set>
                                    <p:animEffect transition="in" filter="fade">
                                      <p:cBhvr>
                                        <p:cTn id="142" dur="500"/>
                                        <p:tgtEl>
                                          <p:spTgt spid="47"/>
                                        </p:tgtEl>
                                      </p:cBhvr>
                                    </p:animEffect>
                                  </p:childTnLst>
                                </p:cTn>
                              </p:par>
                              <p:par>
                                <p:cTn id="143" presetID="10" presetClass="entr" presetSubtype="0" fill="hold" grpId="0" nodeType="withEffect">
                                  <p:stCondLst>
                                    <p:cond delay="1440"/>
                                  </p:stCondLst>
                                  <p:childTnLst>
                                    <p:set>
                                      <p:cBhvr>
                                        <p:cTn id="144" dur="1" fill="hold">
                                          <p:stCondLst>
                                            <p:cond delay="0"/>
                                          </p:stCondLst>
                                        </p:cTn>
                                        <p:tgtEl>
                                          <p:spTgt spid="48"/>
                                        </p:tgtEl>
                                        <p:attrNameLst>
                                          <p:attrName>style.visibility</p:attrName>
                                        </p:attrNameLst>
                                      </p:cBhvr>
                                      <p:to>
                                        <p:strVal val="visible"/>
                                      </p:to>
                                    </p:set>
                                    <p:animEffect transition="in" filter="fade">
                                      <p:cBhvr>
                                        <p:cTn id="145" dur="500"/>
                                        <p:tgtEl>
                                          <p:spTgt spid="48"/>
                                        </p:tgtEl>
                                      </p:cBhvr>
                                    </p:animEffect>
                                  </p:childTnLst>
                                </p:cTn>
                              </p:par>
                              <p:par>
                                <p:cTn id="146" presetID="10" presetClass="entr" presetSubtype="0" fill="hold" grpId="0" nodeType="withEffect">
                                  <p:stCondLst>
                                    <p:cond delay="1440"/>
                                  </p:stCondLst>
                                  <p:childTnLst>
                                    <p:set>
                                      <p:cBhvr>
                                        <p:cTn id="147" dur="1" fill="hold">
                                          <p:stCondLst>
                                            <p:cond delay="0"/>
                                          </p:stCondLst>
                                        </p:cTn>
                                        <p:tgtEl>
                                          <p:spTgt spid="49"/>
                                        </p:tgtEl>
                                        <p:attrNameLst>
                                          <p:attrName>style.visibility</p:attrName>
                                        </p:attrNameLst>
                                      </p:cBhvr>
                                      <p:to>
                                        <p:strVal val="visible"/>
                                      </p:to>
                                    </p:set>
                                    <p:animEffect transition="in" filter="fade">
                                      <p:cBhvr>
                                        <p:cTn id="148" dur="500"/>
                                        <p:tgtEl>
                                          <p:spTgt spid="49"/>
                                        </p:tgtEl>
                                      </p:cBhvr>
                                    </p:animEffect>
                                  </p:childTnLst>
                                </p:cTn>
                              </p:par>
                              <p:par>
                                <p:cTn id="149" presetID="10" presetClass="entr" presetSubtype="0" fill="hold" grpId="0" nodeType="withEffect">
                                  <p:stCondLst>
                                    <p:cond delay="1440"/>
                                  </p:stCondLst>
                                  <p:childTnLst>
                                    <p:set>
                                      <p:cBhvr>
                                        <p:cTn id="150" dur="1" fill="hold">
                                          <p:stCondLst>
                                            <p:cond delay="0"/>
                                          </p:stCondLst>
                                        </p:cTn>
                                        <p:tgtEl>
                                          <p:spTgt spid="50"/>
                                        </p:tgtEl>
                                        <p:attrNameLst>
                                          <p:attrName>style.visibility</p:attrName>
                                        </p:attrNameLst>
                                      </p:cBhvr>
                                      <p:to>
                                        <p:strVal val="visible"/>
                                      </p:to>
                                    </p:set>
                                    <p:animEffect transition="in" filter="fade">
                                      <p:cBhvr>
                                        <p:cTn id="151" dur="500"/>
                                        <p:tgtEl>
                                          <p:spTgt spid="50"/>
                                        </p:tgtEl>
                                      </p:cBhvr>
                                    </p:animEffect>
                                  </p:childTnLst>
                                </p:cTn>
                              </p:par>
                              <p:par>
                                <p:cTn id="152" presetID="10" presetClass="entr" presetSubtype="0" fill="hold" grpId="0" nodeType="withEffect">
                                  <p:stCondLst>
                                    <p:cond delay="1440"/>
                                  </p:stCondLst>
                                  <p:childTnLst>
                                    <p:set>
                                      <p:cBhvr>
                                        <p:cTn id="153" dur="1" fill="hold">
                                          <p:stCondLst>
                                            <p:cond delay="0"/>
                                          </p:stCondLst>
                                        </p:cTn>
                                        <p:tgtEl>
                                          <p:spTgt spid="51"/>
                                        </p:tgtEl>
                                        <p:attrNameLst>
                                          <p:attrName>style.visibility</p:attrName>
                                        </p:attrNameLst>
                                      </p:cBhvr>
                                      <p:to>
                                        <p:strVal val="visible"/>
                                      </p:to>
                                    </p:set>
                                    <p:animEffect transition="in" filter="fade">
                                      <p:cBhvr>
                                        <p:cTn id="154" dur="500"/>
                                        <p:tgtEl>
                                          <p:spTgt spid="51"/>
                                        </p:tgtEl>
                                      </p:cBhvr>
                                    </p:animEffect>
                                  </p:childTnLst>
                                </p:cTn>
                              </p:par>
                              <p:par>
                                <p:cTn id="155" presetID="10" presetClass="entr" presetSubtype="0" fill="hold" grpId="0" nodeType="withEffect">
                                  <p:stCondLst>
                                    <p:cond delay="1440"/>
                                  </p:stCondLst>
                                  <p:childTnLst>
                                    <p:set>
                                      <p:cBhvr>
                                        <p:cTn id="156" dur="1" fill="hold">
                                          <p:stCondLst>
                                            <p:cond delay="0"/>
                                          </p:stCondLst>
                                        </p:cTn>
                                        <p:tgtEl>
                                          <p:spTgt spid="52"/>
                                        </p:tgtEl>
                                        <p:attrNameLst>
                                          <p:attrName>style.visibility</p:attrName>
                                        </p:attrNameLst>
                                      </p:cBhvr>
                                      <p:to>
                                        <p:strVal val="visible"/>
                                      </p:to>
                                    </p:set>
                                    <p:animEffect transition="in" filter="fade">
                                      <p:cBhvr>
                                        <p:cTn id="157" dur="500"/>
                                        <p:tgtEl>
                                          <p:spTgt spid="52"/>
                                        </p:tgtEl>
                                      </p:cBhvr>
                                    </p:animEffect>
                                  </p:childTnLst>
                                </p:cTn>
                              </p:par>
                              <p:par>
                                <p:cTn id="158" presetID="10" presetClass="entr" presetSubtype="0" fill="hold" grpId="0" nodeType="withEffect">
                                  <p:stCondLst>
                                    <p:cond delay="1440"/>
                                  </p:stCondLst>
                                  <p:childTnLst>
                                    <p:set>
                                      <p:cBhvr>
                                        <p:cTn id="159" dur="1" fill="hold">
                                          <p:stCondLst>
                                            <p:cond delay="0"/>
                                          </p:stCondLst>
                                        </p:cTn>
                                        <p:tgtEl>
                                          <p:spTgt spid="53"/>
                                        </p:tgtEl>
                                        <p:attrNameLst>
                                          <p:attrName>style.visibility</p:attrName>
                                        </p:attrNameLst>
                                      </p:cBhvr>
                                      <p:to>
                                        <p:strVal val="visible"/>
                                      </p:to>
                                    </p:set>
                                    <p:animEffect transition="in" filter="fade">
                                      <p:cBhvr>
                                        <p:cTn id="160" dur="500"/>
                                        <p:tgtEl>
                                          <p:spTgt spid="5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0" animBg="1"/>
      <p:bldP spid="7" grpId="0" animBg="1"/>
      <p:bldP spid="8" grpId="0" animBg="1"/>
      <p:bldP spid="10" grpId="0" animBg="1"/>
      <p:bldP spid="11" grpId="0" animBg="1"/>
      <p:bldP spid="12" grpId="0" animBg="1"/>
      <p:bldP spid="13" grpId="0" animBg="1"/>
      <p:bldP spid="15" grpId="0" animBg="1"/>
      <p:bldP spid="16" grpId="0" animBg="1"/>
      <p:bldP spid="17" grpId="0" animBg="1"/>
      <p:bldP spid="18" grpId="0" animBg="1"/>
      <p:bldP spid="19" grpId="0" animBg="1"/>
      <p:bldP spid="21" grpId="0" animBg="1"/>
      <p:bldP spid="22" grpId="0" animBg="1"/>
      <p:bldP spid="23" grpId="0" animBg="1"/>
      <p:bldP spid="24" grpId="0" animBg="1"/>
      <p:bldP spid="26" grpId="0" animBg="1"/>
      <p:bldP spid="27" grpId="0" animBg="1"/>
      <p:bldP spid="28" grpId="0" animBg="1"/>
      <p:bldP spid="29" grpId="0" animBg="1"/>
      <p:bldP spid="30" grpId="0" animBg="1"/>
      <p:bldP spid="32" grpId="0" animBg="1"/>
      <p:bldP spid="33" grpId="0" animBg="1"/>
      <p:bldP spid="34" grpId="0" animBg="1"/>
      <p:bldP spid="35" grpId="0" animBg="1"/>
      <p:bldP spid="37" grpId="0" animBg="1"/>
      <p:bldP spid="38" grpId="0" animBg="1"/>
      <p:bldP spid="39" grpId="0" animBg="1"/>
      <p:bldP spid="40" grpId="0" animBg="1"/>
      <p:bldP spid="41" grpId="0" animBg="1"/>
      <p:bldP spid="43" grpId="0" animBg="1"/>
      <p:bldP spid="44" grpId="0" animBg="1"/>
      <p:bldP spid="45" grpId="0" animBg="1"/>
      <p:bldP spid="46" grpId="0" animBg="1"/>
      <p:bldP spid="47" grpId="0" animBg="1"/>
      <p:bldP spid="48" grpId="0" animBg="1"/>
      <p:bldP spid="49" grpId="0" animBg="1"/>
      <p:bldP spid="50" grpId="0" animBg="1"/>
      <p:bldP spid="53"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name="Slide 2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anim-1-1" descr="/tmp/claude-0/-home-user-hosting/7c832a48-0979-56aa-9fdf-7d53efb9dc7a/scratchpad/build/imgd/logo-white.png">    </p:cNvPr>
          <p:cNvPicPr>
            <a:picLocks noChangeAspect="1"/>
          </p:cNvPicPr>
          <p:nvPr/>
        </p:nvPicPr>
        <p:blipFill>
          <a:blip r:embed="rId2"/>
          <a:stretch>
            <a:fillRect/>
          </a:stretch>
        </p:blipFill>
        <p:spPr>
          <a:xfrm>
            <a:off x="793750" y="1060450"/>
            <a:ext cx="2616200" cy="628650"/>
          </a:xfrm>
          <a:prstGeom prst="rect">
            <a:avLst/>
          </a:prstGeom>
        </p:spPr>
      </p:pic>
      <p:sp>
        <p:nvSpPr>
          <p:cNvPr id="3" name="anim-2-2"/>
          <p:cNvSpPr txBox="1"/>
          <p:nvPr/>
        </p:nvSpPr>
        <p:spPr>
          <a:xfrm>
            <a:off x="793750" y="2159000"/>
            <a:ext cx="7620000" cy="317500"/>
          </a:xfrm>
          <a:prstGeom prst="rect">
            <a:avLst/>
          </a:prstGeom>
          <a:noFill/>
          <a:ln/>
        </p:spPr>
        <p:txBody>
          <a:bodyPr wrap="square" lIns="0" tIns="0" rIns="0" bIns="0" rtlCol="0" anchor="t"/>
          <a:lstStyle/>
          <a:p>
            <a:pPr algn="l" indent="0" marL="0">
              <a:lnSpc>
                <a:spcPct val="112000"/>
              </a:lnSpc>
              <a:buNone/>
            </a:pPr>
            <a:r>
              <a:rPr lang="en-US" sz="2000" b="1" dirty="0">
                <a:solidFill>
                  <a:srgbClr val="15B6FF"/>
                </a:solidFill>
                <a:latin typeface="Plus Jakarta Sans" pitchFamily="34" charset="0"/>
                <a:ea typeface="Plus Jakarta Sans" pitchFamily="34" charset="-122"/>
                <a:cs typeface="Plus Jakarta Sans" pitchFamily="34" charset="-120"/>
              </a:rPr>
              <a:t>DIGNIFYX CHANNEL &amp; ALLIANCES</a:t>
            </a:r>
            <a:endParaRPr lang="en-US" sz="2000" dirty="0"/>
          </a:p>
        </p:txBody>
      </p:sp>
      <p:sp>
        <p:nvSpPr>
          <p:cNvPr id="4" name="anim-2-3"/>
          <p:cNvSpPr txBox="1"/>
          <p:nvPr/>
        </p:nvSpPr>
        <p:spPr>
          <a:xfrm>
            <a:off x="793750" y="2540000"/>
            <a:ext cx="8890000" cy="1270000"/>
          </a:xfrm>
          <a:prstGeom prst="rect">
            <a:avLst/>
          </a:prstGeom>
          <a:noFill/>
          <a:ln/>
        </p:spPr>
        <p:txBody>
          <a:bodyPr wrap="square" lIns="0" tIns="0" rIns="0" bIns="0" rtlCol="0" anchor="t"/>
          <a:lstStyle/>
          <a:p>
            <a:pPr algn="l" indent="0" marL="0">
              <a:lnSpc>
                <a:spcPct val="105000"/>
              </a:lnSpc>
              <a:buNone/>
            </a:pPr>
            <a:r>
              <a:rPr lang="en-US" sz="4200" b="1" dirty="0">
                <a:solidFill>
                  <a:srgbClr val="FFFFFF"/>
                </a:solidFill>
                <a:latin typeface="Plus Jakarta Sans" pitchFamily="34" charset="0"/>
                <a:ea typeface="Plus Jakarta Sans" pitchFamily="34" charset="-122"/>
                <a:cs typeface="Plus Jakarta Sans" pitchFamily="34" charset="-120"/>
              </a:rPr>
              <a:t>Let’s build what’s next, </a:t>
            </a:r>
            <a:pPr algn="l" indent="0" marL="0">
              <a:lnSpc>
                <a:spcPct val="105000"/>
              </a:lnSpc>
              <a:buNone/>
            </a:pPr>
            <a:r>
              <a:rPr lang="en-US" sz="4200" b="1" i="1" dirty="0">
                <a:solidFill>
                  <a:srgbClr val="15B6FF"/>
                </a:solidFill>
                <a:latin typeface="Plus Jakarta Sans Light" pitchFamily="34" charset="0"/>
                <a:ea typeface="Plus Jakarta Sans Light" pitchFamily="34" charset="-122"/>
                <a:cs typeface="Plus Jakarta Sans Light" pitchFamily="34" charset="-120"/>
              </a:rPr>
              <a:t>together.</a:t>
            </a:r>
            <a:endParaRPr lang="en-US" sz="4200" dirty="0"/>
          </a:p>
        </p:txBody>
      </p:sp>
      <p:sp>
        <p:nvSpPr>
          <p:cNvPr id="5" name="anim-3-4"/>
          <p:cNvSpPr/>
          <p:nvPr/>
        </p:nvSpPr>
        <p:spPr>
          <a:xfrm>
            <a:off x="793750" y="4064000"/>
            <a:ext cx="19050" cy="254000"/>
          </a:xfrm>
          <a:prstGeom prst="rect">
            <a:avLst/>
          </a:prstGeom>
          <a:solidFill>
            <a:srgbClr val="FFFFFF"/>
          </a:solidFill>
          <a:ln/>
        </p:spPr>
      </p:sp>
      <p:sp>
        <p:nvSpPr>
          <p:cNvPr id="6" name="anim-3-5"/>
          <p:cNvSpPr txBox="1"/>
          <p:nvPr/>
        </p:nvSpPr>
        <p:spPr>
          <a:xfrm>
            <a:off x="920750" y="4064000"/>
            <a:ext cx="6350000" cy="254000"/>
          </a:xfrm>
          <a:prstGeom prst="rect">
            <a:avLst/>
          </a:prstGeom>
          <a:noFill/>
          <a:ln/>
        </p:spPr>
        <p:txBody>
          <a:bodyPr wrap="square" lIns="0" tIns="0" rIns="0" bIns="0" rtlCol="0" anchor="ctr"/>
          <a:lstStyle/>
          <a:p>
            <a:pPr algn="l" indent="0" marL="0">
              <a:lnSpc>
                <a:spcPct val="112000"/>
              </a:lnSpc>
              <a:buNone/>
            </a:pPr>
            <a:r>
              <a:rPr lang="en-US" sz="1600" dirty="0">
                <a:solidFill>
                  <a:srgbClr val="FFFFFF"/>
                </a:solidFill>
                <a:latin typeface="Plus Jakarta Sans Medium" pitchFamily="34" charset="0"/>
                <a:ea typeface="Plus Jakarta Sans Medium" pitchFamily="34" charset="-122"/>
                <a:cs typeface="Plus Jakarta Sans Medium" pitchFamily="34" charset="-120"/>
              </a:rPr>
              <a:t>info@dignifyx.com  ·  dignifyx.com</a:t>
            </a:r>
            <a:endParaRPr lang="en-US" sz="1600" dirty="0"/>
          </a:p>
        </p:txBody>
      </p:sp>
      <p:sp>
        <p:nvSpPr>
          <p:cNvPr id="7" name="anim-4-6"/>
          <p:cNvSpPr txBox="1"/>
          <p:nvPr/>
        </p:nvSpPr>
        <p:spPr>
          <a:xfrm>
            <a:off x="730250" y="4826000"/>
            <a:ext cx="7620000" cy="317500"/>
          </a:xfrm>
          <a:prstGeom prst="rect">
            <a:avLst/>
          </a:prstGeom>
          <a:noFill/>
          <a:ln/>
        </p:spPr>
        <p:txBody>
          <a:bodyPr wrap="square" lIns="0" tIns="0" rIns="0" bIns="0" rtlCol="0" anchor="t"/>
          <a:lstStyle/>
          <a:p>
            <a:pPr algn="l" indent="0" marL="0">
              <a:lnSpc>
                <a:spcPct val="112000"/>
              </a:lnSpc>
              <a:buNone/>
            </a:pPr>
            <a:r>
              <a:rPr lang="en-US" sz="1600" spc="350" kern="0" dirty="0">
                <a:solidFill>
                  <a:srgbClr val="FFFFFF"/>
                </a:solidFill>
                <a:latin typeface="Plus Jakarta Sans" pitchFamily="34" charset="0"/>
                <a:ea typeface="Plus Jakarta Sans" pitchFamily="34" charset="-122"/>
                <a:cs typeface="Plus Jakarta Sans" pitchFamily="34" charset="-120"/>
              </a:rPr>
              <a:t>TRUST  </a:t>
            </a:r>
            <a:pPr algn="l" indent="0" marL="0">
              <a:lnSpc>
                <a:spcPct val="112000"/>
              </a:lnSpc>
              <a:buNone/>
            </a:pPr>
            <a:r>
              <a:rPr lang="en-US" sz="1600" spc="350" kern="0" dirty="0">
                <a:solidFill>
                  <a:srgbClr val="15B6FF"/>
                </a:solidFill>
                <a:latin typeface="Plus Jakarta Sans" pitchFamily="34" charset="0"/>
                <a:ea typeface="Plus Jakarta Sans" pitchFamily="34" charset="-122"/>
                <a:cs typeface="Plus Jakarta Sans" pitchFamily="34" charset="-120"/>
              </a:rPr>
              <a:t>|</a:t>
            </a:r>
            <a:pPr algn="l" indent="0" marL="0">
              <a:lnSpc>
                <a:spcPct val="112000"/>
              </a:lnSpc>
              <a:buNone/>
            </a:pPr>
            <a:r>
              <a:rPr lang="en-US" sz="1600" spc="350" kern="0" dirty="0">
                <a:solidFill>
                  <a:srgbClr val="FFFFFF"/>
                </a:solidFill>
                <a:latin typeface="Plus Jakarta Sans" pitchFamily="34" charset="0"/>
                <a:ea typeface="Plus Jakarta Sans" pitchFamily="34" charset="-122"/>
                <a:cs typeface="Plus Jakarta Sans" pitchFamily="34" charset="-120"/>
              </a:rPr>
              <a:t>  INTEGRITY  </a:t>
            </a:r>
            <a:pPr algn="l" indent="0" marL="0">
              <a:lnSpc>
                <a:spcPct val="112000"/>
              </a:lnSpc>
              <a:buNone/>
            </a:pPr>
            <a:r>
              <a:rPr lang="en-US" sz="1600" spc="350" kern="0" dirty="0">
                <a:solidFill>
                  <a:srgbClr val="15B6FF"/>
                </a:solidFill>
                <a:latin typeface="Plus Jakarta Sans" pitchFamily="34" charset="0"/>
                <a:ea typeface="Plus Jakarta Sans" pitchFamily="34" charset="-122"/>
                <a:cs typeface="Plus Jakarta Sans" pitchFamily="34" charset="-120"/>
              </a:rPr>
              <a:t>|</a:t>
            </a:r>
            <a:pPr algn="l" indent="0" marL="0">
              <a:lnSpc>
                <a:spcPct val="112000"/>
              </a:lnSpc>
              <a:buNone/>
            </a:pPr>
            <a:r>
              <a:rPr lang="en-US" sz="1600" spc="350" kern="0" dirty="0">
                <a:solidFill>
                  <a:srgbClr val="FFFFFF"/>
                </a:solidFill>
                <a:latin typeface="Plus Jakarta Sans" pitchFamily="34" charset="0"/>
                <a:ea typeface="Plus Jakarta Sans" pitchFamily="34" charset="-122"/>
                <a:cs typeface="Plus Jakarta Sans" pitchFamily="34" charset="-120"/>
              </a:rPr>
              <a:t>  IMPACT  </a:t>
            </a:r>
            <a:pPr algn="l" indent="0" marL="0">
              <a:lnSpc>
                <a:spcPct val="112000"/>
              </a:lnSpc>
              <a:buNone/>
            </a:pPr>
            <a:r>
              <a:rPr lang="en-US" sz="1600" spc="350" kern="0" dirty="0">
                <a:solidFill>
                  <a:srgbClr val="15B6FF"/>
                </a:solidFill>
                <a:latin typeface="Plus Jakarta Sans" pitchFamily="34" charset="0"/>
                <a:ea typeface="Plus Jakarta Sans" pitchFamily="34" charset="-122"/>
                <a:cs typeface="Plus Jakarta Sans" pitchFamily="34" charset="-120"/>
              </a:rPr>
              <a:t>|</a:t>
            </a:r>
            <a:pPr algn="l" indent="0" marL="0">
              <a:lnSpc>
                <a:spcPct val="112000"/>
              </a:lnSpc>
              <a:buNone/>
            </a:pPr>
            <a:r>
              <a:rPr lang="en-US" sz="1600" spc="350" kern="0" dirty="0">
                <a:solidFill>
                  <a:srgbClr val="FFFFFF"/>
                </a:solidFill>
                <a:latin typeface="Plus Jakarta Sans" pitchFamily="34" charset="0"/>
                <a:ea typeface="Plus Jakarta Sans" pitchFamily="34" charset="-122"/>
                <a:cs typeface="Plus Jakarta Sans" pitchFamily="34" charset="-120"/>
              </a:rPr>
              <a:t>  CRAFTSMANSHIP</a:t>
            </a:r>
            <a:endParaRPr lang="en-US" sz="1600" dirty="0"/>
          </a:p>
        </p:txBody>
      </p:sp>
      <p:sp>
        <p:nvSpPr>
          <p:cNvPr id="8" name="anim-5-7"/>
          <p:cNvSpPr txBox="1"/>
          <p:nvPr/>
        </p:nvSpPr>
        <p:spPr>
          <a:xfrm>
            <a:off x="793750" y="5715000"/>
            <a:ext cx="8255000" cy="698500"/>
          </a:xfrm>
          <a:prstGeom prst="rect">
            <a:avLst/>
          </a:prstGeom>
          <a:noFill/>
          <a:ln/>
        </p:spPr>
        <p:txBody>
          <a:bodyPr wrap="square" lIns="0" tIns="0" rIns="0" bIns="0" rtlCol="0" anchor="t"/>
          <a:lstStyle/>
          <a:p>
            <a:pPr algn="l" indent="0" marL="0">
              <a:lnSpc>
                <a:spcPct val="130000"/>
              </a:lnSpc>
              <a:buNone/>
            </a:pPr>
            <a:r>
              <a:rPr lang="en-US" sz="750" dirty="0">
                <a:solidFill>
                  <a:srgbClr val="8C93A3"/>
                </a:solidFill>
                <a:latin typeface="Plus Jakarta Sans" pitchFamily="34" charset="0"/>
                <a:ea typeface="Plus Jakarta Sans" pitchFamily="34" charset="-122"/>
                <a:cs typeface="Plus Jakarta Sans" pitchFamily="34" charset="-120"/>
              </a:rPr>
              <a:t>Disclaimer: This guide is a programme description for partner awareness and onboarding, not an offer, quotation or contract, and creates no binding commitment. The signed partner agreement, commercial schedule, local legal terms and DignifyX approval processes govern in all cases. Commercial figures are indicative pending final DignifyX Finance and Legal approval and must be confirmed in the signed agreement.</a:t>
            </a:r>
            <a:endParaRPr lang="en-US" sz="75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10" presetClass="entr" presetSubtype="0" fill="hold" grpId="0" nodeType="withEffect">
                                  <p:stCondLst>
                                    <p:cond delay="18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500"/>
                                        <p:tgtEl>
                                          <p:spTgt spid="3"/>
                                        </p:tgtEl>
                                      </p:cBhvr>
                                    </p:animEffect>
                                  </p:childTnLst>
                                </p:cTn>
                              </p:par>
                              <p:par>
                                <p:cTn id="11" presetID="10" presetClass="entr" presetSubtype="0" fill="hold" grpId="0" nodeType="withEffect">
                                  <p:stCondLst>
                                    <p:cond delay="180"/>
                                  </p:stCondLst>
                                  <p:childTnLst>
                                    <p:set>
                                      <p:cBhvr>
                                        <p:cTn id="12" dur="1" fill="hold">
                                          <p:stCondLst>
                                            <p:cond delay="0"/>
                                          </p:stCondLst>
                                        </p:cTn>
                                        <p:tgtEl>
                                          <p:spTgt spid="4"/>
                                        </p:tgtEl>
                                        <p:attrNameLst>
                                          <p:attrName>style.visibility</p:attrName>
                                        </p:attrNameLst>
                                      </p:cBhvr>
                                      <p:to>
                                        <p:strVal val="visible"/>
                                      </p:to>
                                    </p:set>
                                    <p:animEffect transition="in" filter="fade">
                                      <p:cBhvr>
                                        <p:cTn id="13" dur="500"/>
                                        <p:tgtEl>
                                          <p:spTgt spid="4"/>
                                        </p:tgtEl>
                                      </p:cBhvr>
                                    </p:animEffect>
                                  </p:childTnLst>
                                </p:cTn>
                              </p:par>
                              <p:par>
                                <p:cTn id="14" presetID="10" presetClass="entr" presetSubtype="0" fill="hold" grpId="0" nodeType="withEffect">
                                  <p:stCondLst>
                                    <p:cond delay="360"/>
                                  </p:stCondLst>
                                  <p:childTnLst>
                                    <p:set>
                                      <p:cBhvr>
                                        <p:cTn id="15" dur="1" fill="hold">
                                          <p:stCondLst>
                                            <p:cond delay="0"/>
                                          </p:stCondLst>
                                        </p:cTn>
                                        <p:tgtEl>
                                          <p:spTgt spid="5"/>
                                        </p:tgtEl>
                                        <p:attrNameLst>
                                          <p:attrName>style.visibility</p:attrName>
                                        </p:attrNameLst>
                                      </p:cBhvr>
                                      <p:to>
                                        <p:strVal val="visible"/>
                                      </p:to>
                                    </p:set>
                                    <p:animEffect transition="in" filter="fade">
                                      <p:cBhvr>
                                        <p:cTn id="16" dur="500"/>
                                        <p:tgtEl>
                                          <p:spTgt spid="5"/>
                                        </p:tgtEl>
                                      </p:cBhvr>
                                    </p:animEffect>
                                  </p:childTnLst>
                                </p:cTn>
                              </p:par>
                              <p:par>
                                <p:cTn id="17" presetID="10" presetClass="entr" presetSubtype="0" fill="hold" grpId="0" nodeType="withEffect">
                                  <p:stCondLst>
                                    <p:cond delay="360"/>
                                  </p:stCondLst>
                                  <p:childTnLst>
                                    <p:set>
                                      <p:cBhvr>
                                        <p:cTn id="18" dur="1" fill="hold">
                                          <p:stCondLst>
                                            <p:cond delay="0"/>
                                          </p:stCondLst>
                                        </p:cTn>
                                        <p:tgtEl>
                                          <p:spTgt spid="6"/>
                                        </p:tgtEl>
                                        <p:attrNameLst>
                                          <p:attrName>style.visibility</p:attrName>
                                        </p:attrNameLst>
                                      </p:cBhvr>
                                      <p:to>
                                        <p:strVal val="visible"/>
                                      </p:to>
                                    </p:set>
                                    <p:animEffect transition="in" filter="fade">
                                      <p:cBhvr>
                                        <p:cTn id="19" dur="500"/>
                                        <p:tgtEl>
                                          <p:spTgt spid="6"/>
                                        </p:tgtEl>
                                      </p:cBhvr>
                                    </p:animEffect>
                                  </p:childTnLst>
                                </p:cTn>
                              </p:par>
                              <p:par>
                                <p:cTn id="20" presetID="10" presetClass="entr" presetSubtype="0" fill="hold" grpId="0" nodeType="withEffect">
                                  <p:stCondLst>
                                    <p:cond delay="540"/>
                                  </p:stCondLst>
                                  <p:childTnLst>
                                    <p:set>
                                      <p:cBhvr>
                                        <p:cTn id="21" dur="1" fill="hold">
                                          <p:stCondLst>
                                            <p:cond delay="0"/>
                                          </p:stCondLst>
                                        </p:cTn>
                                        <p:tgtEl>
                                          <p:spTgt spid="7"/>
                                        </p:tgtEl>
                                        <p:attrNameLst>
                                          <p:attrName>style.visibility</p:attrName>
                                        </p:attrNameLst>
                                      </p:cBhvr>
                                      <p:to>
                                        <p:strVal val="visible"/>
                                      </p:to>
                                    </p:set>
                                    <p:animEffect transition="in" filter="fade">
                                      <p:cBhvr>
                                        <p:cTn id="22" dur="500"/>
                                        <p:tgtEl>
                                          <p:spTgt spid="7"/>
                                        </p:tgtEl>
                                      </p:cBhvr>
                                    </p:animEffect>
                                  </p:childTnLst>
                                </p:cTn>
                              </p:par>
                              <p:par>
                                <p:cTn id="23" presetID="10" presetClass="entr" presetSubtype="0" fill="hold" grpId="0" nodeType="withEffect">
                                  <p:stCondLst>
                                    <p:cond delay="720"/>
                                  </p:stCondLst>
                                  <p:childTnLst>
                                    <p:set>
                                      <p:cBhvr>
                                        <p:cTn id="24" dur="1" fill="hold">
                                          <p:stCondLst>
                                            <p:cond delay="0"/>
                                          </p:stCondLst>
                                        </p:cTn>
                                        <p:tgtEl>
                                          <p:spTgt spid="8"/>
                                        </p:tgtEl>
                                        <p:attrNameLst>
                                          <p:attrName>style.visibility</p:attrName>
                                        </p:attrNameLst>
                                      </p:cBhvr>
                                      <p:to>
                                        <p:strVal val="visible"/>
                                      </p:to>
                                    </p:set>
                                    <p:animEffect transition="in" filter="fade">
                                      <p:cBhvr>
                                        <p:cTn id="25"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0" animBg="1"/>
      <p:bldP spid="7" grpId="0" animBg="1"/>
      <p:bldP spid="8"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name="Slide 2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anim-1-1" descr="/tmp/claude-0/-home-user-hosting/7c832a48-0979-56aa-9fdf-7d53efb9dc7a/scratchpad/build/imgd/chev-soft.png">    </p:cNvPr>
          <p:cNvPicPr>
            <a:picLocks noChangeAspect="1"/>
          </p:cNvPicPr>
          <p:nvPr/>
        </p:nvPicPr>
        <p:blipFill>
          <a:blip r:embed="rId2"/>
          <a:stretch>
            <a:fillRect/>
          </a:stretch>
        </p:blipFill>
        <p:spPr>
          <a:xfrm>
            <a:off x="-4171324" y="-488324"/>
            <a:ext cx="9231649" cy="12902981"/>
          </a:xfrm>
          <a:prstGeom prst="rect">
            <a:avLst/>
          </a:prstGeom>
        </p:spPr>
      </p:pic>
      <p:pic>
        <p:nvPicPr>
          <p:cNvPr id="3" name="anim-1-2" descr="/tmp/claude-0/-home-user-hosting/7c832a48-0979-56aa-9fdf-7d53efb9dc7a/scratchpad/build/imgd/chev-soft.png">    </p:cNvPr>
          <p:cNvPicPr>
            <a:picLocks noChangeAspect="1"/>
          </p:cNvPicPr>
          <p:nvPr/>
        </p:nvPicPr>
        <p:blipFill>
          <a:blip r:embed="rId3"/>
          <a:stretch>
            <a:fillRect/>
          </a:stretch>
        </p:blipFill>
        <p:spPr>
          <a:xfrm rot="10800000">
            <a:off x="7138026" y="-488324"/>
            <a:ext cx="9231649" cy="12902981"/>
          </a:xfrm>
          <a:prstGeom prst="rect">
            <a:avLst/>
          </a:prstGeom>
        </p:spPr>
      </p:pic>
      <p:sp>
        <p:nvSpPr>
          <p:cNvPr id="4" name="anim-2-3"/>
          <p:cNvSpPr txBox="1"/>
          <p:nvPr/>
        </p:nvSpPr>
        <p:spPr>
          <a:xfrm>
            <a:off x="1016000" y="3048000"/>
            <a:ext cx="10160000" cy="635000"/>
          </a:xfrm>
          <a:prstGeom prst="rect">
            <a:avLst/>
          </a:prstGeom>
          <a:noFill/>
          <a:ln/>
        </p:spPr>
        <p:txBody>
          <a:bodyPr wrap="square" lIns="0" tIns="0" rIns="0" bIns="0" rtlCol="0" anchor="ctr"/>
          <a:lstStyle/>
          <a:p>
            <a:pPr algn="ctr" indent="0" marL="0">
              <a:lnSpc>
                <a:spcPct val="112000"/>
              </a:lnSpc>
              <a:buNone/>
            </a:pPr>
            <a:r>
              <a:rPr lang="en-US" sz="4000" b="1" dirty="0">
                <a:solidFill>
                  <a:srgbClr val="FFFFFF"/>
                </a:solidFill>
                <a:latin typeface="Plus Jakarta Sans" pitchFamily="34" charset="0"/>
                <a:ea typeface="Plus Jakarta Sans" pitchFamily="34" charset="-122"/>
                <a:cs typeface="Plus Jakarta Sans" pitchFamily="34" charset="-120"/>
              </a:rPr>
              <a:t>THANK YOU</a:t>
            </a:r>
            <a:endParaRPr lang="en-US" sz="4000" dirty="0"/>
          </a:p>
        </p:txBody>
      </p:sp>
      <p:pic>
        <p:nvPicPr>
          <p:cNvPr id="5" name="anim-3-4" descr="/tmp/claude-0/-home-user-hosting/7c832a48-0979-56aa-9fdf-7d53efb9dc7a/scratchpad/build/imgd/logo-white.png">    </p:cNvPr>
          <p:cNvPicPr>
            <a:picLocks noChangeAspect="1"/>
          </p:cNvPicPr>
          <p:nvPr/>
        </p:nvPicPr>
        <p:blipFill>
          <a:blip r:embed="rId4"/>
          <a:stretch>
            <a:fillRect/>
          </a:stretch>
        </p:blipFill>
        <p:spPr>
          <a:xfrm>
            <a:off x="5251450" y="5759450"/>
            <a:ext cx="1682750" cy="406400"/>
          </a:xfrm>
          <a:prstGeom prst="rect">
            <a:avLst/>
          </a:prstGeom>
        </p:spPr>
      </p:pic>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500"/>
                                        <p:tgtEl>
                                          <p:spTgt spid="3"/>
                                        </p:tgtEl>
                                      </p:cBhvr>
                                    </p:animEffect>
                                  </p:childTnLst>
                                </p:cTn>
                              </p:par>
                              <p:par>
                                <p:cTn id="11" presetID="10" presetClass="entr" presetSubtype="0" fill="hold" grpId="0" nodeType="withEffect">
                                  <p:stCondLst>
                                    <p:cond delay="180"/>
                                  </p:stCondLst>
                                  <p:childTnLst>
                                    <p:set>
                                      <p:cBhvr>
                                        <p:cTn id="12" dur="1" fill="hold">
                                          <p:stCondLst>
                                            <p:cond delay="0"/>
                                          </p:stCondLst>
                                        </p:cTn>
                                        <p:tgtEl>
                                          <p:spTgt spid="4"/>
                                        </p:tgtEl>
                                        <p:attrNameLst>
                                          <p:attrName>style.visibility</p:attrName>
                                        </p:attrNameLst>
                                      </p:cBhvr>
                                      <p:to>
                                        <p:strVal val="visible"/>
                                      </p:to>
                                    </p:set>
                                    <p:animEffect transition="in" filter="fade">
                                      <p:cBhvr>
                                        <p:cTn id="13" dur="500"/>
                                        <p:tgtEl>
                                          <p:spTgt spid="4"/>
                                        </p:tgtEl>
                                      </p:cBhvr>
                                    </p:animEffect>
                                  </p:childTnLst>
                                </p:cTn>
                              </p:par>
                              <p:par>
                                <p:cTn id="14" presetID="10" presetClass="entr" presetSubtype="0" fill="hold" grpId="0" nodeType="withEffect">
                                  <p:stCondLst>
                                    <p:cond delay="360"/>
                                  </p:stCondLst>
                                  <p:childTnLst>
                                    <p:set>
                                      <p:cBhvr>
                                        <p:cTn id="15" dur="1" fill="hold">
                                          <p:stCondLst>
                                            <p:cond delay="0"/>
                                          </p:stCondLst>
                                        </p:cTn>
                                        <p:tgtEl>
                                          <p:spTgt spid="5"/>
                                        </p:tgtEl>
                                        <p:attrNameLst>
                                          <p:attrName>style.visibility</p:attrName>
                                        </p:attrNameLst>
                                      </p:cBhvr>
                                      <p:to>
                                        <p:strVal val="visible"/>
                                      </p:to>
                                    </p:set>
                                    <p:animEffect transition="in" filter="fade">
                                      <p:cBhvr>
                                        <p:cTn id="16"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Plus Jakarta Sa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Plus Jakarta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27</Slides>
  <Notes>27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27</vt:i4>
      </vt:variant>
    </vt:vector>
  </HeadingPairs>
  <TitlesOfParts>
    <vt:vector size="3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vector>
  </TitlesOfParts>
  <Company>DignifyX</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DignifyX Global Partner Program FY2026</dc:title>
  <dc:subject>PptxGenJS Presentation</dc:subject>
  <dc:creator>DignifyX Channel &amp; Alliances</dc:creator>
  <cp:lastModifiedBy>DignifyX Channel &amp; Alliances</cp:lastModifiedBy>
  <cp:revision>1</cp:revision>
  <dcterms:created xsi:type="dcterms:W3CDTF">2026-10-28T15:46:22Z</dcterms:created>
  <dcterms:modified xsi:type="dcterms:W3CDTF">2026-10-28T15:46:22Z</dcterms:modified>
</cp:coreProperties>
</file>